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2.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35063" y="5815584"/>
            <a:ext cx="786384" cy="786384"/>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30" b="1" i="0">
                <a:solidFill>
                  <a:srgbClr val="111827"/>
                </a:solidFill>
                <a:latin typeface="Times New Roman"/>
              </a:rPr>
              <a:t>Background: </a:t>
            </a:r>
            <a:r>
              <a:rPr sz="430"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20"/>
              </a:spcAft>
            </a:pPr>
            <a:r>
              <a:rPr sz="430" b="1" i="0">
                <a:solidFill>
                  <a:srgbClr val="111827"/>
                </a:solidFill>
                <a:latin typeface="Times New Roman"/>
              </a:rPr>
              <a:t>Methods: </a:t>
            </a:r>
            <a:r>
              <a:rPr sz="430"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20"/>
              </a:spcAft>
            </a:pPr>
            <a:r>
              <a:rPr sz="430" b="1" i="0">
                <a:solidFill>
                  <a:srgbClr val="111827"/>
                </a:solidFill>
                <a:latin typeface="Times New Roman"/>
              </a:rPr>
              <a:t>Results: </a:t>
            </a:r>
            <a:r>
              <a:rPr sz="430"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20"/>
              </a:spcAft>
            </a:pPr>
            <a:r>
              <a:rPr sz="430" b="1" i="0">
                <a:solidFill>
                  <a:srgbClr val="111827"/>
                </a:solidFill>
                <a:latin typeface="Times New Roman"/>
              </a:rPr>
              <a:t>Conclusions: </a:t>
            </a:r>
            <a:r>
              <a:rPr sz="430" b="0" i="0">
                <a:solidFill>
                  <a:srgbClr val="111827"/>
                </a:solidFill>
                <a:latin typeface="Times New Roman"/>
              </a:rPr>
              <a:t>Evidence on PMDD’s psychosocial burden is growing but geographically concentrated in high-income countries, revealing a critical LMIC evidence gap.</a:t>
            </a:r>
          </a:p>
          <a:p>
            <a:pPr algn="just">
              <a:spcAft>
                <a:spcPts val="120"/>
              </a:spcAft>
            </a:pPr>
            <a:r>
              <a:rPr sz="430" b="1" i="0">
                <a:solidFill>
                  <a:srgbClr val="111827"/>
                </a:solidFill>
                <a:latin typeface="Times New Roman"/>
              </a:rPr>
              <a:t>Keywords: </a:t>
            </a:r>
            <a:r>
              <a:rPr sz="430"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60"/>
              </a:spcAft>
            </a:pPr>
            <a:r>
              <a:rPr sz="445" b="1" i="0">
                <a:solidFill>
                  <a:srgbClr val="111827"/>
                </a:solidFill>
                <a:latin typeface="Times New Roman"/>
              </a:rPr>
              <a:t>Introduction: </a:t>
            </a:r>
            <a:r>
              <a:rPr sz="445" b="0" i="0">
                <a:solidFill>
                  <a:srgbClr val="111827"/>
                </a:solidFill>
                <a:latin typeface="Times New Roman"/>
              </a:rPr>
              <a:t>PMDD is a recurring, hormone-linked mood disorder in which irritability, mood swings, depressed mood and anxiety emerge in the late luteal phase and remit after menses begin. It is classified as a depressive disorder in DSM-5² and recognized in ICD-11.³ Using prospectively confirmed diagnoses, community prevalence is about 1.6%, roughly 31 million women and girls worldwide.¹ PMDD has been linked with suicidal ideation and attempts,⁴˒⁵ strained romantic relationships⁶ and reduced quality of life.⁷ Premenstrual symptoms are also common across Africa, where pooled premenstrual syndrome prevalence reaches 47%,⁸ yet it remains unclear how women with PMDD cope or where the evidence has been generated.</a:t>
            </a:r>
          </a:p>
          <a:p>
            <a:pPr algn="just">
              <a:spcAft>
                <a:spcPts val="160"/>
              </a:spcAft>
            </a:pPr>
            <a:r>
              <a:rPr sz="445" b="1" i="0">
                <a:solidFill>
                  <a:srgbClr val="111827"/>
                </a:solidFill>
                <a:latin typeface="Times New Roman"/>
              </a:rPr>
              <a:t>Objective: </a:t>
            </a:r>
            <a:r>
              <a:rPr sz="445" b="0" i="0">
                <a:solidFill>
                  <a:srgbClr val="111827"/>
                </a:solidFill>
                <a:latin typeface="Times New Roman"/>
              </a:rPr>
              <a:t>To map psychosocial outcomes and coping mechanisms reported among women with PMDD and identify geographic gaps in the published literature.</a:t>
            </a:r>
          </a:p>
          <a:p>
            <a:pPr algn="just">
              <a:spcAft>
                <a:spcPts val="160"/>
              </a:spcAft>
            </a:pPr>
            <a:r>
              <a:rPr sz="445" b="1" i="0">
                <a:solidFill>
                  <a:srgbClr val="111827"/>
                </a:solidFill>
                <a:latin typeface="Times New Roman"/>
              </a:rPr>
              <a:t>Research Question: </a:t>
            </a:r>
            <a:r>
              <a:rPr sz="445"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framework⁹ with Levac et al.’s refinements,¹⁰ reported using PRISMA-ScR.¹¹</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publication year and geographic setting (country and World Bank income group¹²).</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36208"/>
            <a:ext cx="4572000" cy="201168"/>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Map shows the 30 studies with an identifiable country setting (World Bank income groups). The other 14 used online or multinational samples or had no single mappable setting in the available records. *Includes Hong Kong (1).</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00"/>
              </a:spcAft>
            </a:pPr>
            <a:r>
              <a:rPr sz="409" b="1" i="0">
                <a:solidFill>
                  <a:srgbClr val="111827"/>
                </a:solidFill>
                <a:latin typeface="Times New Roman"/>
              </a:rPr>
              <a:t>Results</a:t>
            </a:r>
          </a:p>
          <a:p>
            <a:pPr algn="just">
              <a:spcAft>
                <a:spcPts val="100"/>
              </a:spcAft>
            </a:pPr>
            <a:r>
              <a:rPr sz="40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 Most (61%) were published in 2022–2025 (Fig. 4).</a:t>
            </a:r>
          </a:p>
          <a:p>
            <a:pPr algn="just">
              <a:spcAft>
                <a:spcPts val="100"/>
              </a:spcAft>
            </a:pPr>
            <a:r>
              <a:rPr sz="409" b="0" i="0">
                <a:solidFill>
                  <a:srgbClr val="111827"/>
                </a:solidFill>
                <a:latin typeface="Times New Roman"/>
              </a:rPr>
              <a:t>Depression was the most documented outcome (n=39); one nationwide cohort found a 2.6-fold higher risk of later depression after a PMDD diagnosis.¹³ Psychological distress (n=24), interpersonal functioning (n=18), suicidal ideation or self-harm (n=14) and quality of life (n=14) followed. Only three studies examined coping mechanisms, such as peer support shared in online PMDD communities¹⁴ (Fig. 2).</a:t>
            </a:r>
          </a:p>
          <a:p>
            <a:pPr algn="just">
              <a:spcAft>
                <a:spcPts val="100"/>
              </a:spcAft>
            </a:pPr>
            <a:r>
              <a:rPr sz="409" b="0" i="0">
                <a:solidFill>
                  <a:srgbClr val="111827"/>
                </a:solidFill>
                <a:latin typeface="Times New Roman"/>
              </a:rPr>
              <a:t>Twenty studies came from high-income countries and seven from upper-middle-income countries (Türkiye, Iran); only three (6.8%) came from low- and lower-middle-income countries—Bangladesh,¹⁵ Lebanon¹⁶ and Nigeria,¹⁷ the only study from sub-Saharan Africa (Fig. 3).</a:t>
            </a:r>
          </a:p>
          <a:p>
            <a:pPr algn="just">
              <a:spcAft>
                <a:spcPts val="100"/>
              </a:spcAft>
            </a:pPr>
            <a:r>
              <a:rPr sz="409" b="1" i="0">
                <a:solidFill>
                  <a:srgbClr val="111827"/>
                </a:solidFill>
                <a:latin typeface="Times New Roman"/>
              </a:rPr>
              <a:t>Discussion</a:t>
            </a:r>
          </a:p>
          <a:p>
            <a:pPr algn="just">
              <a:spcAft>
                <a:spcPts val="100"/>
              </a:spcAft>
            </a:pPr>
            <a:r>
              <a:rPr sz="409" b="0" i="0">
                <a:solidFill>
                  <a:srgbClr val="111827"/>
                </a:solidFill>
                <a:latin typeface="Times New Roman"/>
              </a:rPr>
              <a:t>PMDD research consistently documents depression, distress, relationship difficulties and suicidality.⁴⁻⁷ Patients describe misdiagnosis and uneven provider knowledge,¹⁸˒¹⁹ yet coping remains largely unexamined, and the scarcity of studies from low-income settings and Africa leaves the burden there invisible to health systems.</a:t>
            </a:r>
          </a:p>
          <a:p>
            <a:pPr algn="just">
              <a:spcAft>
                <a:spcPts val="100"/>
              </a:spcAft>
            </a:pPr>
            <a:r>
              <a:rPr sz="409" b="1" i="0">
                <a:solidFill>
                  <a:srgbClr val="111827"/>
                </a:solidFill>
                <a:latin typeface="Times New Roman"/>
              </a:rPr>
              <a:t>Conclusion</a:t>
            </a:r>
          </a:p>
          <a:p>
            <a:pPr algn="just">
              <a:spcAft>
                <a:spcPts val="100"/>
              </a:spcAft>
            </a:pPr>
            <a:r>
              <a:rPr sz="409" b="0" i="0">
                <a:solidFill>
                  <a:srgbClr val="111827"/>
                </a:solidFill>
                <a:latin typeface="Times New Roman"/>
              </a:rPr>
              <a:t>Evidence on PMDD’s psychosocial burden is growing but geographically concentrated in high-income countries, calling for culturally responsive screening, integrated mental and reproductive health services, and Africa-centred research investment.</a:t>
            </a:r>
          </a:p>
          <a:p>
            <a:pPr algn="just">
              <a:spcAft>
                <a:spcPts val="100"/>
              </a:spcAft>
            </a:pPr>
            <a:r>
              <a:rPr sz="409" b="1" i="0">
                <a:solidFill>
                  <a:srgbClr val="111827"/>
                </a:solidFill>
                <a:latin typeface="Times New Roman"/>
              </a:rPr>
              <a:t>Limitations</a:t>
            </a:r>
          </a:p>
          <a:p>
            <a:pPr algn="just" marL="73152" indent="-64008">
              <a:spcAft>
                <a:spcPts val="100"/>
              </a:spcAft>
              <a:buFont typeface="Arial"/>
              <a:buChar char="•"/>
            </a:pPr>
            <a:r>
              <a:rPr sz="409" b="1" i="0">
                <a:solidFill>
                  <a:srgbClr val="111827"/>
                </a:solidFill>
                <a:latin typeface="Times New Roman"/>
              </a:rPr>
              <a:t>Search scope: </a:t>
            </a:r>
            <a:r>
              <a:rPr sz="409" b="0" i="0">
                <a:solidFill>
                  <a:srgbClr val="111827"/>
                </a:solidFill>
                <a:latin typeface="Times New Roman"/>
              </a:rPr>
              <a:t>studies outside the five databases or the 2010–2025 period may have been missed.</a:t>
            </a:r>
          </a:p>
          <a:p>
            <a:pPr algn="just" marL="73152" indent="-64008">
              <a:spcAft>
                <a:spcPts val="100"/>
              </a:spcAft>
              <a:buFont typeface="Arial"/>
              <a:buChar char="•"/>
            </a:pPr>
            <a:r>
              <a:rPr sz="409" b="1" i="0">
                <a:solidFill>
                  <a:srgbClr val="111827"/>
                </a:solidFill>
                <a:latin typeface="Times New Roman"/>
              </a:rPr>
              <a:t>Study differences: </a:t>
            </a:r>
            <a:r>
              <a:rPr sz="409" b="0" i="0">
                <a:solidFill>
                  <a:srgbClr val="111827"/>
                </a:solidFill>
                <a:latin typeface="Times New Roman"/>
              </a:rPr>
              <a:t>variation in design and outcome definitions limits direct comparison.</a:t>
            </a:r>
          </a:p>
          <a:p>
            <a:pPr algn="just" marL="73152" indent="-64008">
              <a:spcAft>
                <a:spcPts val="100"/>
              </a:spcAft>
              <a:buFont typeface="Arial"/>
              <a:buChar char="•"/>
            </a:pPr>
            <a:r>
              <a:rPr sz="409" b="1" i="0">
                <a:solidFill>
                  <a:srgbClr val="111827"/>
                </a:solidFill>
                <a:latin typeface="Times New Roman"/>
              </a:rPr>
              <a:t>Coding overlap: </a:t>
            </a:r>
            <a:r>
              <a:rPr sz="409" b="0" i="0">
                <a:solidFill>
                  <a:srgbClr val="111827"/>
                </a:solidFill>
                <a:latin typeface="Times New Roman"/>
              </a:rPr>
              <a:t>a study could address more than one outcome, so counts should not be summed.</a:t>
            </a:r>
          </a:p>
          <a:p>
            <a:pPr algn="just" marL="73152" indent="-64008">
              <a:spcAft>
                <a:spcPts val="100"/>
              </a:spcAft>
              <a:buFont typeface="Arial"/>
              <a:buChar char="•"/>
            </a:pPr>
            <a:r>
              <a:rPr sz="409" b="1" i="0">
                <a:solidFill>
                  <a:srgbClr val="111827"/>
                </a:solidFill>
                <a:latin typeface="Times New Roman"/>
              </a:rPr>
              <a:t>Geographic coverage: </a:t>
            </a:r>
            <a:r>
              <a:rPr sz="40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70"/>
              </a:spcAft>
            </a:pPr>
            <a:r>
              <a:rPr sz="405" b="1" i="0">
                <a:solidFill>
                  <a:srgbClr val="111827"/>
                </a:solidFill>
                <a:latin typeface="Times New Roman"/>
              </a:rPr>
              <a:t>Public Health Implications</a:t>
            </a:r>
          </a:p>
          <a:p>
            <a:pPr algn="l" marL="73152" indent="-64008">
              <a:spcAft>
                <a:spcPts val="70"/>
              </a:spcAft>
              <a:buFont typeface="Arial"/>
              <a:buChar char="•"/>
            </a:pPr>
            <a:r>
              <a:rPr sz="405" b="1" i="0">
                <a:solidFill>
                  <a:srgbClr val="111827"/>
                </a:solidFill>
                <a:latin typeface="Times New Roman"/>
              </a:rPr>
              <a:t>Screen for suicide risk: </a:t>
            </a:r>
            <a:r>
              <a:rPr sz="405" b="0" i="0">
                <a:solidFill>
                  <a:srgbClr val="111827"/>
                </a:solidFill>
                <a:latin typeface="Times New Roman"/>
              </a:rPr>
              <a:t>ask about suicidal thoughts when women present with severe premenstrual mood symptoms.⁴˒⁵</a:t>
            </a:r>
          </a:p>
          <a:p>
            <a:pPr algn="l" marL="73152" indent="-64008">
              <a:spcAft>
                <a:spcPts val="70"/>
              </a:spcAft>
              <a:buFont typeface="Arial"/>
              <a:buChar char="•"/>
            </a:pPr>
            <a:r>
              <a:rPr sz="405" b="1" i="0">
                <a:solidFill>
                  <a:srgbClr val="111827"/>
                </a:solidFill>
                <a:latin typeface="Times New Roman"/>
              </a:rPr>
              <a:t>Integrate care: </a:t>
            </a:r>
            <a:r>
              <a:rPr sz="405" b="0" i="0">
                <a:solidFill>
                  <a:srgbClr val="111827"/>
                </a:solidFill>
                <a:latin typeface="Times New Roman"/>
              </a:rPr>
              <a:t>embed PMDD screening in sexual and reproductive, school and university health services.</a:t>
            </a:r>
          </a:p>
          <a:p>
            <a:pPr algn="l" marL="73152" indent="-64008">
              <a:spcAft>
                <a:spcPts val="70"/>
              </a:spcAft>
              <a:buFont typeface="Arial"/>
              <a:buChar char="•"/>
            </a:pPr>
            <a:r>
              <a:rPr sz="405" b="1" i="0">
                <a:solidFill>
                  <a:srgbClr val="111827"/>
                </a:solidFill>
                <a:latin typeface="Times New Roman"/>
              </a:rPr>
              <a:t>Train providers: </a:t>
            </a:r>
            <a:r>
              <a:rPr sz="405" b="0" i="0">
                <a:solidFill>
                  <a:srgbClr val="111827"/>
                </a:solidFill>
                <a:latin typeface="Times New Roman"/>
              </a:rPr>
              <a:t>improve recognition to reduce misdiagnosis and delayed care.¹⁸</a:t>
            </a:r>
          </a:p>
          <a:p>
            <a:pPr algn="l" marL="73152" indent="-64008">
              <a:spcAft>
                <a:spcPts val="70"/>
              </a:spcAft>
              <a:buFont typeface="Arial"/>
              <a:buChar char="•"/>
            </a:pPr>
            <a:r>
              <a:rPr sz="405" b="1" i="0">
                <a:solidFill>
                  <a:srgbClr val="111827"/>
                </a:solidFill>
                <a:latin typeface="Times New Roman"/>
              </a:rPr>
              <a:t>Address coping needs: </a:t>
            </a:r>
            <a:r>
              <a:rPr sz="405" b="0" i="0">
                <a:solidFill>
                  <a:srgbClr val="111827"/>
                </a:solidFill>
                <a:latin typeface="Times New Roman"/>
              </a:rPr>
              <a:t>ask how women manage symptoms and connect them with peer and professional support.¹⁴</a:t>
            </a:r>
          </a:p>
          <a:p>
            <a:pPr algn="l">
              <a:spcAft>
                <a:spcPts val="70"/>
              </a:spcAft>
            </a:pPr>
            <a:r>
              <a:rPr sz="405" b="1" i="0">
                <a:solidFill>
                  <a:srgbClr val="111827"/>
                </a:solidFill>
                <a:latin typeface="Times New Roman"/>
              </a:rPr>
              <a:t>Future Work</a:t>
            </a:r>
          </a:p>
          <a:p>
            <a:pPr algn="l" marL="73152" indent="-64008">
              <a:spcAft>
                <a:spcPts val="70"/>
              </a:spcAft>
              <a:buFont typeface="Arial"/>
              <a:buChar char="•"/>
            </a:pPr>
            <a:r>
              <a:rPr sz="405" b="1" i="0">
                <a:solidFill>
                  <a:srgbClr val="111827"/>
                </a:solidFill>
                <a:latin typeface="Times New Roman"/>
              </a:rPr>
              <a:t>Confirm PMDD prospectively </a:t>
            </a:r>
            <a:r>
              <a:rPr sz="405" b="0" i="0">
                <a:solidFill>
                  <a:srgbClr val="111827"/>
                </a:solidFill>
                <a:latin typeface="Times New Roman"/>
              </a:rPr>
              <a:t>using validated daily ratings.¹˒²⁰</a:t>
            </a:r>
          </a:p>
          <a:p>
            <a:pPr algn="l" marL="73152" indent="-64008">
              <a:spcAft>
                <a:spcPts val="70"/>
              </a:spcAft>
              <a:buFont typeface="Arial"/>
              <a:buChar char="•"/>
            </a:pPr>
            <a:r>
              <a:rPr sz="405" b="1" i="0">
                <a:solidFill>
                  <a:srgbClr val="111827"/>
                </a:solidFill>
                <a:latin typeface="Times New Roman"/>
              </a:rPr>
              <a:t>Prioritize low-income and African settings, </a:t>
            </a:r>
            <a:r>
              <a:rPr sz="405" b="0" i="0">
                <a:solidFill>
                  <a:srgbClr val="111827"/>
                </a:solidFill>
                <a:latin typeface="Times New Roman"/>
              </a:rPr>
              <a:t>including qualitative studies of stigma and coping.</a:t>
            </a:r>
          </a:p>
          <a:p>
            <a:pPr algn="l" marL="73152" indent="-64008">
              <a:spcAft>
                <a:spcPts val="70"/>
              </a:spcAft>
              <a:buFont typeface="Arial"/>
              <a:buChar char="•"/>
            </a:pPr>
            <a:r>
              <a:rPr sz="405" b="1" i="0">
                <a:solidFill>
                  <a:srgbClr val="111827"/>
                </a:solidFill>
                <a:latin typeface="Times New Roman"/>
              </a:rPr>
              <a:t>Validate screening tools </a:t>
            </a:r>
            <a:r>
              <a:rPr sz="405" b="0" i="0">
                <a:solidFill>
                  <a:srgbClr val="111827"/>
                </a:solidFill>
                <a:latin typeface="Times New Roman"/>
              </a:rPr>
              <a:t>in African languages and test coping-focused interventions.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7958023" y="5769864"/>
            <a:ext cx="108539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15"/>
              </a:spcAft>
            </a:pPr>
            <a:r>
              <a:rPr sz="254" b="0" i="0">
                <a:solidFill>
                  <a:srgbClr val="111827"/>
                </a:solidFill>
                <a:latin typeface="Times New Roman"/>
              </a:rPr>
              <a:t>1. Reilly TJ, et al. J Affect Disord. 2024;349:534-540.</a:t>
            </a:r>
          </a:p>
          <a:p>
            <a:pPr algn="l">
              <a:spcAft>
                <a:spcPts val="15"/>
              </a:spcAft>
            </a:pPr>
            <a:r>
              <a:rPr sz="254" b="0" i="0">
                <a:solidFill>
                  <a:srgbClr val="111827"/>
                </a:solidFill>
                <a:latin typeface="Times New Roman"/>
              </a:rPr>
              <a:t>2. American Psychiatric Association. DSM-5. 2013.</a:t>
            </a:r>
          </a:p>
          <a:p>
            <a:pPr algn="l">
              <a:spcAft>
                <a:spcPts val="15"/>
              </a:spcAft>
            </a:pPr>
            <a:r>
              <a:rPr sz="254" b="0" i="0">
                <a:solidFill>
                  <a:srgbClr val="111827"/>
                </a:solidFill>
                <a:latin typeface="Times New Roman"/>
              </a:rPr>
              <a:t>3. World Health Organization. ICD-11. 2022.</a:t>
            </a:r>
          </a:p>
          <a:p>
            <a:pPr algn="l">
              <a:spcAft>
                <a:spcPts val="15"/>
              </a:spcAft>
            </a:pPr>
            <a:r>
              <a:rPr sz="254" b="0" i="0">
                <a:solidFill>
                  <a:srgbClr val="111827"/>
                </a:solidFill>
                <a:latin typeface="Times New Roman"/>
              </a:rPr>
              <a:t>4. Pilver CE, et al. Soc Psychiatry Psychiatr Epidemiol. 2013;48:437-446.</a:t>
            </a:r>
          </a:p>
          <a:p>
            <a:pPr algn="l">
              <a:spcAft>
                <a:spcPts val="15"/>
              </a:spcAft>
            </a:pPr>
            <a:r>
              <a:rPr sz="254" b="0" i="0">
                <a:solidFill>
                  <a:srgbClr val="111827"/>
                </a:solidFill>
                <a:latin typeface="Times New Roman"/>
              </a:rPr>
              <a:t>5. Eisenlohr-Moul T, et al. BMC Psychiatry. 2022;22:199.</a:t>
            </a:r>
          </a:p>
          <a:p>
            <a:pPr algn="l">
              <a:spcAft>
                <a:spcPts val="15"/>
              </a:spcAft>
            </a:pPr>
            <a:r>
              <a:rPr sz="254" b="0" i="0">
                <a:solidFill>
                  <a:srgbClr val="111827"/>
                </a:solidFill>
                <a:latin typeface="Times New Roman"/>
              </a:rPr>
              <a:t>6. Westermark V, et al. J Affect Disord. 2024;364:132-138.</a:t>
            </a:r>
          </a:p>
          <a:p>
            <a:pPr algn="l">
              <a:spcAft>
                <a:spcPts val="15"/>
              </a:spcAft>
            </a:pPr>
            <a:r>
              <a:rPr sz="254" b="0" i="0">
                <a:solidFill>
                  <a:srgbClr val="111827"/>
                </a:solidFill>
                <a:latin typeface="Times New Roman"/>
              </a:rPr>
              <a:t>7. Wang Q, et al. JAMA Netw Open. 2025;8:e2533823.</a:t>
            </a:r>
          </a:p>
          <a:p>
            <a:pPr algn="l">
              <a:spcAft>
                <a:spcPts val="15"/>
              </a:spcAft>
            </a:pPr>
            <a:r>
              <a:rPr sz="254" b="0" i="0">
                <a:solidFill>
                  <a:srgbClr val="111827"/>
                </a:solidFill>
                <a:latin typeface="Times New Roman"/>
              </a:rPr>
              <a:t>8. Andualem F, et al. Front Psychiatry. 2024;15:1338304.</a:t>
            </a:r>
          </a:p>
          <a:p>
            <a:pPr algn="l">
              <a:spcAft>
                <a:spcPts val="15"/>
              </a:spcAft>
            </a:pPr>
            <a:r>
              <a:rPr sz="254" b="0" i="0">
                <a:solidFill>
                  <a:srgbClr val="111827"/>
                </a:solidFill>
                <a:latin typeface="Times New Roman"/>
              </a:rPr>
              <a:t>9. Arksey H, O’Malley L. Int J Soc Res Methodol. 2005;8:19-32.</a:t>
            </a:r>
          </a:p>
          <a:p>
            <a:pPr algn="l">
              <a:spcAft>
                <a:spcPts val="15"/>
              </a:spcAft>
            </a:pPr>
            <a:r>
              <a:rPr sz="254" b="0" i="0">
                <a:solidFill>
                  <a:srgbClr val="111827"/>
                </a:solidFill>
                <a:latin typeface="Times New Roman"/>
              </a:rPr>
              <a:t>10. Levac D, et al. Implement Sci. 2010;5:69.</a:t>
            </a:r>
          </a:p>
          <a:p>
            <a:pPr algn="l">
              <a:spcAft>
                <a:spcPts val="15"/>
              </a:spcAft>
            </a:pPr>
            <a:r>
              <a:rPr sz="254" b="0" i="0">
                <a:solidFill>
                  <a:srgbClr val="111827"/>
                </a:solidFill>
                <a:latin typeface="Times New Roman"/>
              </a:rPr>
              <a:t>11. Tricco AC, et al. Ann Intern Med. 2018;169:467-473.</a:t>
            </a:r>
          </a:p>
          <a:p>
            <a:pPr algn="l">
              <a:spcAft>
                <a:spcPts val="15"/>
              </a:spcAft>
            </a:pPr>
            <a:r>
              <a:rPr sz="254" b="0" i="0">
                <a:solidFill>
                  <a:srgbClr val="111827"/>
                </a:solidFill>
                <a:latin typeface="Times New Roman"/>
              </a:rPr>
              <a:t>12. World Bank. Country income classifications, FY2027. 2026.</a:t>
            </a:r>
          </a:p>
          <a:p>
            <a:pPr algn="l">
              <a:spcAft>
                <a:spcPts val="15"/>
              </a:spcAft>
            </a:pPr>
            <a:r>
              <a:rPr sz="254" b="0" i="0">
                <a:solidFill>
                  <a:srgbClr val="111827"/>
                </a:solidFill>
                <a:latin typeface="Times New Roman"/>
              </a:rPr>
              <a:t>13. Li DJ, et al. Asian J Psychiatr. 2023;79:103355.</a:t>
            </a:r>
          </a:p>
          <a:p>
            <a:pPr algn="l">
              <a:spcAft>
                <a:spcPts val="15"/>
              </a:spcAft>
            </a:pPr>
            <a:r>
              <a:rPr sz="254" b="0" i="0">
                <a:solidFill>
                  <a:srgbClr val="111827"/>
                </a:solidFill>
                <a:latin typeface="Times New Roman"/>
              </a:rPr>
              <a:t>14. Winslow A, et al. Womens Reprod Health. 2023;10:420-435.</a:t>
            </a:r>
          </a:p>
          <a:p>
            <a:pPr algn="l">
              <a:spcAft>
                <a:spcPts val="15"/>
              </a:spcAft>
            </a:pPr>
            <a:r>
              <a:rPr sz="254" b="0" i="0">
                <a:solidFill>
                  <a:srgbClr val="111827"/>
                </a:solidFill>
                <a:latin typeface="Times New Roman"/>
              </a:rPr>
              <a:t>15. Roy N, et al. PLoS One. 2025;20:e0321097.</a:t>
            </a:r>
          </a:p>
          <a:p>
            <a:pPr algn="l">
              <a:spcAft>
                <a:spcPts val="15"/>
              </a:spcAft>
            </a:pPr>
            <a:r>
              <a:rPr sz="254" b="0" i="0">
                <a:solidFill>
                  <a:srgbClr val="111827"/>
                </a:solidFill>
                <a:latin typeface="Times New Roman"/>
              </a:rPr>
              <a:t>16. Younes Y, et al. BMC Psychiatry. 2021;21:548.</a:t>
            </a:r>
          </a:p>
          <a:p>
            <a:pPr algn="l">
              <a:spcAft>
                <a:spcPts val="15"/>
              </a:spcAft>
            </a:pPr>
            <a:r>
              <a:rPr sz="254" b="0" i="0">
                <a:solidFill>
                  <a:srgbClr val="111827"/>
                </a:solidFill>
                <a:latin typeface="Times New Roman"/>
              </a:rPr>
              <a:t>17. Adegoke AA, et al. Gend Behav. 2014;12:6087-6094.</a:t>
            </a:r>
          </a:p>
          <a:p>
            <a:pPr algn="l">
              <a:spcAft>
                <a:spcPts val="15"/>
              </a:spcAft>
            </a:pPr>
            <a:r>
              <a:rPr sz="254" b="0" i="0">
                <a:solidFill>
                  <a:srgbClr val="111827"/>
                </a:solidFill>
                <a:latin typeface="Times New Roman"/>
              </a:rPr>
              <a:t>18. Hantsoo L, et al. J Womens Health. 2022;31:100-109.</a:t>
            </a:r>
          </a:p>
          <a:p>
            <a:pPr algn="l">
              <a:spcAft>
                <a:spcPts val="15"/>
              </a:spcAft>
            </a:pPr>
            <a:r>
              <a:rPr sz="254" b="0" i="0">
                <a:solidFill>
                  <a:srgbClr val="111827"/>
                </a:solidFill>
                <a:latin typeface="Times New Roman"/>
              </a:rPr>
              <a:t>19. Habib S, et al. Womens Reprod Health. 2025;12:310-329.</a:t>
            </a:r>
          </a:p>
          <a:p>
            <a:pPr algn="l">
              <a:spcAft>
                <a:spcPts val="15"/>
              </a:spcAft>
            </a:pPr>
            <a:r>
              <a:rPr sz="254" b="0" i="0">
                <a:solidFill>
                  <a:srgbClr val="111827"/>
                </a:solidFill>
                <a:latin typeface="Times New Roman"/>
              </a:rPr>
              <a:t>20. Naik SS, et al. Front Glob Womens Health. 2023;4:1181583.</a:t>
            </a:r>
          </a:p>
          <a:p>
            <a:pPr algn="l">
              <a:spcAft>
                <a:spcPts val="15"/>
              </a:spcAft>
            </a:pPr>
            <a:r>
              <a:rPr sz="254" b="1" i="1">
                <a:solidFill>
                  <a:srgbClr val="111827"/>
                </a:solidFill>
                <a:latin typeface="Times New Roman"/>
              </a:rPr>
              <a:t>Scan the QR code for the full reference list.</a:t>
            </a:r>
          </a:p>
        </p:txBody>
      </p:sp>
      <p:sp>
        <p:nvSpPr>
          <p:cNvPr id="353" name="Rounded Rectangle 352"/>
          <p:cNvSpPr/>
          <p:nvPr/>
        </p:nvSpPr>
        <p:spPr>
          <a:xfrm>
            <a:off x="2428646" y="6455664"/>
            <a:ext cx="4516221" cy="237744"/>
          </a:xfrm>
          <a:prstGeom prst="roundRect">
            <a:avLst>
              <a:gd name="adj" fmla="val 8000"/>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3716" bIns="13716"/>
          <a:lstStyle/>
          <a:p>
            <a:pPr algn="ctr">
              <a:spcAft>
                <a:spcPts val="120"/>
              </a:spcAft>
            </a:pPr>
            <a:r>
              <a:rPr sz="560" b="1" i="0">
                <a:solidFill>
                  <a:srgbClr val="F2C14E"/>
                </a:solidFill>
                <a:latin typeface="Times New Roman"/>
              </a:rPr>
              <a:t>KEY TAKEAWAY  </a:t>
            </a:r>
            <a:r>
              <a:rPr sz="560" b="0" i="0">
                <a:solidFill>
                  <a:srgbClr val="FFFFFF"/>
                </a:solidFill>
                <a:latin typeface="Times New Roman"/>
              </a:rPr>
              <a:t>PMDD’s psychosocial burden is well documented in high-income countries, yet nearly invisible in low-income settings and sub-Saharan Africa.</a:t>
            </a:r>
          </a:p>
        </p:txBody>
      </p:sp>
      <p:sp>
        <p:nvSpPr>
          <p:cNvPr id="354" name="TextBox 353"/>
          <p:cNvSpPr txBox="1"/>
          <p:nvPr/>
        </p:nvSpPr>
        <p:spPr>
          <a:xfrm>
            <a:off x="7162495" y="3310128"/>
            <a:ext cx="1826056" cy="118872"/>
          </a:xfrm>
          <a:prstGeom prst="rect">
            <a:avLst/>
          </a:prstGeom>
          <a:noFill/>
        </p:spPr>
        <p:txBody>
          <a:bodyPr wrap="square" anchor="t" lIns="27432" rIns="27432" tIns="13716" bIns="13716">
            <a:spAutoFit/>
          </a:bodyPr>
          <a:lstStyle/>
          <a:p>
            <a:pPr algn="l">
              <a:spcAft>
                <a:spcPts val="120"/>
              </a:spcAft>
            </a:pPr>
            <a:r>
              <a:rPr sz="459" b="1" i="0">
                <a:solidFill>
                  <a:srgbClr val="0A254E"/>
                </a:solidFill>
                <a:latin typeface="Times New Roman"/>
              </a:rPr>
              <a:t>Fig 4. Included Studies by Publication Period</a:t>
            </a:r>
          </a:p>
        </p:txBody>
      </p:sp>
      <p:graphicFrame>
        <p:nvGraphicFramePr>
          <p:cNvPr id="355" name="Chart 354"/>
          <p:cNvGraphicFramePr>
            <a:graphicFrameLocks noGrp="1"/>
          </p:cNvGraphicFramePr>
          <p:nvPr/>
        </p:nvGraphicFramePr>
        <p:xfrm>
          <a:off x="7199071" y="3419856"/>
          <a:ext cx="1752904" cy="530352"/>
        </p:xfrm>
        <a:graphic>
          <a:graphicData uri="http://schemas.openxmlformats.org/drawingml/2006/chart">
            <c:chart xmlns:c="http://schemas.openxmlformats.org/drawingml/2006/chart" r:id="rId11"/>
          </a:graphicData>
        </a:graphic>
      </p:graphicFrame>
      <p:sp>
        <p:nvSpPr>
          <p:cNvPr id="356" name="TextBox 355"/>
          <p:cNvSpPr txBox="1"/>
          <p:nvPr/>
        </p:nvSpPr>
        <p:spPr>
          <a:xfrm>
            <a:off x="7162495" y="3950208"/>
            <a:ext cx="1826056" cy="91440"/>
          </a:xfrm>
          <a:prstGeom prst="rect">
            <a:avLst/>
          </a:prstGeom>
          <a:noFill/>
        </p:spPr>
        <p:txBody>
          <a:bodyPr wrap="square" anchor="t" lIns="27432" rIns="27432" tIns="13716" bIns="13716">
            <a:spAutoFit/>
          </a:bodyPr>
          <a:lstStyle/>
          <a:p>
            <a:pPr algn="ctr">
              <a:spcAft>
                <a:spcPts val="120"/>
              </a:spcAft>
            </a:pPr>
            <a:r>
              <a:rPr sz="350" b="0" i="1">
                <a:solidFill>
                  <a:srgbClr val="4B5563"/>
                </a:solidFill>
                <a:latin typeface="Times New Roman"/>
              </a:rPr>
              <a:t>27 of 44 studies (61%)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