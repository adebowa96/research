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2.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17920"/>
            <a:ext cx="4572000" cy="36576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Map shows the 30 studies with an identifiable country setting (World Bank income groups). The other 14 used online or multinational samples or had no single mappable setting in the available records. *Includes Hong Kong (1).</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00"/>
              </a:spcAft>
            </a:pPr>
            <a:r>
              <a:rPr sz="409" b="1" i="0">
                <a:solidFill>
                  <a:srgbClr val="111827"/>
                </a:solidFill>
                <a:latin typeface="Times New Roman"/>
              </a:rPr>
              <a:t>Results</a:t>
            </a:r>
          </a:p>
          <a:p>
            <a:pPr algn="just">
              <a:spcAft>
                <a:spcPts val="100"/>
              </a:spcAft>
            </a:pPr>
            <a:r>
              <a:rPr sz="40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a:t>
            </a:r>
          </a:p>
          <a:p>
            <a:pPr algn="just">
              <a:spcAft>
                <a:spcPts val="100"/>
              </a:spcAft>
            </a:pPr>
            <a:r>
              <a:rPr sz="40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00"/>
              </a:spcAft>
            </a:pPr>
            <a:r>
              <a:rPr sz="409" b="0" i="0">
                <a:solidFill>
                  <a:srgbClr val="111827"/>
                </a:solidFill>
                <a:latin typeface="Times New Roman"/>
              </a:rPr>
              <a:t>Geographic representation was skewed: 20 studies came from high-income countries and 7 from upper-middle-income countries (Türkiye, Iran); only three (6.8%) came from low- and lower-middle-income countries (Bangladesh, Lebanon, Nigeria), and Nigeria was the only study from sub-Saharan Africa (Fig. 3).</a:t>
            </a:r>
          </a:p>
          <a:p>
            <a:pPr algn="just">
              <a:spcAft>
                <a:spcPts val="100"/>
              </a:spcAft>
            </a:pPr>
            <a:r>
              <a:rPr sz="409" b="1" i="0">
                <a:solidFill>
                  <a:srgbClr val="111827"/>
                </a:solidFill>
                <a:latin typeface="Times New Roman"/>
              </a:rPr>
              <a:t>Discussion</a:t>
            </a:r>
          </a:p>
          <a:p>
            <a:pPr algn="just">
              <a:spcAft>
                <a:spcPts val="100"/>
              </a:spcAft>
            </a:pPr>
            <a:r>
              <a:rPr sz="40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scarcity of studies from low- and lower-middle-income countries and Africa leaves the burden in these settings invisible to health systems.</a:t>
            </a:r>
          </a:p>
          <a:p>
            <a:pPr algn="just">
              <a:spcAft>
                <a:spcPts val="100"/>
              </a:spcAft>
            </a:pPr>
            <a:r>
              <a:rPr sz="409" b="1" i="0">
                <a:solidFill>
                  <a:srgbClr val="111827"/>
                </a:solidFill>
                <a:latin typeface="Times New Roman"/>
              </a:rPr>
              <a:t>Conclusion</a:t>
            </a:r>
          </a:p>
          <a:p>
            <a:pPr algn="just">
              <a:spcAft>
                <a:spcPts val="100"/>
              </a:spcAft>
            </a:pPr>
            <a:r>
              <a:rPr sz="40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00"/>
              </a:spcAft>
            </a:pPr>
            <a:r>
              <a:rPr sz="409" b="1" i="0">
                <a:solidFill>
                  <a:srgbClr val="111827"/>
                </a:solidFill>
                <a:latin typeface="Times New Roman"/>
              </a:rPr>
              <a:t>Limitations</a:t>
            </a:r>
          </a:p>
          <a:p>
            <a:pPr algn="just" marL="73152" indent="-64008">
              <a:spcAft>
                <a:spcPts val="100"/>
              </a:spcAft>
              <a:buFont typeface="Arial"/>
              <a:buChar char="•"/>
            </a:pPr>
            <a:r>
              <a:rPr sz="409" b="1" i="0">
                <a:solidFill>
                  <a:srgbClr val="111827"/>
                </a:solidFill>
                <a:latin typeface="Times New Roman"/>
              </a:rPr>
              <a:t>Search scope: </a:t>
            </a:r>
            <a:r>
              <a:rPr sz="409" b="0" i="0">
                <a:solidFill>
                  <a:srgbClr val="111827"/>
                </a:solidFill>
                <a:latin typeface="Times New Roman"/>
              </a:rPr>
              <a:t>studies outside the five databases or the 2010–2025 period may have been missed.</a:t>
            </a:r>
          </a:p>
          <a:p>
            <a:pPr algn="just" marL="73152" indent="-64008">
              <a:spcAft>
                <a:spcPts val="100"/>
              </a:spcAft>
              <a:buFont typeface="Arial"/>
              <a:buChar char="•"/>
            </a:pPr>
            <a:r>
              <a:rPr sz="409" b="1" i="0">
                <a:solidFill>
                  <a:srgbClr val="111827"/>
                </a:solidFill>
                <a:latin typeface="Times New Roman"/>
              </a:rPr>
              <a:t>Study differences: </a:t>
            </a:r>
            <a:r>
              <a:rPr sz="409" b="0" i="0">
                <a:solidFill>
                  <a:srgbClr val="111827"/>
                </a:solidFill>
                <a:latin typeface="Times New Roman"/>
              </a:rPr>
              <a:t>variation in design and outcome definitions limits direct comparison.</a:t>
            </a:r>
          </a:p>
          <a:p>
            <a:pPr algn="just" marL="73152" indent="-64008">
              <a:spcAft>
                <a:spcPts val="100"/>
              </a:spcAft>
              <a:buFont typeface="Arial"/>
              <a:buChar char="•"/>
            </a:pPr>
            <a:r>
              <a:rPr sz="409" b="1" i="0">
                <a:solidFill>
                  <a:srgbClr val="111827"/>
                </a:solidFill>
                <a:latin typeface="Times New Roman"/>
              </a:rPr>
              <a:t>Coding overlap: </a:t>
            </a:r>
            <a:r>
              <a:rPr sz="409" b="0" i="0">
                <a:solidFill>
                  <a:srgbClr val="111827"/>
                </a:solidFill>
                <a:latin typeface="Times New Roman"/>
              </a:rPr>
              <a:t>a study could address more than one outcome, so counts should not be summed.</a:t>
            </a:r>
          </a:p>
          <a:p>
            <a:pPr algn="just" marL="73152" indent="-64008">
              <a:spcAft>
                <a:spcPts val="100"/>
              </a:spcAft>
              <a:buFont typeface="Arial"/>
              <a:buChar char="•"/>
            </a:pPr>
            <a:r>
              <a:rPr sz="409" b="1" i="0">
                <a:solidFill>
                  <a:srgbClr val="111827"/>
                </a:solidFill>
                <a:latin typeface="Times New Roman"/>
              </a:rPr>
              <a:t>Geographic coverage: </a:t>
            </a:r>
            <a:r>
              <a:rPr sz="40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
        <p:nvSpPr>
          <p:cNvPr id="353" name="TextBox 352"/>
          <p:cNvSpPr txBox="1"/>
          <p:nvPr/>
        </p:nvSpPr>
        <p:spPr>
          <a:xfrm>
            <a:off x="7162495" y="3291840"/>
            <a:ext cx="1826056" cy="118872"/>
          </a:xfrm>
          <a:prstGeom prst="rect">
            <a:avLst/>
          </a:prstGeom>
          <a:noFill/>
        </p:spPr>
        <p:txBody>
          <a:bodyPr wrap="square" anchor="t" lIns="27432" rIns="27432" tIns="13716" bIns="13716">
            <a:spAutoFit/>
          </a:bodyPr>
          <a:lstStyle/>
          <a:p>
            <a:pPr algn="l">
              <a:spcAft>
                <a:spcPts val="120"/>
              </a:spcAft>
            </a:pPr>
            <a:r>
              <a:rPr sz="459" b="1" i="0">
                <a:solidFill>
                  <a:srgbClr val="0A254E"/>
                </a:solidFill>
                <a:latin typeface="Times New Roman"/>
              </a:rPr>
              <a:t>Fig 4. Included Studies by Publication Period</a:t>
            </a:r>
          </a:p>
        </p:txBody>
      </p:sp>
      <p:graphicFrame>
        <p:nvGraphicFramePr>
          <p:cNvPr id="354" name="Chart 353"/>
          <p:cNvGraphicFramePr>
            <a:graphicFrameLocks noGrp="1"/>
          </p:cNvGraphicFramePr>
          <p:nvPr/>
        </p:nvGraphicFramePr>
        <p:xfrm>
          <a:off x="7199071" y="3401568"/>
          <a:ext cx="1752904" cy="548640"/>
        </p:xfrm>
        <a:graphic>
          <a:graphicData uri="http://schemas.openxmlformats.org/drawingml/2006/chart">
            <c:chart xmlns:c="http://schemas.openxmlformats.org/drawingml/2006/chart" r:id="rId11"/>
          </a:graphicData>
        </a:graphic>
      </p:graphicFrame>
      <p:sp>
        <p:nvSpPr>
          <p:cNvPr id="355" name="TextBox 354"/>
          <p:cNvSpPr txBox="1"/>
          <p:nvPr/>
        </p:nvSpPr>
        <p:spPr>
          <a:xfrm>
            <a:off x="7162495" y="3950208"/>
            <a:ext cx="1826056" cy="91440"/>
          </a:xfrm>
          <a:prstGeom prst="rect">
            <a:avLst/>
          </a:prstGeom>
          <a:noFill/>
        </p:spPr>
        <p:txBody>
          <a:bodyPr wrap="square" anchor="t" lIns="27432" rIns="27432" tIns="13716" bIns="13716">
            <a:spAutoFit/>
          </a:bodyPr>
          <a:lstStyle/>
          <a:p>
            <a:pPr algn="ctr">
              <a:spcAft>
                <a:spcPts val="120"/>
              </a:spcAft>
            </a:pPr>
            <a:r>
              <a:rPr sz="350" b="0" i="1">
                <a:solidFill>
                  <a:srgbClr val="4B5563"/>
                </a:solidFill>
                <a:latin typeface="Times New Roman"/>
              </a:rPr>
              <a:t>27 of 44 studies (61%)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