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3"/>
            <c:spPr>
              <a:solidFill>
                <a:srgbClr val="A31F34"/>
              </a:solidFill>
            </c:spPr>
          </c:dPt>
          <c:cat>
            <c:strRef>
              <c:f>Sheet1!$A$2:$A$5</c:f>
              <c:strCache>
                <c:ptCount val="4"/>
                <c:pt idx="0">
                  <c:v>2010–13</c:v>
                </c:pt>
                <c:pt idx="1">
                  <c:v>2014–17</c:v>
                </c:pt>
                <c:pt idx="2">
                  <c:v>2018–21</c:v>
                </c:pt>
                <c:pt idx="3">
                  <c:v>2022–25</c:v>
                </c:pt>
              </c:strCache>
            </c:strRef>
          </c:cat>
          <c:val>
            <c:numRef>
              <c:f>Sheet1!$B$2:$B$5</c:f>
              <c:numCache>
                <c:formatCode>General</c:formatCode>
                <c:ptCount val="4"/>
                <c:pt idx="0">
                  <c:v>6</c:v>
                </c:pt>
                <c:pt idx="1">
                  <c:v>6</c:v>
                </c:pt>
                <c:pt idx="2">
                  <c:v>5</c:v>
                </c:pt>
                <c:pt idx="3">
                  <c:v>27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2.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 Id="rId11"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40"/>
              </a:spcAft>
            </a:pPr>
            <a:r>
              <a:rPr sz="434" b="1" i="0">
                <a:solidFill>
                  <a:srgbClr val="111827"/>
                </a:solidFill>
                <a:latin typeface="Times New Roman"/>
              </a:rPr>
              <a:t>Background: </a:t>
            </a:r>
            <a:r>
              <a:rPr sz="434"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40"/>
              </a:spcAft>
            </a:pPr>
            <a:r>
              <a:rPr sz="434" b="1" i="0">
                <a:solidFill>
                  <a:srgbClr val="111827"/>
                </a:solidFill>
                <a:latin typeface="Times New Roman"/>
              </a:rPr>
              <a:t>Methods: </a:t>
            </a:r>
            <a:r>
              <a:rPr sz="434"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40"/>
              </a:spcAft>
            </a:pPr>
            <a:r>
              <a:rPr sz="434" b="1" i="0">
                <a:solidFill>
                  <a:srgbClr val="111827"/>
                </a:solidFill>
                <a:latin typeface="Times New Roman"/>
              </a:rPr>
              <a:t>Results: </a:t>
            </a:r>
            <a:r>
              <a:rPr sz="434"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Only three studies (6.8%) originated from low- and lower-middle-income countries, including one from Nigeria.</a:t>
            </a:r>
          </a:p>
          <a:p>
            <a:pPr algn="just">
              <a:spcAft>
                <a:spcPts val="140"/>
              </a:spcAft>
            </a:pPr>
            <a:r>
              <a:rPr sz="434" b="1" i="0">
                <a:solidFill>
                  <a:srgbClr val="111827"/>
                </a:solidFill>
                <a:latin typeface="Times New Roman"/>
              </a:rPr>
              <a:t>Conclusions: </a:t>
            </a:r>
            <a:r>
              <a:rPr sz="434" b="0" i="0">
                <a:solidFill>
                  <a:srgbClr val="111827"/>
                </a:solidFill>
                <a:latin typeface="Times New Roman"/>
              </a:rPr>
              <a:t>Evidence on PMDD’s psychosocial burden is growing but geographically concentrated in high-income countries, revealing a critical LMIC evidence gap.</a:t>
            </a:r>
          </a:p>
          <a:p>
            <a:pPr algn="just">
              <a:spcAft>
                <a:spcPts val="140"/>
              </a:spcAft>
            </a:pPr>
            <a:r>
              <a:rPr sz="434" b="1" i="0">
                <a:solidFill>
                  <a:srgbClr val="111827"/>
                </a:solidFill>
                <a:latin typeface="Times New Roman"/>
              </a:rPr>
              <a:t>Keywords: </a:t>
            </a:r>
            <a:r>
              <a:rPr sz="434"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and geographic setting (country and income level).</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a:t>
            </a:r>
          </a:p>
          <a:p>
            <a:pPr algn="ctr">
              <a:spcAft>
                <a:spcPts val="0"/>
              </a:spcAft>
            </a:pPr>
            <a:r>
              <a:rPr sz="330" b="0" i="0">
                <a:solidFill>
                  <a:srgbClr val="111827"/>
                </a:solidFill>
                <a:latin typeface="Times New Roman"/>
              </a:rPr>
              <a:t>inclusion criteria</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399585"/>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17920"/>
            <a:ext cx="4572000" cy="365760"/>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Numbers show studies per country (World Bank FY2027 income groups). *Includes Hong Kong (1; not visible at this scale). Also included: online or multinational samples (4), country not reported (1), and 9 studies whose setting is being verified.</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00"/>
              </a:spcAft>
            </a:pPr>
            <a:r>
              <a:rPr sz="409" b="1" i="0">
                <a:solidFill>
                  <a:srgbClr val="111827"/>
                </a:solidFill>
                <a:latin typeface="Times New Roman"/>
              </a:rPr>
              <a:t>Results</a:t>
            </a:r>
          </a:p>
          <a:p>
            <a:pPr algn="just">
              <a:spcAft>
                <a:spcPts val="100"/>
              </a:spcAft>
            </a:pPr>
            <a:r>
              <a:rPr sz="409"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 1).</a:t>
            </a:r>
          </a:p>
          <a:p>
            <a:pPr algn="just">
              <a:spcAft>
                <a:spcPts val="100"/>
              </a:spcAft>
            </a:pPr>
            <a:r>
              <a:rPr sz="409" b="0" i="0">
                <a:solidFill>
                  <a:srgbClr val="111827"/>
                </a:solidFill>
                <a:latin typeface="Times New Roman"/>
              </a:rPr>
              <a:t>Depression was the most documented outcome (n=39), followed by psychological distress (n=24), interpersonal functioning (n=18), suicidal ideation or self-harm (n=14) and quality of life (n=14). Only three studies examined coping mechanisms (Fig. 2).</a:t>
            </a:r>
          </a:p>
          <a:p>
            <a:pPr algn="just">
              <a:spcAft>
                <a:spcPts val="100"/>
              </a:spcAft>
            </a:pPr>
            <a:r>
              <a:rPr sz="409" b="0" i="0">
                <a:solidFill>
                  <a:srgbClr val="111827"/>
                </a:solidFill>
                <a:latin typeface="Times New Roman"/>
              </a:rPr>
              <a:t>Geographic representation was skewed: 20 studies came from high-income countries and 7 from upper-middle-income countries (Türkiye, Iran); only three (6.8%) came from low- and lower-middle-income countries (Bangladesh, Lebanon, Nigeria), and Nigeria was the only study from sub-Saharan Africa (Fig. 3).</a:t>
            </a:r>
          </a:p>
          <a:p>
            <a:pPr algn="just">
              <a:spcAft>
                <a:spcPts val="100"/>
              </a:spcAft>
            </a:pPr>
            <a:r>
              <a:rPr sz="409" b="1" i="0">
                <a:solidFill>
                  <a:srgbClr val="111827"/>
                </a:solidFill>
                <a:latin typeface="Times New Roman"/>
              </a:rPr>
              <a:t>Discussion</a:t>
            </a:r>
          </a:p>
          <a:p>
            <a:pPr algn="just">
              <a:spcAft>
                <a:spcPts val="100"/>
              </a:spcAft>
            </a:pPr>
            <a:r>
              <a:rPr sz="409" b="0" i="0">
                <a:solidFill>
                  <a:srgbClr val="111827"/>
                </a:solidFill>
                <a:latin typeface="Times New Roman"/>
              </a:rPr>
              <a:t>PMDD research consistently documents depression, distress, relationship difficulties and suicidality; large studies have linked PMDD with suicidal ideation and attempts.⁵,⁶ Yet coping mechanisms remain largely unexamined, and the scarcity of studies from low- and lower-middle-income countries and Africa leaves the burden in these settings invisible to health systems.</a:t>
            </a:r>
          </a:p>
          <a:p>
            <a:pPr algn="just">
              <a:spcAft>
                <a:spcPts val="100"/>
              </a:spcAft>
            </a:pPr>
            <a:r>
              <a:rPr sz="409" b="1" i="0">
                <a:solidFill>
                  <a:srgbClr val="111827"/>
                </a:solidFill>
                <a:latin typeface="Times New Roman"/>
              </a:rPr>
              <a:t>Conclusion</a:t>
            </a:r>
          </a:p>
          <a:p>
            <a:pPr algn="just">
              <a:spcAft>
                <a:spcPts val="100"/>
              </a:spcAft>
            </a:pPr>
            <a:r>
              <a:rPr sz="409" b="0" i="0">
                <a:solidFill>
                  <a:srgbClr val="111827"/>
                </a:solidFill>
                <a:latin typeface="Times New Roman"/>
              </a:rPr>
              <a:t>Evidence on PMDD’s psychosocial burden is growing but geographically concentrated in high-income countries. Findings call for culturally responsive screening, integrated mental and reproductive health services, and Africa-centred research investment.</a:t>
            </a:r>
          </a:p>
          <a:p>
            <a:pPr algn="just">
              <a:spcAft>
                <a:spcPts val="100"/>
              </a:spcAft>
            </a:pPr>
            <a:r>
              <a:rPr sz="409" b="1" i="0">
                <a:solidFill>
                  <a:srgbClr val="111827"/>
                </a:solidFill>
                <a:latin typeface="Times New Roman"/>
              </a:rPr>
              <a:t>Limitations</a:t>
            </a:r>
          </a:p>
          <a:p>
            <a:pPr algn="just" marL="73152" indent="-64008">
              <a:spcAft>
                <a:spcPts val="100"/>
              </a:spcAft>
              <a:buFont typeface="Arial"/>
              <a:buChar char="•"/>
            </a:pPr>
            <a:r>
              <a:rPr sz="409" b="1" i="0">
                <a:solidFill>
                  <a:srgbClr val="111827"/>
                </a:solidFill>
                <a:latin typeface="Times New Roman"/>
              </a:rPr>
              <a:t>Search scope: </a:t>
            </a:r>
            <a:r>
              <a:rPr sz="409" b="0" i="0">
                <a:solidFill>
                  <a:srgbClr val="111827"/>
                </a:solidFill>
                <a:latin typeface="Times New Roman"/>
              </a:rPr>
              <a:t>studies outside the five databases or the 2010–2025 period may have been missed.</a:t>
            </a:r>
          </a:p>
          <a:p>
            <a:pPr algn="just" marL="73152" indent="-64008">
              <a:spcAft>
                <a:spcPts val="100"/>
              </a:spcAft>
              <a:buFont typeface="Arial"/>
              <a:buChar char="•"/>
            </a:pPr>
            <a:r>
              <a:rPr sz="409" b="1" i="0">
                <a:solidFill>
                  <a:srgbClr val="111827"/>
                </a:solidFill>
                <a:latin typeface="Times New Roman"/>
              </a:rPr>
              <a:t>Study differences: </a:t>
            </a:r>
            <a:r>
              <a:rPr sz="409" b="0" i="0">
                <a:solidFill>
                  <a:srgbClr val="111827"/>
                </a:solidFill>
                <a:latin typeface="Times New Roman"/>
              </a:rPr>
              <a:t>variation in design and outcome definitions limits direct comparison.</a:t>
            </a:r>
          </a:p>
          <a:p>
            <a:pPr algn="just" marL="73152" indent="-64008">
              <a:spcAft>
                <a:spcPts val="100"/>
              </a:spcAft>
              <a:buFont typeface="Arial"/>
              <a:buChar char="•"/>
            </a:pPr>
            <a:r>
              <a:rPr sz="409" b="1" i="0">
                <a:solidFill>
                  <a:srgbClr val="111827"/>
                </a:solidFill>
                <a:latin typeface="Times New Roman"/>
              </a:rPr>
              <a:t>Coding overlap: </a:t>
            </a:r>
            <a:r>
              <a:rPr sz="409" b="0" i="0">
                <a:solidFill>
                  <a:srgbClr val="111827"/>
                </a:solidFill>
                <a:latin typeface="Times New Roman"/>
              </a:rPr>
              <a:t>a study could address more than one outcome, so counts should not be summed.</a:t>
            </a:r>
          </a:p>
          <a:p>
            <a:pPr algn="just" marL="73152" indent="-64008">
              <a:spcAft>
                <a:spcPts val="100"/>
              </a:spcAft>
              <a:buFont typeface="Arial"/>
              <a:buChar char="•"/>
            </a:pPr>
            <a:r>
              <a:rPr sz="409" b="1" i="0">
                <a:solidFill>
                  <a:srgbClr val="111827"/>
                </a:solidFill>
                <a:latin typeface="Times New Roman"/>
              </a:rPr>
              <a:t>Geographic coverage: </a:t>
            </a:r>
            <a:r>
              <a:rPr sz="409" b="0" i="0">
                <a:solidFill>
                  <a:srgbClr val="111827"/>
                </a:solidFill>
                <a:latin typeface="Times New Roman"/>
              </a:rPr>
              <a:t>few studies from low- and lower-middle-income countries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
        <p:nvSpPr>
          <p:cNvPr id="353" name="TextBox 352"/>
          <p:cNvSpPr txBox="1"/>
          <p:nvPr/>
        </p:nvSpPr>
        <p:spPr>
          <a:xfrm>
            <a:off x="7162495" y="3291840"/>
            <a:ext cx="1826056" cy="118872"/>
          </a:xfrm>
          <a:prstGeom prst="rect">
            <a:avLst/>
          </a:prstGeom>
          <a:noFill/>
        </p:spPr>
        <p:txBody>
          <a:bodyPr wrap="square" anchor="t" lIns="27432" rIns="27432" tIns="13716" bIns="13716">
            <a:spAutoFit/>
          </a:bodyPr>
          <a:lstStyle/>
          <a:p>
            <a:pPr algn="l">
              <a:spcAft>
                <a:spcPts val="120"/>
              </a:spcAft>
            </a:pPr>
            <a:r>
              <a:rPr sz="459" b="1" i="0">
                <a:solidFill>
                  <a:srgbClr val="0A254E"/>
                </a:solidFill>
                <a:latin typeface="Times New Roman"/>
              </a:rPr>
              <a:t>Fig 4. Included Studies by Publication Period</a:t>
            </a:r>
          </a:p>
        </p:txBody>
      </p:sp>
      <p:graphicFrame>
        <p:nvGraphicFramePr>
          <p:cNvPr id="354" name="Chart 353"/>
          <p:cNvGraphicFramePr>
            <a:graphicFrameLocks noGrp="1"/>
          </p:cNvGraphicFramePr>
          <p:nvPr/>
        </p:nvGraphicFramePr>
        <p:xfrm>
          <a:off x="7199071" y="3401568"/>
          <a:ext cx="1752904" cy="548640"/>
        </p:xfrm>
        <a:graphic>
          <a:graphicData uri="http://schemas.openxmlformats.org/drawingml/2006/chart">
            <c:chart xmlns:c="http://schemas.openxmlformats.org/drawingml/2006/chart" r:id="rId11"/>
          </a:graphicData>
        </a:graphic>
      </p:graphicFrame>
      <p:sp>
        <p:nvSpPr>
          <p:cNvPr id="355" name="TextBox 354"/>
          <p:cNvSpPr txBox="1"/>
          <p:nvPr/>
        </p:nvSpPr>
        <p:spPr>
          <a:xfrm>
            <a:off x="7162495" y="3950208"/>
            <a:ext cx="1826056" cy="91440"/>
          </a:xfrm>
          <a:prstGeom prst="rect">
            <a:avLst/>
          </a:prstGeom>
          <a:noFill/>
        </p:spPr>
        <p:txBody>
          <a:bodyPr wrap="square" anchor="t" lIns="27432" rIns="27432" tIns="13716" bIns="13716">
            <a:spAutoFit/>
          </a:bodyPr>
          <a:lstStyle/>
          <a:p>
            <a:pPr algn="ctr">
              <a:spcAft>
                <a:spcPts val="120"/>
              </a:spcAft>
            </a:pPr>
            <a:r>
              <a:rPr sz="350" b="0" i="1">
                <a:solidFill>
                  <a:srgbClr val="4B5563"/>
                </a:solidFill>
                <a:latin typeface="Times New Roman"/>
              </a:rPr>
              <a:t>27 of 44 studies (61%) were published in 2022–2025.</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