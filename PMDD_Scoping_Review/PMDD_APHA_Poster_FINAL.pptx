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0A254E"/>
            </a:solidFill>
          </c:spPr>
          <c:dPt>
            <c:idx val="0"/>
            <c:spPr>
              <a:solidFill>
                <a:srgbClr val="A31F34"/>
              </a:solidFill>
            </c:spPr>
          </c:dPt>
          <c:cat>
            <c:strRef>
              <c:f>Sheet1!$A$2:$A$7</c:f>
              <c:strCache>
                <c:ptCount val="6"/>
                <c:pt idx="0">
                  <c:v>Coping mechanisms</c:v>
                </c:pt>
                <c:pt idx="1">
                  <c:v>Quality of life</c:v>
                </c:pt>
                <c:pt idx="2">
                  <c:v>Suicidal ideation or self-harm</c:v>
                </c:pt>
                <c:pt idx="3">
                  <c:v>Interpersonal functioning</c:v>
                </c:pt>
                <c:pt idx="4">
                  <c:v>Psychological distress</c:v>
                </c:pt>
                <c:pt idx="5">
                  <c:v>Depression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14</c:v>
                </c:pt>
                <c:pt idx="2">
                  <c:v>14</c:v>
                </c:pt>
                <c:pt idx="3">
                  <c:v>18</c:v>
                </c:pt>
                <c:pt idx="4">
                  <c:v>24</c:v>
                </c:pt>
                <c:pt idx="5">
                  <c:v>39</c:v>
                </c:pt>
              </c:numCache>
            </c:numRef>
          </c:val>
        </c:ser>
        <c:dLbls>
          <c:txPr>
            <a:bodyPr/>
            <a:lstStyle/>
            <a:p>
              <a:pPr>
                <a:defRPr sz="459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txPr>
          <a:bodyPr/>
          <a:lstStyle/>
          <a:p>
            <a:pPr>
              <a:defRPr sz="459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459">
          <a:solidFill>
            <a:srgbClr val="111827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0A254E"/>
            </a:solidFill>
          </c:spPr>
          <c:dPt>
            <c:idx val="3"/>
            <c:spPr>
              <a:solidFill>
                <a:srgbClr val="A31F34"/>
              </a:solidFill>
            </c:spPr>
          </c:dPt>
          <c:cat>
            <c:strRef>
              <c:f>Sheet1!$A$2:$A$5</c:f>
              <c:strCache>
                <c:ptCount val="4"/>
                <c:pt idx="0">
                  <c:v>2010–13</c:v>
                </c:pt>
                <c:pt idx="1">
                  <c:v>2014–17</c:v>
                </c:pt>
                <c:pt idx="2">
                  <c:v>2018–21</c:v>
                </c:pt>
                <c:pt idx="3">
                  <c:v>2022–25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27</c:v>
                </c:pt>
              </c:numCache>
            </c:numRef>
          </c:val>
        </c:ser>
        <c:dLbls>
          <c:txPr>
            <a:bodyPr/>
            <a:lstStyle/>
            <a:p>
              <a:pPr>
                <a:defRPr sz="420" b="1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txPr>
          <a:bodyPr/>
          <a:lstStyle/>
          <a:p>
            <a:pPr>
              <a:defRPr sz="4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420">
          <a:solidFill>
            <a:srgbClr val="111827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BDCCF-4A2F-49B0-B87F-E22253D6F77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4540F-8BD0-4131-8B1C-6CA932629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0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577F-B9F7-2240-15E4-FDABBC46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71C4D-5AA2-C172-0001-EB30CAA02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E93C4-1E27-A78C-18EB-36FBAE808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4F0D5-7458-F3FC-A407-B5A218BE6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2072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CA9BC3-5A08-5C40-8DE6-1B49CE826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2072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3190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5"/>
            <a:ext cx="7080026" cy="1828801"/>
          </a:xfrm>
        </p:spPr>
        <p:txBody>
          <a:bodyPr anchor="b">
            <a:normAutofit/>
          </a:bodyPr>
          <a:lstStyle>
            <a:lvl1pPr algn="ctr">
              <a:defRPr sz="5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43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8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3" y="1761072"/>
            <a:ext cx="7192913" cy="1828813"/>
          </a:xfrm>
        </p:spPr>
        <p:txBody>
          <a:bodyPr anchor="b"/>
          <a:lstStyle>
            <a:lvl1pPr algn="ctr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3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1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7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9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71" y="1732454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3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7" y="1770325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7" y="1770325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42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6" y="1835259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6" y="2380142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2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8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67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9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6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9" y="2431522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60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8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1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9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600"/>
            </a:lvl2pPr>
            <a:lvl3pPr marL="914232" indent="0">
              <a:buNone/>
              <a:defRPr sz="1600"/>
            </a:lvl3pPr>
            <a:lvl4pPr marL="1371347" indent="0">
              <a:buNone/>
              <a:defRPr sz="1600"/>
            </a:lvl4pPr>
            <a:lvl5pPr marL="1828461" indent="0">
              <a:buNone/>
              <a:defRPr sz="1600"/>
            </a:lvl5pPr>
            <a:lvl6pPr marL="2285578" indent="0">
              <a:buNone/>
              <a:defRPr sz="1600"/>
            </a:lvl6pPr>
            <a:lvl7pPr marL="2742693" indent="0">
              <a:buNone/>
              <a:defRPr sz="1600"/>
            </a:lvl7pPr>
            <a:lvl8pPr marL="3199808" indent="0">
              <a:buNone/>
              <a:defRPr sz="1600"/>
            </a:lvl8pPr>
            <a:lvl9pPr marL="365692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2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7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6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4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115" indent="0">
              <a:buNone/>
              <a:defRPr sz="2000"/>
            </a:lvl2pPr>
            <a:lvl3pPr marL="914232" indent="0">
              <a:buNone/>
              <a:defRPr sz="2000"/>
            </a:lvl3pPr>
            <a:lvl4pPr marL="1371347" indent="0">
              <a:buNone/>
              <a:defRPr sz="2000"/>
            </a:lvl4pPr>
            <a:lvl5pPr marL="1828461" indent="0">
              <a:buNone/>
              <a:defRPr sz="2000"/>
            </a:lvl5pPr>
            <a:lvl6pPr marL="2285578" indent="0">
              <a:buNone/>
              <a:defRPr sz="2000"/>
            </a:lvl6pPr>
            <a:lvl7pPr marL="2742693" indent="0">
              <a:buNone/>
              <a:defRPr sz="2000"/>
            </a:lvl7pPr>
            <a:lvl8pPr marL="3199808" indent="0">
              <a:buNone/>
              <a:defRPr sz="2000"/>
            </a:lvl8pPr>
            <a:lvl9pPr marL="365692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8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115" indent="0">
              <a:buNone/>
              <a:defRPr sz="1400"/>
            </a:lvl2pPr>
            <a:lvl3pPr marL="914232" indent="0">
              <a:buNone/>
              <a:defRPr sz="1200"/>
            </a:lvl3pPr>
            <a:lvl4pPr marL="1371347" indent="0">
              <a:buNone/>
              <a:defRPr sz="1000"/>
            </a:lvl4pPr>
            <a:lvl5pPr marL="1828461" indent="0">
              <a:buNone/>
              <a:defRPr sz="1000"/>
            </a:lvl5pPr>
            <a:lvl6pPr marL="2285578" indent="0">
              <a:buNone/>
              <a:defRPr sz="1000"/>
            </a:lvl6pPr>
            <a:lvl7pPr marL="2742693" indent="0">
              <a:buNone/>
              <a:defRPr sz="1000"/>
            </a:lvl7pPr>
            <a:lvl8pPr marL="3199808" indent="0">
              <a:buNone/>
              <a:defRPr sz="1000"/>
            </a:lvl8pPr>
            <a:lvl9pPr marL="365692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8" y="608437"/>
            <a:ext cx="7765322" cy="353434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8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115" indent="0">
              <a:buNone/>
              <a:defRPr sz="1400"/>
            </a:lvl2pPr>
            <a:lvl3pPr marL="914232" indent="0">
              <a:buNone/>
              <a:defRPr sz="1200"/>
            </a:lvl3pPr>
            <a:lvl4pPr marL="1371347" indent="0">
              <a:buNone/>
              <a:defRPr sz="1000"/>
            </a:lvl4pPr>
            <a:lvl5pPr marL="1828461" indent="0">
              <a:buNone/>
              <a:defRPr sz="1000"/>
            </a:lvl5pPr>
            <a:lvl6pPr marL="2285578" indent="0">
              <a:buNone/>
              <a:defRPr sz="1000"/>
            </a:lvl6pPr>
            <a:lvl7pPr marL="2742693" indent="0">
              <a:buNone/>
              <a:defRPr sz="1000"/>
            </a:lvl7pPr>
            <a:lvl8pPr marL="3199808" indent="0">
              <a:buNone/>
              <a:defRPr sz="1000"/>
            </a:lvl8pPr>
            <a:lvl9pPr marL="365692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5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7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115" indent="0">
              <a:buNone/>
              <a:defRPr sz="1400"/>
            </a:lvl2pPr>
            <a:lvl3pPr marL="914232" indent="0">
              <a:buNone/>
              <a:defRPr sz="1200"/>
            </a:lvl3pPr>
            <a:lvl4pPr marL="1371347" indent="0">
              <a:buNone/>
              <a:defRPr sz="1000"/>
            </a:lvl4pPr>
            <a:lvl5pPr marL="1828461" indent="0">
              <a:buNone/>
              <a:defRPr sz="1000"/>
            </a:lvl5pPr>
            <a:lvl6pPr marL="2285578" indent="0">
              <a:buNone/>
              <a:defRPr sz="1000"/>
            </a:lvl6pPr>
            <a:lvl7pPr marL="2742693" indent="0">
              <a:buNone/>
              <a:defRPr sz="1000"/>
            </a:lvl7pPr>
            <a:lvl8pPr marL="3199808" indent="0">
              <a:buNone/>
              <a:defRPr sz="1000"/>
            </a:lvl8pPr>
            <a:lvl9pPr marL="365692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8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400"/>
            </a:lvl2pPr>
            <a:lvl3pPr marL="914232" indent="0">
              <a:buNone/>
              <a:defRPr sz="1200"/>
            </a:lvl3pPr>
            <a:lvl4pPr marL="1371347" indent="0">
              <a:buNone/>
              <a:defRPr sz="1000"/>
            </a:lvl4pPr>
            <a:lvl5pPr marL="1828461" indent="0">
              <a:buNone/>
              <a:defRPr sz="1000"/>
            </a:lvl5pPr>
            <a:lvl6pPr marL="2285578" indent="0">
              <a:buNone/>
              <a:defRPr sz="1000"/>
            </a:lvl6pPr>
            <a:lvl7pPr marL="2742693" indent="0">
              <a:buNone/>
              <a:defRPr sz="1000"/>
            </a:lvl7pPr>
            <a:lvl8pPr marL="3199808" indent="0">
              <a:buNone/>
              <a:defRPr sz="1000"/>
            </a:lvl8pPr>
            <a:lvl9pPr marL="365692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510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8" y="2126947"/>
            <a:ext cx="7765322" cy="25118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1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115" indent="0">
              <a:buNone/>
              <a:defRPr sz="1400"/>
            </a:lvl2pPr>
            <a:lvl3pPr marL="914232" indent="0">
              <a:buNone/>
              <a:defRPr sz="1200"/>
            </a:lvl3pPr>
            <a:lvl4pPr marL="1371347" indent="0">
              <a:buNone/>
              <a:defRPr sz="1000"/>
            </a:lvl4pPr>
            <a:lvl5pPr marL="1828461" indent="0">
              <a:buNone/>
              <a:defRPr sz="1000"/>
            </a:lvl5pPr>
            <a:lvl6pPr marL="2285578" indent="0">
              <a:buNone/>
              <a:defRPr sz="1000"/>
            </a:lvl6pPr>
            <a:lvl7pPr marL="2742693" indent="0">
              <a:buNone/>
              <a:defRPr sz="1000"/>
            </a:lvl7pPr>
            <a:lvl8pPr marL="3199808" indent="0">
              <a:buNone/>
              <a:defRPr sz="1000"/>
            </a:lvl8pPr>
            <a:lvl9pPr marL="365692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78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8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13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41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4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8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600"/>
            </a:lvl2pPr>
            <a:lvl3pPr marL="914232" indent="0">
              <a:buNone/>
              <a:defRPr sz="1600"/>
            </a:lvl3pPr>
            <a:lvl4pPr marL="1371347" indent="0">
              <a:buNone/>
              <a:defRPr sz="1600"/>
            </a:lvl4pPr>
            <a:lvl5pPr marL="1828461" indent="0">
              <a:buNone/>
              <a:defRPr sz="1600"/>
            </a:lvl5pPr>
            <a:lvl6pPr marL="2285578" indent="0">
              <a:buNone/>
              <a:defRPr sz="1600"/>
            </a:lvl6pPr>
            <a:lvl7pPr marL="2742693" indent="0">
              <a:buNone/>
              <a:defRPr sz="1600"/>
            </a:lvl7pPr>
            <a:lvl8pPr marL="3199808" indent="0">
              <a:buNone/>
              <a:defRPr sz="1600"/>
            </a:lvl8pPr>
            <a:lvl9pPr marL="365692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73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600"/>
            </a:lvl2pPr>
            <a:lvl3pPr marL="914232" indent="0">
              <a:buNone/>
              <a:defRPr sz="1600"/>
            </a:lvl3pPr>
            <a:lvl4pPr marL="1371347" indent="0">
              <a:buNone/>
              <a:defRPr sz="1600"/>
            </a:lvl4pPr>
            <a:lvl5pPr marL="1828461" indent="0">
              <a:buNone/>
              <a:defRPr sz="1600"/>
            </a:lvl5pPr>
            <a:lvl6pPr marL="2285578" indent="0">
              <a:buNone/>
              <a:defRPr sz="1600"/>
            </a:lvl6pPr>
            <a:lvl7pPr marL="2742693" indent="0">
              <a:buNone/>
              <a:defRPr sz="1600"/>
            </a:lvl7pPr>
            <a:lvl8pPr marL="3199808" indent="0">
              <a:buNone/>
              <a:defRPr sz="1600"/>
            </a:lvl8pPr>
            <a:lvl9pPr marL="365692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7" y="4480372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115" indent="0">
              <a:buNone/>
              <a:defRPr sz="2000" b="1"/>
            </a:lvl2pPr>
            <a:lvl3pPr marL="914232" indent="0">
              <a:buNone/>
              <a:defRPr sz="1800" b="1"/>
            </a:lvl3pPr>
            <a:lvl4pPr marL="1371347" indent="0">
              <a:buNone/>
              <a:defRPr sz="1600" b="1"/>
            </a:lvl4pPr>
            <a:lvl5pPr marL="1828461" indent="0">
              <a:buNone/>
              <a:defRPr sz="1600" b="1"/>
            </a:lvl5pPr>
            <a:lvl6pPr marL="2285578" indent="0">
              <a:buNone/>
              <a:defRPr sz="1600" b="1"/>
            </a:lvl6pPr>
            <a:lvl7pPr marL="2742693" indent="0">
              <a:buNone/>
              <a:defRPr sz="1600" b="1"/>
            </a:lvl7pPr>
            <a:lvl8pPr marL="3199808" indent="0">
              <a:buNone/>
              <a:defRPr sz="1600" b="1"/>
            </a:lvl8pPr>
            <a:lvl9pPr marL="365692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15" indent="0">
              <a:buNone/>
              <a:defRPr sz="1600"/>
            </a:lvl2pPr>
            <a:lvl3pPr marL="914232" indent="0">
              <a:buNone/>
              <a:defRPr sz="1600"/>
            </a:lvl3pPr>
            <a:lvl4pPr marL="1371347" indent="0">
              <a:buNone/>
              <a:defRPr sz="1600"/>
            </a:lvl4pPr>
            <a:lvl5pPr marL="1828461" indent="0">
              <a:buNone/>
              <a:defRPr sz="1600"/>
            </a:lvl5pPr>
            <a:lvl6pPr marL="2285578" indent="0">
              <a:buNone/>
              <a:defRPr sz="1600"/>
            </a:lvl6pPr>
            <a:lvl7pPr marL="2742693" indent="0">
              <a:buNone/>
              <a:defRPr sz="1600"/>
            </a:lvl7pPr>
            <a:lvl8pPr marL="3199808" indent="0">
              <a:buNone/>
              <a:defRPr sz="1600"/>
            </a:lvl8pPr>
            <a:lvl9pPr marL="365692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9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15" indent="0">
              <a:buNone/>
              <a:defRPr sz="1200"/>
            </a:lvl2pPr>
            <a:lvl3pPr marL="914232" indent="0">
              <a:buNone/>
              <a:defRPr sz="1000"/>
            </a:lvl3pPr>
            <a:lvl4pPr marL="1371347" indent="0">
              <a:buNone/>
              <a:defRPr sz="900"/>
            </a:lvl4pPr>
            <a:lvl5pPr marL="1828461" indent="0">
              <a:buNone/>
              <a:defRPr sz="900"/>
            </a:lvl5pPr>
            <a:lvl6pPr marL="2285578" indent="0">
              <a:buNone/>
              <a:defRPr sz="900"/>
            </a:lvl6pPr>
            <a:lvl7pPr marL="2742693" indent="0">
              <a:buNone/>
              <a:defRPr sz="900"/>
            </a:lvl7pPr>
            <a:lvl8pPr marL="3199808" indent="0">
              <a:buNone/>
              <a:defRPr sz="900"/>
            </a:lvl8pPr>
            <a:lvl9pPr marL="365692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39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80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4" y="609604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4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54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8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8" y="1732454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63D97CC-475F-BE49-B579-6BFEF977A37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9" y="5883279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1" y="5883279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3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115" rtl="0" eaLnBrk="1" latinLnBrk="0" hangingPunct="1">
        <a:spcBef>
          <a:spcPct val="0"/>
        </a:spcBef>
        <a:buNone/>
        <a:defRPr sz="3999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37" indent="-305943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19867" indent="-269951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5810" indent="-215960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5744" indent="-215960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690" indent="-215960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228" indent="-228557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356" indent="-228557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485" indent="-228557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5625" indent="-228557" algn="l" defTabSz="457115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5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2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7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61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78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93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08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23" algn="l" defTabSz="4571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chart" Target="../charts/chart1.xml"/><Relationship Id="rId10" Type="http://schemas.openxmlformats.org/officeDocument/2006/relationships/image" Target="../media/image12.png"/><Relationship Id="rId11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8030-E1B7-829F-70FB-178823E4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92E4D3-D69F-BBA0-6A77-133AC82E5870}"/>
              </a:ext>
            </a:extLst>
          </p:cNvPr>
          <p:cNvSpPr txBox="1"/>
          <p:nvPr/>
        </p:nvSpPr>
        <p:spPr>
          <a:xfrm>
            <a:off x="97703" y="57748"/>
            <a:ext cx="8945330" cy="638843"/>
          </a:xfrm>
          <a:prstGeom prst="rect">
            <a:avLst/>
          </a:prstGeom>
          <a:ln w="12700" cap="rnd" cmpd="sng">
            <a:solidFill>
              <a:schemeClr val="bg1"/>
            </a:solidFill>
            <a:round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6373" tIns="43187" rIns="86373" bIns="43187" rtlCol="0" anchor="t" anchorCtr="0">
            <a:spAutoFit/>
          </a:bodyPr>
          <a:lstStyle/>
          <a:p>
            <a:pPr algn="ctr" defTabSz="431785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BFBAC90-C707-3C09-BB31-DD613E19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4" y="162921"/>
            <a:ext cx="1008380" cy="293111"/>
          </a:xfrm>
          <a:prstGeom prst="rect">
            <a:avLst/>
          </a:prstGeom>
        </p:spPr>
      </p:pic>
      <p:sp>
        <p:nvSpPr>
          <p:cNvPr id="305" name="TextBox 304">
            <a:extLst>
              <a:ext uri="{FF2B5EF4-FFF2-40B4-BE49-F238E27FC236}">
                <a16:creationId xmlns:a16="http://schemas.microsoft.com/office/drawing/2014/main" id="{85C62487-59C5-8FF4-A5EA-9480F11E6F4C}"/>
              </a:ext>
            </a:extLst>
          </p:cNvPr>
          <p:cNvSpPr txBox="1"/>
          <p:nvPr/>
        </p:nvSpPr>
        <p:spPr>
          <a:xfrm>
            <a:off x="2318494" y="726150"/>
            <a:ext cx="4735327" cy="6015701"/>
          </a:xfrm>
          <a:prstGeom prst="rect">
            <a:avLst/>
          </a:prstGeom>
          <a:solidFill>
            <a:srgbClr val="FFFFFF"/>
          </a:solidFill>
          <a:ln cap="rnd">
            <a:solidFill>
              <a:schemeClr val="bg1"/>
            </a:solidFill>
          </a:ln>
        </p:spPr>
        <p:txBody>
          <a:bodyPr wrap="square" lIns="38100" rIns="38100" rtlCol="0">
            <a:noAutofit/>
          </a:bodyPr>
          <a:lstStyle/>
          <a:p>
            <a:pPr algn="just" defTabSz="431785"/>
            <a:endParaRPr lang="en-US" sz="375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19CA0B-FA23-2B29-17D2-A15AD6D1D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916" y="5785408"/>
            <a:ext cx="1032357" cy="1032357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1280160" y="68580"/>
            <a:ext cx="7726679" cy="6172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ctr">
              <a:spcAft>
                <a:spcPts val="150"/>
              </a:spcAft>
            </a:pPr>
            <a:r>
              <a:rPr sz="1000" b="1" i="0">
                <a:solidFill>
                  <a:srgbClr val="111827"/>
                </a:solidFill>
                <a:latin typeface="Times New Roman"/>
              </a:rPr>
              <a:t>PSYCHOSOCIAL OUTCOMES AND COPING MECHANISMS AMONG WOMEN WITH PREMENSTRUAL DYSPHORIC DISORDER: A GLOBAL SCOPING REVIEW</a:t>
            </a:r>
          </a:p>
          <a:p>
            <a:pPr algn="ctr">
              <a:spcAft>
                <a:spcPts val="0"/>
              </a:spcAft>
            </a:pPr>
            <a:r>
              <a:rPr sz="790" b="0" i="0">
                <a:solidFill>
                  <a:srgbClr val="111827"/>
                </a:solidFill>
                <a:latin typeface="Times New Roman"/>
              </a:rPr>
              <a:t>Ifeoluwanimi P. Shobayo, MSPH, Chelsea R. Mazonde, MPH, Marylyn O. Oduneye, MSPH, Tahirou Diallo, MSPH, Fadzai G. Nyarugwe, MSPH, Cynthia C. Ilechukwu, MSPH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97840" y="737006"/>
            <a:ext cx="2027224" cy="181965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Abstract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97840" y="941832"/>
            <a:ext cx="2027224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13716"/>
          <a:lstStyle/>
          <a:p>
            <a:pPr algn="just">
              <a:spcAft>
                <a:spcPts val="120"/>
              </a:spcAft>
            </a:pPr>
            <a:r>
              <a:rPr sz="430" b="1" i="0">
                <a:solidFill>
                  <a:srgbClr val="111827"/>
                </a:solidFill>
                <a:latin typeface="Times New Roman"/>
              </a:rPr>
              <a:t>Background: </a:t>
            </a:r>
            <a:r>
              <a:rPr sz="430" b="0" i="0">
                <a:solidFill>
                  <a:srgbClr val="111827"/>
                </a:solidFill>
                <a:latin typeface="Times New Roman"/>
              </a:rPr>
              <a:t>Premenstrual dysphoric disorder (PMDD) is a DSM-5 depressive disorder affecting an estimated 31 million women and girls worldwide.¹ This scoping review examined psychosocial outcomes and coping mechanisms among women with PMDD and assessed the geographic distribution of the evidence.</a:t>
            </a:r>
          </a:p>
          <a:p>
            <a:pPr algn="just">
              <a:spcAft>
                <a:spcPts val="120"/>
              </a:spcAft>
            </a:pPr>
            <a:r>
              <a:rPr sz="430" b="1" i="0">
                <a:solidFill>
                  <a:srgbClr val="111827"/>
                </a:solidFill>
                <a:latin typeface="Times New Roman"/>
              </a:rPr>
              <a:t>Methods: </a:t>
            </a:r>
            <a:r>
              <a:rPr sz="430" b="0" i="0">
                <a:solidFill>
                  <a:srgbClr val="111827"/>
                </a:solidFill>
                <a:latin typeface="Times New Roman"/>
              </a:rPr>
              <a:t>Following Arksey and O’Malley’s framework and PRISMA-ScR guidance, we searched PubMed/MEDLINE, CINAHL, APA PsycInfo, APA PsycArticles and the Cochrane Library for peer-reviewed studies published 2010–2025. Eligible empirical and qualitative studies had PMDD as the primary population and at least one psychosocial outcome or coping mechanism as a primary aim.</a:t>
            </a:r>
          </a:p>
          <a:p>
            <a:pPr algn="just">
              <a:spcAft>
                <a:spcPts val="120"/>
              </a:spcAft>
            </a:pPr>
            <a:r>
              <a:rPr sz="430" b="1" i="0">
                <a:solidFill>
                  <a:srgbClr val="111827"/>
                </a:solidFill>
                <a:latin typeface="Times New Roman"/>
              </a:rPr>
              <a:t>Results: </a:t>
            </a:r>
            <a:r>
              <a:rPr sz="430" b="0" i="0">
                <a:solidFill>
                  <a:srgbClr val="111827"/>
                </a:solidFill>
                <a:latin typeface="Times New Roman"/>
              </a:rPr>
              <a:t>The search identified 1,943 records; 1,618 remained after deduplication and 44 studies met the inclusion criteria. Depression was most documented (n=39), followed by psychological distress (n=24), interpersonal functioning (n=18), suicidal ideation or self-harm (n=14) and quality of life (n=14). Only three studies examined coping mechanisms. Only three studies (6.8%) originated from low- and lower-middle-income countries, including one from Nigeria.</a:t>
            </a:r>
          </a:p>
          <a:p>
            <a:pPr algn="just">
              <a:spcAft>
                <a:spcPts val="120"/>
              </a:spcAft>
            </a:pPr>
            <a:r>
              <a:rPr sz="430" b="1" i="0">
                <a:solidFill>
                  <a:srgbClr val="111827"/>
                </a:solidFill>
                <a:latin typeface="Times New Roman"/>
              </a:rPr>
              <a:t>Conclusions: </a:t>
            </a:r>
            <a:r>
              <a:rPr sz="430" b="0" i="0">
                <a:solidFill>
                  <a:srgbClr val="111827"/>
                </a:solidFill>
                <a:latin typeface="Times New Roman"/>
              </a:rPr>
              <a:t>Evidence on PMDD’s psychosocial burden is growing but geographically concentrated in high-income countries, revealing a critical LMIC evidence gap.</a:t>
            </a:r>
          </a:p>
          <a:p>
            <a:pPr algn="just">
              <a:spcAft>
                <a:spcPts val="120"/>
              </a:spcAft>
            </a:pPr>
            <a:r>
              <a:rPr sz="430" b="1" i="0">
                <a:solidFill>
                  <a:srgbClr val="111827"/>
                </a:solidFill>
                <a:latin typeface="Times New Roman"/>
              </a:rPr>
              <a:t>Keywords: </a:t>
            </a:r>
            <a:r>
              <a:rPr sz="430" b="0" i="1">
                <a:solidFill>
                  <a:srgbClr val="111827"/>
                </a:solidFill>
                <a:latin typeface="Times New Roman"/>
              </a:rPr>
              <a:t>premenstrual dysphoric disorder; psychosocial outcomes; coping mechanisms; LMICs; scoping review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7840" y="2395728"/>
            <a:ext cx="2027224" cy="329184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Times New Roman"/>
              </a:rPr>
              <a:t>Introduction, Objective, and Research Question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7840" y="2770632"/>
            <a:ext cx="2027224" cy="1243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13716"/>
          <a:lstStyle/>
          <a:p>
            <a:pPr algn="just">
              <a:spcAft>
                <a:spcPts val="160"/>
              </a:spcAft>
            </a:pPr>
            <a:r>
              <a:rPr sz="445" b="1" i="0">
                <a:solidFill>
                  <a:srgbClr val="111827"/>
                </a:solidFill>
                <a:latin typeface="Times New Roman"/>
              </a:rPr>
              <a:t>Introduction: </a:t>
            </a:r>
            <a:r>
              <a:rPr sz="445" b="0" i="0">
                <a:solidFill>
                  <a:srgbClr val="111827"/>
                </a:solidFill>
                <a:latin typeface="Times New Roman"/>
              </a:rPr>
              <a:t>PMDD is a recurring, hormone-linked mood disorder in which irritability, mood swings, depressed mood and anxiety emerge in the late luteal phase and remit after menses begin. It is classified as a depressive disorder in DSM-5² and recognized in ICD-11.³ Using prospectively confirmed diagnoses, community prevalence is about 1.6%, roughly 31 million women and girls worldwide.¹ PMDD has been linked with suicidal ideation and attempts,⁴˒⁵ strained romantic relationships⁶ and reduced quality of life.⁷ Premenstrual symptoms are also common across Africa, where pooled premenstrual syndrome prevalence reaches 47%,⁸ yet it remains unclear how women with PMDD cope or where the evidence has been generated.</a:t>
            </a:r>
          </a:p>
          <a:p>
            <a:pPr algn="just">
              <a:spcAft>
                <a:spcPts val="160"/>
              </a:spcAft>
            </a:pPr>
            <a:r>
              <a:rPr sz="445" b="1" i="0">
                <a:solidFill>
                  <a:srgbClr val="111827"/>
                </a:solidFill>
                <a:latin typeface="Times New Roman"/>
              </a:rPr>
              <a:t>Objective: </a:t>
            </a:r>
            <a:r>
              <a:rPr sz="445" b="0" i="0">
                <a:solidFill>
                  <a:srgbClr val="111827"/>
                </a:solidFill>
                <a:latin typeface="Times New Roman"/>
              </a:rPr>
              <a:t>To map psychosocial outcomes and coping mechanisms reported among women with PMDD and identify geographic gaps in the published literature.</a:t>
            </a:r>
          </a:p>
          <a:p>
            <a:pPr algn="just">
              <a:spcAft>
                <a:spcPts val="160"/>
              </a:spcAft>
            </a:pPr>
            <a:r>
              <a:rPr sz="445" b="1" i="0">
                <a:solidFill>
                  <a:srgbClr val="111827"/>
                </a:solidFill>
                <a:latin typeface="Times New Roman"/>
              </a:rPr>
              <a:t>Research Question: </a:t>
            </a:r>
            <a:r>
              <a:rPr sz="445" b="0" i="0">
                <a:solidFill>
                  <a:srgbClr val="111827"/>
                </a:solidFill>
                <a:latin typeface="Times New Roman"/>
              </a:rPr>
              <a:t>What psychosocial outcomes and coping mechanisms have been reported in studies of women with PMDD published between 2010 and 2025, and how are these studies distributed across geographic settings?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97840" y="4078224"/>
            <a:ext cx="2027224" cy="181965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Methods</a:t>
            </a:r>
          </a:p>
        </p:txBody>
      </p:sp>
      <p:graphicFrame>
        <p:nvGraphicFramePr>
          <p:cNvPr id="312" name="Table 311"/>
          <p:cNvGraphicFramePr>
            <a:graphicFrameLocks noGrp="1"/>
          </p:cNvGraphicFramePr>
          <p:nvPr/>
        </p:nvGraphicFramePr>
        <p:xfrm>
          <a:off x="97840" y="4288536"/>
          <a:ext cx="2027224" cy="244144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66928"/>
                <a:gridCol w="1460296"/>
              </a:tblGrid>
              <a:tr h="128016">
                <a:tc>
                  <a:txBody>
                    <a:bodyPr/>
                    <a:lstStyle/>
                    <a:p>
                      <a:r>
                        <a:rPr sz="430" b="1">
                          <a:solidFill>
                            <a:srgbClr val="111827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anchor="ctr" marL="27432" marR="27432" marT="9144" marB="9144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30" b="1">
                          <a:solidFill>
                            <a:srgbClr val="111827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anchor="ctr" marL="27432" marR="27432" marT="9144" marB="9144">
                    <a:solidFill>
                      <a:srgbClr val="D9E2F3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Study Design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Scoping review guided by Arksey and O’Malley’s framework⁹ with Levac et al.’s refinements,¹⁰ reported using PRISMA-ScR.¹¹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Databases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PubMed/MEDLINE, CINAHL, APA PsycInfo, APA PsycArticles and Cochrane Library.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Publication Years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2010–2025.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Inclusion Criteria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Peer-reviewed empirical or qualitative studies with PMDD as the primary population and at least one psychosocial outcome or coping mechanism as a primary aim.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Exclusion Criteria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Animal studies, laboratory research, reviews, interventions and non-peer-reviewed publications.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Screening Process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1,943 records identified; 325 duplicates removed; 1,618 records screened by title and abstract; 64 assessed for eligibility; 44 studies included.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30490">
                <a:tc>
                  <a:txBody>
                    <a:bodyPr/>
                    <a:lstStyle/>
                    <a:p>
                      <a:r>
                        <a:rPr sz="409" b="1">
                          <a:solidFill>
                            <a:srgbClr val="111827"/>
                          </a:solidFill>
                          <a:latin typeface="Times New Roman"/>
                        </a:rPr>
                        <a:t>Evidence Mapping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9" b="0">
                          <a:solidFill>
                            <a:srgbClr val="111827"/>
                          </a:solidFill>
                          <a:latin typeface="Times New Roman"/>
                        </a:rPr>
                        <a:t>Included studies categorized by psychosocial outcome, coping mechanism, publication year and geographic setting (country and World Bank income group¹²).</a:t>
                      </a:r>
                    </a:p>
                  </a:txBody>
                  <a:tcPr anchor="ctr" marL="27432" marR="27432" marT="9144" marB="9144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313" name="TextBox 312"/>
          <p:cNvSpPr txBox="1"/>
          <p:nvPr/>
        </p:nvSpPr>
        <p:spPr>
          <a:xfrm>
            <a:off x="2410358" y="790041"/>
            <a:ext cx="1138199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A254E"/>
                </a:solidFill>
                <a:latin typeface="Times New Roman"/>
              </a:rPr>
              <a:t>1,943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111827"/>
                </a:solidFill>
                <a:latin typeface="Times New Roman"/>
              </a:rPr>
              <a:t>records identified</a:t>
            </a:r>
          </a:p>
          <a:p>
            <a:pPr algn="ctr">
              <a:spcAft>
                <a:spcPts val="0"/>
              </a:spcAft>
            </a:pPr>
            <a:r>
              <a:rPr sz="550" b="0" i="1">
                <a:solidFill>
                  <a:srgbClr val="4B5563"/>
                </a:solidFill>
                <a:latin typeface="Times New Roman"/>
              </a:rPr>
              <a:t>across 5 databases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548557" y="790041"/>
            <a:ext cx="1138199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A254E"/>
                </a:solidFill>
                <a:latin typeface="Times New Roman"/>
              </a:rPr>
              <a:t>44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111827"/>
                </a:solidFill>
                <a:latin typeface="Times New Roman"/>
              </a:rPr>
              <a:t>studies included</a:t>
            </a:r>
          </a:p>
          <a:p>
            <a:pPr algn="ctr">
              <a:spcAft>
                <a:spcPts val="0"/>
              </a:spcAft>
            </a:pPr>
            <a:r>
              <a:rPr sz="550" b="0" i="1">
                <a:solidFill>
                  <a:srgbClr val="4B5563"/>
                </a:solidFill>
                <a:latin typeface="Times New Roman"/>
              </a:rPr>
              <a:t>in the scoping review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3548557" y="863193"/>
            <a:ext cx="0" cy="64008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4686757" y="790041"/>
            <a:ext cx="1138199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A31F34"/>
                </a:solidFill>
                <a:latin typeface="Times New Roman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111827"/>
                </a:solidFill>
                <a:latin typeface="Times New Roman"/>
              </a:rPr>
              <a:t>studies addressing coping</a:t>
            </a:r>
          </a:p>
          <a:p>
            <a:pPr algn="ctr">
              <a:spcAft>
                <a:spcPts val="0"/>
              </a:spcAft>
            </a:pPr>
            <a:r>
              <a:rPr sz="550" b="0" i="1">
                <a:solidFill>
                  <a:srgbClr val="4B5563"/>
                </a:solidFill>
                <a:latin typeface="Times New Roman"/>
              </a:rPr>
              <a:t>6.8% of 44</a:t>
            </a:r>
          </a:p>
        </p:txBody>
      </p:sp>
      <p:cxnSp>
        <p:nvCxnSpPr>
          <p:cNvPr id="317" name="Connector 316"/>
          <p:cNvCxnSpPr/>
          <p:nvPr/>
        </p:nvCxnSpPr>
        <p:spPr>
          <a:xfrm>
            <a:off x="4686757" y="863193"/>
            <a:ext cx="0" cy="64008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5824956" y="790041"/>
            <a:ext cx="1138199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A31F34"/>
                </a:solidFill>
                <a:latin typeface="Times New Roman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111827"/>
                </a:solidFill>
                <a:latin typeface="Times New Roman"/>
              </a:rPr>
              <a:t>low/lower-middle-income studies</a:t>
            </a:r>
          </a:p>
          <a:p>
            <a:pPr algn="ctr">
              <a:spcAft>
                <a:spcPts val="0"/>
              </a:spcAft>
            </a:pPr>
            <a:r>
              <a:rPr sz="550" b="0" i="1">
                <a:solidFill>
                  <a:srgbClr val="4B5563"/>
                </a:solidFill>
                <a:latin typeface="Times New Roman"/>
              </a:rPr>
              <a:t>6.8% of 44</a:t>
            </a:r>
          </a:p>
        </p:txBody>
      </p:sp>
      <p:cxnSp>
        <p:nvCxnSpPr>
          <p:cNvPr id="319" name="Connector 318"/>
          <p:cNvCxnSpPr/>
          <p:nvPr/>
        </p:nvCxnSpPr>
        <p:spPr>
          <a:xfrm>
            <a:off x="5824956" y="863193"/>
            <a:ext cx="0" cy="64008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Rounded Rectangle 319"/>
          <p:cNvSpPr/>
          <p:nvPr/>
        </p:nvSpPr>
        <p:spPr>
          <a:xfrm>
            <a:off x="2414016" y="1700784"/>
            <a:ext cx="301752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3716" bIns="13716"/>
          <a:lstStyle/>
          <a:p>
            <a:pPr algn="ctr">
              <a:spcAft>
                <a:spcPts val="120"/>
              </a:spcAft>
            </a:pPr>
            <a:r>
              <a:rPr sz="340" b="1" i="1">
                <a:solidFill>
                  <a:srgbClr val="0A254E"/>
                </a:solidFill>
                <a:latin typeface="Times New Roman"/>
              </a:rPr>
              <a:t>Identification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2414016" y="2139696"/>
            <a:ext cx="301752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3716" bIns="13716"/>
          <a:lstStyle/>
          <a:p>
            <a:pPr algn="ctr">
              <a:spcAft>
                <a:spcPts val="120"/>
              </a:spcAft>
            </a:pPr>
            <a:r>
              <a:rPr sz="340" b="1" i="1">
                <a:solidFill>
                  <a:srgbClr val="0A254E"/>
                </a:solidFill>
                <a:latin typeface="Times New Roman"/>
              </a:rPr>
              <a:t>De-duplication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2414016" y="2542032"/>
            <a:ext cx="301752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3716" bIns="13716"/>
          <a:lstStyle/>
          <a:p>
            <a:pPr algn="ctr">
              <a:spcAft>
                <a:spcPts val="120"/>
              </a:spcAft>
            </a:pPr>
            <a:r>
              <a:rPr sz="340" b="1" i="1">
                <a:solidFill>
                  <a:srgbClr val="0A254E"/>
                </a:solidFill>
                <a:latin typeface="Times New Roman"/>
              </a:rPr>
              <a:t>Screening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2414016" y="2980944"/>
            <a:ext cx="301752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3716" bIns="13716"/>
          <a:lstStyle/>
          <a:p>
            <a:pPr algn="ctr">
              <a:spcAft>
                <a:spcPts val="120"/>
              </a:spcAft>
            </a:pPr>
            <a:r>
              <a:rPr sz="340" b="1" i="1">
                <a:solidFill>
                  <a:srgbClr val="0A254E"/>
                </a:solidFill>
                <a:latin typeface="Times New Roman"/>
              </a:rPr>
              <a:t>Eligibility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2414016" y="3419856"/>
            <a:ext cx="301752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3716" bIns="13716"/>
          <a:lstStyle/>
          <a:p>
            <a:pPr algn="ctr">
              <a:spcAft>
                <a:spcPts val="120"/>
              </a:spcAft>
            </a:pPr>
            <a:r>
              <a:rPr sz="340" b="1" i="1">
                <a:solidFill>
                  <a:srgbClr val="0A254E"/>
                </a:solidFill>
                <a:latin typeface="Times New Roman"/>
              </a:rPr>
              <a:t>Included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2761488" y="1700784"/>
            <a:ext cx="960120" cy="365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762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18" b="1" i="0">
                <a:solidFill>
                  <a:srgbClr val="111827"/>
                </a:solidFill>
                <a:latin typeface="Times New Roman"/>
              </a:rPr>
              <a:t>Records identified via database search</a:t>
            </a:r>
          </a:p>
          <a:p>
            <a:pPr algn="ctr">
              <a:spcAft>
                <a:spcPts val="0"/>
              </a:spcAft>
            </a:pPr>
            <a:r>
              <a:rPr sz="318" b="0" i="0">
                <a:solidFill>
                  <a:srgbClr val="111827"/>
                </a:solidFill>
                <a:latin typeface="Times New Roman"/>
              </a:rPr>
              <a:t>PubMed/MEDLINE · CINAHL · APA PsycInfo</a:t>
            </a:r>
          </a:p>
          <a:p>
            <a:pPr algn="ctr">
              <a:spcAft>
                <a:spcPts val="0"/>
              </a:spcAft>
            </a:pPr>
            <a:r>
              <a:rPr sz="318" b="0" i="0">
                <a:solidFill>
                  <a:srgbClr val="111827"/>
                </a:solidFill>
                <a:latin typeface="Times New Roman"/>
              </a:rPr>
              <a:t>APA PsycArticles · Cochrane Library</a:t>
            </a:r>
          </a:p>
          <a:p>
            <a:pPr algn="ctr">
              <a:spcAft>
                <a:spcPts val="0"/>
              </a:spcAft>
            </a:pPr>
            <a:r>
              <a:rPr sz="318" b="0" i="0">
                <a:solidFill>
                  <a:srgbClr val="111827"/>
                </a:solidFill>
                <a:latin typeface="Times New Roman"/>
              </a:rPr>
              <a:t>n = 1,943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3241548" y="2066543"/>
            <a:ext cx="0" cy="73153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ounded Rectangle 326"/>
          <p:cNvSpPr/>
          <p:nvPr/>
        </p:nvSpPr>
        <p:spPr>
          <a:xfrm>
            <a:off x="2761488" y="2139696"/>
            <a:ext cx="960120" cy="329184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762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60" b="1" i="0">
                <a:solidFill>
                  <a:srgbClr val="111827"/>
                </a:solidFill>
                <a:latin typeface="Times New Roman"/>
              </a:rPr>
              <a:t>Records after duplicate removal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325 duplicates removed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n = 1,618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3241548" y="2468880"/>
            <a:ext cx="0" cy="73152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Rounded Rectangle 328"/>
          <p:cNvSpPr/>
          <p:nvPr/>
        </p:nvSpPr>
        <p:spPr>
          <a:xfrm>
            <a:off x="2761488" y="2542032"/>
            <a:ext cx="960120" cy="365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762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60" b="1" i="0">
                <a:solidFill>
                  <a:srgbClr val="111827"/>
                </a:solidFill>
                <a:latin typeface="Times New Roman"/>
              </a:rPr>
              <a:t>Records screened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(title and abstract)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n = 1,618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3785615" y="2542032"/>
            <a:ext cx="886968" cy="36576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 w="7620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20" b="1" i="0">
                <a:solidFill>
                  <a:srgbClr val="111827"/>
                </a:solidFill>
                <a:latin typeface="Times New Roman"/>
              </a:rPr>
              <a:t>Excluded (n = 1,554)</a:t>
            </a:r>
          </a:p>
          <a:p>
            <a:pPr algn="ctr">
              <a:spcAft>
                <a:spcPts val="0"/>
              </a:spcAft>
            </a:pPr>
            <a:r>
              <a:rPr sz="320" b="0" i="0">
                <a:solidFill>
                  <a:srgbClr val="111827"/>
                </a:solidFill>
                <a:latin typeface="Times New Roman"/>
              </a:rPr>
              <a:t>Not PMDD-focused or no psychosocial/</a:t>
            </a:r>
          </a:p>
          <a:p>
            <a:pPr algn="ctr">
              <a:spcAft>
                <a:spcPts val="0"/>
              </a:spcAft>
            </a:pPr>
            <a:r>
              <a:rPr sz="320" b="0" i="0">
                <a:solidFill>
                  <a:srgbClr val="111827"/>
                </a:solidFill>
                <a:latin typeface="Times New Roman"/>
              </a:rPr>
              <a:t>coping aim; review, intervention,</a:t>
            </a:r>
          </a:p>
          <a:p>
            <a:pPr algn="ctr">
              <a:spcAft>
                <a:spcPts val="0"/>
              </a:spcAft>
            </a:pPr>
            <a:r>
              <a:rPr sz="320" b="0" i="0">
                <a:solidFill>
                  <a:srgbClr val="111827"/>
                </a:solidFill>
                <a:latin typeface="Times New Roman"/>
              </a:rPr>
              <a:t>animal or laboratory study</a:t>
            </a:r>
          </a:p>
        </p:txBody>
      </p:sp>
      <p:cxnSp>
        <p:nvCxnSpPr>
          <p:cNvPr id="331" name="Connector 330"/>
          <p:cNvCxnSpPr/>
          <p:nvPr/>
        </p:nvCxnSpPr>
        <p:spPr>
          <a:xfrm>
            <a:off x="3721608" y="2724912"/>
            <a:ext cx="64007" cy="0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3241548" y="2907792"/>
            <a:ext cx="0" cy="73152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Rounded Rectangle 332"/>
          <p:cNvSpPr/>
          <p:nvPr/>
        </p:nvSpPr>
        <p:spPr>
          <a:xfrm>
            <a:off x="2761488" y="2980944"/>
            <a:ext cx="960120" cy="365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762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60" b="1" i="0">
                <a:solidFill>
                  <a:srgbClr val="111827"/>
                </a:solidFill>
                <a:latin typeface="Times New Roman"/>
              </a:rPr>
              <a:t>Records assessed for eligibility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(title and abstract)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n = 64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3785615" y="2980944"/>
            <a:ext cx="886968" cy="36576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 w="7620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318" b="1" i="0">
                <a:solidFill>
                  <a:srgbClr val="111827"/>
                </a:solidFill>
                <a:latin typeface="Times New Roman"/>
              </a:rPr>
              <a:t>Excluded (n = 20)</a:t>
            </a:r>
          </a:p>
          <a:p>
            <a:pPr algn="ctr">
              <a:spcAft>
                <a:spcPts val="0"/>
              </a:spcAft>
            </a:pPr>
            <a:r>
              <a:rPr sz="318" b="0" i="0">
                <a:solidFill>
                  <a:srgbClr val="111827"/>
                </a:solidFill>
                <a:latin typeface="Times New Roman"/>
              </a:rPr>
              <a:t>Did not meet</a:t>
            </a:r>
          </a:p>
          <a:p>
            <a:pPr algn="ctr">
              <a:spcAft>
                <a:spcPts val="0"/>
              </a:spcAft>
            </a:pPr>
            <a:r>
              <a:rPr sz="318" b="0" i="0">
                <a:solidFill>
                  <a:srgbClr val="111827"/>
                </a:solidFill>
                <a:latin typeface="Times New Roman"/>
              </a:rPr>
              <a:t>inclusion criteria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3721608" y="3163824"/>
            <a:ext cx="64007" cy="0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3241548" y="3346704"/>
            <a:ext cx="0" cy="73152"/>
          </a:xfrm>
          <a:prstGeom prst="line">
            <a:avLst/>
          </a:prstGeom>
          <a:ln w="11430">
            <a:solidFill>
              <a:srgbClr val="0A2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Rounded Rectangle 336"/>
          <p:cNvSpPr/>
          <p:nvPr/>
        </p:nvSpPr>
        <p:spPr>
          <a:xfrm>
            <a:off x="2761488" y="3419856"/>
            <a:ext cx="960120" cy="36576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762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420" b="1" i="0">
                <a:solidFill>
                  <a:srgbClr val="111827"/>
                </a:solidFill>
                <a:latin typeface="Times New Roman"/>
              </a:rPr>
              <a:t>Studies included in</a:t>
            </a:r>
          </a:p>
          <a:p>
            <a:pPr algn="ctr">
              <a:spcAft>
                <a:spcPts val="0"/>
              </a:spcAft>
            </a:pPr>
            <a:r>
              <a:rPr sz="420" b="0" i="0">
                <a:solidFill>
                  <a:srgbClr val="111827"/>
                </a:solidFill>
                <a:latin typeface="Times New Roman"/>
              </a:rPr>
              <a:t>the scoping review</a:t>
            </a:r>
          </a:p>
          <a:p>
            <a:pPr algn="ctr">
              <a:spcAft>
                <a:spcPts val="0"/>
              </a:spcAft>
            </a:pPr>
            <a:r>
              <a:rPr sz="420" b="0" i="0">
                <a:solidFill>
                  <a:srgbClr val="111827"/>
                </a:solidFill>
                <a:latin typeface="Times New Roman"/>
              </a:rPr>
              <a:t>n = 44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2414016" y="3803904"/>
            <a:ext cx="2258568" cy="164592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spcAft>
                <a:spcPts val="120"/>
              </a:spcAft>
            </a:pPr>
            <a:r>
              <a:rPr sz="420" b="1" i="0">
                <a:solidFill>
                  <a:srgbClr val="0A254E"/>
                </a:solidFill>
                <a:latin typeface="Times New Roman"/>
              </a:rPr>
              <a:t>Figure 1. </a:t>
            </a:r>
            <a:r>
              <a:rPr sz="420" b="1" i="0">
                <a:solidFill>
                  <a:srgbClr val="0A254E"/>
                </a:solidFill>
                <a:latin typeface="Times New Roman"/>
              </a:rPr>
              <a:t>Study Selection Flow Diagram.</a:t>
            </a:r>
            <a:r>
              <a:rPr sz="420" b="0" i="0">
                <a:solidFill>
                  <a:srgbClr val="111827"/>
                </a:solidFill>
                <a:latin typeface="Times New Roman"/>
              </a:rPr>
              <a:t> Adapted from PRISMA-ScR.¹¹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2414016" y="3986784"/>
            <a:ext cx="2258568" cy="5486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6350">
            <a:solidFill>
              <a:srgbClr val="0A2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100"/>
              </a:spcAft>
            </a:pPr>
            <a:r>
              <a:rPr sz="380" b="1" i="0">
                <a:solidFill>
                  <a:srgbClr val="111827"/>
                </a:solidFill>
                <a:latin typeface="Times New Roman"/>
              </a:rPr>
              <a:t>Inclusion Criteria (Arksey &amp; O’Malley, 2005 — scoping review framework)</a:t>
            </a:r>
          </a:p>
          <a:p>
            <a:pPr algn="ctr">
              <a:spcAft>
                <a:spcPts val="5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✓  Peer-reviewed empirical or qualitative studies, 2010–2025</a:t>
            </a:r>
          </a:p>
          <a:p>
            <a:pPr algn="ctr">
              <a:spcAft>
                <a:spcPts val="5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✓  PMDD as the primary population</a:t>
            </a:r>
          </a:p>
          <a:p>
            <a:pPr algn="ctr">
              <a:spcAft>
                <a:spcPts val="0"/>
              </a:spcAft>
            </a:pPr>
            <a:r>
              <a:rPr sz="360" b="0" i="0">
                <a:solidFill>
                  <a:srgbClr val="111827"/>
                </a:solidFill>
                <a:latin typeface="Times New Roman"/>
              </a:rPr>
              <a:t>✓  At least one psychosocial outcome or coping mechanism as a primary aim</a:t>
            </a:r>
          </a:p>
        </p:txBody>
      </p:sp>
      <p:graphicFrame>
        <p:nvGraphicFramePr>
          <p:cNvPr id="340" name="Chart 339"/>
          <p:cNvGraphicFramePr>
            <a:graphicFrameLocks noGrp="1"/>
          </p:cNvGraphicFramePr>
          <p:nvPr/>
        </p:nvGraphicFramePr>
        <p:xfrm>
          <a:off x="4754880" y="1682496"/>
          <a:ext cx="2240280" cy="2596896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41" name="TextBox 340"/>
          <p:cNvSpPr txBox="1"/>
          <p:nvPr/>
        </p:nvSpPr>
        <p:spPr>
          <a:xfrm>
            <a:off x="4754880" y="4297680"/>
            <a:ext cx="2240280" cy="237744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spcAft>
                <a:spcPts val="120"/>
              </a:spcAft>
            </a:pPr>
            <a:r>
              <a:rPr sz="420" b="1" i="0">
                <a:solidFill>
                  <a:srgbClr val="0A254E"/>
                </a:solidFill>
                <a:latin typeface="Times New Roman"/>
              </a:rPr>
              <a:t>Figure 2. </a:t>
            </a:r>
            <a:r>
              <a:rPr sz="420" b="1" i="0">
                <a:solidFill>
                  <a:srgbClr val="0A254E"/>
                </a:solidFill>
                <a:latin typeface="Times New Roman"/>
              </a:rPr>
              <a:t>Psychosocial Outcomes Reported in the 44 Included Studies.</a:t>
            </a:r>
            <a:r>
              <a:rPr sz="420" b="0" i="0">
                <a:solidFill>
                  <a:srgbClr val="111827"/>
                </a:solidFill>
                <a:latin typeface="Times New Roman"/>
              </a:rPr>
              <a:t> A study could report more than one outcome, so counts should not be summed.</a:t>
            </a:r>
          </a:p>
        </p:txBody>
      </p:sp>
      <p:pic>
        <p:nvPicPr>
          <p:cNvPr id="342" name="Picture 341" descr="fig3_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4016" y="4681728"/>
            <a:ext cx="3108960" cy="1399585"/>
          </a:xfrm>
          <a:prstGeom prst="rect">
            <a:avLst/>
          </a:prstGeom>
        </p:spPr>
      </p:pic>
      <p:sp>
        <p:nvSpPr>
          <p:cNvPr id="343" name="Rounded Rectangle 342"/>
          <p:cNvSpPr/>
          <p:nvPr/>
        </p:nvSpPr>
        <p:spPr>
          <a:xfrm>
            <a:off x="5577840" y="4800600"/>
            <a:ext cx="1371600" cy="10972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7620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A31F34"/>
                </a:solidFill>
                <a:latin typeface="Times New Roman"/>
              </a:rPr>
              <a:t>6.8%</a:t>
            </a:r>
          </a:p>
          <a:p>
            <a:pPr algn="ctr">
              <a:spcAft>
                <a:spcPts val="100"/>
              </a:spcAft>
            </a:pPr>
            <a:r>
              <a:rPr sz="520" b="0" i="0">
                <a:solidFill>
                  <a:srgbClr val="111827"/>
                </a:solidFill>
                <a:latin typeface="Times New Roman"/>
              </a:rPr>
              <a:t>of included studies (3 of 44) came from low- and lower-middle-income countries</a:t>
            </a:r>
          </a:p>
          <a:p>
            <a:pPr algn="ctr">
              <a:spcAft>
                <a:spcPts val="100"/>
              </a:spcAft>
            </a:pPr>
            <a:r>
              <a:rPr sz="520" b="0" i="0">
                <a:solidFill>
                  <a:srgbClr val="111827"/>
                </a:solidFill>
                <a:latin typeface="Times New Roman"/>
              </a:rPr>
              <a:t>20 high-income · 7 upper-middle-income</a:t>
            </a:r>
          </a:p>
          <a:p>
            <a:pPr algn="ctr">
              <a:spcAft>
                <a:spcPts val="0"/>
              </a:spcAft>
            </a:pPr>
            <a:r>
              <a:rPr sz="520" b="1" i="0">
                <a:solidFill>
                  <a:srgbClr val="A31F34"/>
                </a:solidFill>
                <a:latin typeface="Times New Roman"/>
              </a:rPr>
              <a:t>Sub-Saharan Africa: 1 study (Nigeria)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414016" y="6126480"/>
            <a:ext cx="4572000" cy="29260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spcAft>
                <a:spcPts val="120"/>
              </a:spcAft>
            </a:pPr>
            <a:r>
              <a:rPr sz="420" b="1" i="0">
                <a:solidFill>
                  <a:srgbClr val="0A254E"/>
                </a:solidFill>
                <a:latin typeface="Times New Roman"/>
              </a:rPr>
              <a:t>Figure 3. </a:t>
            </a:r>
            <a:r>
              <a:rPr sz="420" b="1" i="0">
                <a:solidFill>
                  <a:srgbClr val="0A254E"/>
                </a:solidFill>
                <a:latin typeface="Times New Roman"/>
              </a:rPr>
              <a:t>Country Setting and World Bank Income Group of Included Studies.</a:t>
            </a:r>
            <a:r>
              <a:rPr sz="420" b="0" i="0">
                <a:solidFill>
                  <a:srgbClr val="111827"/>
                </a:solidFill>
                <a:latin typeface="Times New Roman"/>
              </a:rPr>
              <a:t> Map shows the 30 studies with an identifiable country setting; income groups follow the World Bank FY2027 classification.¹² The other 14 used online or multinational samples or had no single mappable setting in the available records. *Includes Hong Kong (1).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7107631" y="726033"/>
            <a:ext cx="1935784" cy="329184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Times New Roman"/>
              </a:rPr>
              <a:t>Results, Discussion, Conclusion, and Limitations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107631" y="1088136"/>
            <a:ext cx="1935784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13716"/>
          <a:lstStyle/>
          <a:p>
            <a:pPr algn="just">
              <a:spcAft>
                <a:spcPts val="100"/>
              </a:spcAft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Results</a:t>
            </a:r>
          </a:p>
          <a:p>
            <a:pPr algn="just">
              <a:spcAft>
                <a:spcPts val="100"/>
              </a:spcAft>
            </a:pPr>
            <a:r>
              <a:rPr sz="409" b="0" i="0">
                <a:solidFill>
                  <a:srgbClr val="111827"/>
                </a:solidFill>
                <a:latin typeface="Times New Roman"/>
              </a:rPr>
              <a:t>The database search identified 1,943 records. After 325 duplicates were removed, 1,618 records were screened by title and abstract; 64 were assessed for eligibility, 20 were excluded, and 44 studies were included (Figure 1). Most (61%) were published in 2022–2025 (Figure 4).</a:t>
            </a:r>
          </a:p>
          <a:p>
            <a:pPr algn="just">
              <a:spcAft>
                <a:spcPts val="100"/>
              </a:spcAft>
            </a:pPr>
            <a:r>
              <a:rPr sz="409" b="0" i="0">
                <a:solidFill>
                  <a:srgbClr val="111827"/>
                </a:solidFill>
                <a:latin typeface="Times New Roman"/>
              </a:rPr>
              <a:t>Depression was the most documented outcome (n=39); one nationwide cohort found a 2.6-fold higher risk of later depression after a PMDD diagnosis.¹³ Psychological distress (n=24), interpersonal functioning (n=18), suicidal ideation or self-harm (n=14) and quality of life (n=14) followed. Only three studies examined coping mechanisms, such as peer support shared in online PMDD communities¹⁴ (Figure 2).</a:t>
            </a:r>
          </a:p>
          <a:p>
            <a:pPr algn="just">
              <a:spcAft>
                <a:spcPts val="100"/>
              </a:spcAft>
            </a:pPr>
            <a:r>
              <a:rPr sz="409" b="0" i="0">
                <a:solidFill>
                  <a:srgbClr val="111827"/>
                </a:solidFill>
                <a:latin typeface="Times New Roman"/>
              </a:rPr>
              <a:t>Twenty studies came from high-income countries and seven from upper-middle-income countries (Türkiye, Iran); only three (6.8%) came from low- and lower-middle-income countries—Bangladesh,¹⁵ Lebanon¹⁶ and Nigeria,¹⁷ the only study from sub-Saharan Africa (Figure 3).</a:t>
            </a:r>
          </a:p>
          <a:p>
            <a:pPr algn="just">
              <a:spcAft>
                <a:spcPts val="100"/>
              </a:spcAft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Discussion</a:t>
            </a:r>
          </a:p>
          <a:p>
            <a:pPr algn="just">
              <a:spcAft>
                <a:spcPts val="100"/>
              </a:spcAft>
            </a:pPr>
            <a:r>
              <a:rPr sz="409" b="0" i="0">
                <a:solidFill>
                  <a:srgbClr val="111827"/>
                </a:solidFill>
                <a:latin typeface="Times New Roman"/>
              </a:rPr>
              <a:t>PMDD research consistently documents depression, distress, relationship difficulties and suicidality.⁴⁻⁷ Patients describe misdiagnosis and uneven provider knowledge,¹⁸˒¹⁹ yet coping remains largely unexamined.</a:t>
            </a:r>
          </a:p>
          <a:p>
            <a:pPr algn="just">
              <a:spcAft>
                <a:spcPts val="100"/>
              </a:spcAft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Conclusion</a:t>
            </a:r>
          </a:p>
          <a:p>
            <a:pPr algn="just">
              <a:spcAft>
                <a:spcPts val="100"/>
              </a:spcAft>
            </a:pPr>
            <a:r>
              <a:rPr sz="409" b="0" i="0">
                <a:solidFill>
                  <a:srgbClr val="111827"/>
                </a:solidFill>
                <a:latin typeface="Times New Roman"/>
              </a:rPr>
              <a:t>PMDD carries a well-documented psychosocial burden, especially depression, distress and suicidality, yet how women cope has received little attention, and evidence from low-income settings and Africa is nearly absent. Culturally responsive screening, integrated mental and reproductive health services, and Africa-centered research investment are needed to make this burden visible to health systems.</a:t>
            </a:r>
          </a:p>
          <a:p>
            <a:pPr algn="just">
              <a:spcAft>
                <a:spcPts val="100"/>
              </a:spcAft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Limitations</a:t>
            </a:r>
          </a:p>
          <a:p>
            <a:pPr algn="just" marL="73152" indent="-64008">
              <a:spcAft>
                <a:spcPts val="100"/>
              </a:spcAft>
              <a:buFont typeface="Arial"/>
              <a:buChar char="•"/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Search scope: </a:t>
            </a:r>
            <a:r>
              <a:rPr sz="409" b="0" i="0">
                <a:solidFill>
                  <a:srgbClr val="111827"/>
                </a:solidFill>
                <a:latin typeface="Times New Roman"/>
              </a:rPr>
              <a:t>studies outside the five databases or the 2010–2025 period may have been missed.</a:t>
            </a:r>
          </a:p>
          <a:p>
            <a:pPr algn="just" marL="73152" indent="-64008">
              <a:spcAft>
                <a:spcPts val="100"/>
              </a:spcAft>
              <a:buFont typeface="Arial"/>
              <a:buChar char="•"/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Study differences: </a:t>
            </a:r>
            <a:r>
              <a:rPr sz="409" b="0" i="0">
                <a:solidFill>
                  <a:srgbClr val="111827"/>
                </a:solidFill>
                <a:latin typeface="Times New Roman"/>
              </a:rPr>
              <a:t>variation in design and outcome definitions limits direct comparison.</a:t>
            </a:r>
          </a:p>
          <a:p>
            <a:pPr algn="just" marL="73152" indent="-64008">
              <a:spcAft>
                <a:spcPts val="100"/>
              </a:spcAft>
              <a:buFont typeface="Arial"/>
              <a:buChar char="•"/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Coding overlap: </a:t>
            </a:r>
            <a:r>
              <a:rPr sz="409" b="0" i="0">
                <a:solidFill>
                  <a:srgbClr val="111827"/>
                </a:solidFill>
                <a:latin typeface="Times New Roman"/>
              </a:rPr>
              <a:t>a study could address more than one outcome, so counts should not be summed.</a:t>
            </a:r>
          </a:p>
          <a:p>
            <a:pPr algn="just" marL="73152" indent="-64008">
              <a:spcAft>
                <a:spcPts val="100"/>
              </a:spcAft>
              <a:buFont typeface="Arial"/>
              <a:buChar char="•"/>
            </a:pPr>
            <a:r>
              <a:rPr sz="409" b="1" i="0">
                <a:solidFill>
                  <a:srgbClr val="111827"/>
                </a:solidFill>
                <a:latin typeface="Times New Roman"/>
              </a:rPr>
              <a:t>Geographic coverage: </a:t>
            </a:r>
            <a:r>
              <a:rPr sz="409" b="0" i="0">
                <a:solidFill>
                  <a:srgbClr val="111827"/>
                </a:solidFill>
                <a:latin typeface="Times New Roman"/>
              </a:rPr>
              <a:t>few studies from low- and lower-middle-income countries limit conclusions about those settings.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7107631" y="4123944"/>
            <a:ext cx="1935784" cy="329184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Times New Roman"/>
              </a:rPr>
              <a:t>Public Health Implications and Future Work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7107631" y="4480560"/>
            <a:ext cx="1935784" cy="10332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13716"/>
          <a:lstStyle/>
          <a:p>
            <a:pPr algn="l">
              <a:spcAft>
                <a:spcPts val="70"/>
              </a:spcAft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Public Health Implications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Screen for suicide risk: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ask about suicidal thoughts when women present with severe premenstrual mood symptoms.⁴˒⁵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Integrate care: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embed PMDD screening in sexual and reproductive, school and university health services.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Train providers: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improve recognition to reduce misdiagnosis and delayed care.¹⁸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Address coping needs: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ask how women manage symptoms and connect them with peer and professional support.¹⁴</a:t>
            </a:r>
          </a:p>
          <a:p>
            <a:pPr algn="l">
              <a:spcAft>
                <a:spcPts val="70"/>
              </a:spcAft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Future Work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Confirm PMDD prospectively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using validated daily ratings.¹˒²⁰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Prioritize low-income and African settings,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including qualitative studies of stigma and coping.</a:t>
            </a:r>
          </a:p>
          <a:p>
            <a:pPr algn="l" marL="73152" indent="-64008">
              <a:spcAft>
                <a:spcPts val="70"/>
              </a:spcAft>
              <a:buFont typeface="Arial"/>
              <a:buChar char="•"/>
            </a:pPr>
            <a:r>
              <a:rPr sz="405" b="1" i="0">
                <a:solidFill>
                  <a:srgbClr val="111827"/>
                </a:solidFill>
                <a:latin typeface="Times New Roman"/>
              </a:rPr>
              <a:t>Validate screening tools </a:t>
            </a:r>
            <a:r>
              <a:rPr sz="405" b="0" i="0">
                <a:solidFill>
                  <a:srgbClr val="111827"/>
                </a:solidFill>
                <a:latin typeface="Times New Roman"/>
              </a:rPr>
              <a:t>in African languages and test coping-focused interventions.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7107631" y="5573268"/>
            <a:ext cx="1935784" cy="181965"/>
          </a:xfrm>
          <a:prstGeom prst="rect">
            <a:avLst/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3716" bIns="13716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2428646" y="6455664"/>
            <a:ext cx="4516221" cy="237744"/>
          </a:xfrm>
          <a:prstGeom prst="roundRect">
            <a:avLst>
              <a:gd name="adj" fmla="val 8000"/>
            </a:avLst>
          </a:prstGeom>
          <a:solidFill>
            <a:srgbClr val="0A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" bIns="13716"/>
          <a:lstStyle/>
          <a:p>
            <a:pPr algn="ctr">
              <a:spcAft>
                <a:spcPts val="120"/>
              </a:spcAft>
            </a:pPr>
            <a:r>
              <a:rPr sz="560" b="1" i="0">
                <a:solidFill>
                  <a:srgbClr val="F2C14E"/>
                </a:solidFill>
                <a:latin typeface="Times New Roman"/>
              </a:rPr>
              <a:t>KEY TAKEAWAY  </a:t>
            </a:r>
            <a:r>
              <a:rPr sz="560" b="0" i="0">
                <a:solidFill>
                  <a:srgbClr val="FFFFFF"/>
                </a:solidFill>
                <a:latin typeface="Times New Roman"/>
              </a:rPr>
              <a:t>PMDD’s psychosocial burden is well documented in high-income countries, yet nearly invisible in low-income settings and sub-Saharan Africa.</a:t>
            </a:r>
          </a:p>
        </p:txBody>
      </p:sp>
      <p:graphicFrame>
        <p:nvGraphicFramePr>
          <p:cNvPr id="351" name="Chart 350"/>
          <p:cNvGraphicFramePr>
            <a:graphicFrameLocks noGrp="1"/>
          </p:cNvGraphicFramePr>
          <p:nvPr/>
        </p:nvGraphicFramePr>
        <p:xfrm>
          <a:off x="7199071" y="3419856"/>
          <a:ext cx="1752904" cy="4572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352" name="TextBox 351"/>
          <p:cNvSpPr txBox="1"/>
          <p:nvPr/>
        </p:nvSpPr>
        <p:spPr>
          <a:xfrm>
            <a:off x="7162495" y="3877056"/>
            <a:ext cx="1826056" cy="164592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spcAft>
                <a:spcPts val="120"/>
              </a:spcAft>
            </a:pPr>
            <a:r>
              <a:rPr sz="380" b="1" i="0">
                <a:solidFill>
                  <a:srgbClr val="0A254E"/>
                </a:solidFill>
                <a:latin typeface="Times New Roman"/>
              </a:rPr>
              <a:t>Figure 4. </a:t>
            </a:r>
            <a:r>
              <a:rPr sz="380" b="1" i="0">
                <a:solidFill>
                  <a:srgbClr val="0A254E"/>
                </a:solidFill>
                <a:latin typeface="Times New Roman"/>
              </a:rPr>
              <a:t>Included Studies by Publication Period.</a:t>
            </a:r>
            <a:r>
              <a:rPr sz="380" b="0" i="0">
                <a:solidFill>
                  <a:srgbClr val="111827"/>
                </a:solidFill>
                <a:latin typeface="Times New Roman"/>
              </a:rPr>
              <a:t> 27 of 44 studies (61%) were published in 2022–2025.</a:t>
            </a:r>
          </a:p>
        </p:txBody>
      </p:sp>
    </p:spTree>
    <p:extLst>
      <p:ext uri="{BB962C8B-B14F-4D97-AF65-F5344CB8AC3E}">
        <p14:creationId xmlns:p14="http://schemas.microsoft.com/office/powerpoint/2010/main" val="1610733976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1215</Words>
  <Application>Microsoft Office PowerPoint</Application>
  <PresentationFormat>On-screen Show (4:3)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Calisto MT</vt:lpstr>
      <vt:lpstr>Garamond</vt:lpstr>
      <vt:lpstr>Lucida Grande</vt:lpstr>
      <vt:lpstr>Times New Roman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Shobayo, Ifeoluwanimi (Public &amp; Community Health)</dc:creator>
  <cp:lastModifiedBy>Shobayo, Ifeoluwanimi (Public &amp; Community Health)</cp:lastModifiedBy>
  <cp:revision>5</cp:revision>
  <dcterms:created xsi:type="dcterms:W3CDTF">2026-08-26T00:09:23Z</dcterms:created>
  <dcterms:modified xsi:type="dcterms:W3CDTF">2026-09-29T15:33:18Z</dcterms:modified>
</cp:coreProperties>
</file>