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125919" y="5788152"/>
            <a:ext cx="914400" cy="914400"/>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40"/>
              </a:spcAft>
            </a:pPr>
            <a:r>
              <a:rPr sz="434" b="1" i="0">
                <a:solidFill>
                  <a:srgbClr val="111827"/>
                </a:solidFill>
                <a:latin typeface="Times New Roman"/>
              </a:rPr>
              <a:t>Background: </a:t>
            </a:r>
            <a:r>
              <a:rPr sz="434"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40"/>
              </a:spcAft>
            </a:pPr>
            <a:r>
              <a:rPr sz="434" b="1" i="0">
                <a:solidFill>
                  <a:srgbClr val="111827"/>
                </a:solidFill>
                <a:latin typeface="Times New Roman"/>
              </a:rPr>
              <a:t>Methods: </a:t>
            </a:r>
            <a:r>
              <a:rPr sz="434"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40"/>
              </a:spcAft>
            </a:pPr>
            <a:r>
              <a:rPr sz="434" b="1" i="0">
                <a:solidFill>
                  <a:srgbClr val="111827"/>
                </a:solidFill>
                <a:latin typeface="Times New Roman"/>
              </a:rPr>
              <a:t>Results: </a:t>
            </a:r>
            <a:r>
              <a:rPr sz="434"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Only three studies (6.8%) originated from low- and lower-middle-income countries, including one from Nigeria.</a:t>
            </a:r>
          </a:p>
          <a:p>
            <a:pPr algn="just">
              <a:spcAft>
                <a:spcPts val="140"/>
              </a:spcAft>
            </a:pPr>
            <a:r>
              <a:rPr sz="434" b="1" i="0">
                <a:solidFill>
                  <a:srgbClr val="111827"/>
                </a:solidFill>
                <a:latin typeface="Times New Roman"/>
              </a:rPr>
              <a:t>Conclusions: </a:t>
            </a:r>
            <a:r>
              <a:rPr sz="434" b="0" i="0">
                <a:solidFill>
                  <a:srgbClr val="111827"/>
                </a:solidFill>
                <a:latin typeface="Times New Roman"/>
              </a:rPr>
              <a:t>Evidence on PMDD’s psychosocial burden is growing but geographically concentrated in high-income countries, revealing a critical LMIC evidence gap.</a:t>
            </a:r>
          </a:p>
          <a:p>
            <a:pPr algn="just">
              <a:spcAft>
                <a:spcPts val="140"/>
              </a:spcAft>
            </a:pPr>
            <a:r>
              <a:rPr sz="434" b="1" i="0">
                <a:solidFill>
                  <a:srgbClr val="111827"/>
                </a:solidFill>
                <a:latin typeface="Times New Roman"/>
              </a:rPr>
              <a:t>Keywords: </a:t>
            </a:r>
            <a:r>
              <a:rPr sz="434"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80"/>
              </a:spcAft>
            </a:pPr>
            <a:r>
              <a:rPr sz="459" b="1" i="0">
                <a:solidFill>
                  <a:srgbClr val="111827"/>
                </a:solidFill>
                <a:latin typeface="Times New Roman"/>
              </a:rPr>
              <a:t>Introduction: </a:t>
            </a:r>
            <a:r>
              <a:rPr sz="459" b="0" i="0">
                <a:solidFill>
                  <a:srgbClr val="111827"/>
                </a:solidFill>
                <a:latin typeface="Times New Roman"/>
              </a:rPr>
              <a:t>PMDD is a recurring, hormone-linked mood disorder in which irritability, mood swings, depressed mood and anxiety emerge in the late luteal phase and remit after menses begin; DSM-5 classifies it as a depressive disorder.² Using prospectively confirmed diagnoses, community prevalence is about 1.6%, roughly 31 million women and girls worldwide.¹ PMDD has been linked with suicidal thoughts, strained relationships and reduced quality of life, but this evidence is scattered across disciplines, and it is unclear how women cope or where the research has been conducted.</a:t>
            </a:r>
          </a:p>
          <a:p>
            <a:pPr algn="just">
              <a:spcAft>
                <a:spcPts val="180"/>
              </a:spcAft>
            </a:pPr>
            <a:r>
              <a:rPr sz="459" b="1" i="0">
                <a:solidFill>
                  <a:srgbClr val="111827"/>
                </a:solidFill>
                <a:latin typeface="Times New Roman"/>
              </a:rPr>
              <a:t>Objective: </a:t>
            </a:r>
            <a:r>
              <a:rPr sz="459" b="0" i="0">
                <a:solidFill>
                  <a:srgbClr val="111827"/>
                </a:solidFill>
                <a:latin typeface="Times New Roman"/>
              </a:rPr>
              <a:t>To map psychosocial outcomes and coping mechanisms reported among women with PMDD and identify geographic gaps in the published literature.</a:t>
            </a:r>
          </a:p>
          <a:p>
            <a:pPr algn="just">
              <a:spcAft>
                <a:spcPts val="180"/>
              </a:spcAft>
            </a:pPr>
            <a:r>
              <a:rPr sz="459" b="1" i="0">
                <a:solidFill>
                  <a:srgbClr val="111827"/>
                </a:solidFill>
                <a:latin typeface="Times New Roman"/>
              </a:rPr>
              <a:t>Research Question: </a:t>
            </a:r>
            <a:r>
              <a:rPr sz="459"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framework³ and reported using PRISMA-ScR.⁴</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records screened by title and abstract; 64 assessed for eligibility;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and geographic setting (country and income level).</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low/lower-middle-income studies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assessed for eligibility</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a:t>
            </a:r>
          </a:p>
          <a:p>
            <a:pPr algn="ctr">
              <a:spcAft>
                <a:spcPts val="0"/>
              </a:spcAft>
            </a:pPr>
            <a:r>
              <a:rPr sz="330" b="0" i="0">
                <a:solidFill>
                  <a:srgbClr val="111827"/>
                </a:solidFill>
                <a:latin typeface="Times New Roman"/>
              </a:rPr>
              <a:t>inclusion criteria</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44)</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Geographic Setting of the 44 Included Studies</a:t>
            </a:r>
          </a:p>
        </p:txBody>
      </p:sp>
      <p:pic>
        <p:nvPicPr>
          <p:cNvPr id="344" name="Picture 343" descr="fig3_map.png"/>
          <p:cNvPicPr>
            <a:picLocks noChangeAspect="1"/>
          </p:cNvPicPr>
          <p:nvPr/>
        </p:nvPicPr>
        <p:blipFill>
          <a:blip r:embed="rId10"/>
          <a:stretch>
            <a:fillRect/>
          </a:stretch>
        </p:blipFill>
        <p:spPr>
          <a:xfrm>
            <a:off x="2414016" y="4837176"/>
            <a:ext cx="3108960" cy="1399585"/>
          </a:xfrm>
          <a:prstGeom prst="rect">
            <a:avLst/>
          </a:prstGeom>
        </p:spPr>
      </p:pic>
      <p:sp>
        <p:nvSpPr>
          <p:cNvPr id="345" name="Rounded Rectangle 344"/>
          <p:cNvSpPr/>
          <p:nvPr/>
        </p:nvSpPr>
        <p:spPr>
          <a:xfrm>
            <a:off x="5577840" y="4956048"/>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low- and lower-middle-income countries</a:t>
            </a:r>
          </a:p>
          <a:p>
            <a:pPr algn="ctr">
              <a:spcAft>
                <a:spcPts val="100"/>
              </a:spcAft>
            </a:pPr>
            <a:r>
              <a:rPr sz="520" b="0" i="0">
                <a:solidFill>
                  <a:srgbClr val="111827"/>
                </a:solidFill>
                <a:latin typeface="Times New Roman"/>
              </a:rPr>
              <a:t>20 high-income · 7 upper-middle-income</a:t>
            </a:r>
          </a:p>
          <a:p>
            <a:pPr algn="ctr">
              <a:spcAft>
                <a:spcPts val="0"/>
              </a:spcAft>
            </a:pPr>
            <a:r>
              <a:rPr sz="520" b="1" i="0">
                <a:solidFill>
                  <a:srgbClr val="A31F34"/>
                </a:solidFill>
                <a:latin typeface="Times New Roman"/>
              </a:rPr>
              <a:t>Sub-Saharan Africa: 1 study (Nigeria)</a:t>
            </a:r>
          </a:p>
        </p:txBody>
      </p:sp>
      <p:sp>
        <p:nvSpPr>
          <p:cNvPr id="346" name="TextBox 345"/>
          <p:cNvSpPr txBox="1"/>
          <p:nvPr/>
        </p:nvSpPr>
        <p:spPr>
          <a:xfrm>
            <a:off x="2414016" y="6217920"/>
            <a:ext cx="4572000" cy="365760"/>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Numbers show studies per country (World Bank FY2027 income groups). *Includes Hong Kong (1; not visible at this scale). Also included: online or multinational samples (4), country not reported (1), and 9 studies whose setting is being verified.</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50"/>
              </a:spcAft>
            </a:pPr>
            <a:r>
              <a:rPr sz="459" b="1" i="0">
                <a:solidFill>
                  <a:srgbClr val="111827"/>
                </a:solidFill>
                <a:latin typeface="Times New Roman"/>
              </a:rPr>
              <a:t>Results</a:t>
            </a:r>
          </a:p>
          <a:p>
            <a:pPr algn="just">
              <a:spcAft>
                <a:spcPts val="150"/>
              </a:spcAft>
            </a:pPr>
            <a:r>
              <a:rPr sz="459" b="0" i="0">
                <a:solidFill>
                  <a:srgbClr val="111827"/>
                </a:solidFill>
                <a:latin typeface="Times New Roman"/>
              </a:rPr>
              <a:t>The database search identified 1,943 records. After 325 duplicates were removed, 1,618 records were screened by title and abstract; 64 were assessed for eligibility, 20 were excluded, and 44 studies were included (Fig. 1).</a:t>
            </a:r>
          </a:p>
          <a:p>
            <a:pPr algn="just">
              <a:spcAft>
                <a:spcPts val="150"/>
              </a:spcAft>
            </a:pPr>
            <a:r>
              <a:rPr sz="459" b="0" i="0">
                <a:solidFill>
                  <a:srgbClr val="111827"/>
                </a:solidFill>
                <a:latin typeface="Times New Roman"/>
              </a:rPr>
              <a:t>Depression was the most documented outcome (n=39), followed by psychological distress (n=24), interpersonal functioning (n=18), suicidal ideation or self-harm (n=14) and quality of life (n=14). Only three studies examined coping mechanisms (Fig. 2).</a:t>
            </a:r>
          </a:p>
          <a:p>
            <a:pPr algn="just">
              <a:spcAft>
                <a:spcPts val="150"/>
              </a:spcAft>
            </a:pPr>
            <a:r>
              <a:rPr sz="459" b="0" i="0">
                <a:solidFill>
                  <a:srgbClr val="111827"/>
                </a:solidFill>
                <a:latin typeface="Times New Roman"/>
              </a:rPr>
              <a:t>Geographic representation was skewed: 20 studies came from high-income countries and 7 from upper-middle-income countries (Türkiye, Iran); only three (6.8%) came from low- and lower-middle-income countries (Bangladesh, Lebanon, Nigeria), and Nigeria was the only study from sub-Saharan Africa (Fig. 3).</a:t>
            </a:r>
          </a:p>
          <a:p>
            <a:pPr algn="just">
              <a:spcAft>
                <a:spcPts val="150"/>
              </a:spcAft>
            </a:pPr>
            <a:r>
              <a:rPr sz="459" b="1" i="0">
                <a:solidFill>
                  <a:srgbClr val="111827"/>
                </a:solidFill>
                <a:latin typeface="Times New Roman"/>
              </a:rPr>
              <a:t>Discussion</a:t>
            </a:r>
          </a:p>
          <a:p>
            <a:pPr algn="just">
              <a:spcAft>
                <a:spcPts val="150"/>
              </a:spcAft>
            </a:pPr>
            <a:r>
              <a:rPr sz="459" b="0" i="0">
                <a:solidFill>
                  <a:srgbClr val="111827"/>
                </a:solidFill>
                <a:latin typeface="Times New Roman"/>
              </a:rPr>
              <a:t>PMDD research consistently documents depression, distress, relationship difficulties and suicidality; large studies have linked PMDD with suicidal ideation and attempts.⁵,⁶ Yet coping mechanisms remain largely unexamined, and the scarcity of studies from low- and lower-middle-income countries and Africa leaves the burden in these settings invisible to health systems.</a:t>
            </a:r>
          </a:p>
          <a:p>
            <a:pPr algn="just">
              <a:spcAft>
                <a:spcPts val="150"/>
              </a:spcAft>
            </a:pPr>
            <a:r>
              <a:rPr sz="459" b="1" i="0">
                <a:solidFill>
                  <a:srgbClr val="111827"/>
                </a:solidFill>
                <a:latin typeface="Times New Roman"/>
              </a:rPr>
              <a:t>Conclusion</a:t>
            </a:r>
          </a:p>
          <a:p>
            <a:pPr algn="just">
              <a:spcAft>
                <a:spcPts val="150"/>
              </a:spcAft>
            </a:pPr>
            <a:r>
              <a:rPr sz="459" b="0" i="0">
                <a:solidFill>
                  <a:srgbClr val="111827"/>
                </a:solidFill>
                <a:latin typeface="Times New Roman"/>
              </a:rPr>
              <a:t>Evidence on PMDD’s psychosocial burden is growing but geographically concentrated in high-income countries. Findings call for culturally responsive screening, integrated mental and reproductive health services, and Africa-centred research investment.</a:t>
            </a:r>
          </a:p>
          <a:p>
            <a:pPr algn="just">
              <a:spcAft>
                <a:spcPts val="150"/>
              </a:spcAft>
            </a:pPr>
            <a:r>
              <a:rPr sz="459" b="1" i="0">
                <a:solidFill>
                  <a:srgbClr val="111827"/>
                </a:solidFill>
                <a:latin typeface="Times New Roman"/>
              </a:rPr>
              <a:t>Limitations</a:t>
            </a:r>
          </a:p>
          <a:p>
            <a:pPr algn="just" marL="73152" indent="-64008">
              <a:spcAft>
                <a:spcPts val="150"/>
              </a:spcAft>
              <a:buFont typeface="Arial"/>
              <a:buChar char="•"/>
            </a:pPr>
            <a:r>
              <a:rPr sz="459" b="1" i="0">
                <a:solidFill>
                  <a:srgbClr val="111827"/>
                </a:solidFill>
                <a:latin typeface="Times New Roman"/>
              </a:rPr>
              <a:t>Search scope: </a:t>
            </a:r>
            <a:r>
              <a:rPr sz="459" b="0" i="0">
                <a:solidFill>
                  <a:srgbClr val="111827"/>
                </a:solidFill>
                <a:latin typeface="Times New Roman"/>
              </a:rPr>
              <a:t>studies outside the five databases or the 2010–2025 period may have been missed.</a:t>
            </a:r>
          </a:p>
          <a:p>
            <a:pPr algn="just" marL="73152" indent="-64008">
              <a:spcAft>
                <a:spcPts val="150"/>
              </a:spcAft>
              <a:buFont typeface="Arial"/>
              <a:buChar char="•"/>
            </a:pPr>
            <a:r>
              <a:rPr sz="459" b="1" i="0">
                <a:solidFill>
                  <a:srgbClr val="111827"/>
                </a:solidFill>
                <a:latin typeface="Times New Roman"/>
              </a:rPr>
              <a:t>Study differences: </a:t>
            </a:r>
            <a:r>
              <a:rPr sz="459" b="0" i="0">
                <a:solidFill>
                  <a:srgbClr val="111827"/>
                </a:solidFill>
                <a:latin typeface="Times New Roman"/>
              </a:rPr>
              <a:t>variation in design and outcome definitions limits direct comparison.</a:t>
            </a:r>
          </a:p>
          <a:p>
            <a:pPr algn="just" marL="73152" indent="-64008">
              <a:spcAft>
                <a:spcPts val="150"/>
              </a:spcAft>
              <a:buFont typeface="Arial"/>
              <a:buChar char="•"/>
            </a:pPr>
            <a:r>
              <a:rPr sz="459" b="1" i="0">
                <a:solidFill>
                  <a:srgbClr val="111827"/>
                </a:solidFill>
                <a:latin typeface="Times New Roman"/>
              </a:rPr>
              <a:t>Coding overlap: </a:t>
            </a:r>
            <a:r>
              <a:rPr sz="459" b="0" i="0">
                <a:solidFill>
                  <a:srgbClr val="111827"/>
                </a:solidFill>
                <a:latin typeface="Times New Roman"/>
              </a:rPr>
              <a:t>a study could address more than one outcome, so counts should not be summed.</a:t>
            </a:r>
          </a:p>
          <a:p>
            <a:pPr algn="just" marL="73152" indent="-64008">
              <a:spcAft>
                <a:spcPts val="150"/>
              </a:spcAft>
              <a:buFont typeface="Arial"/>
              <a:buChar char="•"/>
            </a:pPr>
            <a:r>
              <a:rPr sz="459" b="1" i="0">
                <a:solidFill>
                  <a:srgbClr val="111827"/>
                </a:solidFill>
                <a:latin typeface="Times New Roman"/>
              </a:rPr>
              <a:t>Geographic coverage: </a:t>
            </a:r>
            <a:r>
              <a:rPr sz="459" b="0" i="0">
                <a:solidFill>
                  <a:srgbClr val="111827"/>
                </a:solidFill>
                <a:latin typeface="Times New Roman"/>
              </a:rPr>
              <a:t>few studies from low- and lower-middle-income countries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90"/>
              </a:spcAft>
            </a:pPr>
            <a:r>
              <a:rPr sz="420" b="1" i="0">
                <a:solidFill>
                  <a:srgbClr val="111827"/>
                </a:solidFill>
                <a:latin typeface="Times New Roman"/>
              </a:rPr>
              <a:t>Public Health Implications</a:t>
            </a:r>
          </a:p>
          <a:p>
            <a:pPr algn="l" marL="73152" indent="-64008">
              <a:spcAft>
                <a:spcPts val="90"/>
              </a:spcAft>
              <a:buFont typeface="Arial"/>
              <a:buChar char="•"/>
            </a:pPr>
            <a:r>
              <a:rPr sz="420" b="1" i="0">
                <a:solidFill>
                  <a:srgbClr val="111827"/>
                </a:solidFill>
                <a:latin typeface="Times New Roman"/>
              </a:rPr>
              <a:t>Screen for suicide risk: </a:t>
            </a:r>
            <a:r>
              <a:rPr sz="420" b="0" i="0">
                <a:solidFill>
                  <a:srgbClr val="111827"/>
                </a:solidFill>
                <a:latin typeface="Times New Roman"/>
              </a:rPr>
              <a:t>ask about suicidal thoughts when women present with severe premenstrual mood symptoms.</a:t>
            </a:r>
          </a:p>
          <a:p>
            <a:pPr algn="l" marL="73152" indent="-64008">
              <a:spcAft>
                <a:spcPts val="90"/>
              </a:spcAft>
              <a:buFont typeface="Arial"/>
              <a:buChar char="•"/>
            </a:pPr>
            <a:r>
              <a:rPr sz="420" b="1" i="0">
                <a:solidFill>
                  <a:srgbClr val="111827"/>
                </a:solidFill>
                <a:latin typeface="Times New Roman"/>
              </a:rPr>
              <a:t>Integrate care: </a:t>
            </a:r>
            <a:r>
              <a:rPr sz="420" b="0" i="0">
                <a:solidFill>
                  <a:srgbClr val="111827"/>
                </a:solidFill>
                <a:latin typeface="Times New Roman"/>
              </a:rPr>
              <a:t>include PMDD screening in sexual and reproductive, school and university health services.</a:t>
            </a:r>
          </a:p>
          <a:p>
            <a:pPr algn="l" marL="73152" indent="-64008">
              <a:spcAft>
                <a:spcPts val="90"/>
              </a:spcAft>
              <a:buFont typeface="Arial"/>
              <a:buChar char="•"/>
            </a:pPr>
            <a:r>
              <a:rPr sz="420" b="1" i="0">
                <a:solidFill>
                  <a:srgbClr val="111827"/>
                </a:solidFill>
                <a:latin typeface="Times New Roman"/>
              </a:rPr>
              <a:t>Address coping needs: </a:t>
            </a:r>
            <a:r>
              <a:rPr sz="420" b="0" i="0">
                <a:solidFill>
                  <a:srgbClr val="111827"/>
                </a:solidFill>
                <a:latin typeface="Times New Roman"/>
              </a:rPr>
              <a:t>ask how women manage symptoms and what support they need.</a:t>
            </a:r>
          </a:p>
          <a:p>
            <a:pPr algn="l">
              <a:spcAft>
                <a:spcPts val="90"/>
              </a:spcAft>
            </a:pPr>
            <a:r>
              <a:rPr sz="420" b="1" i="0">
                <a:solidFill>
                  <a:srgbClr val="111827"/>
                </a:solidFill>
                <a:latin typeface="Times New Roman"/>
              </a:rPr>
              <a:t>Future Work</a:t>
            </a:r>
          </a:p>
          <a:p>
            <a:pPr algn="l" marL="73152" indent="-64008">
              <a:spcAft>
                <a:spcPts val="90"/>
              </a:spcAft>
              <a:buFont typeface="Arial"/>
              <a:buChar char="•"/>
            </a:pPr>
            <a:r>
              <a:rPr sz="420" b="1" i="0">
                <a:solidFill>
                  <a:srgbClr val="111827"/>
                </a:solidFill>
                <a:latin typeface="Times New Roman"/>
              </a:rPr>
              <a:t>Confirm PMDD prospectively </a:t>
            </a:r>
            <a:r>
              <a:rPr sz="420" b="0" i="0">
                <a:solidFill>
                  <a:srgbClr val="111827"/>
                </a:solidFill>
                <a:latin typeface="Times New Roman"/>
              </a:rPr>
              <a:t>in studies from low- and middle-income countries.</a:t>
            </a:r>
          </a:p>
          <a:p>
            <a:pPr algn="l" marL="73152" indent="-64008">
              <a:spcAft>
                <a:spcPts val="90"/>
              </a:spcAft>
              <a:buFont typeface="Arial"/>
              <a:buChar char="•"/>
            </a:pPr>
            <a:r>
              <a:rPr sz="420" b="1" i="0">
                <a:solidFill>
                  <a:srgbClr val="111827"/>
                </a:solidFill>
                <a:latin typeface="Times New Roman"/>
              </a:rPr>
              <a:t>Study lived experience: </a:t>
            </a:r>
            <a:r>
              <a:rPr sz="420" b="0" i="0">
                <a:solidFill>
                  <a:srgbClr val="111827"/>
                </a:solidFill>
                <a:latin typeface="Times New Roman"/>
              </a:rPr>
              <a:t>stigma, coping and help-seeking in African settings.</a:t>
            </a:r>
          </a:p>
          <a:p>
            <a:pPr algn="l" marL="73152" indent="-64008">
              <a:spcAft>
                <a:spcPts val="90"/>
              </a:spcAft>
              <a:buFont typeface="Arial"/>
              <a:buChar char="•"/>
            </a:pPr>
            <a:r>
              <a:rPr sz="420" b="1" i="0">
                <a:solidFill>
                  <a:srgbClr val="111827"/>
                </a:solidFill>
                <a:latin typeface="Times New Roman"/>
              </a:rPr>
              <a:t>Validate screening tools </a:t>
            </a:r>
            <a:r>
              <a:rPr sz="420" b="0" i="0">
                <a:solidFill>
                  <a:srgbClr val="111827"/>
                </a:solidFill>
                <a:latin typeface="Times New Roman"/>
              </a:rPr>
              <a:t>in African languages.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ectangle 351"/>
          <p:cNvSpPr/>
          <p:nvPr/>
        </p:nvSpPr>
        <p:spPr>
          <a:xfrm>
            <a:off x="8067751" y="5788152"/>
            <a:ext cx="975664"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60"/>
              </a:spcAft>
            </a:pPr>
            <a:r>
              <a:rPr sz="300" b="0" i="0">
                <a:solidFill>
                  <a:srgbClr val="111827"/>
                </a:solidFill>
                <a:latin typeface="Times New Roman"/>
              </a:rPr>
              <a:t>1. Reilly TJ et al. J Affect Disord. 2024;349:534-540.</a:t>
            </a:r>
          </a:p>
          <a:p>
            <a:pPr algn="l">
              <a:spcAft>
                <a:spcPts val="60"/>
              </a:spcAft>
            </a:pPr>
            <a:r>
              <a:rPr sz="300" b="0" i="0">
                <a:solidFill>
                  <a:srgbClr val="111827"/>
                </a:solidFill>
                <a:latin typeface="Times New Roman"/>
              </a:rPr>
              <a:t>2. American Psychiatric Association. DSM-5. 2013.</a:t>
            </a:r>
          </a:p>
          <a:p>
            <a:pPr algn="l">
              <a:spcAft>
                <a:spcPts val="60"/>
              </a:spcAft>
            </a:pPr>
            <a:r>
              <a:rPr sz="300" b="0" i="0">
                <a:solidFill>
                  <a:srgbClr val="111827"/>
                </a:solidFill>
                <a:latin typeface="Times New Roman"/>
              </a:rPr>
              <a:t>3. Arksey H, O’Malley L. Int J Soc Res Methodol. 2005;8:19-32.</a:t>
            </a:r>
          </a:p>
          <a:p>
            <a:pPr algn="l">
              <a:spcAft>
                <a:spcPts val="60"/>
              </a:spcAft>
            </a:pPr>
            <a:r>
              <a:rPr sz="300" b="0" i="0">
                <a:solidFill>
                  <a:srgbClr val="111827"/>
                </a:solidFill>
                <a:latin typeface="Times New Roman"/>
              </a:rPr>
              <a:t>4. Tricco AC et al. Ann Intern Med. 2018;169:467-473.</a:t>
            </a:r>
          </a:p>
          <a:p>
            <a:pPr algn="l">
              <a:spcAft>
                <a:spcPts val="60"/>
              </a:spcAft>
            </a:pPr>
            <a:r>
              <a:rPr sz="300" b="0" i="0">
                <a:solidFill>
                  <a:srgbClr val="111827"/>
                </a:solidFill>
                <a:latin typeface="Times New Roman"/>
              </a:rPr>
              <a:t>5. Pilver CE et al. Soc Psychiatry Psychiatr Epidemiol. 2013;48:437-446.</a:t>
            </a:r>
          </a:p>
          <a:p>
            <a:pPr algn="l">
              <a:spcAft>
                <a:spcPts val="60"/>
              </a:spcAft>
            </a:pPr>
            <a:r>
              <a:rPr sz="300" b="0" i="0">
                <a:solidFill>
                  <a:srgbClr val="111827"/>
                </a:solidFill>
                <a:latin typeface="Times New Roman"/>
              </a:rPr>
              <a:t>6. Eisenlohr-Moul T et al. BMC Psychiatry. 2022;22. doi:10.1186/s12888-022-03851-0</a:t>
            </a:r>
          </a:p>
          <a:p>
            <a:pPr algn="l">
              <a:spcAft>
                <a:spcPts val="60"/>
              </a:spcAft>
            </a:pPr>
            <a:r>
              <a:rPr sz="300" b="0" i="1">
                <a:solidFill>
                  <a:srgbClr val="111827"/>
                </a:solidFill>
                <a:latin typeface="Times New Roman"/>
              </a:rPr>
              <a:t>Scan the QR code for the full reference list.</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