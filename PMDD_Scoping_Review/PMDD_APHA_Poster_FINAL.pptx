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Three studies (6.8%) originated from low- and middle-income countries (LMICs),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titles and abstracts screened; 64 full-text articles assessed;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from LMICs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Full-text articles assessed</a:t>
            </a:r>
          </a:p>
          <a:p>
            <a:pPr algn="ctr">
              <a:spcAft>
                <a:spcPts val="0"/>
              </a:spcAft>
            </a:pPr>
            <a:r>
              <a:rPr sz="360" b="0" i="0">
                <a:solidFill>
                  <a:srgbClr val="111827"/>
                </a:solidFill>
                <a:latin typeface="Times New Roman"/>
              </a:rPr>
              <a:t>for eligibility</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 inclusion</a:t>
            </a:r>
          </a:p>
          <a:p>
            <a:pPr algn="ctr">
              <a:spcAft>
                <a:spcPts val="0"/>
              </a:spcAft>
            </a:pPr>
            <a:r>
              <a:rPr sz="330" b="0" i="0">
                <a:solidFill>
                  <a:srgbClr val="111827"/>
                </a:solidFill>
                <a:latin typeface="Times New Roman"/>
              </a:rPr>
              <a:t>criteria at full text</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276399"/>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LMICs</a:t>
            </a:r>
          </a:p>
          <a:p>
            <a:pPr algn="ctr">
              <a:spcAft>
                <a:spcPts val="100"/>
              </a:spcAft>
            </a:pPr>
            <a:r>
              <a:rPr sz="520" b="0" i="0">
                <a:solidFill>
                  <a:srgbClr val="111827"/>
                </a:solidFill>
                <a:latin typeface="Times New Roman"/>
              </a:rPr>
              <a:t>41 of 44 (93.2%) from high-income or other settings</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17920"/>
            <a:ext cx="4572000" cy="36576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Nigeria (red) is the only included study from sub-Saharan Africa. Evidence on PMDD’s psychosocial burden reflects mainly high-income contexts.</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50"/>
              </a:spcAft>
            </a:pPr>
            <a:r>
              <a:rPr sz="459" b="1" i="0">
                <a:solidFill>
                  <a:srgbClr val="111827"/>
                </a:solidFill>
                <a:latin typeface="Times New Roman"/>
              </a:rPr>
              <a:t>Results</a:t>
            </a:r>
          </a:p>
          <a:p>
            <a:pPr algn="just">
              <a:spcAft>
                <a:spcPts val="150"/>
              </a:spcAft>
            </a:pPr>
            <a:r>
              <a:rPr sz="459" b="0" i="0">
                <a:solidFill>
                  <a:srgbClr val="111827"/>
                </a:solidFill>
                <a:latin typeface="Times New Roman"/>
              </a:rPr>
              <a:t>The database search identified 1,943 records. After 325 duplicates were removed, 1,618 records were screened by title and abstract; 64 articles underwent full-text assessment, 20 were excluded, and 44 studies were included (Fig. 1).</a:t>
            </a:r>
          </a:p>
          <a:p>
            <a:pPr algn="just">
              <a:spcAft>
                <a:spcPts val="150"/>
              </a:spcAft>
            </a:pPr>
            <a:r>
              <a:rPr sz="45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50"/>
              </a:spcAft>
            </a:pPr>
            <a:r>
              <a:rPr sz="459" b="0" i="0">
                <a:solidFill>
                  <a:srgbClr val="111827"/>
                </a:solidFill>
                <a:latin typeface="Times New Roman"/>
              </a:rPr>
              <a:t>Geographic representation was critically skewed: three of the 44 studies (6.8%) originated from LMICs, including one from Nigeria, the only study from sub-Saharan Africa (Fig. 3).</a:t>
            </a:r>
          </a:p>
          <a:p>
            <a:pPr algn="just">
              <a:spcAft>
                <a:spcPts val="150"/>
              </a:spcAft>
            </a:pPr>
            <a:r>
              <a:rPr sz="459" b="1" i="0">
                <a:solidFill>
                  <a:srgbClr val="111827"/>
                </a:solidFill>
                <a:latin typeface="Times New Roman"/>
              </a:rPr>
              <a:t>Discussion</a:t>
            </a:r>
          </a:p>
          <a:p>
            <a:pPr algn="just">
              <a:spcAft>
                <a:spcPts val="150"/>
              </a:spcAft>
            </a:pPr>
            <a:r>
              <a:rPr sz="45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near-absence of LMIC and African studies leaves the burden in these settings invisible to health systems.</a:t>
            </a:r>
          </a:p>
          <a:p>
            <a:pPr algn="just">
              <a:spcAft>
                <a:spcPts val="150"/>
              </a:spcAft>
            </a:pPr>
            <a:r>
              <a:rPr sz="459" b="1" i="0">
                <a:solidFill>
                  <a:srgbClr val="111827"/>
                </a:solidFill>
                <a:latin typeface="Times New Roman"/>
              </a:rPr>
              <a:t>Conclusion</a:t>
            </a:r>
          </a:p>
          <a:p>
            <a:pPr algn="just">
              <a:spcAft>
                <a:spcPts val="150"/>
              </a:spcAft>
            </a:pPr>
            <a:r>
              <a:rPr sz="45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50"/>
              </a:spcAft>
            </a:pPr>
            <a:r>
              <a:rPr sz="459" b="1" i="0">
                <a:solidFill>
                  <a:srgbClr val="111827"/>
                </a:solidFill>
                <a:latin typeface="Times New Roman"/>
              </a:rPr>
              <a:t>Limitations</a:t>
            </a:r>
          </a:p>
          <a:p>
            <a:pPr algn="just" marL="73152" indent="-64008">
              <a:spcAft>
                <a:spcPts val="150"/>
              </a:spcAft>
              <a:buFont typeface="Arial"/>
              <a:buChar char="•"/>
            </a:pPr>
            <a:r>
              <a:rPr sz="459" b="1" i="0">
                <a:solidFill>
                  <a:srgbClr val="111827"/>
                </a:solidFill>
                <a:latin typeface="Times New Roman"/>
              </a:rPr>
              <a:t>Search scope: </a:t>
            </a:r>
            <a:r>
              <a:rPr sz="459" b="0" i="0">
                <a:solidFill>
                  <a:srgbClr val="111827"/>
                </a:solidFill>
                <a:latin typeface="Times New Roman"/>
              </a:rPr>
              <a:t>studies outside the five databases or the 2010–2025 period may have been missed.</a:t>
            </a:r>
          </a:p>
          <a:p>
            <a:pPr algn="just" marL="73152" indent="-64008">
              <a:spcAft>
                <a:spcPts val="150"/>
              </a:spcAft>
              <a:buFont typeface="Arial"/>
              <a:buChar char="•"/>
            </a:pPr>
            <a:r>
              <a:rPr sz="459" b="1" i="0">
                <a:solidFill>
                  <a:srgbClr val="111827"/>
                </a:solidFill>
                <a:latin typeface="Times New Roman"/>
              </a:rPr>
              <a:t>Study differences: </a:t>
            </a:r>
            <a:r>
              <a:rPr sz="459" b="0" i="0">
                <a:solidFill>
                  <a:srgbClr val="111827"/>
                </a:solidFill>
                <a:latin typeface="Times New Roman"/>
              </a:rPr>
              <a:t>variation in design and outcome definitions limits direct comparison.</a:t>
            </a:r>
          </a:p>
          <a:p>
            <a:pPr algn="just" marL="73152" indent="-64008">
              <a:spcAft>
                <a:spcPts val="150"/>
              </a:spcAft>
              <a:buFont typeface="Arial"/>
              <a:buChar char="•"/>
            </a:pPr>
            <a:r>
              <a:rPr sz="459" b="1" i="0">
                <a:solidFill>
                  <a:srgbClr val="111827"/>
                </a:solidFill>
                <a:latin typeface="Times New Roman"/>
              </a:rPr>
              <a:t>Coding overlap: </a:t>
            </a:r>
            <a:r>
              <a:rPr sz="459" b="0" i="0">
                <a:solidFill>
                  <a:srgbClr val="111827"/>
                </a:solidFill>
                <a:latin typeface="Times New Roman"/>
              </a:rPr>
              <a:t>a study could address more than one outcome, so counts should not be summed.</a:t>
            </a:r>
          </a:p>
          <a:p>
            <a:pPr algn="just" marL="73152" indent="-64008">
              <a:spcAft>
                <a:spcPts val="150"/>
              </a:spcAft>
              <a:buFont typeface="Arial"/>
              <a:buChar char="•"/>
            </a:pPr>
            <a:r>
              <a:rPr sz="459" b="1" i="0">
                <a:solidFill>
                  <a:srgbClr val="111827"/>
                </a:solidFill>
                <a:latin typeface="Times New Roman"/>
              </a:rPr>
              <a:t>Geographic coverage: </a:t>
            </a:r>
            <a:r>
              <a:rPr sz="459" b="0" i="0">
                <a:solidFill>
                  <a:srgbClr val="111827"/>
                </a:solidFill>
                <a:latin typeface="Times New Roman"/>
              </a:rPr>
              <a:t>few LMIC studies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