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none"/>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Studies</c:v>
                </c:pt>
              </c:strCache>
            </c:strRef>
          </c:tx>
          <c:spPr>
            <a:solidFill>
              <a:srgbClr val="0A254E"/>
            </a:solidFill>
          </c:spPr>
          <c:dPt>
            <c:idx val="3"/>
            <c:spPr>
              <a:solidFill>
                <a:srgbClr val="A31F34"/>
              </a:solidFill>
            </c:spPr>
          </c:dPt>
          <c:cat>
            <c:strRef>
              <c:f>Sheet1!$A$2:$A$5</c:f>
              <c:strCache>
                <c:ptCount val="4"/>
                <c:pt idx="0">
                  <c:v>2010–13</c:v>
                </c:pt>
                <c:pt idx="1">
                  <c:v>2014–17</c:v>
                </c:pt>
                <c:pt idx="2">
                  <c:v>2018–21</c:v>
                </c:pt>
                <c:pt idx="3">
                  <c:v>2022–25</c:v>
                </c:pt>
              </c:strCache>
            </c:strRef>
          </c:cat>
          <c:val>
            <c:numRef>
              <c:f>Sheet1!$B$2:$B$5</c:f>
              <c:numCache>
                <c:formatCode>General</c:formatCode>
                <c:ptCount val="4"/>
                <c:pt idx="0">
                  <c:v>6</c:v>
                </c:pt>
                <c:pt idx="1">
                  <c:v>6</c:v>
                </c:pt>
                <c:pt idx="2">
                  <c:v>5</c:v>
                </c:pt>
                <c:pt idx="3">
                  <c:v>27</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none"/>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30.0"/>
          <c:min val="0.0"/>
        </c:scaling>
        <c:delete/>
        <c:axPos val="l"/>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 Id="rId11"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563916" y="5785408"/>
            <a:ext cx="1032357" cy="1032357"/>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20"/>
              </a:spcAft>
            </a:pPr>
            <a:r>
              <a:rPr sz="420" b="1" i="0">
                <a:solidFill>
                  <a:srgbClr val="111827"/>
                </a:solidFill>
                <a:latin typeface="Times New Roman"/>
              </a:rPr>
              <a:t>Background: </a:t>
            </a:r>
            <a:r>
              <a:rPr sz="420" b="0" i="0">
                <a:solidFill>
                  <a:srgbClr val="111827"/>
                </a:solidFill>
                <a:latin typeface="Times New Roman"/>
              </a:rPr>
              <a:t>Premenstrual dysphoric disorder (PMDD) is a DSM-5 depressive disorder affecting an estimated 31 million women and girls worldwide. This scoping review examined psychosocial outcomes and coping mechanisms among women with PMDD and assessed the geographic distribution of the evidence.</a:t>
            </a:r>
          </a:p>
          <a:p>
            <a:pPr algn="just">
              <a:spcAft>
                <a:spcPts val="120"/>
              </a:spcAft>
            </a:pPr>
            <a:r>
              <a:rPr sz="420" b="1" i="0">
                <a:solidFill>
                  <a:srgbClr val="111827"/>
                </a:solidFill>
                <a:latin typeface="Times New Roman"/>
              </a:rPr>
              <a:t>Methods: </a:t>
            </a:r>
            <a:r>
              <a:rPr sz="420"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20"/>
              </a:spcAft>
            </a:pPr>
            <a:r>
              <a:rPr sz="420" b="1" i="0">
                <a:solidFill>
                  <a:srgbClr val="111827"/>
                </a:solidFill>
                <a:latin typeface="Times New Roman"/>
              </a:rPr>
              <a:t>Results: </a:t>
            </a:r>
            <a:r>
              <a:rPr sz="420" b="0" i="0">
                <a:solidFill>
                  <a:srgbClr val="111827"/>
                </a:solidFill>
                <a:latin typeface="Times New Roman"/>
              </a:rPr>
              <a:t>Of 1,943 records, 1,618 were screened after deduplication, 64 were assessed for eligibility and 44 were included. Depression was most documented (n=39), followed by psychological distress (n=24), interpersonal functioning (n=18), suicidal ideation or self-harm (n=14) and quality of life (n=14). Only three studies examined coping mechanisms. Three studies (6.8%) came from low- and lower-middle-income countries (Bangladesh, Lebanon, Nigeria); Nigeria was the only sub-Saharan African setting.</a:t>
            </a:r>
          </a:p>
          <a:p>
            <a:pPr algn="just">
              <a:spcAft>
                <a:spcPts val="120"/>
              </a:spcAft>
            </a:pPr>
            <a:r>
              <a:rPr sz="420" b="1" i="0">
                <a:solidFill>
                  <a:srgbClr val="111827"/>
                </a:solidFill>
                <a:latin typeface="Times New Roman"/>
              </a:rPr>
              <a:t>Conclusions: </a:t>
            </a:r>
            <a:r>
              <a:rPr sz="420" b="0" i="0">
                <a:solidFill>
                  <a:srgbClr val="111827"/>
                </a:solidFill>
                <a:latin typeface="Times New Roman"/>
              </a:rPr>
              <a:t>Evidence on PMDD’s psychosocial burden is growing but concentrated in high-income countries; coping and evidence from low-income settings and sub-Saharan Africa remain scarce.</a:t>
            </a:r>
          </a:p>
          <a:p>
            <a:pPr algn="just">
              <a:spcAft>
                <a:spcPts val="120"/>
              </a:spcAft>
            </a:pPr>
            <a:r>
              <a:rPr sz="420" b="1" i="0">
                <a:solidFill>
                  <a:srgbClr val="111827"/>
                </a:solidFill>
                <a:latin typeface="Times New Roman"/>
              </a:rPr>
              <a:t>Keywords: </a:t>
            </a:r>
            <a:r>
              <a:rPr sz="420" b="0" i="1">
                <a:solidFill>
                  <a:srgbClr val="111827"/>
                </a:solidFill>
                <a:latin typeface="Times New Roman"/>
              </a:rPr>
              <a:t>premenstrual dysphoric disorder; psychosocial outcomes; coping mechanisms; global health;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60"/>
              </a:spcAft>
            </a:pPr>
            <a:r>
              <a:rPr sz="445" b="1" i="0">
                <a:solidFill>
                  <a:srgbClr val="111827"/>
                </a:solidFill>
                <a:latin typeface="Times New Roman"/>
              </a:rPr>
              <a:t>Introduction: </a:t>
            </a:r>
            <a:r>
              <a:rPr sz="445" b="0" i="0">
                <a:solidFill>
                  <a:srgbClr val="111827"/>
                </a:solidFill>
                <a:latin typeface="Times New Roman"/>
              </a:rPr>
              <a:t>PMDD is a recurring, hormone-linked mood disorder in which irritability, mood swings, depressed mood and anxiety emerge in the late luteal phase and remit after menses begin. It is classified as a depressive disorder in DSM-5¹ and recognized in ICD-11.² Based on prospectively confirmed diagnoses, community prevalence is about 1.6%, roughly 31 million women and girls worldwide.³ PMDD has been linked with suicidal ideation and attempts,⁴˒⁵ strained romantic relationships⁶ and reduced quality of life.⁷ Premenstrual symptoms are also common across Africa, where pooled premenstrual syndrome prevalence reaches 47%,⁸ yet it remains unclear how women with PMDD cope or where the evidence has been generated.</a:t>
            </a:r>
          </a:p>
          <a:p>
            <a:pPr algn="just">
              <a:spcAft>
                <a:spcPts val="160"/>
              </a:spcAft>
            </a:pPr>
            <a:r>
              <a:rPr sz="445" b="1" i="0">
                <a:solidFill>
                  <a:srgbClr val="111827"/>
                </a:solidFill>
                <a:latin typeface="Times New Roman"/>
              </a:rPr>
              <a:t>Objective: </a:t>
            </a:r>
            <a:r>
              <a:rPr sz="445" b="0" i="0">
                <a:solidFill>
                  <a:srgbClr val="111827"/>
                </a:solidFill>
                <a:latin typeface="Times New Roman"/>
              </a:rPr>
              <a:t>To map psychosocial outcomes and coping mechanisms reported among women with PMDD and identify geographic gaps in the published literature.</a:t>
            </a:r>
          </a:p>
          <a:p>
            <a:pPr algn="just">
              <a:spcAft>
                <a:spcPts val="160"/>
              </a:spcAft>
            </a:pPr>
            <a:r>
              <a:rPr sz="445" b="1" i="0">
                <a:solidFill>
                  <a:srgbClr val="111827"/>
                </a:solidFill>
                <a:latin typeface="Times New Roman"/>
              </a:rPr>
              <a:t>Research Question: </a:t>
            </a:r>
            <a:r>
              <a:rPr sz="445"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framework⁹ with Levac et al.’s refinements,¹⁰ reported using PRISMA-ScR.¹¹</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records screened by title and abstract; 64 assessed for eligibility;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publication year and geographic setting (country and World Bank income group¹²).</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low/lower-middle-income studies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Rounded Rectangle 319"/>
          <p:cNvSpPr/>
          <p:nvPr/>
        </p:nvSpPr>
        <p:spPr>
          <a:xfrm>
            <a:off x="2414016" y="17007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1" name="Rounded Rectangle 320"/>
          <p:cNvSpPr/>
          <p:nvPr/>
        </p:nvSpPr>
        <p:spPr>
          <a:xfrm>
            <a:off x="2414016" y="2139696"/>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2" name="Rounded Rectangle 321"/>
          <p:cNvSpPr/>
          <p:nvPr/>
        </p:nvSpPr>
        <p:spPr>
          <a:xfrm>
            <a:off x="2414016" y="254203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3" name="Rounded Rectangle 322"/>
          <p:cNvSpPr/>
          <p:nvPr/>
        </p:nvSpPr>
        <p:spPr>
          <a:xfrm>
            <a:off x="2414016" y="298094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4" name="Rounded Rectangle 323"/>
          <p:cNvSpPr/>
          <p:nvPr/>
        </p:nvSpPr>
        <p:spPr>
          <a:xfrm>
            <a:off x="2414016" y="3419856"/>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5" name="Rounded Rectangle 324"/>
          <p:cNvSpPr/>
          <p:nvPr/>
        </p:nvSpPr>
        <p:spPr>
          <a:xfrm>
            <a:off x="2761488" y="1700784"/>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18" b="1" i="0">
                <a:solidFill>
                  <a:srgbClr val="111827"/>
                </a:solidFill>
                <a:latin typeface="Times New Roman"/>
              </a:rPr>
              <a:t>Records identified via database search</a:t>
            </a:r>
          </a:p>
          <a:p>
            <a:pPr algn="ctr">
              <a:spcAft>
                <a:spcPts val="0"/>
              </a:spcAft>
            </a:pPr>
            <a:r>
              <a:rPr sz="318" b="0" i="0">
                <a:solidFill>
                  <a:srgbClr val="111827"/>
                </a:solidFill>
                <a:latin typeface="Times New Roman"/>
              </a:rPr>
              <a:t>PubMed/MEDLINE · CINAHL · APA PsycInfo</a:t>
            </a:r>
          </a:p>
          <a:p>
            <a:pPr algn="ctr">
              <a:spcAft>
                <a:spcPts val="0"/>
              </a:spcAft>
            </a:pPr>
            <a:r>
              <a:rPr sz="318" b="0" i="0">
                <a:solidFill>
                  <a:srgbClr val="111827"/>
                </a:solidFill>
                <a:latin typeface="Times New Roman"/>
              </a:rPr>
              <a:t>APA PsycArticles · Cochrane Library</a:t>
            </a:r>
          </a:p>
          <a:p>
            <a:pPr algn="ctr">
              <a:spcAft>
                <a:spcPts val="0"/>
              </a:spcAft>
            </a:pPr>
            <a:r>
              <a:rPr sz="318" b="0" i="0">
                <a:solidFill>
                  <a:srgbClr val="111827"/>
                </a:solidFill>
                <a:latin typeface="Times New Roman"/>
              </a:rPr>
              <a:t>n = 1,943</a:t>
            </a:r>
          </a:p>
        </p:txBody>
      </p:sp>
      <p:cxnSp>
        <p:nvCxnSpPr>
          <p:cNvPr id="326" name="Connector 325"/>
          <p:cNvCxnSpPr/>
          <p:nvPr/>
        </p:nvCxnSpPr>
        <p:spPr>
          <a:xfrm>
            <a:off x="3241548" y="2066543"/>
            <a:ext cx="0" cy="73153"/>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7" name="Rounded Rectangle 326"/>
          <p:cNvSpPr/>
          <p:nvPr/>
        </p:nvSpPr>
        <p:spPr>
          <a:xfrm>
            <a:off x="2761488" y="2139696"/>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8" name="Connector 327"/>
          <p:cNvCxnSpPr/>
          <p:nvPr/>
        </p:nvCxnSpPr>
        <p:spPr>
          <a:xfrm>
            <a:off x="3241548" y="246888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9" name="Rounded Rectangle 328"/>
          <p:cNvSpPr/>
          <p:nvPr/>
        </p:nvSpPr>
        <p:spPr>
          <a:xfrm>
            <a:off x="2761488" y="254203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0" name="Rounded Rectangle 329"/>
          <p:cNvSpPr/>
          <p:nvPr/>
        </p:nvSpPr>
        <p:spPr>
          <a:xfrm>
            <a:off x="3785615" y="254203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1" name="Connector 330"/>
          <p:cNvCxnSpPr/>
          <p:nvPr/>
        </p:nvCxnSpPr>
        <p:spPr>
          <a:xfrm>
            <a:off x="3721608" y="272491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3241548" y="290779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3" name="Rounded Rectangle 332"/>
          <p:cNvSpPr/>
          <p:nvPr/>
        </p:nvSpPr>
        <p:spPr>
          <a:xfrm>
            <a:off x="2761488" y="2980944"/>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assessed for eligibility</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64</a:t>
            </a:r>
          </a:p>
        </p:txBody>
      </p:sp>
      <p:sp>
        <p:nvSpPr>
          <p:cNvPr id="334" name="Rounded Rectangle 333"/>
          <p:cNvSpPr/>
          <p:nvPr/>
        </p:nvSpPr>
        <p:spPr>
          <a:xfrm>
            <a:off x="3785615" y="2980944"/>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18" b="1" i="0">
                <a:solidFill>
                  <a:srgbClr val="111827"/>
                </a:solidFill>
                <a:latin typeface="Times New Roman"/>
              </a:rPr>
              <a:t>Excluded (n = 20)</a:t>
            </a:r>
          </a:p>
          <a:p>
            <a:pPr algn="ctr">
              <a:spcAft>
                <a:spcPts val="0"/>
              </a:spcAft>
            </a:pPr>
            <a:r>
              <a:rPr sz="318" b="0" i="0">
                <a:solidFill>
                  <a:srgbClr val="111827"/>
                </a:solidFill>
                <a:latin typeface="Times New Roman"/>
              </a:rPr>
              <a:t>Did not meet</a:t>
            </a:r>
          </a:p>
          <a:p>
            <a:pPr algn="ctr">
              <a:spcAft>
                <a:spcPts val="0"/>
              </a:spcAft>
            </a:pPr>
            <a:r>
              <a:rPr sz="318" b="0" i="0">
                <a:solidFill>
                  <a:srgbClr val="111827"/>
                </a:solidFill>
                <a:latin typeface="Times New Roman"/>
              </a:rPr>
              <a:t>inclusion criteria</a:t>
            </a:r>
          </a:p>
        </p:txBody>
      </p:sp>
      <p:cxnSp>
        <p:nvCxnSpPr>
          <p:cNvPr id="335" name="Connector 334"/>
          <p:cNvCxnSpPr/>
          <p:nvPr/>
        </p:nvCxnSpPr>
        <p:spPr>
          <a:xfrm>
            <a:off x="3721608" y="3163824"/>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3241548" y="3346704"/>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7" name="Rounded Rectangle 336"/>
          <p:cNvSpPr/>
          <p:nvPr/>
        </p:nvSpPr>
        <p:spPr>
          <a:xfrm>
            <a:off x="2761488" y="3419856"/>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8" name="TextBox 337"/>
          <p:cNvSpPr txBox="1"/>
          <p:nvPr/>
        </p:nvSpPr>
        <p:spPr>
          <a:xfrm>
            <a:off x="2414016" y="3803904"/>
            <a:ext cx="2258568" cy="164592"/>
          </a:xfrm>
          <a:prstGeom prst="rect">
            <a:avLst/>
          </a:prstGeom>
          <a:noFill/>
        </p:spPr>
        <p:txBody>
          <a:bodyPr wrap="square" anchor="t" lIns="27432" rIns="27432" tIns="13716" bIns="13716">
            <a:spAutoFit/>
          </a:bodyPr>
          <a:lstStyle/>
          <a:p>
            <a:pPr algn="l">
              <a:spcAft>
                <a:spcPts val="120"/>
              </a:spcAft>
            </a:pPr>
            <a:r>
              <a:rPr sz="420" b="1" i="0">
                <a:solidFill>
                  <a:srgbClr val="0A254E"/>
                </a:solidFill>
                <a:latin typeface="Times New Roman"/>
              </a:rPr>
              <a:t>Figure 1. </a:t>
            </a:r>
            <a:r>
              <a:rPr sz="420" b="1" i="0">
                <a:solidFill>
                  <a:srgbClr val="0A254E"/>
                </a:solidFill>
                <a:latin typeface="Times New Roman"/>
              </a:rPr>
              <a:t>Study Selection Flow Diagram.</a:t>
            </a:r>
            <a:r>
              <a:rPr sz="420" b="0" i="0">
                <a:solidFill>
                  <a:srgbClr val="111827"/>
                </a:solidFill>
                <a:latin typeface="Times New Roman"/>
              </a:rPr>
              <a:t> Adapted from PRISMA-ScR.¹¹</a:t>
            </a:r>
          </a:p>
        </p:txBody>
      </p:sp>
      <p:graphicFrame>
        <p:nvGraphicFramePr>
          <p:cNvPr id="339" name="Chart 338"/>
          <p:cNvGraphicFramePr>
            <a:graphicFrameLocks noGrp="1"/>
          </p:cNvGraphicFramePr>
          <p:nvPr/>
        </p:nvGraphicFramePr>
        <p:xfrm>
          <a:off x="4754880" y="1682496"/>
          <a:ext cx="2240280" cy="2596896"/>
        </p:xfrm>
        <a:graphic>
          <a:graphicData uri="http://schemas.openxmlformats.org/drawingml/2006/chart">
            <c:chart xmlns:c="http://schemas.openxmlformats.org/drawingml/2006/chart" r:id="rId9"/>
          </a:graphicData>
        </a:graphic>
      </p:graphicFrame>
      <p:sp>
        <p:nvSpPr>
          <p:cNvPr id="340" name="TextBox 339"/>
          <p:cNvSpPr txBox="1"/>
          <p:nvPr/>
        </p:nvSpPr>
        <p:spPr>
          <a:xfrm>
            <a:off x="4754880" y="4389120"/>
            <a:ext cx="2240280" cy="237744"/>
          </a:xfrm>
          <a:prstGeom prst="rect">
            <a:avLst/>
          </a:prstGeom>
          <a:noFill/>
        </p:spPr>
        <p:txBody>
          <a:bodyPr wrap="square" anchor="t" lIns="27432" rIns="27432" tIns="13716" bIns="13716">
            <a:spAutoFit/>
          </a:bodyPr>
          <a:lstStyle/>
          <a:p>
            <a:pPr algn="l">
              <a:spcAft>
                <a:spcPts val="120"/>
              </a:spcAft>
            </a:pPr>
            <a:r>
              <a:rPr sz="420" b="1" i="0">
                <a:solidFill>
                  <a:srgbClr val="0A254E"/>
                </a:solidFill>
                <a:latin typeface="Times New Roman"/>
              </a:rPr>
              <a:t>Figure 2. </a:t>
            </a:r>
            <a:r>
              <a:rPr sz="420" b="1" i="0">
                <a:solidFill>
                  <a:srgbClr val="0A254E"/>
                </a:solidFill>
                <a:latin typeface="Times New Roman"/>
              </a:rPr>
              <a:t>Psychosocial Outcomes Reported in the 44 Included Studies.</a:t>
            </a:r>
            <a:r>
              <a:rPr sz="420" b="0" i="0">
                <a:solidFill>
                  <a:srgbClr val="111827"/>
                </a:solidFill>
                <a:latin typeface="Times New Roman"/>
              </a:rPr>
              <a:t> A study could report more than one outcome, so counts should not be summed.</a:t>
            </a:r>
          </a:p>
        </p:txBody>
      </p:sp>
      <p:pic>
        <p:nvPicPr>
          <p:cNvPr id="341" name="Picture 340" descr="fig3_map.png"/>
          <p:cNvPicPr>
            <a:picLocks noChangeAspect="1"/>
          </p:cNvPicPr>
          <p:nvPr/>
        </p:nvPicPr>
        <p:blipFill>
          <a:blip r:embed="rId10"/>
          <a:stretch>
            <a:fillRect/>
          </a:stretch>
        </p:blipFill>
        <p:spPr>
          <a:xfrm>
            <a:off x="2414016" y="4681728"/>
            <a:ext cx="3108960" cy="1399585"/>
          </a:xfrm>
          <a:prstGeom prst="rect">
            <a:avLst/>
          </a:prstGeom>
        </p:spPr>
      </p:pic>
      <p:sp>
        <p:nvSpPr>
          <p:cNvPr id="342" name="Rounded Rectangle 341"/>
          <p:cNvSpPr/>
          <p:nvPr/>
        </p:nvSpPr>
        <p:spPr>
          <a:xfrm>
            <a:off x="5577840" y="4800600"/>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low- and lower-middle-income countries</a:t>
            </a:r>
          </a:p>
          <a:p>
            <a:pPr algn="ctr">
              <a:spcAft>
                <a:spcPts val="100"/>
              </a:spcAft>
            </a:pPr>
            <a:r>
              <a:rPr sz="520" b="0" i="0">
                <a:solidFill>
                  <a:srgbClr val="111827"/>
                </a:solidFill>
                <a:latin typeface="Times New Roman"/>
              </a:rPr>
              <a:t>20 high-income · 7 upper-middle-income</a:t>
            </a:r>
          </a:p>
          <a:p>
            <a:pPr algn="ctr">
              <a:spcAft>
                <a:spcPts val="0"/>
              </a:spcAft>
            </a:pPr>
            <a:r>
              <a:rPr sz="520" b="1" i="0">
                <a:solidFill>
                  <a:srgbClr val="A31F34"/>
                </a:solidFill>
                <a:latin typeface="Times New Roman"/>
              </a:rPr>
              <a:t>Sub-Saharan Africa: 1 study (Nigeria)</a:t>
            </a:r>
          </a:p>
        </p:txBody>
      </p:sp>
      <p:sp>
        <p:nvSpPr>
          <p:cNvPr id="343" name="TextBox 342"/>
          <p:cNvSpPr txBox="1"/>
          <p:nvPr/>
        </p:nvSpPr>
        <p:spPr>
          <a:xfrm>
            <a:off x="2414016" y="6126480"/>
            <a:ext cx="4572000" cy="292608"/>
          </a:xfrm>
          <a:prstGeom prst="rect">
            <a:avLst/>
          </a:prstGeom>
          <a:noFill/>
        </p:spPr>
        <p:txBody>
          <a:bodyPr wrap="square" anchor="t" lIns="27432" rIns="27432" tIns="13716" bIns="13716">
            <a:spAutoFit/>
          </a:bodyPr>
          <a:lstStyle/>
          <a:p>
            <a:pPr algn="l">
              <a:spcAft>
                <a:spcPts val="120"/>
              </a:spcAft>
            </a:pPr>
            <a:r>
              <a:rPr sz="420" b="1" i="0">
                <a:solidFill>
                  <a:srgbClr val="0A254E"/>
                </a:solidFill>
                <a:latin typeface="Times New Roman"/>
              </a:rPr>
              <a:t>Figure 4. </a:t>
            </a:r>
            <a:r>
              <a:rPr sz="420" b="1" i="0">
                <a:solidFill>
                  <a:srgbClr val="0A254E"/>
                </a:solidFill>
                <a:latin typeface="Times New Roman"/>
              </a:rPr>
              <a:t>Country Setting and World Bank Income Group of Included Studies.</a:t>
            </a:r>
            <a:r>
              <a:rPr sz="420" b="0" i="0">
                <a:solidFill>
                  <a:srgbClr val="111827"/>
                </a:solidFill>
                <a:latin typeface="Times New Roman"/>
              </a:rPr>
              <a:t> Map shows the 30 studies with an identifiable country setting; income groups follow the World Bank FY2027 classification.¹² The other 14 used online or multinational samples or had no single mappable setting in the available records. *Includes Hong Kong (1).</a:t>
            </a:r>
          </a:p>
        </p:txBody>
      </p:sp>
      <p:sp>
        <p:nvSpPr>
          <p:cNvPr id="344" name="Rectangle 343"/>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5" name="Rectangle 344"/>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20"/>
              </a:spcAft>
            </a:pPr>
            <a:r>
              <a:rPr sz="420" b="1" i="0">
                <a:solidFill>
                  <a:srgbClr val="111827"/>
                </a:solidFill>
                <a:latin typeface="Times New Roman"/>
              </a:rPr>
              <a:t>Results</a:t>
            </a:r>
          </a:p>
          <a:p>
            <a:pPr algn="just">
              <a:spcAft>
                <a:spcPts val="120"/>
              </a:spcAft>
            </a:pPr>
            <a:r>
              <a:rPr sz="420" b="0" i="0">
                <a:solidFill>
                  <a:srgbClr val="111827"/>
                </a:solidFill>
                <a:latin typeface="Times New Roman"/>
              </a:rPr>
              <a:t>The database search identified 1,943 records. After 325 duplicates were removed, 1,618 records were screened by title and abstract; 64 were assessed for eligibility, 20 were excluded, and 44 studies were included (Figure 1).</a:t>
            </a:r>
          </a:p>
          <a:p>
            <a:pPr algn="just">
              <a:spcAft>
                <a:spcPts val="120"/>
              </a:spcAft>
            </a:pPr>
            <a:r>
              <a:rPr sz="420" b="0" i="0">
                <a:solidFill>
                  <a:srgbClr val="111827"/>
                </a:solidFill>
                <a:latin typeface="Times New Roman"/>
              </a:rPr>
              <a:t>Depression was the most documented outcome (n=39); one nationwide cohort found a 2.6-fold higher risk of later depression after a PMDD diagnosis.¹³ Psychological distress (n=24), interpersonal functioning (n=18), suicidal ideation or self-harm (n=14) and quality of life (n=14) followed. Only three studies examined coping mechanisms, such as peer support shared in online PMDD communities¹⁴ (Figure 2). Most studies (61%) were published in 2022–2025 (Figure 3).</a:t>
            </a:r>
          </a:p>
          <a:p>
            <a:pPr algn="just">
              <a:spcAft>
                <a:spcPts val="120"/>
              </a:spcAft>
            </a:pPr>
            <a:r>
              <a:rPr sz="420" b="0" i="0">
                <a:solidFill>
                  <a:srgbClr val="111827"/>
                </a:solidFill>
                <a:latin typeface="Times New Roman"/>
              </a:rPr>
              <a:t>Twenty studies came from high-income countries and seven from upper-middle-income countries (Türkiye, Iran); only three (6.8%) came from low- and lower-middle-income countries: Bangladesh,¹⁵ Lebanon¹⁶ and Nigeria,¹⁷ the only study from sub-Saharan Africa (Figure 4).</a:t>
            </a:r>
          </a:p>
          <a:p>
            <a:pPr algn="just">
              <a:spcAft>
                <a:spcPts val="120"/>
              </a:spcAft>
            </a:pPr>
            <a:r>
              <a:rPr sz="420" b="1" i="0">
                <a:solidFill>
                  <a:srgbClr val="111827"/>
                </a:solidFill>
                <a:latin typeface="Times New Roman"/>
              </a:rPr>
              <a:t>Discussion</a:t>
            </a:r>
          </a:p>
          <a:p>
            <a:pPr algn="just">
              <a:spcAft>
                <a:spcPts val="120"/>
              </a:spcAft>
            </a:pPr>
            <a:r>
              <a:rPr sz="420" b="0" i="0">
                <a:solidFill>
                  <a:srgbClr val="111827"/>
                </a:solidFill>
                <a:latin typeface="Times New Roman"/>
              </a:rPr>
              <a:t>The focus on depression and distress is consistent with population studies linking PMDD to depression, suicidal ideation and suicide attempts.⁴⁻⁷ However, only three studies examined coping, so little is known about how women manage symptoms day to day or which supports help.</a:t>
            </a:r>
          </a:p>
          <a:p>
            <a:pPr algn="just">
              <a:spcAft>
                <a:spcPts val="120"/>
              </a:spcAft>
            </a:pPr>
            <a:r>
              <a:rPr sz="420" b="0" i="0">
                <a:solidFill>
                  <a:srgbClr val="111827"/>
                </a:solidFill>
                <a:latin typeface="Times New Roman"/>
              </a:rPr>
              <a:t>Evidence is also concentrated in high-income countries. Premenstrual symptoms are common across Africa,⁸ so having only one study from sub-Saharan Africa likely reflects limited research rather than low burden. Stigma, limited mental health services and local explanations of menstrual distress may shape both burden and coping in these settings.</a:t>
            </a:r>
          </a:p>
          <a:p>
            <a:pPr algn="just">
              <a:spcAft>
                <a:spcPts val="120"/>
              </a:spcAft>
            </a:pPr>
            <a:r>
              <a:rPr sz="420" b="0" i="0">
                <a:solidFill>
                  <a:srgbClr val="111827"/>
                </a:solidFill>
                <a:latin typeface="Times New Roman"/>
              </a:rPr>
              <a:t>Patients describe misdiagnosis and uneven provider knowledge,¹⁸˒¹⁹ and many turn to online peer communities for support.¹⁴ Because much PMDD research relies on provisional rather than prospectively confirmed diagnosis,³ future studies should pair confirmed diagnosis with measures of coping and help-seeking.</a:t>
            </a:r>
          </a:p>
          <a:p>
            <a:pPr algn="just">
              <a:spcAft>
                <a:spcPts val="120"/>
              </a:spcAft>
            </a:pPr>
            <a:r>
              <a:rPr sz="420" b="1" i="0">
                <a:solidFill>
                  <a:srgbClr val="111827"/>
                </a:solidFill>
                <a:latin typeface="Times New Roman"/>
              </a:rPr>
              <a:t>Conclusion</a:t>
            </a:r>
          </a:p>
          <a:p>
            <a:pPr algn="just">
              <a:spcAft>
                <a:spcPts val="120"/>
              </a:spcAft>
            </a:pPr>
            <a:r>
              <a:rPr sz="420" b="0" i="0">
                <a:solidFill>
                  <a:srgbClr val="111827"/>
                </a:solidFill>
                <a:latin typeface="Times New Roman"/>
              </a:rPr>
              <a:t>PMDD carries a well-documented psychosocial burden, especially depression, distress and suicidality, yet how women cope has received little attention, and evidence from low-income settings and Africa is nearly absent. Culturally responsive screening, integrated mental and reproductive health services, and more research in African settings are needed so health systems can respond.</a:t>
            </a:r>
          </a:p>
          <a:p>
            <a:pPr algn="just">
              <a:spcAft>
                <a:spcPts val="120"/>
              </a:spcAft>
            </a:pPr>
            <a:r>
              <a:rPr sz="420" b="1" i="0">
                <a:solidFill>
                  <a:srgbClr val="111827"/>
                </a:solidFill>
                <a:latin typeface="Times New Roman"/>
              </a:rPr>
              <a:t>Limitations</a:t>
            </a:r>
          </a:p>
          <a:p>
            <a:pPr algn="just" marL="73152" indent="-64008">
              <a:spcAft>
                <a:spcPts val="120"/>
              </a:spcAft>
              <a:buFont typeface="Arial"/>
              <a:buChar char="•"/>
            </a:pPr>
            <a:r>
              <a:rPr sz="420" b="1" i="0">
                <a:solidFill>
                  <a:srgbClr val="111827"/>
                </a:solidFill>
                <a:latin typeface="Times New Roman"/>
              </a:rPr>
              <a:t>Search scope: </a:t>
            </a:r>
            <a:r>
              <a:rPr sz="420" b="0" i="0">
                <a:solidFill>
                  <a:srgbClr val="111827"/>
                </a:solidFill>
                <a:latin typeface="Times New Roman"/>
              </a:rPr>
              <a:t>studies outside the five databases or the 2010–2025 period may have been missed.</a:t>
            </a:r>
          </a:p>
          <a:p>
            <a:pPr algn="just" marL="73152" indent="-64008">
              <a:spcAft>
                <a:spcPts val="120"/>
              </a:spcAft>
              <a:buFont typeface="Arial"/>
              <a:buChar char="•"/>
            </a:pPr>
            <a:r>
              <a:rPr sz="420" b="1" i="0">
                <a:solidFill>
                  <a:srgbClr val="111827"/>
                </a:solidFill>
                <a:latin typeface="Times New Roman"/>
              </a:rPr>
              <a:t>Study differences: </a:t>
            </a:r>
            <a:r>
              <a:rPr sz="420" b="0" i="0">
                <a:solidFill>
                  <a:srgbClr val="111827"/>
                </a:solidFill>
                <a:latin typeface="Times New Roman"/>
              </a:rPr>
              <a:t>variation in design and outcome definitions limits direct comparison.</a:t>
            </a:r>
          </a:p>
          <a:p>
            <a:pPr algn="just" marL="73152" indent="-64008">
              <a:spcAft>
                <a:spcPts val="120"/>
              </a:spcAft>
              <a:buFont typeface="Arial"/>
              <a:buChar char="•"/>
            </a:pPr>
            <a:r>
              <a:rPr sz="420" b="1" i="0">
                <a:solidFill>
                  <a:srgbClr val="111827"/>
                </a:solidFill>
                <a:latin typeface="Times New Roman"/>
              </a:rPr>
              <a:t>Geographic coverage: </a:t>
            </a:r>
            <a:r>
              <a:rPr sz="420" b="0" i="0">
                <a:solidFill>
                  <a:srgbClr val="111827"/>
                </a:solidFill>
                <a:latin typeface="Times New Roman"/>
              </a:rPr>
              <a:t>few studies from low- and lower-middle-income countries limit conclusions about those settings.</a:t>
            </a:r>
          </a:p>
        </p:txBody>
      </p:sp>
      <p:sp>
        <p:nvSpPr>
          <p:cNvPr id="346" name="Rectangle 345"/>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47" name="Rectangle 346"/>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70"/>
              </a:spcAft>
            </a:pPr>
            <a:r>
              <a:rPr sz="405" b="1" i="0">
                <a:solidFill>
                  <a:srgbClr val="111827"/>
                </a:solidFill>
                <a:latin typeface="Times New Roman"/>
              </a:rPr>
              <a:t>Public Health Implications</a:t>
            </a:r>
          </a:p>
          <a:p>
            <a:pPr algn="l" marL="73152" indent="-64008">
              <a:spcAft>
                <a:spcPts val="70"/>
              </a:spcAft>
              <a:buFont typeface="Arial"/>
              <a:buChar char="•"/>
            </a:pPr>
            <a:r>
              <a:rPr sz="405" b="1" i="0">
                <a:solidFill>
                  <a:srgbClr val="111827"/>
                </a:solidFill>
                <a:latin typeface="Times New Roman"/>
              </a:rPr>
              <a:t>Screen for suicide risk: </a:t>
            </a:r>
            <a:r>
              <a:rPr sz="405" b="0" i="0">
                <a:solidFill>
                  <a:srgbClr val="111827"/>
                </a:solidFill>
                <a:latin typeface="Times New Roman"/>
              </a:rPr>
              <a:t>ask about suicidal thoughts when women present with severe premenstrual mood symptoms.⁴˒⁵</a:t>
            </a:r>
          </a:p>
          <a:p>
            <a:pPr algn="l" marL="73152" indent="-64008">
              <a:spcAft>
                <a:spcPts val="70"/>
              </a:spcAft>
              <a:buFont typeface="Arial"/>
              <a:buChar char="•"/>
            </a:pPr>
            <a:r>
              <a:rPr sz="405" b="1" i="0">
                <a:solidFill>
                  <a:srgbClr val="111827"/>
                </a:solidFill>
                <a:latin typeface="Times New Roman"/>
              </a:rPr>
              <a:t>Integrate care: </a:t>
            </a:r>
            <a:r>
              <a:rPr sz="405" b="0" i="0">
                <a:solidFill>
                  <a:srgbClr val="111827"/>
                </a:solidFill>
                <a:latin typeface="Times New Roman"/>
              </a:rPr>
              <a:t>embed PMDD screening in sexual and reproductive, school and university health services.</a:t>
            </a:r>
          </a:p>
          <a:p>
            <a:pPr algn="l" marL="73152" indent="-64008">
              <a:spcAft>
                <a:spcPts val="70"/>
              </a:spcAft>
              <a:buFont typeface="Arial"/>
              <a:buChar char="•"/>
            </a:pPr>
            <a:r>
              <a:rPr sz="405" b="1" i="0">
                <a:solidFill>
                  <a:srgbClr val="111827"/>
                </a:solidFill>
                <a:latin typeface="Times New Roman"/>
              </a:rPr>
              <a:t>Train providers: </a:t>
            </a:r>
            <a:r>
              <a:rPr sz="405" b="0" i="0">
                <a:solidFill>
                  <a:srgbClr val="111827"/>
                </a:solidFill>
                <a:latin typeface="Times New Roman"/>
              </a:rPr>
              <a:t>improve recognition to reduce misdiagnosis and delayed care.¹⁸</a:t>
            </a:r>
          </a:p>
          <a:p>
            <a:pPr algn="l" marL="73152" indent="-64008">
              <a:spcAft>
                <a:spcPts val="70"/>
              </a:spcAft>
              <a:buFont typeface="Arial"/>
              <a:buChar char="•"/>
            </a:pPr>
            <a:r>
              <a:rPr sz="405" b="1" i="0">
                <a:solidFill>
                  <a:srgbClr val="111827"/>
                </a:solidFill>
                <a:latin typeface="Times New Roman"/>
              </a:rPr>
              <a:t>Address coping needs: </a:t>
            </a:r>
            <a:r>
              <a:rPr sz="405" b="0" i="0">
                <a:solidFill>
                  <a:srgbClr val="111827"/>
                </a:solidFill>
                <a:latin typeface="Times New Roman"/>
              </a:rPr>
              <a:t>ask how women manage symptoms and connect them with peer and professional support.¹⁴</a:t>
            </a:r>
          </a:p>
          <a:p>
            <a:pPr algn="l">
              <a:spcAft>
                <a:spcPts val="70"/>
              </a:spcAft>
            </a:pPr>
            <a:r>
              <a:rPr sz="405" b="1" i="0">
                <a:solidFill>
                  <a:srgbClr val="111827"/>
                </a:solidFill>
                <a:latin typeface="Times New Roman"/>
              </a:rPr>
              <a:t>Future Work</a:t>
            </a:r>
          </a:p>
          <a:p>
            <a:pPr algn="l" marL="73152" indent="-64008">
              <a:spcAft>
                <a:spcPts val="70"/>
              </a:spcAft>
              <a:buFont typeface="Arial"/>
              <a:buChar char="•"/>
            </a:pPr>
            <a:r>
              <a:rPr sz="405" b="1" i="0">
                <a:solidFill>
                  <a:srgbClr val="111827"/>
                </a:solidFill>
                <a:latin typeface="Times New Roman"/>
              </a:rPr>
              <a:t>Confirm PMDD prospectively </a:t>
            </a:r>
            <a:r>
              <a:rPr sz="405" b="0" i="0">
                <a:solidFill>
                  <a:srgbClr val="111827"/>
                </a:solidFill>
                <a:latin typeface="Times New Roman"/>
              </a:rPr>
              <a:t>using validated daily ratings.³˒²⁰</a:t>
            </a:r>
          </a:p>
          <a:p>
            <a:pPr algn="l" marL="73152" indent="-64008">
              <a:spcAft>
                <a:spcPts val="70"/>
              </a:spcAft>
              <a:buFont typeface="Arial"/>
              <a:buChar char="•"/>
            </a:pPr>
            <a:r>
              <a:rPr sz="405" b="1" i="0">
                <a:solidFill>
                  <a:srgbClr val="111827"/>
                </a:solidFill>
                <a:latin typeface="Times New Roman"/>
              </a:rPr>
              <a:t>Prioritize low-income and African settings, </a:t>
            </a:r>
            <a:r>
              <a:rPr sz="405" b="0" i="0">
                <a:solidFill>
                  <a:srgbClr val="111827"/>
                </a:solidFill>
                <a:latin typeface="Times New Roman"/>
              </a:rPr>
              <a:t>including qualitative studies of stigma and coping.</a:t>
            </a:r>
          </a:p>
          <a:p>
            <a:pPr algn="l" marL="73152" indent="-64008">
              <a:spcAft>
                <a:spcPts val="70"/>
              </a:spcAft>
              <a:buFont typeface="Arial"/>
              <a:buChar char="•"/>
            </a:pPr>
            <a:r>
              <a:rPr sz="405" b="1" i="0">
                <a:solidFill>
                  <a:srgbClr val="111827"/>
                </a:solidFill>
                <a:latin typeface="Times New Roman"/>
              </a:rPr>
              <a:t>Validate screening tools </a:t>
            </a:r>
            <a:r>
              <a:rPr sz="405" b="0" i="0">
                <a:solidFill>
                  <a:srgbClr val="111827"/>
                </a:solidFill>
                <a:latin typeface="Times New Roman"/>
              </a:rPr>
              <a:t>in African languages and test coping-focused interventions.</a:t>
            </a:r>
          </a:p>
        </p:txBody>
      </p:sp>
      <p:sp>
        <p:nvSpPr>
          <p:cNvPr id="348" name="Rectangle 347"/>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49" name="Rounded Rectangle 348"/>
          <p:cNvSpPr/>
          <p:nvPr/>
        </p:nvSpPr>
        <p:spPr>
          <a:xfrm>
            <a:off x="2428646" y="6455664"/>
            <a:ext cx="4516221" cy="237744"/>
          </a:xfrm>
          <a:prstGeom prst="roundRect">
            <a:avLst>
              <a:gd name="adj" fmla="val 8000"/>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3716" bIns="13716"/>
          <a:lstStyle/>
          <a:p>
            <a:pPr algn="ctr">
              <a:spcAft>
                <a:spcPts val="120"/>
              </a:spcAft>
            </a:pPr>
            <a:r>
              <a:rPr sz="560" b="1" i="0">
                <a:solidFill>
                  <a:srgbClr val="F2C14E"/>
                </a:solidFill>
                <a:latin typeface="Times New Roman"/>
              </a:rPr>
              <a:t>KEY TAKEAWAY  </a:t>
            </a:r>
            <a:r>
              <a:rPr sz="560" b="0" i="0">
                <a:solidFill>
                  <a:srgbClr val="FFFFFF"/>
                </a:solidFill>
                <a:latin typeface="Times New Roman"/>
              </a:rPr>
              <a:t>PMDD’s psychosocial burden is well documented in high-income countries, but rarely studied in low-income settings and sub-Saharan Africa.</a:t>
            </a:r>
          </a:p>
        </p:txBody>
      </p:sp>
      <p:graphicFrame>
        <p:nvGraphicFramePr>
          <p:cNvPr id="350" name="Chart 349"/>
          <p:cNvGraphicFramePr>
            <a:graphicFrameLocks noGrp="1"/>
          </p:cNvGraphicFramePr>
          <p:nvPr/>
        </p:nvGraphicFramePr>
        <p:xfrm>
          <a:off x="2505456" y="3913632"/>
          <a:ext cx="2103120" cy="493776"/>
        </p:xfrm>
        <a:graphic>
          <a:graphicData uri="http://schemas.openxmlformats.org/drawingml/2006/chart">
            <c:chart xmlns:c="http://schemas.openxmlformats.org/drawingml/2006/chart" r:id="rId11"/>
          </a:graphicData>
        </a:graphic>
      </p:graphicFrame>
      <p:sp>
        <p:nvSpPr>
          <p:cNvPr id="351" name="TextBox 350"/>
          <p:cNvSpPr txBox="1"/>
          <p:nvPr/>
        </p:nvSpPr>
        <p:spPr>
          <a:xfrm>
            <a:off x="2414016" y="4389120"/>
            <a:ext cx="2258568" cy="164592"/>
          </a:xfrm>
          <a:prstGeom prst="rect">
            <a:avLst/>
          </a:prstGeom>
          <a:noFill/>
        </p:spPr>
        <p:txBody>
          <a:bodyPr wrap="square" anchor="t" lIns="27432" rIns="27432" tIns="13716" bIns="13716">
            <a:spAutoFit/>
          </a:bodyPr>
          <a:lstStyle/>
          <a:p>
            <a:pPr algn="l">
              <a:spcAft>
                <a:spcPts val="120"/>
              </a:spcAft>
            </a:pPr>
            <a:r>
              <a:rPr sz="420" b="1" i="0">
                <a:solidFill>
                  <a:srgbClr val="0A254E"/>
                </a:solidFill>
                <a:latin typeface="Times New Roman"/>
              </a:rPr>
              <a:t>Figure 3. </a:t>
            </a:r>
            <a:r>
              <a:rPr sz="420" b="1" i="0">
                <a:solidFill>
                  <a:srgbClr val="0A254E"/>
                </a:solidFill>
                <a:latin typeface="Times New Roman"/>
              </a:rPr>
              <a:t>Included Studies by Publication Period.</a:t>
            </a:r>
            <a:r>
              <a:rPr sz="420" b="0" i="0">
                <a:solidFill>
                  <a:srgbClr val="111827"/>
                </a:solidFill>
                <a:latin typeface="Times New Roman"/>
              </a:rPr>
              <a:t> 61% (27 of 44) were published in 2022–2025.</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