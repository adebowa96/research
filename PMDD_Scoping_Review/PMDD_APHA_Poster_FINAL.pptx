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
  </p:notesMasterIdLst>
  <p:sldIdLst>
    <p:sldId id="258" r:id="rId2"/>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0" d="100"/>
          <a:sy n="70" d="100"/>
        </p:scale>
        <p:origin x="1204"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Studies</c:v>
                </c:pt>
              </c:strCache>
            </c:strRef>
          </c:tx>
          <c:spPr>
            <a:solidFill>
              <a:srgbClr val="0A254E"/>
            </a:solidFill>
          </c:spPr>
          <c:dPt>
            <c:idx val="0"/>
            <c:spPr>
              <a:solidFill>
                <a:srgbClr val="A31F34"/>
              </a:solidFill>
            </c:spPr>
          </c:dPt>
          <c:cat>
            <c:strRef>
              <c:f>Sheet1!$A$2:$A$7</c:f>
              <c:strCache>
                <c:ptCount val="6"/>
                <c:pt idx="0">
                  <c:v>Coping mechanisms</c:v>
                </c:pt>
                <c:pt idx="1">
                  <c:v>Quality of life</c:v>
                </c:pt>
                <c:pt idx="2">
                  <c:v>Suicidal ideation or self-harm</c:v>
                </c:pt>
                <c:pt idx="3">
                  <c:v>Interpersonal functioning</c:v>
                </c:pt>
                <c:pt idx="4">
                  <c:v>Psychological distress</c:v>
                </c:pt>
                <c:pt idx="5">
                  <c:v>Depression</c:v>
                </c:pt>
              </c:strCache>
            </c:strRef>
          </c:cat>
          <c:val>
            <c:numRef>
              <c:f>Sheet1!$B$2:$B$7</c:f>
              <c:numCache>
                <c:formatCode>General</c:formatCode>
                <c:ptCount val="6"/>
                <c:pt idx="0">
                  <c:v>3</c:v>
                </c:pt>
                <c:pt idx="1">
                  <c:v>14</c:v>
                </c:pt>
                <c:pt idx="2">
                  <c:v>14</c:v>
                </c:pt>
                <c:pt idx="3">
                  <c:v>18</c:v>
                </c:pt>
                <c:pt idx="4">
                  <c:v>24</c:v>
                </c:pt>
                <c:pt idx="5">
                  <c:v>39</c:v>
                </c:pt>
              </c:numCache>
            </c:numRef>
          </c:val>
        </c:ser>
        <c:dLbls>
          <c:txPr>
            <a:bodyPr/>
            <a:lstStyle/>
            <a:p>
              <a:pPr>
                <a:defRPr sz="459" b="1">
                  <a:latin typeface="Times New Roman"/>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9CA3AF"/>
            </a:solidFill>
          </a:ln>
        </c:spPr>
        <c:txPr>
          <a:bodyPr/>
          <a:lstStyle/>
          <a:p>
            <a:pPr>
              <a:defRPr sz="459"/>
            </a:pPr>
          </a:p>
        </c:txPr>
        <c:crossAx val="-2113994440"/>
        <c:crosses val="autoZero"/>
        <c:auto val="1"/>
        <c:lblAlgn val="ctr"/>
        <c:lblOffset val="100"/>
        <c:noMultiLvlLbl val="0"/>
      </c:catAx>
      <c:valAx>
        <c:axId val="-2113994440"/>
        <c:scaling>
          <c:max val="44.0"/>
          <c:min val="0.0"/>
        </c:scaling>
        <c:delete/>
        <c:axPos val="b"/>
        <c:majorTickMark val="out"/>
        <c:minorTickMark val="none"/>
        <c:tickLblPos val="nextTo"/>
        <c:crossAx val="-2068027336"/>
        <c:crosses val="autoZero"/>
      </c:valAx>
    </c:plotArea>
    <c:dispBlanksAs val="gap"/>
  </c:chart>
  <c:txPr>
    <a:bodyPr/>
    <a:lstStyle/>
    <a:p>
      <a:pPr>
        <a:defRPr sz="459">
          <a:solidFill>
            <a:srgbClr val="111827"/>
          </a:solidFill>
          <a:latin typeface="Times New Roman"/>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Studies</c:v>
                </c:pt>
              </c:strCache>
            </c:strRef>
          </c:tx>
          <c:spPr>
            <a:solidFill>
              <a:srgbClr val="0A254E"/>
            </a:solidFill>
          </c:spPr>
          <c:dPt>
            <c:idx val="3"/>
            <c:spPr>
              <a:solidFill>
                <a:srgbClr val="A31F34"/>
              </a:solidFill>
            </c:spPr>
          </c:dPt>
          <c:cat>
            <c:strRef>
              <c:f>Sheet1!$A$2:$A$5</c:f>
              <c:strCache>
                <c:ptCount val="4"/>
                <c:pt idx="0">
                  <c:v>2010–13</c:v>
                </c:pt>
                <c:pt idx="1">
                  <c:v>2014–17</c:v>
                </c:pt>
                <c:pt idx="2">
                  <c:v>2018–21</c:v>
                </c:pt>
                <c:pt idx="3">
                  <c:v>2022–25</c:v>
                </c:pt>
              </c:strCache>
            </c:strRef>
          </c:cat>
          <c:val>
            <c:numRef>
              <c:f>Sheet1!$B$2:$B$5</c:f>
              <c:numCache>
                <c:formatCode>General</c:formatCode>
                <c:ptCount val="4"/>
                <c:pt idx="0">
                  <c:v>6</c:v>
                </c:pt>
                <c:pt idx="1">
                  <c:v>6</c:v>
                </c:pt>
                <c:pt idx="2">
                  <c:v>5</c:v>
                </c:pt>
                <c:pt idx="3">
                  <c:v>27</c:v>
                </c:pt>
              </c:numCache>
            </c:numRef>
          </c:val>
        </c:ser>
        <c:dLbls>
          <c:txPr>
            <a:bodyPr/>
            <a:lstStyle/>
            <a:p>
              <a:pPr>
                <a:defRPr sz="420" b="1">
                  <a:latin typeface="Times New Roman"/>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9CA3AF"/>
            </a:solidFill>
          </a:ln>
        </c:spPr>
        <c:txPr>
          <a:bodyPr/>
          <a:lstStyle/>
          <a:p>
            <a:pPr>
              <a:defRPr sz="420"/>
            </a:pPr>
          </a:p>
        </c:txPr>
        <c:crossAx val="-2113994440"/>
        <c:crosses val="autoZero"/>
        <c:auto val="1"/>
        <c:lblAlgn val="ctr"/>
        <c:lblOffset val="100"/>
        <c:noMultiLvlLbl val="0"/>
      </c:catAx>
      <c:valAx>
        <c:axId val="-2113994440"/>
        <c:scaling>
          <c:max val="32.0"/>
          <c:min val="0.0"/>
        </c:scaling>
        <c:delete/>
        <c:axPos val="l"/>
        <c:majorTickMark val="out"/>
        <c:minorTickMark val="none"/>
        <c:tickLblPos val="nextTo"/>
        <c:crossAx val="-2068027336"/>
        <c:crosses val="autoZero"/>
      </c:valAx>
    </c:plotArea>
    <c:dispBlanksAs val="gap"/>
  </c:chart>
  <c:txPr>
    <a:bodyPr/>
    <a:lstStyle/>
    <a:p>
      <a:pPr>
        <a:defRPr sz="420">
          <a:solidFill>
            <a:srgbClr val="111827"/>
          </a:solidFill>
          <a:latin typeface="Times New Roman"/>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96BDCCF-4A2F-49B0-B87F-E22253D6F77C}" type="datetimeFigureOut">
              <a:rPr lang="en-US" smtClean="0"/>
              <a:t>9/29/2026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EA4540F-8BD0-4131-8B1C-6CA932629A10}" type="slidenum">
              <a:rPr lang="en-US" smtClean="0"/>
              <a:t>‹#›</a:t>
            </a:fld>
            <a:endParaRPr lang="en-US"/>
          </a:p>
        </p:txBody>
      </p:sp>
    </p:spTree>
    <p:extLst>
      <p:ext uri="{BB962C8B-B14F-4D97-AF65-F5344CB8AC3E}">
        <p14:creationId xmlns:p14="http://schemas.microsoft.com/office/powerpoint/2010/main" val="2549406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B8577F-B9F7-2240-15E4-FDABBC4683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271C4D-5AA2-C172-0001-EB30CAA02E40}"/>
              </a:ext>
            </a:extLst>
          </p:cNvPr>
          <p:cNvSpPr>
            <a:spLocks noGrp="1" noRot="1" noChangeAspect="1"/>
          </p:cNvSpPr>
          <p:nvPr>
            <p:ph type="sldImg"/>
          </p:nvPr>
        </p:nvSpPr>
        <p:spPr>
          <a:xfrm>
            <a:off x="2857500" y="514350"/>
            <a:ext cx="3429000" cy="2571750"/>
          </a:xfrm>
        </p:spPr>
      </p:sp>
      <p:sp>
        <p:nvSpPr>
          <p:cNvPr id="3" name="Notes Placeholder 2">
            <a:extLst>
              <a:ext uri="{FF2B5EF4-FFF2-40B4-BE49-F238E27FC236}">
                <a16:creationId xmlns:a16="http://schemas.microsoft.com/office/drawing/2014/main" id="{1F4E93C4-1E27-A78C-18EB-36FBAE80867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E04F0D5-7458-F3FC-A407-B5A218BE6636}"/>
              </a:ext>
            </a:extLst>
          </p:cNvPr>
          <p:cNvSpPr>
            <a:spLocks noGrp="1"/>
          </p:cNvSpPr>
          <p:nvPr>
            <p:ph type="sldNum" sz="quarter" idx="10"/>
          </p:nvPr>
        </p:nvSpPr>
        <p:spPr/>
        <p:txBody>
          <a:bodyPr/>
          <a:lstStyle/>
          <a:p>
            <a:pPr marL="0" marR="0" lvl="0" indent="0" algn="r" defTabSz="2072951" rtl="0" eaLnBrk="1" fontAlgn="auto" latinLnBrk="0" hangingPunct="1">
              <a:lnSpc>
                <a:spcPct val="100000"/>
              </a:lnSpc>
              <a:spcBef>
                <a:spcPts val="0"/>
              </a:spcBef>
              <a:spcAft>
                <a:spcPts val="0"/>
              </a:spcAft>
              <a:buClrTx/>
              <a:buSzTx/>
              <a:buFontTx/>
              <a:buNone/>
              <a:tabLst/>
              <a:defRPr/>
            </a:pPr>
            <a:fld id="{FECA9BC3-5A08-5C40-8DE6-1B49CE826337}"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2072951"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8743190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028020" y="1769545"/>
            <a:ext cx="7080026" cy="1828801"/>
          </a:xfrm>
        </p:spPr>
        <p:txBody>
          <a:bodyPr anchor="b">
            <a:normAutofit/>
          </a:bodyPr>
          <a:lstStyle>
            <a:lvl1pPr algn="ctr">
              <a:defRPr sz="5399"/>
            </a:lvl1pPr>
          </a:lstStyle>
          <a:p>
            <a:r>
              <a:rPr lang="en-US"/>
              <a:t>Click to edit Master title style</a:t>
            </a:r>
            <a:endParaRPr lang="en-US" dirty="0"/>
          </a:p>
        </p:txBody>
      </p:sp>
      <p:sp>
        <p:nvSpPr>
          <p:cNvPr id="3" name="Subtitle 2"/>
          <p:cNvSpPr>
            <a:spLocks noGrp="1"/>
          </p:cNvSpPr>
          <p:nvPr>
            <p:ph type="subTitle" idx="1"/>
          </p:nvPr>
        </p:nvSpPr>
        <p:spPr>
          <a:xfrm>
            <a:off x="1028020" y="3598339"/>
            <a:ext cx="7080026" cy="1049867"/>
          </a:xfrm>
        </p:spPr>
        <p:txBody>
          <a:bodyPr anchor="t"/>
          <a:lstStyle>
            <a:lvl1pPr marL="0" indent="0" algn="ctr">
              <a:buNone/>
              <a:defRPr>
                <a:solidFill>
                  <a:schemeClr val="tx1"/>
                </a:solidFill>
              </a:defRPr>
            </a:lvl1pPr>
            <a:lvl2pPr marL="457115" indent="0" algn="ctr">
              <a:buNone/>
              <a:defRPr>
                <a:solidFill>
                  <a:schemeClr val="tx1">
                    <a:tint val="75000"/>
                  </a:schemeClr>
                </a:solidFill>
              </a:defRPr>
            </a:lvl2pPr>
            <a:lvl3pPr marL="914232" indent="0" algn="ctr">
              <a:buNone/>
              <a:defRPr>
                <a:solidFill>
                  <a:schemeClr val="tx1">
                    <a:tint val="75000"/>
                  </a:schemeClr>
                </a:solidFill>
              </a:defRPr>
            </a:lvl3pPr>
            <a:lvl4pPr marL="1371347" indent="0" algn="ctr">
              <a:buNone/>
              <a:defRPr>
                <a:solidFill>
                  <a:schemeClr val="tx1">
                    <a:tint val="75000"/>
                  </a:schemeClr>
                </a:solidFill>
              </a:defRPr>
            </a:lvl4pPr>
            <a:lvl5pPr marL="1828461" indent="0" algn="ctr">
              <a:buNone/>
              <a:defRPr>
                <a:solidFill>
                  <a:schemeClr val="tx1">
                    <a:tint val="75000"/>
                  </a:schemeClr>
                </a:solidFill>
              </a:defRPr>
            </a:lvl5pPr>
            <a:lvl6pPr marL="2285578" indent="0" algn="ctr">
              <a:buNone/>
              <a:defRPr>
                <a:solidFill>
                  <a:schemeClr val="tx1">
                    <a:tint val="75000"/>
                  </a:schemeClr>
                </a:solidFill>
              </a:defRPr>
            </a:lvl6pPr>
            <a:lvl7pPr marL="2742693" indent="0" algn="ctr">
              <a:buNone/>
              <a:defRPr>
                <a:solidFill>
                  <a:schemeClr val="tx1">
                    <a:tint val="75000"/>
                  </a:schemeClr>
                </a:solidFill>
              </a:defRPr>
            </a:lvl7pPr>
            <a:lvl8pPr marL="3199808" indent="0" algn="ctr">
              <a:buNone/>
              <a:defRPr>
                <a:solidFill>
                  <a:schemeClr val="tx1">
                    <a:tint val="75000"/>
                  </a:schemeClr>
                </a:solidFill>
              </a:defRPr>
            </a:lvl8pPr>
            <a:lvl9pPr marL="3656923"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568043978"/>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0019869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71553" y="1761072"/>
            <a:ext cx="7192913" cy="1828813"/>
          </a:xfrm>
        </p:spPr>
        <p:txBody>
          <a:bodyPr anchor="b"/>
          <a:lstStyle>
            <a:lvl1pPr algn="ctr">
              <a:defRPr sz="3999" b="0" cap="none"/>
            </a:lvl1pPr>
          </a:lstStyle>
          <a:p>
            <a:r>
              <a:rPr lang="en-US"/>
              <a:t>Click to edit Master title style</a:t>
            </a:r>
            <a:endParaRPr lang="en-US" dirty="0"/>
          </a:p>
        </p:txBody>
      </p:sp>
      <p:sp>
        <p:nvSpPr>
          <p:cNvPr id="3" name="Text Placeholder 2"/>
          <p:cNvSpPr>
            <a:spLocks noGrp="1"/>
          </p:cNvSpPr>
          <p:nvPr>
            <p:ph type="body" idx="1"/>
          </p:nvPr>
        </p:nvSpPr>
        <p:spPr>
          <a:xfrm>
            <a:off x="971553" y="3589879"/>
            <a:ext cx="7192913" cy="1507054"/>
          </a:xfrm>
        </p:spPr>
        <p:txBody>
          <a:bodyPr anchor="t"/>
          <a:lstStyle>
            <a:lvl1pPr marL="0" indent="0" algn="ctr">
              <a:buNone/>
              <a:defRPr sz="2000">
                <a:solidFill>
                  <a:schemeClr val="tx1"/>
                </a:solidFill>
              </a:defRPr>
            </a:lvl1pPr>
            <a:lvl2pPr marL="457115" indent="0">
              <a:buNone/>
              <a:defRPr sz="1800">
                <a:solidFill>
                  <a:schemeClr val="tx1">
                    <a:tint val="75000"/>
                  </a:schemeClr>
                </a:solidFill>
              </a:defRPr>
            </a:lvl2pPr>
            <a:lvl3pPr marL="914232" indent="0">
              <a:buNone/>
              <a:defRPr sz="1600">
                <a:solidFill>
                  <a:schemeClr val="tx1">
                    <a:tint val="75000"/>
                  </a:schemeClr>
                </a:solidFill>
              </a:defRPr>
            </a:lvl3pPr>
            <a:lvl4pPr marL="1371347" indent="0">
              <a:buNone/>
              <a:defRPr sz="1400">
                <a:solidFill>
                  <a:schemeClr val="tx1">
                    <a:tint val="75000"/>
                  </a:schemeClr>
                </a:solidFill>
              </a:defRPr>
            </a:lvl4pPr>
            <a:lvl5pPr marL="1828461" indent="0">
              <a:buNone/>
              <a:defRPr sz="1400">
                <a:solidFill>
                  <a:schemeClr val="tx1">
                    <a:tint val="75000"/>
                  </a:schemeClr>
                </a:solidFill>
              </a:defRPr>
            </a:lvl5pPr>
            <a:lvl6pPr marL="2285578" indent="0">
              <a:buNone/>
              <a:defRPr sz="1400">
                <a:solidFill>
                  <a:schemeClr val="tx1">
                    <a:tint val="75000"/>
                  </a:schemeClr>
                </a:solidFill>
              </a:defRPr>
            </a:lvl6pPr>
            <a:lvl7pPr marL="2742693" indent="0">
              <a:buNone/>
              <a:defRPr sz="1400">
                <a:solidFill>
                  <a:schemeClr val="tx1">
                    <a:tint val="75000"/>
                  </a:schemeClr>
                </a:solidFill>
              </a:defRPr>
            </a:lvl7pPr>
            <a:lvl8pPr marL="3199808" indent="0">
              <a:buNone/>
              <a:defRPr sz="1400">
                <a:solidFill>
                  <a:schemeClr val="tx1">
                    <a:tint val="75000"/>
                  </a:schemeClr>
                </a:solidFill>
              </a:defRPr>
            </a:lvl8pPr>
            <a:lvl9pPr marL="365692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9785758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5349" y="1732449"/>
            <a:ext cx="3795373"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52171" y="1732454"/>
            <a:ext cx="3798499"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8743338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5347" y="1770325"/>
            <a:ext cx="3787423" cy="4112953"/>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63247" y="1770325"/>
            <a:ext cx="3787423" cy="4112953"/>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754404" y="1835254"/>
            <a:ext cx="3657258" cy="544884"/>
          </a:xfrm>
        </p:spPr>
        <p:txBody>
          <a:bodyPr anchor="b">
            <a:noAutofit/>
          </a:bodyPr>
          <a:lstStyle>
            <a:lvl1pPr marL="0" indent="0" algn="ctr">
              <a:buNone/>
              <a:defRPr sz="2400" b="0"/>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4" name="Content Placeholder 3"/>
          <p:cNvSpPr>
            <a:spLocks noGrp="1"/>
          </p:cNvSpPr>
          <p:nvPr>
            <p:ph sz="half" idx="2"/>
          </p:nvPr>
        </p:nvSpPr>
        <p:spPr>
          <a:xfrm>
            <a:off x="754404" y="2380142"/>
            <a:ext cx="3657258"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21226" y="1835259"/>
            <a:ext cx="3671498" cy="544883"/>
          </a:xfrm>
        </p:spPr>
        <p:txBody>
          <a:bodyPr anchor="b">
            <a:noAutofit/>
          </a:bodyPr>
          <a:lstStyle>
            <a:lvl1pPr marL="0" indent="0" algn="ctr">
              <a:buNone/>
              <a:defRPr sz="2400" b="0"/>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721226" y="2380142"/>
            <a:ext cx="3671498"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3D97CC-475F-BE49-B579-6BFEF977A37E}" type="datetimeFigureOut">
              <a:rPr lang="en-US" smtClean="0"/>
              <a:t>9/29/2026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2953209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621486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04967135"/>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349" y="609600"/>
            <a:ext cx="2780167"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3641726" y="609600"/>
            <a:ext cx="4808943"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349" y="2431522"/>
            <a:ext cx="2780167" cy="3359681"/>
          </a:xfrm>
        </p:spPr>
        <p:txBody>
          <a:bodyPr anchor="t">
            <a:normAutofit/>
          </a:bodyPr>
          <a:lstStyle>
            <a:lvl1pPr marL="0" indent="0" algn="ctr">
              <a:buNone/>
              <a:defRPr sz="16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189860445"/>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44988" y="609923"/>
            <a:ext cx="3428146" cy="5205472"/>
          </a:xfrm>
          <a:prstGeom prst="rect">
            <a:avLst/>
          </a:prstGeom>
        </p:spPr>
      </p:pic>
      <p:sp>
        <p:nvSpPr>
          <p:cNvPr id="2" name="Title 1"/>
          <p:cNvSpPr>
            <a:spLocks noGrp="1"/>
          </p:cNvSpPr>
          <p:nvPr>
            <p:ph type="title"/>
          </p:nvPr>
        </p:nvSpPr>
        <p:spPr>
          <a:xfrm>
            <a:off x="685347" y="609923"/>
            <a:ext cx="3924676" cy="1829338"/>
          </a:xfrm>
        </p:spPr>
        <p:txBody>
          <a:bodyPr anchor="b">
            <a:noAutofit/>
          </a:bodyPr>
          <a:lstStyle>
            <a:lvl1pPr algn="ctr">
              <a:defRPr sz="3199"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4976729" y="743989"/>
            <a:ext cx="3165375" cy="4912822"/>
          </a:xfr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347" y="2439261"/>
            <a:ext cx="3924676" cy="3376134"/>
          </a:xfrm>
        </p:spPr>
        <p:txBody>
          <a:bodyPr anchor="t">
            <a:normAutofit/>
          </a:bodyPr>
          <a:lstStyle>
            <a:lvl1pPr marL="0" indent="0" algn="ctr">
              <a:buNone/>
              <a:defRPr sz="16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075213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3997" y="540085"/>
            <a:ext cx="7656010" cy="3834374"/>
          </a:xfrm>
          <a:prstGeom prst="rect">
            <a:avLst/>
          </a:prstGeom>
        </p:spPr>
      </p:pic>
      <p:sp>
        <p:nvSpPr>
          <p:cNvPr id="2" name="Title 1"/>
          <p:cNvSpPr>
            <a:spLocks noGrp="1"/>
          </p:cNvSpPr>
          <p:nvPr>
            <p:ph type="title"/>
          </p:nvPr>
        </p:nvSpPr>
        <p:spPr>
          <a:xfrm>
            <a:off x="685356" y="4565255"/>
            <a:ext cx="7766495"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926217" y="695014"/>
            <a:ext cx="7285600" cy="3525671"/>
          </a:xfrm>
          <a:effectLst>
            <a:outerShdw blurRad="38100" dist="25400" dir="4440000">
              <a:srgbClr val="000000">
                <a:alpha val="36000"/>
              </a:srgbClr>
            </a:outerShdw>
          </a:effectLst>
        </p:spPr>
        <p:txBody>
          <a:bodyPr anchor="t">
            <a:normAutofit/>
          </a:bodyPr>
          <a:lstStyle>
            <a:lvl1pPr marL="0" indent="0" algn="ctr">
              <a:buNone/>
              <a:defRPr sz="2000"/>
            </a:lvl1pPr>
            <a:lvl2pPr marL="457115" indent="0">
              <a:buNone/>
              <a:defRPr sz="2000"/>
            </a:lvl2pPr>
            <a:lvl3pPr marL="914232" indent="0">
              <a:buNone/>
              <a:defRPr sz="2000"/>
            </a:lvl3pPr>
            <a:lvl4pPr marL="1371347" indent="0">
              <a:buNone/>
              <a:defRPr sz="2000"/>
            </a:lvl4pPr>
            <a:lvl5pPr marL="1828461" indent="0">
              <a:buNone/>
              <a:defRPr sz="2000"/>
            </a:lvl5pPr>
            <a:lvl6pPr marL="2285578" indent="0">
              <a:buNone/>
              <a:defRPr sz="2000"/>
            </a:lvl6pPr>
            <a:lvl7pPr marL="2742693" indent="0">
              <a:buNone/>
              <a:defRPr sz="2000"/>
            </a:lvl7pPr>
            <a:lvl8pPr marL="3199808" indent="0">
              <a:buNone/>
              <a:defRPr sz="2000"/>
            </a:lvl8pPr>
            <a:lvl9pPr marL="3656923"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348" y="5108728"/>
            <a:ext cx="7765322" cy="682472"/>
          </a:xfrm>
        </p:spPr>
        <p:txBody>
          <a:bodyPr anchor="t"/>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221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85348" y="608437"/>
            <a:ext cx="7765322" cy="3534344"/>
          </a:xfrm>
        </p:spPr>
        <p:txBody>
          <a:bodyPr anchor="ctr"/>
          <a:lstStyle>
            <a:lvl1pPr>
              <a:defRPr sz="3199"/>
            </a:lvl1pPr>
          </a:lstStyle>
          <a:p>
            <a:r>
              <a:rPr lang="en-US"/>
              <a:t>Click to edit Master title style</a:t>
            </a:r>
            <a:endParaRPr lang="en-US" dirty="0"/>
          </a:p>
        </p:txBody>
      </p:sp>
      <p:sp>
        <p:nvSpPr>
          <p:cNvPr id="4" name="Text Placeholder 3"/>
          <p:cNvSpPr>
            <a:spLocks noGrp="1"/>
          </p:cNvSpPr>
          <p:nvPr>
            <p:ph type="body" sz="half" idx="2"/>
          </p:nvPr>
        </p:nvSpPr>
        <p:spPr>
          <a:xfrm>
            <a:off x="685348" y="4295180"/>
            <a:ext cx="7765322" cy="1501826"/>
          </a:xfrm>
        </p:spPr>
        <p:txBody>
          <a:bodyPr anchor="ctr"/>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7612557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84659" y="609600"/>
            <a:ext cx="6977064" cy="2992904"/>
          </a:xfrm>
        </p:spPr>
        <p:txBody>
          <a:bodyPr anchor="ctr"/>
          <a:lstStyle>
            <a:lvl1pPr>
              <a:defRPr sz="3199"/>
            </a:lvl1pPr>
          </a:lstStyle>
          <a:p>
            <a:r>
              <a:rPr lang="en-US"/>
              <a:t>Click to edit Master title style</a:t>
            </a:r>
            <a:endParaRPr lang="en-US" dirty="0"/>
          </a:p>
        </p:txBody>
      </p:sp>
      <p:sp>
        <p:nvSpPr>
          <p:cNvPr id="12" name="Text Placeholder 3"/>
          <p:cNvSpPr>
            <a:spLocks noGrp="1"/>
          </p:cNvSpPr>
          <p:nvPr>
            <p:ph type="body" sz="half" idx="13"/>
          </p:nvPr>
        </p:nvSpPr>
        <p:spPr>
          <a:xfrm>
            <a:off x="1290484" y="3610037"/>
            <a:ext cx="6564224" cy="532749"/>
          </a:xfrm>
        </p:spPr>
        <p:txBody>
          <a:bodyPr anchor="t">
            <a:normAutofit/>
          </a:bodyPr>
          <a:lstStyle>
            <a:lvl1pPr marL="0" indent="0" algn="r">
              <a:buNone/>
              <a:defRPr sz="14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4" name="Text Placeholder 3"/>
          <p:cNvSpPr>
            <a:spLocks noGrp="1"/>
          </p:cNvSpPr>
          <p:nvPr>
            <p:ph type="body" sz="half" idx="2"/>
          </p:nvPr>
        </p:nvSpPr>
        <p:spPr>
          <a:xfrm>
            <a:off x="685348" y="4304353"/>
            <a:ext cx="7765322" cy="1489496"/>
          </a:xfrm>
        </p:spPr>
        <p:txBody>
          <a:bodyPr anchor="ctr">
            <a:normAutofit/>
          </a:bodyPr>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627459" y="873912"/>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7998" dirty="0">
                <a:solidFill>
                  <a:schemeClr val="tx1"/>
                </a:solidFill>
                <a:effectLst/>
              </a:rPr>
              <a:t>“</a:t>
            </a:r>
          </a:p>
        </p:txBody>
      </p:sp>
      <p:sp>
        <p:nvSpPr>
          <p:cNvPr id="13" name="TextBox 12"/>
          <p:cNvSpPr txBox="1"/>
          <p:nvPr/>
        </p:nvSpPr>
        <p:spPr>
          <a:xfrm>
            <a:off x="7828359" y="2933245"/>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Tree>
    <p:extLst>
      <p:ext uri="{BB962C8B-B14F-4D97-AF65-F5344CB8AC3E}">
        <p14:creationId xmlns:p14="http://schemas.microsoft.com/office/powerpoint/2010/main" val="33095106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85348" y="2126947"/>
            <a:ext cx="7765322" cy="2511835"/>
          </a:xfrm>
        </p:spPr>
        <p:txBody>
          <a:bodyPr anchor="b"/>
          <a:lstStyle>
            <a:lvl1pPr>
              <a:defRPr sz="3199"/>
            </a:lvl1pPr>
          </a:lstStyle>
          <a:p>
            <a:r>
              <a:rPr lang="en-US"/>
              <a:t>Click to edit Master title style</a:t>
            </a:r>
            <a:endParaRPr lang="en-US" dirty="0"/>
          </a:p>
        </p:txBody>
      </p:sp>
      <p:sp>
        <p:nvSpPr>
          <p:cNvPr id="4" name="Text Placeholder 3"/>
          <p:cNvSpPr>
            <a:spLocks noGrp="1"/>
          </p:cNvSpPr>
          <p:nvPr>
            <p:ph type="body" sz="half" idx="2"/>
          </p:nvPr>
        </p:nvSpPr>
        <p:spPr>
          <a:xfrm>
            <a:off x="685341" y="4650556"/>
            <a:ext cx="7764149" cy="1140644"/>
          </a:xfrm>
        </p:spPr>
        <p:txBody>
          <a:bodyPr anchor="t"/>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7999785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685348" y="609600"/>
            <a:ext cx="776532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346"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5346"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335033"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331076"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5974929"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5974929"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2911341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9241" y="1826045"/>
            <a:ext cx="2529046" cy="183355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93814" y="1826045"/>
            <a:ext cx="2529046" cy="183355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21715" y="1826045"/>
            <a:ext cx="2529046" cy="1833558"/>
          </a:xfrm>
          <a:prstGeom prst="rect">
            <a:avLst/>
          </a:prstGeom>
        </p:spPr>
      </p:pic>
      <p:sp>
        <p:nvSpPr>
          <p:cNvPr id="30" name="Title 1"/>
          <p:cNvSpPr>
            <a:spLocks noGrp="1"/>
          </p:cNvSpPr>
          <p:nvPr>
            <p:ph type="title"/>
          </p:nvPr>
        </p:nvSpPr>
        <p:spPr>
          <a:xfrm>
            <a:off x="685348" y="609600"/>
            <a:ext cx="7765322"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5346"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763577" y="1938918"/>
            <a:ext cx="2319276"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5346" y="4480373"/>
            <a:ext cx="2475738" cy="1310833"/>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332091"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409307" y="1939094"/>
            <a:ext cx="2319276"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3331077" y="4480372"/>
            <a:ext cx="2476753" cy="1310833"/>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5975023"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6056774" y="1934432"/>
            <a:ext cx="2319276"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5974929" y="4480369"/>
            <a:ext cx="2475738" cy="1310835"/>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8728396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1818058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37304" y="609604"/>
            <a:ext cx="1713365"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685347" y="609604"/>
            <a:ext cx="5937654"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88254677"/>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348" y="609600"/>
            <a:ext cx="776532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348" y="1732454"/>
            <a:ext cx="776532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759052" y="5883279"/>
            <a:ext cx="20574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9/29/2026</a:t>
            </a:fld>
            <a:endParaRPr lang="en-US"/>
          </a:p>
        </p:txBody>
      </p:sp>
      <p:sp>
        <p:nvSpPr>
          <p:cNvPr id="5" name="Footer Placeholder 4"/>
          <p:cNvSpPr>
            <a:spLocks noGrp="1"/>
          </p:cNvSpPr>
          <p:nvPr>
            <p:ph type="ftr" sz="quarter" idx="3"/>
          </p:nvPr>
        </p:nvSpPr>
        <p:spPr>
          <a:xfrm>
            <a:off x="685349" y="5883279"/>
            <a:ext cx="5004649"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7885511" y="5883279"/>
            <a:ext cx="565159"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36976305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115" rtl="0" eaLnBrk="1" latinLnBrk="0" hangingPunct="1">
        <a:spcBef>
          <a:spcPct val="0"/>
        </a:spcBef>
        <a:buNone/>
        <a:defRPr sz="3999"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837" indent="-305943" algn="l" defTabSz="457115"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19867" indent="-269951" algn="l" defTabSz="457115"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5810" indent="-215960" algn="l" defTabSz="457115"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5744" indent="-215960"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3690" indent="-215960"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228"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356"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8485"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5625"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115" rtl="0" eaLnBrk="1" latinLnBrk="0" hangingPunct="1">
        <a:defRPr sz="1800" kern="1200">
          <a:solidFill>
            <a:schemeClr val="tx1"/>
          </a:solidFill>
          <a:latin typeface="+mn-lt"/>
          <a:ea typeface="+mn-ea"/>
          <a:cs typeface="+mn-cs"/>
        </a:defRPr>
      </a:lvl1pPr>
      <a:lvl2pPr marL="457115" algn="l" defTabSz="457115" rtl="0" eaLnBrk="1" latinLnBrk="0" hangingPunct="1">
        <a:defRPr sz="1800" kern="1200">
          <a:solidFill>
            <a:schemeClr val="tx1"/>
          </a:solidFill>
          <a:latin typeface="+mn-lt"/>
          <a:ea typeface="+mn-ea"/>
          <a:cs typeface="+mn-cs"/>
        </a:defRPr>
      </a:lvl2pPr>
      <a:lvl3pPr marL="914232" algn="l" defTabSz="457115" rtl="0" eaLnBrk="1" latinLnBrk="0" hangingPunct="1">
        <a:defRPr sz="1800" kern="1200">
          <a:solidFill>
            <a:schemeClr val="tx1"/>
          </a:solidFill>
          <a:latin typeface="+mn-lt"/>
          <a:ea typeface="+mn-ea"/>
          <a:cs typeface="+mn-cs"/>
        </a:defRPr>
      </a:lvl3pPr>
      <a:lvl4pPr marL="1371347" algn="l" defTabSz="457115" rtl="0" eaLnBrk="1" latinLnBrk="0" hangingPunct="1">
        <a:defRPr sz="1800" kern="1200">
          <a:solidFill>
            <a:schemeClr val="tx1"/>
          </a:solidFill>
          <a:latin typeface="+mn-lt"/>
          <a:ea typeface="+mn-ea"/>
          <a:cs typeface="+mn-cs"/>
        </a:defRPr>
      </a:lvl4pPr>
      <a:lvl5pPr marL="1828461" algn="l" defTabSz="457115" rtl="0" eaLnBrk="1" latinLnBrk="0" hangingPunct="1">
        <a:defRPr sz="1800" kern="1200">
          <a:solidFill>
            <a:schemeClr val="tx1"/>
          </a:solidFill>
          <a:latin typeface="+mn-lt"/>
          <a:ea typeface="+mn-ea"/>
          <a:cs typeface="+mn-cs"/>
        </a:defRPr>
      </a:lvl5pPr>
      <a:lvl6pPr marL="2285578" algn="l" defTabSz="457115" rtl="0" eaLnBrk="1" latinLnBrk="0" hangingPunct="1">
        <a:defRPr sz="1800" kern="1200">
          <a:solidFill>
            <a:schemeClr val="tx1"/>
          </a:solidFill>
          <a:latin typeface="+mn-lt"/>
          <a:ea typeface="+mn-ea"/>
          <a:cs typeface="+mn-cs"/>
        </a:defRPr>
      </a:lvl6pPr>
      <a:lvl7pPr marL="2742693" algn="l" defTabSz="457115" rtl="0" eaLnBrk="1" latinLnBrk="0" hangingPunct="1">
        <a:defRPr sz="1800" kern="1200">
          <a:solidFill>
            <a:schemeClr val="tx1"/>
          </a:solidFill>
          <a:latin typeface="+mn-lt"/>
          <a:ea typeface="+mn-ea"/>
          <a:cs typeface="+mn-cs"/>
        </a:defRPr>
      </a:lvl7pPr>
      <a:lvl8pPr marL="3199808" algn="l" defTabSz="457115" rtl="0" eaLnBrk="1" latinLnBrk="0" hangingPunct="1">
        <a:defRPr sz="1800" kern="1200">
          <a:solidFill>
            <a:schemeClr val="tx1"/>
          </a:solidFill>
          <a:latin typeface="+mn-lt"/>
          <a:ea typeface="+mn-ea"/>
          <a:cs typeface="+mn-cs"/>
        </a:defRPr>
      </a:lvl8pPr>
      <a:lvl9pPr marL="3656923" algn="l" defTabSz="457115"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chart" Target="../charts/chart1.xml"/><Relationship Id="rId10" Type="http://schemas.openxmlformats.org/officeDocument/2006/relationships/image" Target="../media/image12.png"/><Relationship Id="rId11" Type="http://schemas.openxmlformats.org/officeDocument/2006/relationships/chart" Target="../charts/char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08030-E1B7-829F-70FB-178823E4C9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392E4D3-D69F-BBA0-6A77-133AC82E5870}"/>
              </a:ext>
            </a:extLst>
          </p:cNvPr>
          <p:cNvSpPr txBox="1"/>
          <p:nvPr/>
        </p:nvSpPr>
        <p:spPr>
          <a:xfrm>
            <a:off x="97703" y="57748"/>
            <a:ext cx="8945330" cy="638843"/>
          </a:xfrm>
          <a:prstGeom prst="rect">
            <a:avLst/>
          </a:prstGeom>
          <a:ln w="12700" cap="rnd" cmpd="sng">
            <a:solidFill>
              <a:schemeClr val="bg1"/>
            </a:solidFill>
            <a:round/>
          </a:ln>
          <a:effectLst/>
        </p:spPr>
        <p:style>
          <a:lnRef idx="2">
            <a:schemeClr val="dk1"/>
          </a:lnRef>
          <a:fillRef idx="1">
            <a:schemeClr val="lt1"/>
          </a:fillRef>
          <a:effectRef idx="0">
            <a:schemeClr val="dk1"/>
          </a:effectRef>
          <a:fontRef idx="minor">
            <a:schemeClr val="dk1"/>
          </a:fontRef>
        </p:style>
        <p:txBody>
          <a:bodyPr wrap="square" lIns="86373" tIns="43187" rIns="86373" bIns="43187" rtlCol="0" anchor="t" anchorCtr="0">
            <a:spAutoFit/>
          </a:bodyPr>
          <a:lstStyle/>
          <a:p>
            <a:pPr algn="ctr" defTabSz="431785"/>
          </a:p>
        </p:txBody>
      </p:sp>
      <p:pic>
        <p:nvPicPr>
          <p:cNvPr id="77" name="Picture 76">
            <a:extLst>
              <a:ext uri="{FF2B5EF4-FFF2-40B4-BE49-F238E27FC236}">
                <a16:creationId xmlns:a16="http://schemas.microsoft.com/office/drawing/2014/main" id="{FBFBAC90-C707-3C09-BB31-DD613E19AE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5174" y="162921"/>
            <a:ext cx="1008380" cy="293111"/>
          </a:xfrm>
          <a:prstGeom prst="rect">
            <a:avLst/>
          </a:prstGeom>
        </p:spPr>
      </p:pic>
      <p:sp>
        <p:nvSpPr>
          <p:cNvPr id="305" name="TextBox 304">
            <a:extLst>
              <a:ext uri="{FF2B5EF4-FFF2-40B4-BE49-F238E27FC236}">
                <a16:creationId xmlns:a16="http://schemas.microsoft.com/office/drawing/2014/main" id="{85C62487-59C5-8FF4-A5EA-9480F11E6F4C}"/>
              </a:ext>
            </a:extLst>
          </p:cNvPr>
          <p:cNvSpPr txBox="1"/>
          <p:nvPr/>
        </p:nvSpPr>
        <p:spPr>
          <a:xfrm>
            <a:off x="2318494" y="726150"/>
            <a:ext cx="4735327" cy="6015701"/>
          </a:xfrm>
          <a:prstGeom prst="rect">
            <a:avLst/>
          </a:prstGeom>
          <a:solidFill>
            <a:srgbClr val="FFFFFF"/>
          </a:solidFill>
          <a:ln cap="rnd">
            <a:solidFill>
              <a:schemeClr val="bg1"/>
            </a:solidFill>
          </a:ln>
        </p:spPr>
        <p:txBody>
          <a:bodyPr wrap="square" lIns="38100" rIns="38100" rtlCol="0">
            <a:noAutofit/>
          </a:bodyPr>
          <a:lstStyle/>
          <a:p>
            <a:pPr algn="just" defTabSz="431785"/>
            <a:endParaRPr lang="en-US" sz="375" dirty="0">
              <a:solidFill>
                <a:prstClr val="black"/>
              </a:solidFill>
              <a:latin typeface="Times New Roman"/>
              <a:cs typeface="Times New Roman"/>
            </a:endParaRPr>
          </a:p>
        </p:txBody>
      </p:sp>
      <p:pic>
        <p:nvPicPr>
          <p:cNvPr id="19" name="Picture 18">
            <a:extLst>
              <a:ext uri="{FF2B5EF4-FFF2-40B4-BE49-F238E27FC236}">
                <a16:creationId xmlns:a16="http://schemas.microsoft.com/office/drawing/2014/main" id="{DE19CA0B-FA23-2B29-17D2-A15AD6D1D4D3}"/>
              </a:ext>
            </a:extLst>
          </p:cNvPr>
          <p:cNvPicPr>
            <a:picLocks noChangeAspect="1"/>
          </p:cNvPicPr>
          <p:nvPr/>
        </p:nvPicPr>
        <p:blipFill>
          <a:blip r:embed="rId4"/>
          <a:stretch>
            <a:fillRect/>
          </a:stretch>
        </p:blipFill>
        <p:spPr>
          <a:xfrm>
            <a:off x="7563916" y="5785408"/>
            <a:ext cx="1032357" cy="1032357"/>
          </a:xfrm>
          <a:prstGeom prst="rect">
            <a:avLst/>
          </a:prstGeom>
        </p:spPr>
      </p:pic>
      <p:sp>
        <p:nvSpPr>
          <p:cNvPr id="306" name="TextBox 305"/>
          <p:cNvSpPr txBox="1"/>
          <p:nvPr/>
        </p:nvSpPr>
        <p:spPr>
          <a:xfrm>
            <a:off x="1280160" y="68580"/>
            <a:ext cx="7726679" cy="617220"/>
          </a:xfrm>
          <a:prstGeom prst="rect">
            <a:avLst/>
          </a:prstGeom>
          <a:noFill/>
        </p:spPr>
        <p:txBody>
          <a:bodyPr wrap="square" anchor="ctr" lIns="27432" rIns="27432" tIns="13716" bIns="13716">
            <a:spAutoFit/>
          </a:bodyPr>
          <a:lstStyle/>
          <a:p>
            <a:pPr algn="ctr">
              <a:spcAft>
                <a:spcPts val="150"/>
              </a:spcAft>
            </a:pPr>
            <a:r>
              <a:rPr sz="1000" b="1" i="0">
                <a:solidFill>
                  <a:srgbClr val="111827"/>
                </a:solidFill>
                <a:latin typeface="Times New Roman"/>
              </a:rPr>
              <a:t>PSYCHOSOCIAL OUTCOMES AND COPING MECHANISMS AMONG WOMEN WITH PREMENSTRUAL DYSPHORIC DISORDER: A GLOBAL SCOPING REVIEW</a:t>
            </a:r>
          </a:p>
          <a:p>
            <a:pPr algn="ctr">
              <a:spcAft>
                <a:spcPts val="0"/>
              </a:spcAft>
            </a:pPr>
            <a:r>
              <a:rPr sz="790" b="0" i="0">
                <a:solidFill>
                  <a:srgbClr val="111827"/>
                </a:solidFill>
                <a:latin typeface="Times New Roman"/>
              </a:rPr>
              <a:t>Ifeoluwanimi P. Shobayo, MSPH, Chelsea R. Mazonde, MPH, Marylyn O. Oduneye, MSPH, Tahirou Diallo, MSPH, Fadzai G. Nyarugwe, MSPH, Cynthia C. Ilechukwu, MSPH</a:t>
            </a:r>
          </a:p>
        </p:txBody>
      </p:sp>
      <p:sp>
        <p:nvSpPr>
          <p:cNvPr id="307" name="Rectangle 306"/>
          <p:cNvSpPr/>
          <p:nvPr/>
        </p:nvSpPr>
        <p:spPr>
          <a:xfrm>
            <a:off x="97840" y="737006"/>
            <a:ext cx="202722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Abstract</a:t>
            </a:r>
          </a:p>
        </p:txBody>
      </p:sp>
      <p:sp>
        <p:nvSpPr>
          <p:cNvPr id="308" name="Rectangle 307"/>
          <p:cNvSpPr/>
          <p:nvPr/>
        </p:nvSpPr>
        <p:spPr>
          <a:xfrm>
            <a:off x="97840" y="941832"/>
            <a:ext cx="2027224" cy="13898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20"/>
              </a:spcAft>
            </a:pPr>
            <a:r>
              <a:rPr sz="430" b="1" i="0">
                <a:solidFill>
                  <a:srgbClr val="111827"/>
                </a:solidFill>
                <a:latin typeface="Times New Roman"/>
              </a:rPr>
              <a:t>Background: </a:t>
            </a:r>
            <a:r>
              <a:rPr sz="430" b="0" i="0">
                <a:solidFill>
                  <a:srgbClr val="111827"/>
                </a:solidFill>
                <a:latin typeface="Times New Roman"/>
              </a:rPr>
              <a:t>Premenstrual dysphoric disorder (PMDD) is a DSM-5 depressive disorder affecting an estimated 31 million women and girls worldwide.¹ This scoping review examined psychosocial outcomes and coping mechanisms among women with PMDD and assessed the geographic distribution of the evidence.</a:t>
            </a:r>
          </a:p>
          <a:p>
            <a:pPr algn="just">
              <a:spcAft>
                <a:spcPts val="120"/>
              </a:spcAft>
            </a:pPr>
            <a:r>
              <a:rPr sz="430" b="1" i="0">
                <a:solidFill>
                  <a:srgbClr val="111827"/>
                </a:solidFill>
                <a:latin typeface="Times New Roman"/>
              </a:rPr>
              <a:t>Methods: </a:t>
            </a:r>
            <a:r>
              <a:rPr sz="430" b="0" i="0">
                <a:solidFill>
                  <a:srgbClr val="111827"/>
                </a:solidFill>
                <a:latin typeface="Times New Roman"/>
              </a:rPr>
              <a:t>Following Arksey and O’Malley’s framework and PRISMA-ScR guidance, we searched PubMed/MEDLINE, CINAHL, APA PsycInfo, APA PsycArticles and the Cochrane Library for peer-reviewed studies published 2010–2025. Eligible empirical and qualitative studies had PMDD as the primary population and at least one psychosocial outcome or coping mechanism as a primary aim.</a:t>
            </a:r>
          </a:p>
          <a:p>
            <a:pPr algn="just">
              <a:spcAft>
                <a:spcPts val="120"/>
              </a:spcAft>
            </a:pPr>
            <a:r>
              <a:rPr sz="430" b="1" i="0">
                <a:solidFill>
                  <a:srgbClr val="111827"/>
                </a:solidFill>
                <a:latin typeface="Times New Roman"/>
              </a:rPr>
              <a:t>Results: </a:t>
            </a:r>
            <a:r>
              <a:rPr sz="430" b="0" i="0">
                <a:solidFill>
                  <a:srgbClr val="111827"/>
                </a:solidFill>
                <a:latin typeface="Times New Roman"/>
              </a:rPr>
              <a:t>The search identified 1,943 records; 1,618 remained after deduplication and 44 studies met the inclusion criteria. Depression was most documented (n=39), followed by psychological distress (n=24), interpersonal functioning (n=18), suicidal ideation or self-harm (n=14) and quality of life (n=14). Only three studies examined coping mechanisms. Only three studies (6.8%) originated from low- and lower-middle-income countries, including one from Nigeria.</a:t>
            </a:r>
          </a:p>
          <a:p>
            <a:pPr algn="just">
              <a:spcAft>
                <a:spcPts val="120"/>
              </a:spcAft>
            </a:pPr>
            <a:r>
              <a:rPr sz="430" b="1" i="0">
                <a:solidFill>
                  <a:srgbClr val="111827"/>
                </a:solidFill>
                <a:latin typeface="Times New Roman"/>
              </a:rPr>
              <a:t>Conclusions: </a:t>
            </a:r>
            <a:r>
              <a:rPr sz="430" b="0" i="0">
                <a:solidFill>
                  <a:srgbClr val="111827"/>
                </a:solidFill>
                <a:latin typeface="Times New Roman"/>
              </a:rPr>
              <a:t>Evidence on PMDD’s psychosocial burden is growing but geographically concentrated in high-income countries, revealing a critical LMIC evidence gap.</a:t>
            </a:r>
          </a:p>
          <a:p>
            <a:pPr algn="just">
              <a:spcAft>
                <a:spcPts val="120"/>
              </a:spcAft>
            </a:pPr>
            <a:r>
              <a:rPr sz="430" b="1" i="0">
                <a:solidFill>
                  <a:srgbClr val="111827"/>
                </a:solidFill>
                <a:latin typeface="Times New Roman"/>
              </a:rPr>
              <a:t>Keywords: </a:t>
            </a:r>
            <a:r>
              <a:rPr sz="430" b="0" i="1">
                <a:solidFill>
                  <a:srgbClr val="111827"/>
                </a:solidFill>
                <a:latin typeface="Times New Roman"/>
              </a:rPr>
              <a:t>premenstrual dysphoric disorder; psychosocial outcomes; coping mechanisms; LMICs; scoping review</a:t>
            </a:r>
          </a:p>
        </p:txBody>
      </p:sp>
      <p:sp>
        <p:nvSpPr>
          <p:cNvPr id="309" name="Rectangle 308"/>
          <p:cNvSpPr/>
          <p:nvPr/>
        </p:nvSpPr>
        <p:spPr>
          <a:xfrm>
            <a:off x="97840" y="2395728"/>
            <a:ext cx="202722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Introduction, Objective, and Research Question</a:t>
            </a:r>
          </a:p>
        </p:txBody>
      </p:sp>
      <p:sp>
        <p:nvSpPr>
          <p:cNvPr id="310" name="Rectangle 309"/>
          <p:cNvSpPr/>
          <p:nvPr/>
        </p:nvSpPr>
        <p:spPr>
          <a:xfrm>
            <a:off x="97840" y="2770632"/>
            <a:ext cx="2027224" cy="12435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60"/>
              </a:spcAft>
            </a:pPr>
            <a:r>
              <a:rPr sz="445" b="1" i="0">
                <a:solidFill>
                  <a:srgbClr val="111827"/>
                </a:solidFill>
                <a:latin typeface="Times New Roman"/>
              </a:rPr>
              <a:t>Introduction: </a:t>
            </a:r>
            <a:r>
              <a:rPr sz="445" b="0" i="0">
                <a:solidFill>
                  <a:srgbClr val="111827"/>
                </a:solidFill>
                <a:latin typeface="Times New Roman"/>
              </a:rPr>
              <a:t>PMDD is a recurring, hormone-linked mood disorder in which irritability, mood swings, depressed mood and anxiety emerge in the late luteal phase and remit after menses begin. It is classified as a depressive disorder in DSM-5² and recognized in ICD-11.³ Using prospectively confirmed diagnoses, community prevalence is about 1.6%, roughly 31 million women and girls worldwide.¹ PMDD has been linked with suicidal ideation and attempts,⁴˒⁵ strained romantic relationships⁶ and reduced quality of life.⁷ Premenstrual symptoms are also common across Africa, where pooled premenstrual syndrome prevalence reaches 47%,⁸ yet it remains unclear how women with PMDD cope or where the evidence has been generated.</a:t>
            </a:r>
          </a:p>
          <a:p>
            <a:pPr algn="just">
              <a:spcAft>
                <a:spcPts val="160"/>
              </a:spcAft>
            </a:pPr>
            <a:r>
              <a:rPr sz="445" b="1" i="0">
                <a:solidFill>
                  <a:srgbClr val="111827"/>
                </a:solidFill>
                <a:latin typeface="Times New Roman"/>
              </a:rPr>
              <a:t>Objective: </a:t>
            </a:r>
            <a:r>
              <a:rPr sz="445" b="0" i="0">
                <a:solidFill>
                  <a:srgbClr val="111827"/>
                </a:solidFill>
                <a:latin typeface="Times New Roman"/>
              </a:rPr>
              <a:t>To map psychosocial outcomes and coping mechanisms reported among women with PMDD and identify geographic gaps in the published literature.</a:t>
            </a:r>
          </a:p>
          <a:p>
            <a:pPr algn="just">
              <a:spcAft>
                <a:spcPts val="160"/>
              </a:spcAft>
            </a:pPr>
            <a:r>
              <a:rPr sz="445" b="1" i="0">
                <a:solidFill>
                  <a:srgbClr val="111827"/>
                </a:solidFill>
                <a:latin typeface="Times New Roman"/>
              </a:rPr>
              <a:t>Research Question: </a:t>
            </a:r>
            <a:r>
              <a:rPr sz="445" b="0" i="0">
                <a:solidFill>
                  <a:srgbClr val="111827"/>
                </a:solidFill>
                <a:latin typeface="Times New Roman"/>
              </a:rPr>
              <a:t>What psychosocial outcomes and coping mechanisms have been reported in studies of women with PMDD published between 2010 and 2025, and how are these studies distributed across geographic settings?</a:t>
            </a:r>
          </a:p>
        </p:txBody>
      </p:sp>
      <p:sp>
        <p:nvSpPr>
          <p:cNvPr id="311" name="Rectangle 310"/>
          <p:cNvSpPr/>
          <p:nvPr/>
        </p:nvSpPr>
        <p:spPr>
          <a:xfrm>
            <a:off x="97840" y="4078224"/>
            <a:ext cx="202722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Methods</a:t>
            </a:r>
          </a:p>
        </p:txBody>
      </p:sp>
      <p:graphicFrame>
        <p:nvGraphicFramePr>
          <p:cNvPr id="312" name="Table 311"/>
          <p:cNvGraphicFramePr>
            <a:graphicFrameLocks noGrp="1"/>
          </p:cNvGraphicFramePr>
          <p:nvPr/>
        </p:nvGraphicFramePr>
        <p:xfrm>
          <a:off x="97840" y="4288536"/>
          <a:ext cx="2027224" cy="2441446"/>
        </p:xfrm>
        <a:graphic>
          <a:graphicData uri="http://schemas.openxmlformats.org/drawingml/2006/table">
            <a:tbl>
              <a:tblPr firstRow="1" bandRow="0">
                <a:tableStyleId>{5C22544A-7EE6-4342-B048-85BDC9FD1C3A}</a:tableStyleId>
              </a:tblPr>
              <a:tblGrid>
                <a:gridCol w="566928"/>
                <a:gridCol w="1460296"/>
              </a:tblGrid>
              <a:tr h="128016">
                <a:tc>
                  <a:txBody>
                    <a:bodyPr/>
                    <a:lstStyle/>
                    <a:p>
                      <a:r>
                        <a:rPr sz="430" b="1">
                          <a:solidFill>
                            <a:srgbClr val="111827"/>
                          </a:solidFill>
                          <a:latin typeface="Times New Roman"/>
                        </a:rPr>
                        <a:t>Category</a:t>
                      </a:r>
                    </a:p>
                  </a:txBody>
                  <a:tcPr anchor="ctr" marL="27432" marR="27432" marT="9144" marB="9144">
                    <a:solidFill>
                      <a:srgbClr val="D9E2F3"/>
                    </a:solidFill>
                  </a:tcPr>
                </a:tc>
                <a:tc>
                  <a:txBody>
                    <a:bodyPr/>
                    <a:lstStyle/>
                    <a:p>
                      <a:r>
                        <a:rPr sz="430" b="1">
                          <a:solidFill>
                            <a:srgbClr val="111827"/>
                          </a:solidFill>
                          <a:latin typeface="Times New Roman"/>
                        </a:rPr>
                        <a:t>Description</a:t>
                      </a:r>
                    </a:p>
                  </a:txBody>
                  <a:tcPr anchor="ctr" marL="27432" marR="27432" marT="9144" marB="9144">
                    <a:solidFill>
                      <a:srgbClr val="D9E2F3"/>
                    </a:solidFill>
                  </a:tcPr>
                </a:tc>
              </a:tr>
              <a:tr h="330490">
                <a:tc>
                  <a:txBody>
                    <a:bodyPr/>
                    <a:lstStyle/>
                    <a:p>
                      <a:r>
                        <a:rPr sz="409" b="1">
                          <a:solidFill>
                            <a:srgbClr val="111827"/>
                          </a:solidFill>
                          <a:latin typeface="Times New Roman"/>
                        </a:rPr>
                        <a:t>Study Design</a:t>
                      </a:r>
                    </a:p>
                  </a:txBody>
                  <a:tcPr anchor="ctr" marL="27432" marR="27432" marT="9144" marB="9144">
                    <a:solidFill>
                      <a:srgbClr val="EEF2F8"/>
                    </a:solidFill>
                  </a:tcPr>
                </a:tc>
                <a:tc>
                  <a:txBody>
                    <a:bodyPr/>
                    <a:lstStyle/>
                    <a:p>
                      <a:r>
                        <a:rPr sz="409" b="0">
                          <a:solidFill>
                            <a:srgbClr val="111827"/>
                          </a:solidFill>
                          <a:latin typeface="Times New Roman"/>
                        </a:rPr>
                        <a:t>Scoping review guided by Arksey and O’Malley’s framework⁹ with Levac et al.’s refinements,¹⁰ reported using PRISMA-ScR.¹¹</a:t>
                      </a:r>
                    </a:p>
                  </a:txBody>
                  <a:tcPr anchor="ctr" marL="27432" marR="27432" marT="9144" marB="9144">
                    <a:solidFill>
                      <a:srgbClr val="EEF2F8"/>
                    </a:solidFill>
                  </a:tcPr>
                </a:tc>
              </a:tr>
              <a:tr h="330490">
                <a:tc>
                  <a:txBody>
                    <a:bodyPr/>
                    <a:lstStyle/>
                    <a:p>
                      <a:r>
                        <a:rPr sz="409" b="1">
                          <a:solidFill>
                            <a:srgbClr val="111827"/>
                          </a:solidFill>
                          <a:latin typeface="Times New Roman"/>
                        </a:rPr>
                        <a:t>Databases</a:t>
                      </a:r>
                    </a:p>
                  </a:txBody>
                  <a:tcPr anchor="ctr" marL="27432" marR="27432" marT="9144" marB="9144">
                    <a:solidFill>
                      <a:srgbClr val="FFFFFF"/>
                    </a:solidFill>
                  </a:tcPr>
                </a:tc>
                <a:tc>
                  <a:txBody>
                    <a:bodyPr/>
                    <a:lstStyle/>
                    <a:p>
                      <a:r>
                        <a:rPr sz="409" b="0">
                          <a:solidFill>
                            <a:srgbClr val="111827"/>
                          </a:solidFill>
                          <a:latin typeface="Times New Roman"/>
                        </a:rPr>
                        <a:t>PubMed/MEDLINE, CINAHL, APA PsycInfo, APA PsycArticles and Cochrane Library.</a:t>
                      </a:r>
                    </a:p>
                  </a:txBody>
                  <a:tcPr anchor="ctr" marL="27432" marR="27432" marT="9144" marB="9144">
                    <a:solidFill>
                      <a:srgbClr val="FFFFFF"/>
                    </a:solidFill>
                  </a:tcPr>
                </a:tc>
              </a:tr>
              <a:tr h="330490">
                <a:tc>
                  <a:txBody>
                    <a:bodyPr/>
                    <a:lstStyle/>
                    <a:p>
                      <a:r>
                        <a:rPr sz="409" b="1">
                          <a:solidFill>
                            <a:srgbClr val="111827"/>
                          </a:solidFill>
                          <a:latin typeface="Times New Roman"/>
                        </a:rPr>
                        <a:t>Publication Years</a:t>
                      </a:r>
                    </a:p>
                  </a:txBody>
                  <a:tcPr anchor="ctr" marL="27432" marR="27432" marT="9144" marB="9144">
                    <a:solidFill>
                      <a:srgbClr val="EEF2F8"/>
                    </a:solidFill>
                  </a:tcPr>
                </a:tc>
                <a:tc>
                  <a:txBody>
                    <a:bodyPr/>
                    <a:lstStyle/>
                    <a:p>
                      <a:r>
                        <a:rPr sz="409" b="0">
                          <a:solidFill>
                            <a:srgbClr val="111827"/>
                          </a:solidFill>
                          <a:latin typeface="Times New Roman"/>
                        </a:rPr>
                        <a:t>2010–2025.</a:t>
                      </a:r>
                    </a:p>
                  </a:txBody>
                  <a:tcPr anchor="ctr" marL="27432" marR="27432" marT="9144" marB="9144">
                    <a:solidFill>
                      <a:srgbClr val="EEF2F8"/>
                    </a:solidFill>
                  </a:tcPr>
                </a:tc>
              </a:tr>
              <a:tr h="330490">
                <a:tc>
                  <a:txBody>
                    <a:bodyPr/>
                    <a:lstStyle/>
                    <a:p>
                      <a:r>
                        <a:rPr sz="409" b="1">
                          <a:solidFill>
                            <a:srgbClr val="111827"/>
                          </a:solidFill>
                          <a:latin typeface="Times New Roman"/>
                        </a:rPr>
                        <a:t>Inclusion Criteria</a:t>
                      </a:r>
                    </a:p>
                  </a:txBody>
                  <a:tcPr anchor="ctr" marL="27432" marR="27432" marT="9144" marB="9144">
                    <a:solidFill>
                      <a:srgbClr val="FFFFFF"/>
                    </a:solidFill>
                  </a:tcPr>
                </a:tc>
                <a:tc>
                  <a:txBody>
                    <a:bodyPr/>
                    <a:lstStyle/>
                    <a:p>
                      <a:r>
                        <a:rPr sz="409" b="0">
                          <a:solidFill>
                            <a:srgbClr val="111827"/>
                          </a:solidFill>
                          <a:latin typeface="Times New Roman"/>
                        </a:rPr>
                        <a:t>Peer-reviewed empirical or qualitative studies with PMDD as the primary population and at least one psychosocial outcome or coping mechanism as a primary aim.</a:t>
                      </a:r>
                    </a:p>
                  </a:txBody>
                  <a:tcPr anchor="ctr" marL="27432" marR="27432" marT="9144" marB="9144">
                    <a:solidFill>
                      <a:srgbClr val="FFFFFF"/>
                    </a:solidFill>
                  </a:tcPr>
                </a:tc>
              </a:tr>
              <a:tr h="330490">
                <a:tc>
                  <a:txBody>
                    <a:bodyPr/>
                    <a:lstStyle/>
                    <a:p>
                      <a:r>
                        <a:rPr sz="409" b="1">
                          <a:solidFill>
                            <a:srgbClr val="111827"/>
                          </a:solidFill>
                          <a:latin typeface="Times New Roman"/>
                        </a:rPr>
                        <a:t>Exclusion Criteria</a:t>
                      </a:r>
                    </a:p>
                  </a:txBody>
                  <a:tcPr anchor="ctr" marL="27432" marR="27432" marT="9144" marB="9144">
                    <a:solidFill>
                      <a:srgbClr val="EEF2F8"/>
                    </a:solidFill>
                  </a:tcPr>
                </a:tc>
                <a:tc>
                  <a:txBody>
                    <a:bodyPr/>
                    <a:lstStyle/>
                    <a:p>
                      <a:r>
                        <a:rPr sz="409" b="0">
                          <a:solidFill>
                            <a:srgbClr val="111827"/>
                          </a:solidFill>
                          <a:latin typeface="Times New Roman"/>
                        </a:rPr>
                        <a:t>Animal studies, laboratory research, reviews, interventions and non-peer-reviewed publications.</a:t>
                      </a:r>
                    </a:p>
                  </a:txBody>
                  <a:tcPr anchor="ctr" marL="27432" marR="27432" marT="9144" marB="9144">
                    <a:solidFill>
                      <a:srgbClr val="EEF2F8"/>
                    </a:solidFill>
                  </a:tcPr>
                </a:tc>
              </a:tr>
              <a:tr h="330490">
                <a:tc>
                  <a:txBody>
                    <a:bodyPr/>
                    <a:lstStyle/>
                    <a:p>
                      <a:r>
                        <a:rPr sz="409" b="1">
                          <a:solidFill>
                            <a:srgbClr val="111827"/>
                          </a:solidFill>
                          <a:latin typeface="Times New Roman"/>
                        </a:rPr>
                        <a:t>Screening Process</a:t>
                      </a:r>
                    </a:p>
                  </a:txBody>
                  <a:tcPr anchor="ctr" marL="27432" marR="27432" marT="9144" marB="9144">
                    <a:solidFill>
                      <a:srgbClr val="FFFFFF"/>
                    </a:solidFill>
                  </a:tcPr>
                </a:tc>
                <a:tc>
                  <a:txBody>
                    <a:bodyPr/>
                    <a:lstStyle/>
                    <a:p>
                      <a:r>
                        <a:rPr sz="409" b="0">
                          <a:solidFill>
                            <a:srgbClr val="111827"/>
                          </a:solidFill>
                          <a:latin typeface="Times New Roman"/>
                        </a:rPr>
                        <a:t>1,943 records identified; 325 duplicates removed; 1,618 records screened by title and abstract; 64 assessed for eligibility; 44 studies included.</a:t>
                      </a:r>
                    </a:p>
                  </a:txBody>
                  <a:tcPr anchor="ctr" marL="27432" marR="27432" marT="9144" marB="9144">
                    <a:solidFill>
                      <a:srgbClr val="FFFFFF"/>
                    </a:solidFill>
                  </a:tcPr>
                </a:tc>
              </a:tr>
              <a:tr h="330490">
                <a:tc>
                  <a:txBody>
                    <a:bodyPr/>
                    <a:lstStyle/>
                    <a:p>
                      <a:r>
                        <a:rPr sz="409" b="1">
                          <a:solidFill>
                            <a:srgbClr val="111827"/>
                          </a:solidFill>
                          <a:latin typeface="Times New Roman"/>
                        </a:rPr>
                        <a:t>Evidence Mapping</a:t>
                      </a:r>
                    </a:p>
                  </a:txBody>
                  <a:tcPr anchor="ctr" marL="27432" marR="27432" marT="9144" marB="9144">
                    <a:solidFill>
                      <a:srgbClr val="EEF2F8"/>
                    </a:solidFill>
                  </a:tcPr>
                </a:tc>
                <a:tc>
                  <a:txBody>
                    <a:bodyPr/>
                    <a:lstStyle/>
                    <a:p>
                      <a:r>
                        <a:rPr sz="409" b="0">
                          <a:solidFill>
                            <a:srgbClr val="111827"/>
                          </a:solidFill>
                          <a:latin typeface="Times New Roman"/>
                        </a:rPr>
                        <a:t>Included studies categorized by psychosocial outcome, coping mechanism, publication year and geographic setting (country and World Bank income group¹²).</a:t>
                      </a:r>
                    </a:p>
                  </a:txBody>
                  <a:tcPr anchor="ctr" marL="27432" marR="27432" marT="9144" marB="9144">
                    <a:solidFill>
                      <a:srgbClr val="EEF2F8"/>
                    </a:solidFill>
                  </a:tcPr>
                </a:tc>
              </a:tr>
            </a:tbl>
          </a:graphicData>
        </a:graphic>
      </p:graphicFrame>
      <p:sp>
        <p:nvSpPr>
          <p:cNvPr id="313" name="TextBox 312"/>
          <p:cNvSpPr txBox="1"/>
          <p:nvPr/>
        </p:nvSpPr>
        <p:spPr>
          <a:xfrm>
            <a:off x="2410358"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0A254E"/>
                </a:solidFill>
                <a:latin typeface="Times New Roman"/>
              </a:rPr>
              <a:t>1,943</a:t>
            </a:r>
          </a:p>
          <a:p>
            <a:pPr algn="ctr">
              <a:spcAft>
                <a:spcPts val="0"/>
              </a:spcAft>
            </a:pPr>
            <a:r>
              <a:rPr sz="600" b="0" i="0">
                <a:solidFill>
                  <a:srgbClr val="111827"/>
                </a:solidFill>
                <a:latin typeface="Times New Roman"/>
              </a:rPr>
              <a:t>records identified</a:t>
            </a:r>
          </a:p>
          <a:p>
            <a:pPr algn="ctr">
              <a:spcAft>
                <a:spcPts val="0"/>
              </a:spcAft>
            </a:pPr>
            <a:r>
              <a:rPr sz="550" b="0" i="1">
                <a:solidFill>
                  <a:srgbClr val="4B5563"/>
                </a:solidFill>
                <a:latin typeface="Times New Roman"/>
              </a:rPr>
              <a:t>across 5 databases</a:t>
            </a:r>
          </a:p>
        </p:txBody>
      </p:sp>
      <p:sp>
        <p:nvSpPr>
          <p:cNvPr id="314" name="TextBox 313"/>
          <p:cNvSpPr txBox="1"/>
          <p:nvPr/>
        </p:nvSpPr>
        <p:spPr>
          <a:xfrm>
            <a:off x="3548557"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0A254E"/>
                </a:solidFill>
                <a:latin typeface="Times New Roman"/>
              </a:rPr>
              <a:t>44</a:t>
            </a:r>
          </a:p>
          <a:p>
            <a:pPr algn="ctr">
              <a:spcAft>
                <a:spcPts val="0"/>
              </a:spcAft>
            </a:pPr>
            <a:r>
              <a:rPr sz="600" b="0" i="0">
                <a:solidFill>
                  <a:srgbClr val="111827"/>
                </a:solidFill>
                <a:latin typeface="Times New Roman"/>
              </a:rPr>
              <a:t>studies included</a:t>
            </a:r>
          </a:p>
          <a:p>
            <a:pPr algn="ctr">
              <a:spcAft>
                <a:spcPts val="0"/>
              </a:spcAft>
            </a:pPr>
            <a:r>
              <a:rPr sz="550" b="0" i="1">
                <a:solidFill>
                  <a:srgbClr val="4B5563"/>
                </a:solidFill>
                <a:latin typeface="Times New Roman"/>
              </a:rPr>
              <a:t>in the scoping review</a:t>
            </a:r>
          </a:p>
        </p:txBody>
      </p:sp>
      <p:cxnSp>
        <p:nvCxnSpPr>
          <p:cNvPr id="315" name="Connector 314"/>
          <p:cNvCxnSpPr/>
          <p:nvPr/>
        </p:nvCxnSpPr>
        <p:spPr>
          <a:xfrm>
            <a:off x="3548557"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16" name="TextBox 315"/>
          <p:cNvSpPr txBox="1"/>
          <p:nvPr/>
        </p:nvSpPr>
        <p:spPr>
          <a:xfrm>
            <a:off x="4686757"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A31F34"/>
                </a:solidFill>
                <a:latin typeface="Times New Roman"/>
              </a:rPr>
              <a:t>3</a:t>
            </a:r>
          </a:p>
          <a:p>
            <a:pPr algn="ctr">
              <a:spcAft>
                <a:spcPts val="0"/>
              </a:spcAft>
            </a:pPr>
            <a:r>
              <a:rPr sz="600" b="0" i="0">
                <a:solidFill>
                  <a:srgbClr val="111827"/>
                </a:solidFill>
                <a:latin typeface="Times New Roman"/>
              </a:rPr>
              <a:t>studies addressing coping</a:t>
            </a:r>
          </a:p>
          <a:p>
            <a:pPr algn="ctr">
              <a:spcAft>
                <a:spcPts val="0"/>
              </a:spcAft>
            </a:pPr>
            <a:r>
              <a:rPr sz="550" b="0" i="1">
                <a:solidFill>
                  <a:srgbClr val="4B5563"/>
                </a:solidFill>
                <a:latin typeface="Times New Roman"/>
              </a:rPr>
              <a:t>6.8% of 44</a:t>
            </a:r>
          </a:p>
        </p:txBody>
      </p:sp>
      <p:cxnSp>
        <p:nvCxnSpPr>
          <p:cNvPr id="317" name="Connector 316"/>
          <p:cNvCxnSpPr/>
          <p:nvPr/>
        </p:nvCxnSpPr>
        <p:spPr>
          <a:xfrm>
            <a:off x="4686757"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18" name="TextBox 317"/>
          <p:cNvSpPr txBox="1"/>
          <p:nvPr/>
        </p:nvSpPr>
        <p:spPr>
          <a:xfrm>
            <a:off x="5824956"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A31F34"/>
                </a:solidFill>
                <a:latin typeface="Times New Roman"/>
              </a:rPr>
              <a:t>3</a:t>
            </a:r>
          </a:p>
          <a:p>
            <a:pPr algn="ctr">
              <a:spcAft>
                <a:spcPts val="0"/>
              </a:spcAft>
            </a:pPr>
            <a:r>
              <a:rPr sz="600" b="0" i="0">
                <a:solidFill>
                  <a:srgbClr val="111827"/>
                </a:solidFill>
                <a:latin typeface="Times New Roman"/>
              </a:rPr>
              <a:t>low/lower-middle-income studies</a:t>
            </a:r>
          </a:p>
          <a:p>
            <a:pPr algn="ctr">
              <a:spcAft>
                <a:spcPts val="0"/>
              </a:spcAft>
            </a:pPr>
            <a:r>
              <a:rPr sz="550" b="0" i="1">
                <a:solidFill>
                  <a:srgbClr val="4B5563"/>
                </a:solidFill>
                <a:latin typeface="Times New Roman"/>
              </a:rPr>
              <a:t>6.8% of 44</a:t>
            </a:r>
          </a:p>
        </p:txBody>
      </p:sp>
      <p:cxnSp>
        <p:nvCxnSpPr>
          <p:cNvPr id="319" name="Connector 318"/>
          <p:cNvCxnSpPr/>
          <p:nvPr/>
        </p:nvCxnSpPr>
        <p:spPr>
          <a:xfrm>
            <a:off x="5824956"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20" name="TextBox 319"/>
          <p:cNvSpPr txBox="1"/>
          <p:nvPr/>
        </p:nvSpPr>
        <p:spPr>
          <a:xfrm>
            <a:off x="2414016" y="1627632"/>
            <a:ext cx="2240280" cy="146304"/>
          </a:xfrm>
          <a:prstGeom prst="rect">
            <a:avLst/>
          </a:prstGeom>
          <a:noFill/>
        </p:spPr>
        <p:txBody>
          <a:bodyPr wrap="square" anchor="t" lIns="27432" rIns="27432" tIns="13716" bIns="13716">
            <a:spAutoFit/>
          </a:bodyPr>
          <a:lstStyle/>
          <a:p>
            <a:pPr algn="l">
              <a:spcAft>
                <a:spcPts val="120"/>
              </a:spcAft>
            </a:pPr>
            <a:r>
              <a:rPr sz="520" b="1" i="0">
                <a:solidFill>
                  <a:srgbClr val="0A254E"/>
                </a:solidFill>
                <a:latin typeface="Times New Roman"/>
              </a:rPr>
              <a:t>Figure 1. </a:t>
            </a:r>
            <a:r>
              <a:rPr sz="520" b="1" i="0">
                <a:solidFill>
                  <a:srgbClr val="0A254E"/>
                </a:solidFill>
                <a:latin typeface="Times New Roman"/>
              </a:rPr>
              <a:t>Study Selection Flow Diagram (Adapted From PRISMA-ScR¹¹)</a:t>
            </a:r>
          </a:p>
        </p:txBody>
      </p:sp>
      <p:sp>
        <p:nvSpPr>
          <p:cNvPr id="321" name="Rounded Rectangle 320"/>
          <p:cNvSpPr/>
          <p:nvPr/>
        </p:nvSpPr>
        <p:spPr>
          <a:xfrm>
            <a:off x="2414016" y="1810512"/>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Identification</a:t>
            </a:r>
          </a:p>
        </p:txBody>
      </p:sp>
      <p:sp>
        <p:nvSpPr>
          <p:cNvPr id="322" name="Rounded Rectangle 321"/>
          <p:cNvSpPr/>
          <p:nvPr/>
        </p:nvSpPr>
        <p:spPr>
          <a:xfrm>
            <a:off x="2414016" y="2249424"/>
            <a:ext cx="301752" cy="329184"/>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De-duplication</a:t>
            </a:r>
          </a:p>
        </p:txBody>
      </p:sp>
      <p:sp>
        <p:nvSpPr>
          <p:cNvPr id="323" name="Rounded Rectangle 322"/>
          <p:cNvSpPr/>
          <p:nvPr/>
        </p:nvSpPr>
        <p:spPr>
          <a:xfrm>
            <a:off x="2414016" y="2651760"/>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Screening</a:t>
            </a:r>
          </a:p>
        </p:txBody>
      </p:sp>
      <p:sp>
        <p:nvSpPr>
          <p:cNvPr id="324" name="Rounded Rectangle 323"/>
          <p:cNvSpPr/>
          <p:nvPr/>
        </p:nvSpPr>
        <p:spPr>
          <a:xfrm>
            <a:off x="2414016" y="3090672"/>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Eligibility</a:t>
            </a:r>
          </a:p>
        </p:txBody>
      </p:sp>
      <p:sp>
        <p:nvSpPr>
          <p:cNvPr id="325" name="Rounded Rectangle 324"/>
          <p:cNvSpPr/>
          <p:nvPr/>
        </p:nvSpPr>
        <p:spPr>
          <a:xfrm>
            <a:off x="2414016" y="3529584"/>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Included</a:t>
            </a:r>
          </a:p>
        </p:txBody>
      </p:sp>
      <p:sp>
        <p:nvSpPr>
          <p:cNvPr id="326" name="Rounded Rectangle 325"/>
          <p:cNvSpPr/>
          <p:nvPr/>
        </p:nvSpPr>
        <p:spPr>
          <a:xfrm>
            <a:off x="2761488" y="1810512"/>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30" b="1" i="0">
                <a:solidFill>
                  <a:srgbClr val="111827"/>
                </a:solidFill>
                <a:latin typeface="Times New Roman"/>
              </a:rPr>
              <a:t>Records identified via database search</a:t>
            </a:r>
          </a:p>
          <a:p>
            <a:pPr algn="ctr">
              <a:spcAft>
                <a:spcPts val="0"/>
              </a:spcAft>
            </a:pPr>
            <a:r>
              <a:rPr sz="330" b="0" i="0">
                <a:solidFill>
                  <a:srgbClr val="111827"/>
                </a:solidFill>
                <a:latin typeface="Times New Roman"/>
              </a:rPr>
              <a:t>PubMed/MEDLINE · CINAHL · APA PsycInfo</a:t>
            </a:r>
          </a:p>
          <a:p>
            <a:pPr algn="ctr">
              <a:spcAft>
                <a:spcPts val="0"/>
              </a:spcAft>
            </a:pPr>
            <a:r>
              <a:rPr sz="330" b="0" i="0">
                <a:solidFill>
                  <a:srgbClr val="111827"/>
                </a:solidFill>
                <a:latin typeface="Times New Roman"/>
              </a:rPr>
              <a:t>APA PsycArticles · Cochrane Library</a:t>
            </a:r>
          </a:p>
          <a:p>
            <a:pPr algn="ctr">
              <a:spcAft>
                <a:spcPts val="0"/>
              </a:spcAft>
            </a:pPr>
            <a:r>
              <a:rPr sz="330" b="0" i="0">
                <a:solidFill>
                  <a:srgbClr val="111827"/>
                </a:solidFill>
                <a:latin typeface="Times New Roman"/>
              </a:rPr>
              <a:t>n = 1,943</a:t>
            </a:r>
          </a:p>
        </p:txBody>
      </p:sp>
      <p:cxnSp>
        <p:nvCxnSpPr>
          <p:cNvPr id="327" name="Connector 326"/>
          <p:cNvCxnSpPr/>
          <p:nvPr/>
        </p:nvCxnSpPr>
        <p:spPr>
          <a:xfrm>
            <a:off x="3241548" y="2176272"/>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8" name="Rounded Rectangle 327"/>
          <p:cNvSpPr/>
          <p:nvPr/>
        </p:nvSpPr>
        <p:spPr>
          <a:xfrm>
            <a:off x="2761488" y="2249424"/>
            <a:ext cx="960120" cy="329184"/>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Records after duplicate removal</a:t>
            </a:r>
          </a:p>
          <a:p>
            <a:pPr algn="ctr">
              <a:spcAft>
                <a:spcPts val="0"/>
              </a:spcAft>
            </a:pPr>
            <a:r>
              <a:rPr sz="360" b="0" i="0">
                <a:solidFill>
                  <a:srgbClr val="111827"/>
                </a:solidFill>
                <a:latin typeface="Times New Roman"/>
              </a:rPr>
              <a:t>325 duplicates removed</a:t>
            </a:r>
          </a:p>
          <a:p>
            <a:pPr algn="ctr">
              <a:spcAft>
                <a:spcPts val="0"/>
              </a:spcAft>
            </a:pPr>
            <a:r>
              <a:rPr sz="360" b="0" i="0">
                <a:solidFill>
                  <a:srgbClr val="111827"/>
                </a:solidFill>
                <a:latin typeface="Times New Roman"/>
              </a:rPr>
              <a:t>n = 1,618</a:t>
            </a:r>
          </a:p>
        </p:txBody>
      </p:sp>
      <p:cxnSp>
        <p:nvCxnSpPr>
          <p:cNvPr id="329" name="Connector 328"/>
          <p:cNvCxnSpPr/>
          <p:nvPr/>
        </p:nvCxnSpPr>
        <p:spPr>
          <a:xfrm>
            <a:off x="3241548" y="2578608"/>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0" name="Rounded Rectangle 329"/>
          <p:cNvSpPr/>
          <p:nvPr/>
        </p:nvSpPr>
        <p:spPr>
          <a:xfrm>
            <a:off x="2761488" y="2651760"/>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Records screened</a:t>
            </a:r>
          </a:p>
          <a:p>
            <a:pPr algn="ctr">
              <a:spcAft>
                <a:spcPts val="0"/>
              </a:spcAft>
            </a:pPr>
            <a:r>
              <a:rPr sz="360" b="0" i="0">
                <a:solidFill>
                  <a:srgbClr val="111827"/>
                </a:solidFill>
                <a:latin typeface="Times New Roman"/>
              </a:rPr>
              <a:t>(title and abstract)</a:t>
            </a:r>
          </a:p>
          <a:p>
            <a:pPr algn="ctr">
              <a:spcAft>
                <a:spcPts val="0"/>
              </a:spcAft>
            </a:pPr>
            <a:r>
              <a:rPr sz="360" b="0" i="0">
                <a:solidFill>
                  <a:srgbClr val="111827"/>
                </a:solidFill>
                <a:latin typeface="Times New Roman"/>
              </a:rPr>
              <a:t>n = 1,618</a:t>
            </a:r>
          </a:p>
        </p:txBody>
      </p:sp>
      <p:sp>
        <p:nvSpPr>
          <p:cNvPr id="331" name="Rounded Rectangle 330"/>
          <p:cNvSpPr/>
          <p:nvPr/>
        </p:nvSpPr>
        <p:spPr>
          <a:xfrm>
            <a:off x="3785615" y="2651760"/>
            <a:ext cx="886968" cy="365760"/>
          </a:xfrm>
          <a:prstGeom prst="roundRect">
            <a:avLst>
              <a:gd name="adj" fmla="val 8000"/>
            </a:avLst>
          </a:prstGeom>
          <a:solidFill>
            <a:srgbClr val="FDECEE"/>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20" b="1" i="0">
                <a:solidFill>
                  <a:srgbClr val="111827"/>
                </a:solidFill>
                <a:latin typeface="Times New Roman"/>
              </a:rPr>
              <a:t>Excluded (n = 1,554)</a:t>
            </a:r>
          </a:p>
          <a:p>
            <a:pPr algn="ctr">
              <a:spcAft>
                <a:spcPts val="0"/>
              </a:spcAft>
            </a:pPr>
            <a:r>
              <a:rPr sz="320" b="0" i="0">
                <a:solidFill>
                  <a:srgbClr val="111827"/>
                </a:solidFill>
                <a:latin typeface="Times New Roman"/>
              </a:rPr>
              <a:t>Not PMDD-focused or no psychosocial/</a:t>
            </a:r>
          </a:p>
          <a:p>
            <a:pPr algn="ctr">
              <a:spcAft>
                <a:spcPts val="0"/>
              </a:spcAft>
            </a:pPr>
            <a:r>
              <a:rPr sz="320" b="0" i="0">
                <a:solidFill>
                  <a:srgbClr val="111827"/>
                </a:solidFill>
                <a:latin typeface="Times New Roman"/>
              </a:rPr>
              <a:t>coping aim; review, intervention,</a:t>
            </a:r>
          </a:p>
          <a:p>
            <a:pPr algn="ctr">
              <a:spcAft>
                <a:spcPts val="0"/>
              </a:spcAft>
            </a:pPr>
            <a:r>
              <a:rPr sz="320" b="0" i="0">
                <a:solidFill>
                  <a:srgbClr val="111827"/>
                </a:solidFill>
                <a:latin typeface="Times New Roman"/>
              </a:rPr>
              <a:t>animal or laboratory study</a:t>
            </a:r>
          </a:p>
        </p:txBody>
      </p:sp>
      <p:cxnSp>
        <p:nvCxnSpPr>
          <p:cNvPr id="332" name="Connector 331"/>
          <p:cNvCxnSpPr/>
          <p:nvPr/>
        </p:nvCxnSpPr>
        <p:spPr>
          <a:xfrm>
            <a:off x="3721608" y="2834640"/>
            <a:ext cx="64007" cy="0"/>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a:off x="3241548" y="3017520"/>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4" name="Rounded Rectangle 333"/>
          <p:cNvSpPr/>
          <p:nvPr/>
        </p:nvSpPr>
        <p:spPr>
          <a:xfrm>
            <a:off x="2761488" y="3090672"/>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Records assessed for eligibility</a:t>
            </a:r>
          </a:p>
          <a:p>
            <a:pPr algn="ctr">
              <a:spcAft>
                <a:spcPts val="0"/>
              </a:spcAft>
            </a:pPr>
            <a:r>
              <a:rPr sz="360" b="0" i="0">
                <a:solidFill>
                  <a:srgbClr val="111827"/>
                </a:solidFill>
                <a:latin typeface="Times New Roman"/>
              </a:rPr>
              <a:t>(title and abstract)</a:t>
            </a:r>
          </a:p>
          <a:p>
            <a:pPr algn="ctr">
              <a:spcAft>
                <a:spcPts val="0"/>
              </a:spcAft>
            </a:pPr>
            <a:r>
              <a:rPr sz="360" b="0" i="0">
                <a:solidFill>
                  <a:srgbClr val="111827"/>
                </a:solidFill>
                <a:latin typeface="Times New Roman"/>
              </a:rPr>
              <a:t>n = 64</a:t>
            </a:r>
          </a:p>
        </p:txBody>
      </p:sp>
      <p:sp>
        <p:nvSpPr>
          <p:cNvPr id="335" name="Rounded Rectangle 334"/>
          <p:cNvSpPr/>
          <p:nvPr/>
        </p:nvSpPr>
        <p:spPr>
          <a:xfrm>
            <a:off x="3785615" y="3090672"/>
            <a:ext cx="886968" cy="365760"/>
          </a:xfrm>
          <a:prstGeom prst="roundRect">
            <a:avLst>
              <a:gd name="adj" fmla="val 8000"/>
            </a:avLst>
          </a:prstGeom>
          <a:solidFill>
            <a:srgbClr val="FDECEE"/>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30" b="1" i="0">
                <a:solidFill>
                  <a:srgbClr val="111827"/>
                </a:solidFill>
                <a:latin typeface="Times New Roman"/>
              </a:rPr>
              <a:t>Excluded (n = 20)</a:t>
            </a:r>
          </a:p>
          <a:p>
            <a:pPr algn="ctr">
              <a:spcAft>
                <a:spcPts val="0"/>
              </a:spcAft>
            </a:pPr>
            <a:r>
              <a:rPr sz="330" b="0" i="0">
                <a:solidFill>
                  <a:srgbClr val="111827"/>
                </a:solidFill>
                <a:latin typeface="Times New Roman"/>
              </a:rPr>
              <a:t>Did not meet</a:t>
            </a:r>
          </a:p>
          <a:p>
            <a:pPr algn="ctr">
              <a:spcAft>
                <a:spcPts val="0"/>
              </a:spcAft>
            </a:pPr>
            <a:r>
              <a:rPr sz="330" b="0" i="0">
                <a:solidFill>
                  <a:srgbClr val="111827"/>
                </a:solidFill>
                <a:latin typeface="Times New Roman"/>
              </a:rPr>
              <a:t>inclusion criteria</a:t>
            </a:r>
          </a:p>
        </p:txBody>
      </p:sp>
      <p:cxnSp>
        <p:nvCxnSpPr>
          <p:cNvPr id="336" name="Connector 335"/>
          <p:cNvCxnSpPr/>
          <p:nvPr/>
        </p:nvCxnSpPr>
        <p:spPr>
          <a:xfrm>
            <a:off x="3721608" y="3273552"/>
            <a:ext cx="64007" cy="0"/>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a:off x="3241548" y="3456432"/>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8" name="Rounded Rectangle 337"/>
          <p:cNvSpPr/>
          <p:nvPr/>
        </p:nvSpPr>
        <p:spPr>
          <a:xfrm>
            <a:off x="2761488" y="3529584"/>
            <a:ext cx="960120" cy="365760"/>
          </a:xfrm>
          <a:prstGeom prst="roundRect">
            <a:avLst>
              <a:gd name="adj" fmla="val 8000"/>
            </a:avLst>
          </a:prstGeom>
          <a:solidFill>
            <a:srgbClr val="D9E2F3"/>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420" b="1" i="0">
                <a:solidFill>
                  <a:srgbClr val="111827"/>
                </a:solidFill>
                <a:latin typeface="Times New Roman"/>
              </a:rPr>
              <a:t>Studies included in</a:t>
            </a:r>
          </a:p>
          <a:p>
            <a:pPr algn="ctr">
              <a:spcAft>
                <a:spcPts val="0"/>
              </a:spcAft>
            </a:pPr>
            <a:r>
              <a:rPr sz="420" b="0" i="0">
                <a:solidFill>
                  <a:srgbClr val="111827"/>
                </a:solidFill>
                <a:latin typeface="Times New Roman"/>
              </a:rPr>
              <a:t>the scoping review</a:t>
            </a:r>
          </a:p>
          <a:p>
            <a:pPr algn="ctr">
              <a:spcAft>
                <a:spcPts val="0"/>
              </a:spcAft>
            </a:pPr>
            <a:r>
              <a:rPr sz="420" b="0" i="0">
                <a:solidFill>
                  <a:srgbClr val="111827"/>
                </a:solidFill>
                <a:latin typeface="Times New Roman"/>
              </a:rPr>
              <a:t>n = 44</a:t>
            </a:r>
          </a:p>
        </p:txBody>
      </p:sp>
      <p:sp>
        <p:nvSpPr>
          <p:cNvPr id="339" name="Rounded Rectangle 338"/>
          <p:cNvSpPr/>
          <p:nvPr/>
        </p:nvSpPr>
        <p:spPr>
          <a:xfrm>
            <a:off x="2414016" y="4005072"/>
            <a:ext cx="2258568" cy="548640"/>
          </a:xfrm>
          <a:prstGeom prst="roundRect">
            <a:avLst>
              <a:gd name="adj" fmla="val 8000"/>
            </a:avLst>
          </a:prstGeom>
          <a:solidFill>
            <a:srgbClr val="EEF2F8"/>
          </a:solidFill>
          <a:ln w="635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100"/>
              </a:spcAft>
            </a:pPr>
            <a:r>
              <a:rPr sz="380" b="1" i="0">
                <a:solidFill>
                  <a:srgbClr val="111827"/>
                </a:solidFill>
                <a:latin typeface="Times New Roman"/>
              </a:rPr>
              <a:t>Inclusion Criteria (Arksey &amp; O’Malley, 2005 — scoping review framework)</a:t>
            </a:r>
          </a:p>
          <a:p>
            <a:pPr algn="ctr">
              <a:spcAft>
                <a:spcPts val="50"/>
              </a:spcAft>
            </a:pPr>
            <a:r>
              <a:rPr sz="360" b="0" i="0">
                <a:solidFill>
                  <a:srgbClr val="111827"/>
                </a:solidFill>
                <a:latin typeface="Times New Roman"/>
              </a:rPr>
              <a:t>✓  Peer-reviewed empirical or qualitative studies, 2010–2025</a:t>
            </a:r>
          </a:p>
          <a:p>
            <a:pPr algn="ctr">
              <a:spcAft>
                <a:spcPts val="50"/>
              </a:spcAft>
            </a:pPr>
            <a:r>
              <a:rPr sz="360" b="0" i="0">
                <a:solidFill>
                  <a:srgbClr val="111827"/>
                </a:solidFill>
                <a:latin typeface="Times New Roman"/>
              </a:rPr>
              <a:t>✓  PMDD as the primary population</a:t>
            </a:r>
          </a:p>
          <a:p>
            <a:pPr algn="ctr">
              <a:spcAft>
                <a:spcPts val="0"/>
              </a:spcAft>
            </a:pPr>
            <a:r>
              <a:rPr sz="360" b="0" i="0">
                <a:solidFill>
                  <a:srgbClr val="111827"/>
                </a:solidFill>
                <a:latin typeface="Times New Roman"/>
              </a:rPr>
              <a:t>✓  At least one psychosocial outcome or coping mechanism as a primary aim</a:t>
            </a:r>
          </a:p>
        </p:txBody>
      </p:sp>
      <p:sp>
        <p:nvSpPr>
          <p:cNvPr id="340" name="TextBox 339"/>
          <p:cNvSpPr txBox="1"/>
          <p:nvPr/>
        </p:nvSpPr>
        <p:spPr>
          <a:xfrm>
            <a:off x="4754880" y="1627632"/>
            <a:ext cx="2240280" cy="146304"/>
          </a:xfrm>
          <a:prstGeom prst="rect">
            <a:avLst/>
          </a:prstGeom>
          <a:noFill/>
        </p:spPr>
        <p:txBody>
          <a:bodyPr wrap="square" anchor="t" lIns="27432" rIns="27432" tIns="13716" bIns="13716">
            <a:spAutoFit/>
          </a:bodyPr>
          <a:lstStyle/>
          <a:p>
            <a:pPr algn="l">
              <a:spcAft>
                <a:spcPts val="120"/>
              </a:spcAft>
            </a:pPr>
            <a:r>
              <a:rPr sz="520" b="1" i="0">
                <a:solidFill>
                  <a:srgbClr val="0A254E"/>
                </a:solidFill>
                <a:latin typeface="Times New Roman"/>
              </a:rPr>
              <a:t>Figure 2. </a:t>
            </a:r>
            <a:r>
              <a:rPr sz="520" b="1" i="0">
                <a:solidFill>
                  <a:srgbClr val="0A254E"/>
                </a:solidFill>
                <a:latin typeface="Times New Roman"/>
              </a:rPr>
              <a:t>Psychosocial Outcomes Reported in the 44 Included Studies</a:t>
            </a:r>
          </a:p>
        </p:txBody>
      </p:sp>
      <p:graphicFrame>
        <p:nvGraphicFramePr>
          <p:cNvPr id="341" name="Chart 340"/>
          <p:cNvGraphicFramePr>
            <a:graphicFrameLocks noGrp="1"/>
          </p:cNvGraphicFramePr>
          <p:nvPr/>
        </p:nvGraphicFramePr>
        <p:xfrm>
          <a:off x="4754880" y="1810512"/>
          <a:ext cx="2240280" cy="2606040"/>
        </p:xfrm>
        <a:graphic>
          <a:graphicData uri="http://schemas.openxmlformats.org/drawingml/2006/chart">
            <c:chart xmlns:c="http://schemas.openxmlformats.org/drawingml/2006/chart" r:id="rId9"/>
          </a:graphicData>
        </a:graphic>
      </p:graphicFrame>
      <p:sp>
        <p:nvSpPr>
          <p:cNvPr id="342" name="TextBox 341"/>
          <p:cNvSpPr txBox="1"/>
          <p:nvPr/>
        </p:nvSpPr>
        <p:spPr>
          <a:xfrm>
            <a:off x="4754880" y="4407408"/>
            <a:ext cx="2240280" cy="128016"/>
          </a:xfrm>
          <a:prstGeom prst="rect">
            <a:avLst/>
          </a:prstGeom>
          <a:noFill/>
        </p:spPr>
        <p:txBody>
          <a:bodyPr wrap="square" anchor="t" lIns="27432" rIns="27432" tIns="13716" bIns="13716">
            <a:spAutoFit/>
          </a:bodyPr>
          <a:lstStyle/>
          <a:p>
            <a:pPr algn="l">
              <a:spcAft>
                <a:spcPts val="120"/>
              </a:spcAft>
            </a:pPr>
            <a:r>
              <a:rPr sz="320" b="0" i="1">
                <a:solidFill>
                  <a:srgbClr val="4B5563"/>
                </a:solidFill>
                <a:latin typeface="Times New Roman"/>
              </a:rPr>
              <a:t>A study could report more than one outcome; counts should not be summed.</a:t>
            </a:r>
          </a:p>
        </p:txBody>
      </p:sp>
      <p:sp>
        <p:nvSpPr>
          <p:cNvPr id="343" name="TextBox 342"/>
          <p:cNvSpPr txBox="1"/>
          <p:nvPr/>
        </p:nvSpPr>
        <p:spPr>
          <a:xfrm>
            <a:off x="2414016" y="4636008"/>
            <a:ext cx="4572000" cy="146304"/>
          </a:xfrm>
          <a:prstGeom prst="rect">
            <a:avLst/>
          </a:prstGeom>
          <a:noFill/>
        </p:spPr>
        <p:txBody>
          <a:bodyPr wrap="square" anchor="t" lIns="27432" rIns="27432" tIns="13716" bIns="13716">
            <a:spAutoFit/>
          </a:bodyPr>
          <a:lstStyle/>
          <a:p>
            <a:pPr algn="l">
              <a:spcAft>
                <a:spcPts val="120"/>
              </a:spcAft>
            </a:pPr>
            <a:r>
              <a:rPr sz="520" b="1" i="0">
                <a:solidFill>
                  <a:srgbClr val="0A254E"/>
                </a:solidFill>
                <a:latin typeface="Times New Roman"/>
              </a:rPr>
              <a:t>Figure 3. </a:t>
            </a:r>
            <a:r>
              <a:rPr sz="520" b="1" i="0">
                <a:solidFill>
                  <a:srgbClr val="0A254E"/>
                </a:solidFill>
                <a:latin typeface="Times New Roman"/>
              </a:rPr>
              <a:t>Country Setting and World Bank Income Group of Included Studies¹²</a:t>
            </a:r>
          </a:p>
        </p:txBody>
      </p:sp>
      <p:pic>
        <p:nvPicPr>
          <p:cNvPr id="344" name="Picture 343" descr="fig3_map.png"/>
          <p:cNvPicPr>
            <a:picLocks noChangeAspect="1"/>
          </p:cNvPicPr>
          <p:nvPr/>
        </p:nvPicPr>
        <p:blipFill>
          <a:blip r:embed="rId10"/>
          <a:stretch>
            <a:fillRect/>
          </a:stretch>
        </p:blipFill>
        <p:spPr>
          <a:xfrm>
            <a:off x="2414016" y="4837176"/>
            <a:ext cx="3108960" cy="1399585"/>
          </a:xfrm>
          <a:prstGeom prst="rect">
            <a:avLst/>
          </a:prstGeom>
        </p:spPr>
      </p:pic>
      <p:sp>
        <p:nvSpPr>
          <p:cNvPr id="345" name="Rounded Rectangle 344"/>
          <p:cNvSpPr/>
          <p:nvPr/>
        </p:nvSpPr>
        <p:spPr>
          <a:xfrm>
            <a:off x="5577840" y="4956048"/>
            <a:ext cx="1371600" cy="1097280"/>
          </a:xfrm>
          <a:prstGeom prst="roundRect">
            <a:avLst>
              <a:gd name="adj" fmla="val 8000"/>
            </a:avLst>
          </a:prstGeom>
          <a:solidFill>
            <a:srgbClr val="EEF2F8"/>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2000" b="1" i="0">
                <a:solidFill>
                  <a:srgbClr val="A31F34"/>
                </a:solidFill>
                <a:latin typeface="Times New Roman"/>
              </a:rPr>
              <a:t>6.8%</a:t>
            </a:r>
          </a:p>
          <a:p>
            <a:pPr algn="ctr">
              <a:spcAft>
                <a:spcPts val="100"/>
              </a:spcAft>
            </a:pPr>
            <a:r>
              <a:rPr sz="520" b="0" i="0">
                <a:solidFill>
                  <a:srgbClr val="111827"/>
                </a:solidFill>
                <a:latin typeface="Times New Roman"/>
              </a:rPr>
              <a:t>of included studies (3 of 44) came from low- and lower-middle-income countries</a:t>
            </a:r>
          </a:p>
          <a:p>
            <a:pPr algn="ctr">
              <a:spcAft>
                <a:spcPts val="100"/>
              </a:spcAft>
            </a:pPr>
            <a:r>
              <a:rPr sz="520" b="0" i="0">
                <a:solidFill>
                  <a:srgbClr val="111827"/>
                </a:solidFill>
                <a:latin typeface="Times New Roman"/>
              </a:rPr>
              <a:t>20 high-income · 7 upper-middle-income</a:t>
            </a:r>
          </a:p>
          <a:p>
            <a:pPr algn="ctr">
              <a:spcAft>
                <a:spcPts val="0"/>
              </a:spcAft>
            </a:pPr>
            <a:r>
              <a:rPr sz="520" b="1" i="0">
                <a:solidFill>
                  <a:srgbClr val="A31F34"/>
                </a:solidFill>
                <a:latin typeface="Times New Roman"/>
              </a:rPr>
              <a:t>Sub-Saharan Africa: 1 study (Nigeria)</a:t>
            </a:r>
          </a:p>
        </p:txBody>
      </p:sp>
      <p:sp>
        <p:nvSpPr>
          <p:cNvPr id="346" name="TextBox 345"/>
          <p:cNvSpPr txBox="1"/>
          <p:nvPr/>
        </p:nvSpPr>
        <p:spPr>
          <a:xfrm>
            <a:off x="2414016" y="6236208"/>
            <a:ext cx="4572000" cy="201168"/>
          </a:xfrm>
          <a:prstGeom prst="rect">
            <a:avLst/>
          </a:prstGeom>
          <a:noFill/>
        </p:spPr>
        <p:txBody>
          <a:bodyPr wrap="square" anchor="t" lIns="27432" rIns="27432" tIns="13716" bIns="13716">
            <a:spAutoFit/>
          </a:bodyPr>
          <a:lstStyle/>
          <a:p>
            <a:pPr algn="ctr">
              <a:spcAft>
                <a:spcPts val="120"/>
              </a:spcAft>
            </a:pPr>
            <a:r>
              <a:rPr sz="420" b="0" i="1">
                <a:solidFill>
                  <a:srgbClr val="4B5563"/>
                </a:solidFill>
                <a:latin typeface="Times New Roman"/>
              </a:rPr>
              <a:t>Map shows the 30 studies with an identifiable country setting (World Bank income groups). The other 14 used online or multinational samples or had no single mappable setting in the available records. *Includes Hong Kong (1).</a:t>
            </a:r>
          </a:p>
        </p:txBody>
      </p:sp>
      <p:sp>
        <p:nvSpPr>
          <p:cNvPr id="347" name="Rectangle 346"/>
          <p:cNvSpPr/>
          <p:nvPr/>
        </p:nvSpPr>
        <p:spPr>
          <a:xfrm>
            <a:off x="7107631" y="726033"/>
            <a:ext cx="193578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Results, Discussion, Conclusion, and Limitations</a:t>
            </a:r>
          </a:p>
        </p:txBody>
      </p:sp>
      <p:sp>
        <p:nvSpPr>
          <p:cNvPr id="348" name="Rectangle 347"/>
          <p:cNvSpPr/>
          <p:nvPr/>
        </p:nvSpPr>
        <p:spPr>
          <a:xfrm>
            <a:off x="7107631" y="1088136"/>
            <a:ext cx="1935784" cy="2971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00"/>
              </a:spcAft>
            </a:pPr>
            <a:r>
              <a:rPr sz="409" b="1" i="0">
                <a:solidFill>
                  <a:srgbClr val="111827"/>
                </a:solidFill>
                <a:latin typeface="Times New Roman"/>
              </a:rPr>
              <a:t>Results</a:t>
            </a:r>
          </a:p>
          <a:p>
            <a:pPr algn="just">
              <a:spcAft>
                <a:spcPts val="100"/>
              </a:spcAft>
            </a:pPr>
            <a:r>
              <a:rPr sz="409" b="0" i="0">
                <a:solidFill>
                  <a:srgbClr val="111827"/>
                </a:solidFill>
                <a:latin typeface="Times New Roman"/>
              </a:rPr>
              <a:t>The database search identified 1,943 records. After 325 duplicates were removed, 1,618 records were screened by title and abstract; 64 were assessed for eligibility, 20 were excluded, and 44 studies were included (Figure 1). Most (61%) were published in 2022–2025 (Figure 4).</a:t>
            </a:r>
          </a:p>
          <a:p>
            <a:pPr algn="just">
              <a:spcAft>
                <a:spcPts val="100"/>
              </a:spcAft>
            </a:pPr>
            <a:r>
              <a:rPr sz="409" b="0" i="0">
                <a:solidFill>
                  <a:srgbClr val="111827"/>
                </a:solidFill>
                <a:latin typeface="Times New Roman"/>
              </a:rPr>
              <a:t>Depression was the most documented outcome (n=39); one nationwide cohort found a 2.6-fold higher risk of later depression after a PMDD diagnosis.¹³ Psychological distress (n=24), interpersonal functioning (n=18), suicidal ideation or self-harm (n=14) and quality of life (n=14) followed. Only three studies examined coping mechanisms, such as peer support shared in online PMDD communities¹⁴ (Figure 2).</a:t>
            </a:r>
          </a:p>
          <a:p>
            <a:pPr algn="just">
              <a:spcAft>
                <a:spcPts val="100"/>
              </a:spcAft>
            </a:pPr>
            <a:r>
              <a:rPr sz="409" b="0" i="0">
                <a:solidFill>
                  <a:srgbClr val="111827"/>
                </a:solidFill>
                <a:latin typeface="Times New Roman"/>
              </a:rPr>
              <a:t>Twenty studies came from high-income countries and seven from upper-middle-income countries (Türkiye, Iran); only three (6.8%) came from low- and lower-middle-income countries—Bangladesh,¹⁵ Lebanon¹⁶ and Nigeria,¹⁷ the only study from sub-Saharan Africa (Figure 3).</a:t>
            </a:r>
          </a:p>
          <a:p>
            <a:pPr algn="just">
              <a:spcAft>
                <a:spcPts val="100"/>
              </a:spcAft>
            </a:pPr>
            <a:r>
              <a:rPr sz="409" b="1" i="0">
                <a:solidFill>
                  <a:srgbClr val="111827"/>
                </a:solidFill>
                <a:latin typeface="Times New Roman"/>
              </a:rPr>
              <a:t>Discussion</a:t>
            </a:r>
          </a:p>
          <a:p>
            <a:pPr algn="just">
              <a:spcAft>
                <a:spcPts val="100"/>
              </a:spcAft>
            </a:pPr>
            <a:r>
              <a:rPr sz="409" b="0" i="0">
                <a:solidFill>
                  <a:srgbClr val="111827"/>
                </a:solidFill>
                <a:latin typeface="Times New Roman"/>
              </a:rPr>
              <a:t>PMDD research consistently documents depression, distress, relationship difficulties and suicidality.⁴⁻⁷ Patients describe misdiagnosis and uneven provider knowledge,¹⁸˒¹⁹ yet coping remains largely unexamined, and the scarcity of studies from low-income settings and Africa leaves the burden there invisible to health systems.</a:t>
            </a:r>
          </a:p>
          <a:p>
            <a:pPr algn="just">
              <a:spcAft>
                <a:spcPts val="100"/>
              </a:spcAft>
            </a:pPr>
            <a:r>
              <a:rPr sz="409" b="1" i="0">
                <a:solidFill>
                  <a:srgbClr val="111827"/>
                </a:solidFill>
                <a:latin typeface="Times New Roman"/>
              </a:rPr>
              <a:t>Conclusion</a:t>
            </a:r>
          </a:p>
          <a:p>
            <a:pPr algn="just">
              <a:spcAft>
                <a:spcPts val="100"/>
              </a:spcAft>
            </a:pPr>
            <a:r>
              <a:rPr sz="409" b="0" i="0">
                <a:solidFill>
                  <a:srgbClr val="111827"/>
                </a:solidFill>
                <a:latin typeface="Times New Roman"/>
              </a:rPr>
              <a:t>Evidence on PMDD’s psychosocial burden is growing but geographically concentrated in high-income countries, calling for culturally responsive screening, integrated mental and reproductive health services, and Africa-centred research investment.</a:t>
            </a:r>
          </a:p>
          <a:p>
            <a:pPr algn="just">
              <a:spcAft>
                <a:spcPts val="100"/>
              </a:spcAft>
            </a:pPr>
            <a:r>
              <a:rPr sz="409" b="1" i="0">
                <a:solidFill>
                  <a:srgbClr val="111827"/>
                </a:solidFill>
                <a:latin typeface="Times New Roman"/>
              </a:rPr>
              <a:t>Limitations</a:t>
            </a:r>
          </a:p>
          <a:p>
            <a:pPr algn="just" marL="73152" indent="-64008">
              <a:spcAft>
                <a:spcPts val="100"/>
              </a:spcAft>
              <a:buFont typeface="Arial"/>
              <a:buChar char="•"/>
            </a:pPr>
            <a:r>
              <a:rPr sz="409" b="1" i="0">
                <a:solidFill>
                  <a:srgbClr val="111827"/>
                </a:solidFill>
                <a:latin typeface="Times New Roman"/>
              </a:rPr>
              <a:t>Search scope: </a:t>
            </a:r>
            <a:r>
              <a:rPr sz="409" b="0" i="0">
                <a:solidFill>
                  <a:srgbClr val="111827"/>
                </a:solidFill>
                <a:latin typeface="Times New Roman"/>
              </a:rPr>
              <a:t>studies outside the five databases or the 2010–2025 period may have been missed.</a:t>
            </a:r>
          </a:p>
          <a:p>
            <a:pPr algn="just" marL="73152" indent="-64008">
              <a:spcAft>
                <a:spcPts val="100"/>
              </a:spcAft>
              <a:buFont typeface="Arial"/>
              <a:buChar char="•"/>
            </a:pPr>
            <a:r>
              <a:rPr sz="409" b="1" i="0">
                <a:solidFill>
                  <a:srgbClr val="111827"/>
                </a:solidFill>
                <a:latin typeface="Times New Roman"/>
              </a:rPr>
              <a:t>Study differences: </a:t>
            </a:r>
            <a:r>
              <a:rPr sz="409" b="0" i="0">
                <a:solidFill>
                  <a:srgbClr val="111827"/>
                </a:solidFill>
                <a:latin typeface="Times New Roman"/>
              </a:rPr>
              <a:t>variation in design and outcome definitions limits direct comparison.</a:t>
            </a:r>
          </a:p>
          <a:p>
            <a:pPr algn="just" marL="73152" indent="-64008">
              <a:spcAft>
                <a:spcPts val="100"/>
              </a:spcAft>
              <a:buFont typeface="Arial"/>
              <a:buChar char="•"/>
            </a:pPr>
            <a:r>
              <a:rPr sz="409" b="1" i="0">
                <a:solidFill>
                  <a:srgbClr val="111827"/>
                </a:solidFill>
                <a:latin typeface="Times New Roman"/>
              </a:rPr>
              <a:t>Coding overlap: </a:t>
            </a:r>
            <a:r>
              <a:rPr sz="409" b="0" i="0">
                <a:solidFill>
                  <a:srgbClr val="111827"/>
                </a:solidFill>
                <a:latin typeface="Times New Roman"/>
              </a:rPr>
              <a:t>a study could address more than one outcome, so counts should not be summed.</a:t>
            </a:r>
          </a:p>
          <a:p>
            <a:pPr algn="just" marL="73152" indent="-64008">
              <a:spcAft>
                <a:spcPts val="100"/>
              </a:spcAft>
              <a:buFont typeface="Arial"/>
              <a:buChar char="•"/>
            </a:pPr>
            <a:r>
              <a:rPr sz="409" b="1" i="0">
                <a:solidFill>
                  <a:srgbClr val="111827"/>
                </a:solidFill>
                <a:latin typeface="Times New Roman"/>
              </a:rPr>
              <a:t>Geographic coverage: </a:t>
            </a:r>
            <a:r>
              <a:rPr sz="409" b="0" i="0">
                <a:solidFill>
                  <a:srgbClr val="111827"/>
                </a:solidFill>
                <a:latin typeface="Times New Roman"/>
              </a:rPr>
              <a:t>few studies from low- and lower-middle-income countries limit conclusions about those settings.</a:t>
            </a:r>
          </a:p>
        </p:txBody>
      </p:sp>
      <p:sp>
        <p:nvSpPr>
          <p:cNvPr id="349" name="Rectangle 348"/>
          <p:cNvSpPr/>
          <p:nvPr/>
        </p:nvSpPr>
        <p:spPr>
          <a:xfrm>
            <a:off x="7107631" y="4123944"/>
            <a:ext cx="193578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Public Health Implications and Future Work</a:t>
            </a:r>
          </a:p>
        </p:txBody>
      </p:sp>
      <p:sp>
        <p:nvSpPr>
          <p:cNvPr id="350" name="Rectangle 349"/>
          <p:cNvSpPr/>
          <p:nvPr/>
        </p:nvSpPr>
        <p:spPr>
          <a:xfrm>
            <a:off x="7107631" y="4480560"/>
            <a:ext cx="1935784" cy="103327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l">
              <a:spcAft>
                <a:spcPts val="70"/>
              </a:spcAft>
            </a:pPr>
            <a:r>
              <a:rPr sz="405" b="1" i="0">
                <a:solidFill>
                  <a:srgbClr val="111827"/>
                </a:solidFill>
                <a:latin typeface="Times New Roman"/>
              </a:rPr>
              <a:t>Public Health Implications</a:t>
            </a:r>
          </a:p>
          <a:p>
            <a:pPr algn="l" marL="73152" indent="-64008">
              <a:spcAft>
                <a:spcPts val="70"/>
              </a:spcAft>
              <a:buFont typeface="Arial"/>
              <a:buChar char="•"/>
            </a:pPr>
            <a:r>
              <a:rPr sz="405" b="1" i="0">
                <a:solidFill>
                  <a:srgbClr val="111827"/>
                </a:solidFill>
                <a:latin typeface="Times New Roman"/>
              </a:rPr>
              <a:t>Screen for suicide risk: </a:t>
            </a:r>
            <a:r>
              <a:rPr sz="405" b="0" i="0">
                <a:solidFill>
                  <a:srgbClr val="111827"/>
                </a:solidFill>
                <a:latin typeface="Times New Roman"/>
              </a:rPr>
              <a:t>ask about suicidal thoughts when women present with severe premenstrual mood symptoms.⁴˒⁵</a:t>
            </a:r>
          </a:p>
          <a:p>
            <a:pPr algn="l" marL="73152" indent="-64008">
              <a:spcAft>
                <a:spcPts val="70"/>
              </a:spcAft>
              <a:buFont typeface="Arial"/>
              <a:buChar char="•"/>
            </a:pPr>
            <a:r>
              <a:rPr sz="405" b="1" i="0">
                <a:solidFill>
                  <a:srgbClr val="111827"/>
                </a:solidFill>
                <a:latin typeface="Times New Roman"/>
              </a:rPr>
              <a:t>Integrate care: </a:t>
            </a:r>
            <a:r>
              <a:rPr sz="405" b="0" i="0">
                <a:solidFill>
                  <a:srgbClr val="111827"/>
                </a:solidFill>
                <a:latin typeface="Times New Roman"/>
              </a:rPr>
              <a:t>embed PMDD screening in sexual and reproductive, school and university health services.</a:t>
            </a:r>
          </a:p>
          <a:p>
            <a:pPr algn="l" marL="73152" indent="-64008">
              <a:spcAft>
                <a:spcPts val="70"/>
              </a:spcAft>
              <a:buFont typeface="Arial"/>
              <a:buChar char="•"/>
            </a:pPr>
            <a:r>
              <a:rPr sz="405" b="1" i="0">
                <a:solidFill>
                  <a:srgbClr val="111827"/>
                </a:solidFill>
                <a:latin typeface="Times New Roman"/>
              </a:rPr>
              <a:t>Train providers: </a:t>
            </a:r>
            <a:r>
              <a:rPr sz="405" b="0" i="0">
                <a:solidFill>
                  <a:srgbClr val="111827"/>
                </a:solidFill>
                <a:latin typeface="Times New Roman"/>
              </a:rPr>
              <a:t>improve recognition to reduce misdiagnosis and delayed care.¹⁸</a:t>
            </a:r>
          </a:p>
          <a:p>
            <a:pPr algn="l" marL="73152" indent="-64008">
              <a:spcAft>
                <a:spcPts val="70"/>
              </a:spcAft>
              <a:buFont typeface="Arial"/>
              <a:buChar char="•"/>
            </a:pPr>
            <a:r>
              <a:rPr sz="405" b="1" i="0">
                <a:solidFill>
                  <a:srgbClr val="111827"/>
                </a:solidFill>
                <a:latin typeface="Times New Roman"/>
              </a:rPr>
              <a:t>Address coping needs: </a:t>
            </a:r>
            <a:r>
              <a:rPr sz="405" b="0" i="0">
                <a:solidFill>
                  <a:srgbClr val="111827"/>
                </a:solidFill>
                <a:latin typeface="Times New Roman"/>
              </a:rPr>
              <a:t>ask how women manage symptoms and connect them with peer and professional support.¹⁴</a:t>
            </a:r>
          </a:p>
          <a:p>
            <a:pPr algn="l">
              <a:spcAft>
                <a:spcPts val="70"/>
              </a:spcAft>
            </a:pPr>
            <a:r>
              <a:rPr sz="405" b="1" i="0">
                <a:solidFill>
                  <a:srgbClr val="111827"/>
                </a:solidFill>
                <a:latin typeface="Times New Roman"/>
              </a:rPr>
              <a:t>Future Work</a:t>
            </a:r>
          </a:p>
          <a:p>
            <a:pPr algn="l" marL="73152" indent="-64008">
              <a:spcAft>
                <a:spcPts val="70"/>
              </a:spcAft>
              <a:buFont typeface="Arial"/>
              <a:buChar char="•"/>
            </a:pPr>
            <a:r>
              <a:rPr sz="405" b="1" i="0">
                <a:solidFill>
                  <a:srgbClr val="111827"/>
                </a:solidFill>
                <a:latin typeface="Times New Roman"/>
              </a:rPr>
              <a:t>Confirm PMDD prospectively </a:t>
            </a:r>
            <a:r>
              <a:rPr sz="405" b="0" i="0">
                <a:solidFill>
                  <a:srgbClr val="111827"/>
                </a:solidFill>
                <a:latin typeface="Times New Roman"/>
              </a:rPr>
              <a:t>using validated daily ratings.¹˒²⁰</a:t>
            </a:r>
          </a:p>
          <a:p>
            <a:pPr algn="l" marL="73152" indent="-64008">
              <a:spcAft>
                <a:spcPts val="70"/>
              </a:spcAft>
              <a:buFont typeface="Arial"/>
              <a:buChar char="•"/>
            </a:pPr>
            <a:r>
              <a:rPr sz="405" b="1" i="0">
                <a:solidFill>
                  <a:srgbClr val="111827"/>
                </a:solidFill>
                <a:latin typeface="Times New Roman"/>
              </a:rPr>
              <a:t>Prioritize low-income and African settings, </a:t>
            </a:r>
            <a:r>
              <a:rPr sz="405" b="0" i="0">
                <a:solidFill>
                  <a:srgbClr val="111827"/>
                </a:solidFill>
                <a:latin typeface="Times New Roman"/>
              </a:rPr>
              <a:t>including qualitative studies of stigma and coping.</a:t>
            </a:r>
          </a:p>
          <a:p>
            <a:pPr algn="l" marL="73152" indent="-64008">
              <a:spcAft>
                <a:spcPts val="70"/>
              </a:spcAft>
              <a:buFont typeface="Arial"/>
              <a:buChar char="•"/>
            </a:pPr>
            <a:r>
              <a:rPr sz="405" b="1" i="0">
                <a:solidFill>
                  <a:srgbClr val="111827"/>
                </a:solidFill>
                <a:latin typeface="Times New Roman"/>
              </a:rPr>
              <a:t>Validate screening tools </a:t>
            </a:r>
            <a:r>
              <a:rPr sz="405" b="0" i="0">
                <a:solidFill>
                  <a:srgbClr val="111827"/>
                </a:solidFill>
                <a:latin typeface="Times New Roman"/>
              </a:rPr>
              <a:t>in African languages and test coping-focused interventions.</a:t>
            </a:r>
          </a:p>
        </p:txBody>
      </p:sp>
      <p:sp>
        <p:nvSpPr>
          <p:cNvPr id="351" name="Rectangle 350"/>
          <p:cNvSpPr/>
          <p:nvPr/>
        </p:nvSpPr>
        <p:spPr>
          <a:xfrm>
            <a:off x="7107631" y="5573268"/>
            <a:ext cx="193578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References</a:t>
            </a:r>
          </a:p>
        </p:txBody>
      </p:sp>
      <p:sp>
        <p:nvSpPr>
          <p:cNvPr id="352" name="Rounded Rectangle 351"/>
          <p:cNvSpPr/>
          <p:nvPr/>
        </p:nvSpPr>
        <p:spPr>
          <a:xfrm>
            <a:off x="2428646" y="6455664"/>
            <a:ext cx="4516221" cy="237744"/>
          </a:xfrm>
          <a:prstGeom prst="roundRect">
            <a:avLst>
              <a:gd name="adj" fmla="val 8000"/>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3716" bIns="13716"/>
          <a:lstStyle/>
          <a:p>
            <a:pPr algn="ctr">
              <a:spcAft>
                <a:spcPts val="120"/>
              </a:spcAft>
            </a:pPr>
            <a:r>
              <a:rPr sz="560" b="1" i="0">
                <a:solidFill>
                  <a:srgbClr val="F2C14E"/>
                </a:solidFill>
                <a:latin typeface="Times New Roman"/>
              </a:rPr>
              <a:t>KEY TAKEAWAY  </a:t>
            </a:r>
            <a:r>
              <a:rPr sz="560" b="0" i="0">
                <a:solidFill>
                  <a:srgbClr val="FFFFFF"/>
                </a:solidFill>
                <a:latin typeface="Times New Roman"/>
              </a:rPr>
              <a:t>PMDD’s psychosocial burden is well documented in high-income countries, yet nearly invisible in low-income settings and sub-Saharan Africa.</a:t>
            </a:r>
          </a:p>
        </p:txBody>
      </p:sp>
      <p:sp>
        <p:nvSpPr>
          <p:cNvPr id="353" name="TextBox 352"/>
          <p:cNvSpPr txBox="1"/>
          <p:nvPr/>
        </p:nvSpPr>
        <p:spPr>
          <a:xfrm>
            <a:off x="7162495" y="3310128"/>
            <a:ext cx="1826056" cy="118872"/>
          </a:xfrm>
          <a:prstGeom prst="rect">
            <a:avLst/>
          </a:prstGeom>
          <a:noFill/>
        </p:spPr>
        <p:txBody>
          <a:bodyPr wrap="square" anchor="t" lIns="27432" rIns="27432" tIns="13716" bIns="13716">
            <a:spAutoFit/>
          </a:bodyPr>
          <a:lstStyle/>
          <a:p>
            <a:pPr algn="l">
              <a:spcAft>
                <a:spcPts val="120"/>
              </a:spcAft>
            </a:pPr>
            <a:r>
              <a:rPr sz="459" b="1" i="0">
                <a:solidFill>
                  <a:srgbClr val="0A254E"/>
                </a:solidFill>
                <a:latin typeface="Times New Roman"/>
              </a:rPr>
              <a:t>Figure 4. </a:t>
            </a:r>
            <a:r>
              <a:rPr sz="459" b="1" i="0">
                <a:solidFill>
                  <a:srgbClr val="0A254E"/>
                </a:solidFill>
                <a:latin typeface="Times New Roman"/>
              </a:rPr>
              <a:t>Included Studies by Publication Period</a:t>
            </a:r>
          </a:p>
        </p:txBody>
      </p:sp>
      <p:graphicFrame>
        <p:nvGraphicFramePr>
          <p:cNvPr id="354" name="Chart 353"/>
          <p:cNvGraphicFramePr>
            <a:graphicFrameLocks noGrp="1"/>
          </p:cNvGraphicFramePr>
          <p:nvPr/>
        </p:nvGraphicFramePr>
        <p:xfrm>
          <a:off x="7199071" y="3419856"/>
          <a:ext cx="1752904" cy="530352"/>
        </p:xfrm>
        <a:graphic>
          <a:graphicData uri="http://schemas.openxmlformats.org/drawingml/2006/chart">
            <c:chart xmlns:c="http://schemas.openxmlformats.org/drawingml/2006/chart" r:id="rId11"/>
          </a:graphicData>
        </a:graphic>
      </p:graphicFrame>
      <p:sp>
        <p:nvSpPr>
          <p:cNvPr id="355" name="TextBox 354"/>
          <p:cNvSpPr txBox="1"/>
          <p:nvPr/>
        </p:nvSpPr>
        <p:spPr>
          <a:xfrm>
            <a:off x="7162495" y="3950208"/>
            <a:ext cx="1826056" cy="91440"/>
          </a:xfrm>
          <a:prstGeom prst="rect">
            <a:avLst/>
          </a:prstGeom>
          <a:noFill/>
        </p:spPr>
        <p:txBody>
          <a:bodyPr wrap="square" anchor="t" lIns="27432" rIns="27432" tIns="13716" bIns="13716">
            <a:spAutoFit/>
          </a:bodyPr>
          <a:lstStyle/>
          <a:p>
            <a:pPr algn="ctr">
              <a:spcAft>
                <a:spcPts val="120"/>
              </a:spcAft>
            </a:pPr>
            <a:r>
              <a:rPr sz="350" b="0" i="1">
                <a:solidFill>
                  <a:srgbClr val="4B5563"/>
                </a:solidFill>
                <a:latin typeface="Times New Roman"/>
              </a:rPr>
              <a:t>27 of 44 studies (61%) were published in 2022–2025.</a:t>
            </a:r>
          </a:p>
        </p:txBody>
      </p:sp>
    </p:spTree>
    <p:extLst>
      <p:ext uri="{BB962C8B-B14F-4D97-AF65-F5344CB8AC3E}">
        <p14:creationId xmlns:p14="http://schemas.microsoft.com/office/powerpoint/2010/main" val="161073397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866</TotalTime>
  <Words>1215</Words>
  <Application>Microsoft Office PowerPoint</Application>
  <PresentationFormat>On-screen Show (4:3)</PresentationFormat>
  <Paragraphs>65</Paragraphs>
  <Slides>1</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vt:i4>
      </vt:variant>
    </vt:vector>
  </HeadingPairs>
  <TitlesOfParts>
    <vt:vector size="10" baseType="lpstr">
      <vt:lpstr>Aptos</vt: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Shobayo, Ifeoluwanimi (Public &amp; Community Health)</dc:creator>
  <cp:lastModifiedBy>Shobayo, Ifeoluwanimi (Public &amp; Community Health)</cp:lastModifiedBy>
  <cp:revision>5</cp:revision>
  <dcterms:created xsi:type="dcterms:W3CDTF">2026-08-26T00:09:23Z</dcterms:created>
  <dcterms:modified xsi:type="dcterms:W3CDTF">2026-09-29T15:33:18Z</dcterms:modified>
</cp:coreProperties>
</file>