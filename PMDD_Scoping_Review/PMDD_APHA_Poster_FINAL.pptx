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
  </p:notesMasterIdLst>
  <p:sldIdLst>
    <p:sldId id="258" r:id="rId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0" d="100"/>
          <a:sy n="70" d="100"/>
        </p:scale>
        <p:origin x="1204"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Studies</c:v>
                </c:pt>
              </c:strCache>
            </c:strRef>
          </c:tx>
          <c:spPr>
            <a:solidFill>
              <a:srgbClr val="0A254E"/>
            </a:solidFill>
          </c:spPr>
          <c:dPt>
            <c:idx val="1"/>
            <c:spPr>
              <a:solidFill>
                <a:srgbClr val="A31F34"/>
              </a:solidFill>
            </c:spPr>
          </c:dPt>
          <c:cat>
            <c:strRef>
              <c:f>Sheet1!$A$2:$A$14</c:f>
              <c:strCache>
                <c:ptCount val="13"/>
                <c:pt idx="0">
                  <c:v>Lived experience / help-seeking</c:v>
                </c:pt>
                <c:pt idx="1">
                  <c:v>Coping mechanisms</c:v>
                </c:pt>
                <c:pt idx="2">
                  <c:v>Trauma &amp; adversity</c:v>
                </c:pt>
                <c:pt idx="3">
                  <c:v>Personality &amp; temperament</c:v>
                </c:pt>
                <c:pt idx="4">
                  <c:v>Quality of life</c:v>
                </c:pt>
                <c:pt idx="5">
                  <c:v>Interpersonal functioning</c:v>
                </c:pt>
                <c:pt idx="6">
                  <c:v>Anxiety</c:v>
                </c:pt>
                <c:pt idx="7">
                  <c:v>Suicidal ideation / self-harm</c:v>
                </c:pt>
                <c:pt idx="8">
                  <c:v>Academic / occupational</c:v>
                </c:pt>
                <c:pt idx="9">
                  <c:v>Psychological distress</c:v>
                </c:pt>
                <c:pt idx="10">
                  <c:v>Mood &amp; emotion regulation</c:v>
                </c:pt>
                <c:pt idx="11">
                  <c:v>Psychiatric comorbidity</c:v>
                </c:pt>
                <c:pt idx="12">
                  <c:v>Depression</c:v>
                </c:pt>
              </c:strCache>
            </c:strRef>
          </c:cat>
          <c:val>
            <c:numRef>
              <c:f>Sheet1!$B$2:$B$14</c:f>
              <c:numCache>
                <c:formatCode>General</c:formatCode>
                <c:ptCount val="13"/>
                <c:pt idx="0">
                  <c:v>5</c:v>
                </c:pt>
                <c:pt idx="1">
                  <c:v>7</c:v>
                </c:pt>
                <c:pt idx="2">
                  <c:v>7</c:v>
                </c:pt>
                <c:pt idx="3">
                  <c:v>7</c:v>
                </c:pt>
                <c:pt idx="4">
                  <c:v>8</c:v>
                </c:pt>
                <c:pt idx="5">
                  <c:v>12</c:v>
                </c:pt>
                <c:pt idx="6">
                  <c:v>13</c:v>
                </c:pt>
                <c:pt idx="7">
                  <c:v>13</c:v>
                </c:pt>
                <c:pt idx="8">
                  <c:v>13</c:v>
                </c:pt>
                <c:pt idx="9">
                  <c:v>16</c:v>
                </c:pt>
                <c:pt idx="10">
                  <c:v>18</c:v>
                </c:pt>
                <c:pt idx="11">
                  <c:v>18</c:v>
                </c:pt>
                <c:pt idx="12">
                  <c:v>28</c:v>
                </c:pt>
              </c:numCache>
            </c:numRef>
          </c:val>
        </c:ser>
        <c:dLbls>
          <c:txPr>
            <a:bodyPr/>
            <a:lstStyle/>
            <a:p>
              <a:pPr>
                <a:defRPr sz="420" b="1">
                  <a:latin typeface="Times New Roman"/>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l"/>
        <c:majorTickMark val="out"/>
        <c:minorTickMark val="none"/>
        <c:tickLblPos val="nextTo"/>
        <c:spPr>
          <a:ln>
            <a:solidFill>
              <a:srgbClr val="9CA3AF"/>
            </a:solidFill>
          </a:ln>
        </c:spPr>
        <c:txPr>
          <a:bodyPr/>
          <a:lstStyle/>
          <a:p>
            <a:pPr>
              <a:defRPr sz="420"/>
            </a:pPr>
          </a:p>
        </c:txPr>
        <c:crossAx val="-2113994440"/>
        <c:crosses val="autoZero"/>
        <c:auto val="1"/>
        <c:lblAlgn val="ctr"/>
        <c:lblOffset val="100"/>
        <c:noMultiLvlLbl val="0"/>
      </c:catAx>
      <c:valAx>
        <c:axId val="-2113994440"/>
        <c:scaling>
          <c:max val="31.0"/>
          <c:min val="0.0"/>
        </c:scaling>
        <c:delete/>
        <c:axPos val="b"/>
        <c:majorTickMark val="out"/>
        <c:minorTickMark val="none"/>
        <c:tickLblPos val="nextTo"/>
        <c:crossAx val="-2068027336"/>
        <c:crosses val="autoZero"/>
      </c:valAx>
    </c:plotArea>
    <c:dispBlanksAs val="gap"/>
  </c:chart>
  <c:txPr>
    <a:bodyPr/>
    <a:lstStyle/>
    <a:p>
      <a:pPr>
        <a:defRPr sz="420">
          <a:solidFill>
            <a:srgbClr val="111827"/>
          </a:solidFill>
          <a:latin typeface="Times New Roman"/>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Studies</c:v>
                </c:pt>
              </c:strCache>
            </c:strRef>
          </c:tx>
          <c:spPr>
            <a:solidFill>
              <a:srgbClr val="0A254E"/>
            </a:solidFill>
          </c:spPr>
          <c:dPt>
            <c:idx val="1"/>
            <c:spPr>
              <a:solidFill>
                <a:srgbClr val="A31F34"/>
              </a:solidFill>
            </c:spPr>
          </c:dPt>
          <c:cat>
            <c:strRef>
              <c:f>Sheet1!$A$2:$A$9</c:f>
              <c:strCache>
                <c:ptCount val="8"/>
                <c:pt idx="0">
                  <c:v>South Asia</c:v>
                </c:pt>
                <c:pt idx="1">
                  <c:v>Sub-Saharan Africa</c:v>
                </c:pt>
                <c:pt idx="2">
                  <c:v>Latin America &amp; Caribbean</c:v>
                </c:pt>
                <c:pt idx="3">
                  <c:v>Online / multinational / NR</c:v>
                </c:pt>
                <c:pt idx="4">
                  <c:v>Middle East &amp; North Africa</c:v>
                </c:pt>
                <c:pt idx="5">
                  <c:v>North America</c:v>
                </c:pt>
                <c:pt idx="6">
                  <c:v>East Asia &amp; Pacific</c:v>
                </c:pt>
                <c:pt idx="7">
                  <c:v>Europe &amp; Central Asia</c:v>
                </c:pt>
              </c:strCache>
            </c:strRef>
          </c:cat>
          <c:val>
            <c:numRef>
              <c:f>Sheet1!$B$2:$B$9</c:f>
              <c:numCache>
                <c:formatCode>General</c:formatCode>
                <c:ptCount val="8"/>
                <c:pt idx="0">
                  <c:v>1</c:v>
                </c:pt>
                <c:pt idx="1">
                  <c:v>3</c:v>
                </c:pt>
                <c:pt idx="2">
                  <c:v>3</c:v>
                </c:pt>
                <c:pt idx="3">
                  <c:v>7</c:v>
                </c:pt>
                <c:pt idx="4">
                  <c:v>10</c:v>
                </c:pt>
                <c:pt idx="5">
                  <c:v>15</c:v>
                </c:pt>
                <c:pt idx="6">
                  <c:v>17</c:v>
                </c:pt>
                <c:pt idx="7">
                  <c:v>29</c:v>
                </c:pt>
              </c:numCache>
            </c:numRef>
          </c:val>
        </c:ser>
        <c:dLbls>
          <c:txPr>
            <a:bodyPr/>
            <a:lstStyle/>
            <a:p>
              <a:pPr>
                <a:defRPr sz="420" b="1">
                  <a:latin typeface="Times New Roman"/>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l"/>
        <c:majorTickMark val="out"/>
        <c:minorTickMark val="none"/>
        <c:tickLblPos val="nextTo"/>
        <c:spPr>
          <a:ln>
            <a:solidFill>
              <a:srgbClr val="9CA3AF"/>
            </a:solidFill>
          </a:ln>
        </c:spPr>
        <c:txPr>
          <a:bodyPr/>
          <a:lstStyle/>
          <a:p>
            <a:pPr>
              <a:defRPr sz="420"/>
            </a:pPr>
          </a:p>
        </c:txPr>
        <c:crossAx val="-2113994440"/>
        <c:crosses val="autoZero"/>
        <c:auto val="1"/>
        <c:lblAlgn val="ctr"/>
        <c:lblOffset val="100"/>
        <c:noMultiLvlLbl val="0"/>
      </c:catAx>
      <c:valAx>
        <c:axId val="-2113994440"/>
        <c:scaling>
          <c:max val="33.0"/>
          <c:min val="0.0"/>
        </c:scaling>
        <c:delete/>
        <c:axPos val="b"/>
        <c:majorTickMark val="out"/>
        <c:minorTickMark val="none"/>
        <c:tickLblPos val="nextTo"/>
        <c:crossAx val="-2068027336"/>
        <c:crosses val="autoZero"/>
      </c:valAx>
    </c:plotArea>
    <c:dispBlanksAs val="gap"/>
  </c:chart>
  <c:txPr>
    <a:bodyPr/>
    <a:lstStyle/>
    <a:p>
      <a:pPr>
        <a:defRPr sz="420">
          <a:solidFill>
            <a:srgbClr val="111827"/>
          </a:solidFill>
          <a:latin typeface="Times New Roman"/>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Studies</c:v>
                </c:pt>
              </c:strCache>
            </c:strRef>
          </c:tx>
          <c:spPr>
            <a:solidFill>
              <a:srgbClr val="0A254E"/>
            </a:solidFill>
          </c:spPr>
          <c:dPt>
            <c:idx val="0"/>
            <c:spPr>
              <a:solidFill>
                <a:srgbClr val="0A254E"/>
              </a:solidFill>
            </c:spPr>
          </c:dPt>
          <c:dPt>
            <c:idx val="1"/>
            <c:spPr>
              <a:solidFill>
                <a:srgbClr val="A31F34"/>
              </a:solidFill>
            </c:spPr>
          </c:dPt>
          <c:dPt>
            <c:idx val="2"/>
            <c:spPr>
              <a:solidFill>
                <a:srgbClr val="A31F34"/>
              </a:solidFill>
            </c:spPr>
          </c:dPt>
          <c:dPt>
            <c:idx val="3"/>
            <c:spPr>
              <a:solidFill>
                <a:srgbClr val="A31F34"/>
              </a:solidFill>
            </c:spPr>
          </c:dPt>
          <c:dPt>
            <c:idx val="4"/>
            <c:spPr>
              <a:solidFill>
                <a:srgbClr val="9CA3AF"/>
              </a:solidFill>
            </c:spPr>
          </c:dPt>
          <c:cat>
            <c:strRef>
              <c:f>Sheet1!$A$2:$A$6</c:f>
              <c:strCache>
                <c:ptCount val="5"/>
                <c:pt idx="0">
                  <c:v>High</c:v>
                </c:pt>
                <c:pt idx="1">
                  <c:v>Upper-middle</c:v>
                </c:pt>
                <c:pt idx="2">
                  <c:v>Lower-middle</c:v>
                </c:pt>
                <c:pt idx="3">
                  <c:v>Low</c:v>
                </c:pt>
                <c:pt idx="4">
                  <c:v>Online / NR</c:v>
                </c:pt>
              </c:strCache>
            </c:strRef>
          </c:cat>
          <c:val>
            <c:numRef>
              <c:f>Sheet1!$B$2:$B$6</c:f>
              <c:numCache>
                <c:formatCode>General</c:formatCode>
                <c:ptCount val="5"/>
                <c:pt idx="0">
                  <c:v>57</c:v>
                </c:pt>
                <c:pt idx="1">
                  <c:v>16</c:v>
                </c:pt>
                <c:pt idx="2">
                  <c:v>3</c:v>
                </c:pt>
                <c:pt idx="3">
                  <c:v>2</c:v>
                </c:pt>
                <c:pt idx="4">
                  <c:v>7</c:v>
                </c:pt>
              </c:numCache>
            </c:numRef>
          </c:val>
        </c:ser>
        <c:dLbls>
          <c:txPr>
            <a:bodyPr/>
            <a:lstStyle/>
            <a:p>
              <a:pPr>
                <a:defRPr sz="420" b="1">
                  <a:latin typeface="Times New Roman"/>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nextTo"/>
        <c:spPr>
          <a:ln>
            <a:solidFill>
              <a:srgbClr val="9CA3AF"/>
            </a:solidFill>
          </a:ln>
        </c:spPr>
        <c:txPr>
          <a:bodyPr/>
          <a:lstStyle/>
          <a:p>
            <a:pPr>
              <a:defRPr sz="420"/>
            </a:pPr>
          </a:p>
        </c:txPr>
        <c:crossAx val="-2113994440"/>
        <c:crosses val="autoZero"/>
        <c:auto val="1"/>
        <c:lblAlgn val="ctr"/>
        <c:lblOffset val="100"/>
        <c:noMultiLvlLbl val="0"/>
      </c:catAx>
      <c:valAx>
        <c:axId val="-2113994440"/>
        <c:scaling>
          <c:max val="65.0"/>
          <c:min val="0.0"/>
        </c:scaling>
        <c:delete/>
        <c:axPos val="l"/>
        <c:majorTickMark val="out"/>
        <c:minorTickMark val="none"/>
        <c:tickLblPos val="nextTo"/>
        <c:crossAx val="-2068027336"/>
        <c:crosses val="autoZero"/>
      </c:valAx>
    </c:plotArea>
    <c:dispBlanksAs val="gap"/>
  </c:chart>
  <c:txPr>
    <a:bodyPr/>
    <a:lstStyle/>
    <a:p>
      <a:pPr>
        <a:defRPr sz="420">
          <a:solidFill>
            <a:srgbClr val="111827"/>
          </a:solidFill>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96BDCCF-4A2F-49B0-B87F-E22253D6F77C}" type="datetimeFigureOut">
              <a:rPr lang="en-US" smtClean="0"/>
              <a:t>9/29/2026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EA4540F-8BD0-4131-8B1C-6CA932629A10}" type="slidenum">
              <a:rPr lang="en-US" smtClean="0"/>
              <a:t>‹#›</a:t>
            </a:fld>
            <a:endParaRPr lang="en-US"/>
          </a:p>
        </p:txBody>
      </p:sp>
    </p:spTree>
    <p:extLst>
      <p:ext uri="{BB962C8B-B14F-4D97-AF65-F5344CB8AC3E}">
        <p14:creationId xmlns:p14="http://schemas.microsoft.com/office/powerpoint/2010/main" val="2549406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B8577F-B9F7-2240-15E4-FDABBC4683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271C4D-5AA2-C172-0001-EB30CAA02E40}"/>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1F4E93C4-1E27-A78C-18EB-36FBAE80867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E04F0D5-7458-F3FC-A407-B5A218BE6636}"/>
              </a:ext>
            </a:extLst>
          </p:cNvPr>
          <p:cNvSpPr>
            <a:spLocks noGrp="1"/>
          </p:cNvSpPr>
          <p:nvPr>
            <p:ph type="sldNum" sz="quarter" idx="10"/>
          </p:nvPr>
        </p:nvSpPr>
        <p:spPr/>
        <p:txBody>
          <a:bodyPr/>
          <a:lstStyle/>
          <a:p>
            <a:pPr marL="0" marR="0" lvl="0" indent="0" algn="r" defTabSz="2072951" rtl="0" eaLnBrk="1" fontAlgn="auto" latinLnBrk="0" hangingPunct="1">
              <a:lnSpc>
                <a:spcPct val="100000"/>
              </a:lnSpc>
              <a:spcBef>
                <a:spcPts val="0"/>
              </a:spcBef>
              <a:spcAft>
                <a:spcPts val="0"/>
              </a:spcAft>
              <a:buClrTx/>
              <a:buSzTx/>
              <a:buFontTx/>
              <a:buNone/>
              <a:tabLst/>
              <a:defRPr/>
            </a:pPr>
            <a:fld id="{FECA9BC3-5A08-5C40-8DE6-1B49CE826337}"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2072951"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8743190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028020" y="1769545"/>
            <a:ext cx="7080026" cy="1828801"/>
          </a:xfrm>
        </p:spPr>
        <p:txBody>
          <a:bodyPr anchor="b">
            <a:normAutofit/>
          </a:bodyPr>
          <a:lstStyle>
            <a:lvl1pPr algn="ctr">
              <a:defRPr sz="5399"/>
            </a:lvl1pPr>
          </a:lstStyle>
          <a:p>
            <a:r>
              <a:rPr lang="en-US"/>
              <a:t>Click to edit Master title style</a:t>
            </a:r>
            <a:endParaRPr lang="en-US" dirty="0"/>
          </a:p>
        </p:txBody>
      </p:sp>
      <p:sp>
        <p:nvSpPr>
          <p:cNvPr id="3" name="Subtitle 2"/>
          <p:cNvSpPr>
            <a:spLocks noGrp="1"/>
          </p:cNvSpPr>
          <p:nvPr>
            <p:ph type="subTitle" idx="1"/>
          </p:nvPr>
        </p:nvSpPr>
        <p:spPr>
          <a:xfrm>
            <a:off x="1028020" y="3598339"/>
            <a:ext cx="7080026" cy="1049867"/>
          </a:xfrm>
        </p:spPr>
        <p:txBody>
          <a:bodyPr anchor="t"/>
          <a:lstStyle>
            <a:lvl1pPr marL="0" indent="0" algn="ctr">
              <a:buNone/>
              <a:defRPr>
                <a:solidFill>
                  <a:schemeClr val="tx1"/>
                </a:solidFill>
              </a:defRPr>
            </a:lvl1pPr>
            <a:lvl2pPr marL="457115" indent="0" algn="ctr">
              <a:buNone/>
              <a:defRPr>
                <a:solidFill>
                  <a:schemeClr val="tx1">
                    <a:tint val="75000"/>
                  </a:schemeClr>
                </a:solidFill>
              </a:defRPr>
            </a:lvl2pPr>
            <a:lvl3pPr marL="914232" indent="0" algn="ctr">
              <a:buNone/>
              <a:defRPr>
                <a:solidFill>
                  <a:schemeClr val="tx1">
                    <a:tint val="75000"/>
                  </a:schemeClr>
                </a:solidFill>
              </a:defRPr>
            </a:lvl3pPr>
            <a:lvl4pPr marL="1371347" indent="0" algn="ctr">
              <a:buNone/>
              <a:defRPr>
                <a:solidFill>
                  <a:schemeClr val="tx1">
                    <a:tint val="75000"/>
                  </a:schemeClr>
                </a:solidFill>
              </a:defRPr>
            </a:lvl4pPr>
            <a:lvl5pPr marL="1828461" indent="0" algn="ctr">
              <a:buNone/>
              <a:defRPr>
                <a:solidFill>
                  <a:schemeClr val="tx1">
                    <a:tint val="75000"/>
                  </a:schemeClr>
                </a:solidFill>
              </a:defRPr>
            </a:lvl5pPr>
            <a:lvl6pPr marL="2285578" indent="0" algn="ctr">
              <a:buNone/>
              <a:defRPr>
                <a:solidFill>
                  <a:schemeClr val="tx1">
                    <a:tint val="75000"/>
                  </a:schemeClr>
                </a:solidFill>
              </a:defRPr>
            </a:lvl6pPr>
            <a:lvl7pPr marL="2742693" indent="0" algn="ctr">
              <a:buNone/>
              <a:defRPr>
                <a:solidFill>
                  <a:schemeClr val="tx1">
                    <a:tint val="75000"/>
                  </a:schemeClr>
                </a:solidFill>
              </a:defRPr>
            </a:lvl7pPr>
            <a:lvl8pPr marL="3199808" indent="0" algn="ctr">
              <a:buNone/>
              <a:defRPr>
                <a:solidFill>
                  <a:schemeClr val="tx1">
                    <a:tint val="75000"/>
                  </a:schemeClr>
                </a:solidFill>
              </a:defRPr>
            </a:lvl8pPr>
            <a:lvl9pPr marL="3656923"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568043978"/>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0019869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71553" y="1761072"/>
            <a:ext cx="7192913" cy="1828813"/>
          </a:xfrm>
        </p:spPr>
        <p:txBody>
          <a:bodyPr anchor="b"/>
          <a:lstStyle>
            <a:lvl1pPr algn="ctr">
              <a:defRPr sz="3999" b="0" cap="none"/>
            </a:lvl1pPr>
          </a:lstStyle>
          <a:p>
            <a:r>
              <a:rPr lang="en-US"/>
              <a:t>Click to edit Master title style</a:t>
            </a:r>
            <a:endParaRPr lang="en-US" dirty="0"/>
          </a:p>
        </p:txBody>
      </p:sp>
      <p:sp>
        <p:nvSpPr>
          <p:cNvPr id="3" name="Text Placeholder 2"/>
          <p:cNvSpPr>
            <a:spLocks noGrp="1"/>
          </p:cNvSpPr>
          <p:nvPr>
            <p:ph type="body" idx="1"/>
          </p:nvPr>
        </p:nvSpPr>
        <p:spPr>
          <a:xfrm>
            <a:off x="971553" y="3589879"/>
            <a:ext cx="7192913" cy="1507054"/>
          </a:xfrm>
        </p:spPr>
        <p:txBody>
          <a:bodyPr anchor="t"/>
          <a:lstStyle>
            <a:lvl1pPr marL="0" indent="0" algn="ctr">
              <a:buNone/>
              <a:defRPr sz="2000">
                <a:solidFill>
                  <a:schemeClr val="tx1"/>
                </a:solidFill>
              </a:defRPr>
            </a:lvl1pPr>
            <a:lvl2pPr marL="457115" indent="0">
              <a:buNone/>
              <a:defRPr sz="1800">
                <a:solidFill>
                  <a:schemeClr val="tx1">
                    <a:tint val="75000"/>
                  </a:schemeClr>
                </a:solidFill>
              </a:defRPr>
            </a:lvl2pPr>
            <a:lvl3pPr marL="914232" indent="0">
              <a:buNone/>
              <a:defRPr sz="1600">
                <a:solidFill>
                  <a:schemeClr val="tx1">
                    <a:tint val="75000"/>
                  </a:schemeClr>
                </a:solidFill>
              </a:defRPr>
            </a:lvl3pPr>
            <a:lvl4pPr marL="1371347" indent="0">
              <a:buNone/>
              <a:defRPr sz="1400">
                <a:solidFill>
                  <a:schemeClr val="tx1">
                    <a:tint val="75000"/>
                  </a:schemeClr>
                </a:solidFill>
              </a:defRPr>
            </a:lvl4pPr>
            <a:lvl5pPr marL="1828461" indent="0">
              <a:buNone/>
              <a:defRPr sz="1400">
                <a:solidFill>
                  <a:schemeClr val="tx1">
                    <a:tint val="75000"/>
                  </a:schemeClr>
                </a:solidFill>
              </a:defRPr>
            </a:lvl5pPr>
            <a:lvl6pPr marL="2285578" indent="0">
              <a:buNone/>
              <a:defRPr sz="1400">
                <a:solidFill>
                  <a:schemeClr val="tx1">
                    <a:tint val="75000"/>
                  </a:schemeClr>
                </a:solidFill>
              </a:defRPr>
            </a:lvl6pPr>
            <a:lvl7pPr marL="2742693" indent="0">
              <a:buNone/>
              <a:defRPr sz="1400">
                <a:solidFill>
                  <a:schemeClr val="tx1">
                    <a:tint val="75000"/>
                  </a:schemeClr>
                </a:solidFill>
              </a:defRPr>
            </a:lvl7pPr>
            <a:lvl8pPr marL="3199808" indent="0">
              <a:buNone/>
              <a:defRPr sz="1400">
                <a:solidFill>
                  <a:schemeClr val="tx1">
                    <a:tint val="75000"/>
                  </a:schemeClr>
                </a:solidFill>
              </a:defRPr>
            </a:lvl8pPr>
            <a:lvl9pPr marL="365692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9785758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349" y="1732449"/>
            <a:ext cx="3795373"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52171" y="1732454"/>
            <a:ext cx="3798499"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8743338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5347" y="1770325"/>
            <a:ext cx="3787423" cy="4112953"/>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63247" y="1770325"/>
            <a:ext cx="3787423" cy="4112953"/>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754404" y="1835254"/>
            <a:ext cx="3657258" cy="544884"/>
          </a:xfrm>
        </p:spPr>
        <p:txBody>
          <a:bodyPr anchor="b">
            <a:noAutofit/>
          </a:bodyPr>
          <a:lstStyle>
            <a:lvl1pPr marL="0" indent="0" algn="ctr">
              <a:buNone/>
              <a:defRPr sz="2400" b="0"/>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4" name="Content Placeholder 3"/>
          <p:cNvSpPr>
            <a:spLocks noGrp="1"/>
          </p:cNvSpPr>
          <p:nvPr>
            <p:ph sz="half" idx="2"/>
          </p:nvPr>
        </p:nvSpPr>
        <p:spPr>
          <a:xfrm>
            <a:off x="754404" y="2380142"/>
            <a:ext cx="3657258"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21226" y="1835259"/>
            <a:ext cx="3671498" cy="544883"/>
          </a:xfrm>
        </p:spPr>
        <p:txBody>
          <a:bodyPr anchor="b">
            <a:noAutofit/>
          </a:bodyPr>
          <a:lstStyle>
            <a:lvl1pPr marL="0" indent="0" algn="ctr">
              <a:buNone/>
              <a:defRPr sz="2400" b="0"/>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721226" y="2380142"/>
            <a:ext cx="3671498"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2953209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62148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04967135"/>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349" y="609600"/>
            <a:ext cx="2780167"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3641726" y="609600"/>
            <a:ext cx="4808943"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349" y="2431522"/>
            <a:ext cx="2780167" cy="3359681"/>
          </a:xfrm>
        </p:spPr>
        <p:txBody>
          <a:bodyPr anchor="t">
            <a:normAutofit/>
          </a:bodyPr>
          <a:lstStyle>
            <a:lvl1pPr marL="0" indent="0" algn="ctr">
              <a:buNone/>
              <a:defRPr sz="16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189860445"/>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44988" y="609923"/>
            <a:ext cx="3428146" cy="5205472"/>
          </a:xfrm>
          <a:prstGeom prst="rect">
            <a:avLst/>
          </a:prstGeom>
        </p:spPr>
      </p:pic>
      <p:sp>
        <p:nvSpPr>
          <p:cNvPr id="2" name="Title 1"/>
          <p:cNvSpPr>
            <a:spLocks noGrp="1"/>
          </p:cNvSpPr>
          <p:nvPr>
            <p:ph type="title"/>
          </p:nvPr>
        </p:nvSpPr>
        <p:spPr>
          <a:xfrm>
            <a:off x="685347" y="609923"/>
            <a:ext cx="3924676" cy="1829338"/>
          </a:xfrm>
        </p:spPr>
        <p:txBody>
          <a:bodyPr anchor="b">
            <a:noAutofit/>
          </a:bodyPr>
          <a:lstStyle>
            <a:lvl1pPr algn="ctr">
              <a:defRPr sz="3199"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4976729" y="743989"/>
            <a:ext cx="3165375" cy="4912822"/>
          </a:xfr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347" y="2439261"/>
            <a:ext cx="3924676" cy="3376134"/>
          </a:xfrm>
        </p:spPr>
        <p:txBody>
          <a:bodyPr anchor="t">
            <a:normAutofit/>
          </a:bodyPr>
          <a:lstStyle>
            <a:lvl1pPr marL="0" indent="0" algn="ctr">
              <a:buNone/>
              <a:defRPr sz="16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075213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3997" y="540085"/>
            <a:ext cx="7656010" cy="3834374"/>
          </a:xfrm>
          <a:prstGeom prst="rect">
            <a:avLst/>
          </a:prstGeom>
        </p:spPr>
      </p:pic>
      <p:sp>
        <p:nvSpPr>
          <p:cNvPr id="2" name="Title 1"/>
          <p:cNvSpPr>
            <a:spLocks noGrp="1"/>
          </p:cNvSpPr>
          <p:nvPr>
            <p:ph type="title"/>
          </p:nvPr>
        </p:nvSpPr>
        <p:spPr>
          <a:xfrm>
            <a:off x="685356" y="4565255"/>
            <a:ext cx="7766495"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926217" y="695014"/>
            <a:ext cx="7285600" cy="3525671"/>
          </a:xfrm>
          <a:effectLst>
            <a:outerShdw blurRad="38100" dist="25400" dir="4440000">
              <a:srgbClr val="000000">
                <a:alpha val="36000"/>
              </a:srgbClr>
            </a:outerShdw>
          </a:effectLst>
        </p:spPr>
        <p:txBody>
          <a:bodyPr anchor="t">
            <a:normAutofit/>
          </a:bodyPr>
          <a:lstStyle>
            <a:lvl1pPr marL="0" indent="0" algn="ctr">
              <a:buNone/>
              <a:defRPr sz="2000"/>
            </a:lvl1pPr>
            <a:lvl2pPr marL="457115" indent="0">
              <a:buNone/>
              <a:defRPr sz="2000"/>
            </a:lvl2pPr>
            <a:lvl3pPr marL="914232" indent="0">
              <a:buNone/>
              <a:defRPr sz="2000"/>
            </a:lvl3pPr>
            <a:lvl4pPr marL="1371347" indent="0">
              <a:buNone/>
              <a:defRPr sz="2000"/>
            </a:lvl4pPr>
            <a:lvl5pPr marL="1828461" indent="0">
              <a:buNone/>
              <a:defRPr sz="2000"/>
            </a:lvl5pPr>
            <a:lvl6pPr marL="2285578" indent="0">
              <a:buNone/>
              <a:defRPr sz="2000"/>
            </a:lvl6pPr>
            <a:lvl7pPr marL="2742693" indent="0">
              <a:buNone/>
              <a:defRPr sz="2000"/>
            </a:lvl7pPr>
            <a:lvl8pPr marL="3199808" indent="0">
              <a:buNone/>
              <a:defRPr sz="2000"/>
            </a:lvl8pPr>
            <a:lvl9pPr marL="3656923"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348" y="5108728"/>
            <a:ext cx="7765322" cy="682472"/>
          </a:xfrm>
        </p:spPr>
        <p:txBody>
          <a:bodyPr anchor="t"/>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221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5348" y="608437"/>
            <a:ext cx="7765322" cy="3534344"/>
          </a:xfrm>
        </p:spPr>
        <p:txBody>
          <a:bodyPr anchor="ctr"/>
          <a:lstStyle>
            <a:lvl1pPr>
              <a:defRPr sz="3199"/>
            </a:lvl1pPr>
          </a:lstStyle>
          <a:p>
            <a:r>
              <a:rPr lang="en-US"/>
              <a:t>Click to edit Master title style</a:t>
            </a:r>
            <a:endParaRPr lang="en-US" dirty="0"/>
          </a:p>
        </p:txBody>
      </p:sp>
      <p:sp>
        <p:nvSpPr>
          <p:cNvPr id="4" name="Text Placeholder 3"/>
          <p:cNvSpPr>
            <a:spLocks noGrp="1"/>
          </p:cNvSpPr>
          <p:nvPr>
            <p:ph type="body" sz="half" idx="2"/>
          </p:nvPr>
        </p:nvSpPr>
        <p:spPr>
          <a:xfrm>
            <a:off x="685348" y="4295180"/>
            <a:ext cx="7765322" cy="1501826"/>
          </a:xfrm>
        </p:spPr>
        <p:txBody>
          <a:bodyPr anchor="ctr"/>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7612557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4659" y="609600"/>
            <a:ext cx="6977064" cy="2992904"/>
          </a:xfrm>
        </p:spPr>
        <p:txBody>
          <a:bodyPr anchor="ctr"/>
          <a:lstStyle>
            <a:lvl1pPr>
              <a:defRPr sz="3199"/>
            </a:lvl1pPr>
          </a:lstStyle>
          <a:p>
            <a:r>
              <a:rPr lang="en-US"/>
              <a:t>Click to edit Master title style</a:t>
            </a:r>
            <a:endParaRPr lang="en-US" dirty="0"/>
          </a:p>
        </p:txBody>
      </p:sp>
      <p:sp>
        <p:nvSpPr>
          <p:cNvPr id="12" name="Text Placeholder 3"/>
          <p:cNvSpPr>
            <a:spLocks noGrp="1"/>
          </p:cNvSpPr>
          <p:nvPr>
            <p:ph type="body" sz="half" idx="13"/>
          </p:nvPr>
        </p:nvSpPr>
        <p:spPr>
          <a:xfrm>
            <a:off x="1290484" y="3610037"/>
            <a:ext cx="6564224" cy="532749"/>
          </a:xfrm>
        </p:spPr>
        <p:txBody>
          <a:bodyPr anchor="t">
            <a:normAutofit/>
          </a:bodyPr>
          <a:lstStyle>
            <a:lvl1pPr marL="0" indent="0" algn="r">
              <a:buNone/>
              <a:defRPr sz="14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5348" y="4304353"/>
            <a:ext cx="7765322" cy="1489496"/>
          </a:xfrm>
        </p:spPr>
        <p:txBody>
          <a:bodyPr anchor="ctr">
            <a:normAutofit/>
          </a:bodyPr>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627459" y="873912"/>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998" dirty="0">
                <a:solidFill>
                  <a:schemeClr val="tx1"/>
                </a:solidFill>
                <a:effectLst/>
              </a:rPr>
              <a:t>“</a:t>
            </a:r>
          </a:p>
        </p:txBody>
      </p:sp>
      <p:sp>
        <p:nvSpPr>
          <p:cNvPr id="13" name="TextBox 12"/>
          <p:cNvSpPr txBox="1"/>
          <p:nvPr/>
        </p:nvSpPr>
        <p:spPr>
          <a:xfrm>
            <a:off x="7828359" y="2933245"/>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Tree>
    <p:extLst>
      <p:ext uri="{BB962C8B-B14F-4D97-AF65-F5344CB8AC3E}">
        <p14:creationId xmlns:p14="http://schemas.microsoft.com/office/powerpoint/2010/main" val="33095106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5348" y="2126947"/>
            <a:ext cx="7765322" cy="2511835"/>
          </a:xfrm>
        </p:spPr>
        <p:txBody>
          <a:bodyPr anchor="b"/>
          <a:lstStyle>
            <a:lvl1pPr>
              <a:defRPr sz="3199"/>
            </a:lvl1pPr>
          </a:lstStyle>
          <a:p>
            <a:r>
              <a:rPr lang="en-US"/>
              <a:t>Click to edit Master title style</a:t>
            </a:r>
            <a:endParaRPr lang="en-US" dirty="0"/>
          </a:p>
        </p:txBody>
      </p:sp>
      <p:sp>
        <p:nvSpPr>
          <p:cNvPr id="4" name="Text Placeholder 3"/>
          <p:cNvSpPr>
            <a:spLocks noGrp="1"/>
          </p:cNvSpPr>
          <p:nvPr>
            <p:ph type="body" sz="half" idx="2"/>
          </p:nvPr>
        </p:nvSpPr>
        <p:spPr>
          <a:xfrm>
            <a:off x="685341" y="4650556"/>
            <a:ext cx="7764149" cy="1140644"/>
          </a:xfrm>
        </p:spPr>
        <p:txBody>
          <a:bodyPr anchor="t"/>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7999785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685348" y="609600"/>
            <a:ext cx="776532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346"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5346"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335033"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331076"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5974929"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5974929"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2911341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9241" y="1826045"/>
            <a:ext cx="2529046" cy="183355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93814" y="1826045"/>
            <a:ext cx="2529046" cy="183355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21715" y="1826045"/>
            <a:ext cx="2529046" cy="1833558"/>
          </a:xfrm>
          <a:prstGeom prst="rect">
            <a:avLst/>
          </a:prstGeom>
        </p:spPr>
      </p:pic>
      <p:sp>
        <p:nvSpPr>
          <p:cNvPr id="30" name="Title 1"/>
          <p:cNvSpPr>
            <a:spLocks noGrp="1"/>
          </p:cNvSpPr>
          <p:nvPr>
            <p:ph type="title"/>
          </p:nvPr>
        </p:nvSpPr>
        <p:spPr>
          <a:xfrm>
            <a:off x="685348" y="609600"/>
            <a:ext cx="7765322"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5346"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763577" y="1938918"/>
            <a:ext cx="2319276"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5346" y="4480373"/>
            <a:ext cx="2475738" cy="1310833"/>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332091"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409307" y="1939094"/>
            <a:ext cx="2319276"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3331077" y="4480372"/>
            <a:ext cx="2476753" cy="1310833"/>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5975023"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6056774" y="1934432"/>
            <a:ext cx="2319276"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5974929" y="4480369"/>
            <a:ext cx="2475738" cy="1310835"/>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8728396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1818058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37304" y="609604"/>
            <a:ext cx="1713365"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685347" y="609604"/>
            <a:ext cx="5937654"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88254677"/>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348" y="609600"/>
            <a:ext cx="776532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348" y="1732454"/>
            <a:ext cx="776532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759052" y="5883279"/>
            <a:ext cx="20574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9/29/2026</a:t>
            </a:fld>
            <a:endParaRPr lang="en-US"/>
          </a:p>
        </p:txBody>
      </p:sp>
      <p:sp>
        <p:nvSpPr>
          <p:cNvPr id="5" name="Footer Placeholder 4"/>
          <p:cNvSpPr>
            <a:spLocks noGrp="1"/>
          </p:cNvSpPr>
          <p:nvPr>
            <p:ph type="ftr" sz="quarter" idx="3"/>
          </p:nvPr>
        </p:nvSpPr>
        <p:spPr>
          <a:xfrm>
            <a:off x="685349" y="5883279"/>
            <a:ext cx="5004649"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7885511" y="5883279"/>
            <a:ext cx="565159"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36976305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115" rtl="0" eaLnBrk="1" latinLnBrk="0" hangingPunct="1">
        <a:spcBef>
          <a:spcPct val="0"/>
        </a:spcBef>
        <a:buNone/>
        <a:defRPr sz="3999"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837" indent="-305943" algn="l" defTabSz="457115"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19867" indent="-269951" algn="l" defTabSz="457115"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5810" indent="-215960" algn="l" defTabSz="457115"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5744" indent="-215960"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3690" indent="-215960"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228"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356"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8485"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5625"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115" rtl="0" eaLnBrk="1" latinLnBrk="0" hangingPunct="1">
        <a:defRPr sz="1800" kern="1200">
          <a:solidFill>
            <a:schemeClr val="tx1"/>
          </a:solidFill>
          <a:latin typeface="+mn-lt"/>
          <a:ea typeface="+mn-ea"/>
          <a:cs typeface="+mn-cs"/>
        </a:defRPr>
      </a:lvl1pPr>
      <a:lvl2pPr marL="457115" algn="l" defTabSz="457115" rtl="0" eaLnBrk="1" latinLnBrk="0" hangingPunct="1">
        <a:defRPr sz="1800" kern="1200">
          <a:solidFill>
            <a:schemeClr val="tx1"/>
          </a:solidFill>
          <a:latin typeface="+mn-lt"/>
          <a:ea typeface="+mn-ea"/>
          <a:cs typeface="+mn-cs"/>
        </a:defRPr>
      </a:lvl2pPr>
      <a:lvl3pPr marL="914232" algn="l" defTabSz="457115" rtl="0" eaLnBrk="1" latinLnBrk="0" hangingPunct="1">
        <a:defRPr sz="1800" kern="1200">
          <a:solidFill>
            <a:schemeClr val="tx1"/>
          </a:solidFill>
          <a:latin typeface="+mn-lt"/>
          <a:ea typeface="+mn-ea"/>
          <a:cs typeface="+mn-cs"/>
        </a:defRPr>
      </a:lvl3pPr>
      <a:lvl4pPr marL="1371347" algn="l" defTabSz="457115" rtl="0" eaLnBrk="1" latinLnBrk="0" hangingPunct="1">
        <a:defRPr sz="1800" kern="1200">
          <a:solidFill>
            <a:schemeClr val="tx1"/>
          </a:solidFill>
          <a:latin typeface="+mn-lt"/>
          <a:ea typeface="+mn-ea"/>
          <a:cs typeface="+mn-cs"/>
        </a:defRPr>
      </a:lvl4pPr>
      <a:lvl5pPr marL="1828461" algn="l" defTabSz="457115" rtl="0" eaLnBrk="1" latinLnBrk="0" hangingPunct="1">
        <a:defRPr sz="1800" kern="1200">
          <a:solidFill>
            <a:schemeClr val="tx1"/>
          </a:solidFill>
          <a:latin typeface="+mn-lt"/>
          <a:ea typeface="+mn-ea"/>
          <a:cs typeface="+mn-cs"/>
        </a:defRPr>
      </a:lvl5pPr>
      <a:lvl6pPr marL="2285578" algn="l" defTabSz="457115" rtl="0" eaLnBrk="1" latinLnBrk="0" hangingPunct="1">
        <a:defRPr sz="1800" kern="1200">
          <a:solidFill>
            <a:schemeClr val="tx1"/>
          </a:solidFill>
          <a:latin typeface="+mn-lt"/>
          <a:ea typeface="+mn-ea"/>
          <a:cs typeface="+mn-cs"/>
        </a:defRPr>
      </a:lvl6pPr>
      <a:lvl7pPr marL="2742693" algn="l" defTabSz="457115" rtl="0" eaLnBrk="1" latinLnBrk="0" hangingPunct="1">
        <a:defRPr sz="1800" kern="1200">
          <a:solidFill>
            <a:schemeClr val="tx1"/>
          </a:solidFill>
          <a:latin typeface="+mn-lt"/>
          <a:ea typeface="+mn-ea"/>
          <a:cs typeface="+mn-cs"/>
        </a:defRPr>
      </a:lvl7pPr>
      <a:lvl8pPr marL="3199808" algn="l" defTabSz="457115" rtl="0" eaLnBrk="1" latinLnBrk="0" hangingPunct="1">
        <a:defRPr sz="1800" kern="1200">
          <a:solidFill>
            <a:schemeClr val="tx1"/>
          </a:solidFill>
          <a:latin typeface="+mn-lt"/>
          <a:ea typeface="+mn-ea"/>
          <a:cs typeface="+mn-cs"/>
        </a:defRPr>
      </a:lvl8pPr>
      <a:lvl9pPr marL="3656923" algn="l" defTabSz="457115"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chart" Target="../charts/chart1.xml"/><Relationship Id="rId10" Type="http://schemas.openxmlformats.org/officeDocument/2006/relationships/chart" Target="../charts/chart2.xml"/><Relationship Id="rId11" Type="http://schemas.openxmlformats.org/officeDocument/2006/relationships/chart" Target="../charts/char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08030-E1B7-829F-70FB-178823E4C9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392E4D3-D69F-BBA0-6A77-133AC82E5870}"/>
              </a:ext>
            </a:extLst>
          </p:cNvPr>
          <p:cNvSpPr txBox="1"/>
          <p:nvPr/>
        </p:nvSpPr>
        <p:spPr>
          <a:xfrm>
            <a:off x="97703" y="57748"/>
            <a:ext cx="8945330" cy="638843"/>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86373" tIns="43187" rIns="86373" bIns="43187" rtlCol="0" anchor="t" anchorCtr="0">
            <a:spAutoFit/>
          </a:bodyPr>
          <a:lstStyle/>
          <a:p>
            <a:pPr algn="ctr" defTabSz="431785"/>
          </a:p>
        </p:txBody>
      </p:sp>
      <p:pic>
        <p:nvPicPr>
          <p:cNvPr id="77" name="Picture 76">
            <a:extLst>
              <a:ext uri="{FF2B5EF4-FFF2-40B4-BE49-F238E27FC236}">
                <a16:creationId xmlns:a16="http://schemas.microsoft.com/office/drawing/2014/main" id="{FBFBAC90-C707-3C09-BB31-DD613E19AE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5174" y="162921"/>
            <a:ext cx="1008380" cy="293111"/>
          </a:xfrm>
          <a:prstGeom prst="rect">
            <a:avLst/>
          </a:prstGeom>
        </p:spPr>
      </p:pic>
      <p:sp>
        <p:nvSpPr>
          <p:cNvPr id="305" name="TextBox 304">
            <a:extLst>
              <a:ext uri="{FF2B5EF4-FFF2-40B4-BE49-F238E27FC236}">
                <a16:creationId xmlns:a16="http://schemas.microsoft.com/office/drawing/2014/main" id="{85C62487-59C5-8FF4-A5EA-9480F11E6F4C}"/>
              </a:ext>
            </a:extLst>
          </p:cNvPr>
          <p:cNvSpPr txBox="1"/>
          <p:nvPr/>
        </p:nvSpPr>
        <p:spPr>
          <a:xfrm>
            <a:off x="2318494" y="726150"/>
            <a:ext cx="4735327" cy="6015701"/>
          </a:xfrm>
          <a:prstGeom prst="rect">
            <a:avLst/>
          </a:prstGeom>
          <a:solidFill>
            <a:srgbClr val="FFFFFF"/>
          </a:solidFill>
          <a:ln cap="rnd">
            <a:solidFill>
              <a:schemeClr val="bg1"/>
            </a:solidFill>
          </a:ln>
        </p:spPr>
        <p:txBody>
          <a:bodyPr wrap="square" lIns="38100" rIns="38100" rtlCol="0">
            <a:noAutofit/>
          </a:bodyPr>
          <a:lstStyle/>
          <a:p>
            <a:pPr algn="just" defTabSz="431785"/>
            <a:endParaRPr lang="en-US" sz="375" dirty="0">
              <a:solidFill>
                <a:prstClr val="black"/>
              </a:solidFill>
              <a:latin typeface="Times New Roman"/>
              <a:cs typeface="Times New Roman"/>
            </a:endParaRPr>
          </a:p>
        </p:txBody>
      </p:sp>
      <p:pic>
        <p:nvPicPr>
          <p:cNvPr id="19" name="Picture 18">
            <a:extLst>
              <a:ext uri="{FF2B5EF4-FFF2-40B4-BE49-F238E27FC236}">
                <a16:creationId xmlns:a16="http://schemas.microsoft.com/office/drawing/2014/main" id="{DE19CA0B-FA23-2B29-17D2-A15AD6D1D4D3}"/>
              </a:ext>
            </a:extLst>
          </p:cNvPr>
          <p:cNvPicPr>
            <a:picLocks noChangeAspect="1"/>
          </p:cNvPicPr>
          <p:nvPr/>
        </p:nvPicPr>
        <p:blipFill>
          <a:blip r:embed="rId4"/>
          <a:stretch>
            <a:fillRect/>
          </a:stretch>
        </p:blipFill>
        <p:spPr>
          <a:xfrm>
            <a:off x="7125919" y="5788152"/>
            <a:ext cx="914400" cy="914400"/>
          </a:xfrm>
          <a:prstGeom prst="rect">
            <a:avLst/>
          </a:prstGeom>
        </p:spPr>
      </p:pic>
      <p:sp>
        <p:nvSpPr>
          <p:cNvPr id="306" name="TextBox 305"/>
          <p:cNvSpPr txBox="1"/>
          <p:nvPr/>
        </p:nvSpPr>
        <p:spPr>
          <a:xfrm>
            <a:off x="1280160" y="68580"/>
            <a:ext cx="7726679" cy="617220"/>
          </a:xfrm>
          <a:prstGeom prst="rect">
            <a:avLst/>
          </a:prstGeom>
          <a:noFill/>
        </p:spPr>
        <p:txBody>
          <a:bodyPr wrap="square" anchor="ctr" lIns="27432" rIns="27432" tIns="13716" bIns="13716">
            <a:spAutoFit/>
          </a:bodyPr>
          <a:lstStyle/>
          <a:p>
            <a:pPr algn="ctr">
              <a:spcAft>
                <a:spcPts val="150"/>
              </a:spcAft>
            </a:pPr>
            <a:r>
              <a:rPr sz="1000" b="1" i="0">
                <a:solidFill>
                  <a:srgbClr val="111827"/>
                </a:solidFill>
                <a:latin typeface="Times New Roman"/>
              </a:rPr>
              <a:t>PSYCHOSOCIAL OUTCOMES AND COPING MECHANISMS AMONG WOMEN WITH PREMENSTRUAL DYSPHORIC DISORDER: A GLOBAL SCOPING REVIEW</a:t>
            </a:r>
          </a:p>
          <a:p>
            <a:pPr algn="ctr">
              <a:spcAft>
                <a:spcPts val="0"/>
              </a:spcAft>
            </a:pPr>
            <a:r>
              <a:rPr sz="790" b="0" i="0">
                <a:solidFill>
                  <a:srgbClr val="111827"/>
                </a:solidFill>
                <a:latin typeface="Times New Roman"/>
              </a:rPr>
              <a:t>Ifeoluwanimi P. Shobayo, MSPH, Chelsea R. Mazonde, MPH, Marylyn O. Oduneye, MSPH, Tahirou Diallo, MSPH, Fadzai G. Nyarugwe, MSPH, Cynthia C. Ilechukwu, MSPH</a:t>
            </a:r>
          </a:p>
        </p:txBody>
      </p:sp>
      <p:sp>
        <p:nvSpPr>
          <p:cNvPr id="307" name="Rectangle 306"/>
          <p:cNvSpPr/>
          <p:nvPr/>
        </p:nvSpPr>
        <p:spPr>
          <a:xfrm>
            <a:off x="97840" y="737006"/>
            <a:ext cx="202722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Abstract</a:t>
            </a:r>
          </a:p>
        </p:txBody>
      </p:sp>
      <p:sp>
        <p:nvSpPr>
          <p:cNvPr id="308" name="Rectangle 307"/>
          <p:cNvSpPr/>
          <p:nvPr/>
        </p:nvSpPr>
        <p:spPr>
          <a:xfrm>
            <a:off x="97840" y="941832"/>
            <a:ext cx="2027224" cy="13898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20"/>
              </a:spcAft>
            </a:pPr>
            <a:r>
              <a:rPr sz="425" b="1" i="0">
                <a:solidFill>
                  <a:srgbClr val="111827"/>
                </a:solidFill>
                <a:latin typeface="Times New Roman"/>
              </a:rPr>
              <a:t>Background: </a:t>
            </a:r>
            <a:r>
              <a:rPr sz="425" b="0" i="0">
                <a:solidFill>
                  <a:srgbClr val="111827"/>
                </a:solidFill>
                <a:latin typeface="Times New Roman"/>
              </a:rPr>
              <a:t>Premenstrual dysphoric disorder (PMDD) is a DSM-5 depressive disorder affecting an estimated 1.6% of women and girls (~31 million) worldwide.¹ This scoping review mapped psychosocial outcomes and coping mechanisms among women with PMDD and the geographic distribution of the evidence.</a:t>
            </a:r>
          </a:p>
          <a:p>
            <a:pPr algn="just">
              <a:spcAft>
                <a:spcPts val="120"/>
              </a:spcAft>
            </a:pPr>
            <a:r>
              <a:rPr sz="425" b="1" i="0">
                <a:solidFill>
                  <a:srgbClr val="111827"/>
                </a:solidFill>
                <a:latin typeface="Times New Roman"/>
              </a:rPr>
              <a:t>Methods: </a:t>
            </a:r>
            <a:r>
              <a:rPr sz="425" b="0" i="0">
                <a:solidFill>
                  <a:srgbClr val="111827"/>
                </a:solidFill>
                <a:latin typeface="Times New Roman"/>
              </a:rPr>
              <a:t>Following Arksey and O’Malley’s framework and PRISMA-ScR, records from CINAHL, APA PsycInfo, APA PsycArticles, MEDLINE, Women’s Studies International, PubMed and the Cochrane Library (2010–2025) were screened. Eligible peer-reviewed empirical or qualitative studies had PMDD as the population and a psychosocial outcome or coping mechanism as a primary aim.</a:t>
            </a:r>
          </a:p>
          <a:p>
            <a:pPr algn="just">
              <a:spcAft>
                <a:spcPts val="120"/>
              </a:spcAft>
            </a:pPr>
            <a:r>
              <a:rPr sz="425" b="1" i="0">
                <a:solidFill>
                  <a:srgbClr val="111827"/>
                </a:solidFill>
                <a:latin typeface="Times New Roman"/>
              </a:rPr>
              <a:t>Results: </a:t>
            </a:r>
            <a:r>
              <a:rPr sz="425" b="0" i="0">
                <a:solidFill>
                  <a:srgbClr val="111827"/>
                </a:solidFill>
                <a:latin typeface="Times New Roman"/>
              </a:rPr>
              <a:t>Of 1,801 records, 342 were duplicates; 1,459 were screened and 85 studies were included. Most studied were depression (n=28), mood and emotion regulation (n=18), psychiatric comorbidity (n=18), psychological distress (n=16) and suicidal ideation or self-harm (n=13); only 7 studies examined coping. Two-thirds (67%) came from high-income countries; 3 (3.5%) came from sub-Saharan Africa (Ethiopia, n=2; Nigeria, n=1).</a:t>
            </a:r>
          </a:p>
          <a:p>
            <a:pPr algn="just">
              <a:spcAft>
                <a:spcPts val="120"/>
              </a:spcAft>
            </a:pPr>
            <a:r>
              <a:rPr sz="425" b="1" i="0">
                <a:solidFill>
                  <a:srgbClr val="111827"/>
                </a:solidFill>
                <a:latin typeface="Times New Roman"/>
              </a:rPr>
              <a:t>Conclusions: </a:t>
            </a:r>
            <a:r>
              <a:rPr sz="425" b="0" i="0">
                <a:solidFill>
                  <a:srgbClr val="111827"/>
                </a:solidFill>
                <a:latin typeface="Times New Roman"/>
              </a:rPr>
              <a:t>Evidence on the psychosocial burden of PMDD is growing but is concentrated in high-income settings, relies on provisional diagnoses and rarely addresses coping.</a:t>
            </a:r>
          </a:p>
          <a:p>
            <a:pPr algn="just">
              <a:spcAft>
                <a:spcPts val="120"/>
              </a:spcAft>
            </a:pPr>
            <a:r>
              <a:rPr sz="425" b="1" i="0">
                <a:solidFill>
                  <a:srgbClr val="111827"/>
                </a:solidFill>
                <a:latin typeface="Times New Roman"/>
              </a:rPr>
              <a:t>Keywords: </a:t>
            </a:r>
            <a:r>
              <a:rPr sz="425" b="0" i="1">
                <a:solidFill>
                  <a:srgbClr val="111827"/>
                </a:solidFill>
                <a:latin typeface="Times New Roman"/>
              </a:rPr>
              <a:t>premenstrual dysphoric disorder; psychosocial outcomes; coping mechanisms; LMICs; scoping review</a:t>
            </a:r>
          </a:p>
        </p:txBody>
      </p:sp>
      <p:sp>
        <p:nvSpPr>
          <p:cNvPr id="309" name="Rectangle 308"/>
          <p:cNvSpPr/>
          <p:nvPr/>
        </p:nvSpPr>
        <p:spPr>
          <a:xfrm>
            <a:off x="97840" y="2395728"/>
            <a:ext cx="202722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Introduction, Objective, and Research Question</a:t>
            </a:r>
          </a:p>
        </p:txBody>
      </p:sp>
      <p:sp>
        <p:nvSpPr>
          <p:cNvPr id="310" name="Rectangle 309"/>
          <p:cNvSpPr/>
          <p:nvPr/>
        </p:nvSpPr>
        <p:spPr>
          <a:xfrm>
            <a:off x="97840" y="2770632"/>
            <a:ext cx="2027224" cy="12435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80"/>
              </a:spcAft>
            </a:pPr>
            <a:r>
              <a:rPr sz="459" b="1" i="0">
                <a:solidFill>
                  <a:srgbClr val="111827"/>
                </a:solidFill>
                <a:latin typeface="Times New Roman"/>
              </a:rPr>
              <a:t>Introduction: </a:t>
            </a:r>
            <a:r>
              <a:rPr sz="459" b="0" i="0">
                <a:solidFill>
                  <a:srgbClr val="111827"/>
                </a:solidFill>
                <a:latin typeface="Times New Roman"/>
              </a:rPr>
              <a:t>PMDD is a recurring, hormone-linked mood disorder in which irritability, mood swings, depressed mood and anxiety emerge in the late luteal phase and remit after menses begin; DSM-5 classifies it as a depressive disorder.² Using prospectively confirmed diagnoses, community prevalence is about 1.6%, roughly 31 million women and girls worldwide.¹ PMDD has been linked with suicidal thoughts, strained relationships and reduced quality of life, but this evidence is scattered across disciplines, and it is unclear how women cope or where the research has been conducted.</a:t>
            </a:r>
          </a:p>
          <a:p>
            <a:pPr algn="just">
              <a:spcAft>
                <a:spcPts val="180"/>
              </a:spcAft>
            </a:pPr>
            <a:r>
              <a:rPr sz="459" b="1" i="0">
                <a:solidFill>
                  <a:srgbClr val="111827"/>
                </a:solidFill>
                <a:latin typeface="Times New Roman"/>
              </a:rPr>
              <a:t>Objective: </a:t>
            </a:r>
            <a:r>
              <a:rPr sz="459" b="0" i="0">
                <a:solidFill>
                  <a:srgbClr val="111827"/>
                </a:solidFill>
                <a:latin typeface="Times New Roman"/>
              </a:rPr>
              <a:t>To map psychosocial outcomes and coping mechanisms reported among women with PMDD and identify geographic gaps in the published literature.</a:t>
            </a:r>
          </a:p>
          <a:p>
            <a:pPr algn="just">
              <a:spcAft>
                <a:spcPts val="180"/>
              </a:spcAft>
            </a:pPr>
            <a:r>
              <a:rPr sz="459" b="1" i="0">
                <a:solidFill>
                  <a:srgbClr val="111827"/>
                </a:solidFill>
                <a:latin typeface="Times New Roman"/>
              </a:rPr>
              <a:t>Research Question: </a:t>
            </a:r>
            <a:r>
              <a:rPr sz="459" b="0" i="0">
                <a:solidFill>
                  <a:srgbClr val="111827"/>
                </a:solidFill>
                <a:latin typeface="Times New Roman"/>
              </a:rPr>
              <a:t>What psychosocial outcomes and coping mechanisms have been reported in studies of women with PMDD published between 2010 and 2025, and how are these studies distributed across geographic settings?</a:t>
            </a:r>
          </a:p>
        </p:txBody>
      </p:sp>
      <p:sp>
        <p:nvSpPr>
          <p:cNvPr id="311" name="Rectangle 310"/>
          <p:cNvSpPr/>
          <p:nvPr/>
        </p:nvSpPr>
        <p:spPr>
          <a:xfrm>
            <a:off x="97840" y="4078224"/>
            <a:ext cx="202722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Methods</a:t>
            </a:r>
          </a:p>
        </p:txBody>
      </p:sp>
      <p:graphicFrame>
        <p:nvGraphicFramePr>
          <p:cNvPr id="312" name="Table 311"/>
          <p:cNvGraphicFramePr>
            <a:graphicFrameLocks noGrp="1"/>
          </p:cNvGraphicFramePr>
          <p:nvPr/>
        </p:nvGraphicFramePr>
        <p:xfrm>
          <a:off x="97840" y="4288536"/>
          <a:ext cx="2027224" cy="2441446"/>
        </p:xfrm>
        <a:graphic>
          <a:graphicData uri="http://schemas.openxmlformats.org/drawingml/2006/table">
            <a:tbl>
              <a:tblPr firstRow="1" bandRow="0">
                <a:tableStyleId>{5C22544A-7EE6-4342-B048-85BDC9FD1C3A}</a:tableStyleId>
              </a:tblPr>
              <a:tblGrid>
                <a:gridCol w="566928"/>
                <a:gridCol w="1460296"/>
              </a:tblGrid>
              <a:tr h="128016">
                <a:tc>
                  <a:txBody>
                    <a:bodyPr/>
                    <a:lstStyle/>
                    <a:p>
                      <a:r>
                        <a:rPr sz="430" b="1">
                          <a:solidFill>
                            <a:srgbClr val="111827"/>
                          </a:solidFill>
                          <a:latin typeface="Times New Roman"/>
                        </a:rPr>
                        <a:t>Category</a:t>
                      </a:r>
                    </a:p>
                  </a:txBody>
                  <a:tcPr anchor="ctr" marL="27432" marR="27432" marT="9144" marB="9144">
                    <a:solidFill>
                      <a:srgbClr val="D9E2F3"/>
                    </a:solidFill>
                  </a:tcPr>
                </a:tc>
                <a:tc>
                  <a:txBody>
                    <a:bodyPr/>
                    <a:lstStyle/>
                    <a:p>
                      <a:r>
                        <a:rPr sz="430" b="1">
                          <a:solidFill>
                            <a:srgbClr val="111827"/>
                          </a:solidFill>
                          <a:latin typeface="Times New Roman"/>
                        </a:rPr>
                        <a:t>Description</a:t>
                      </a:r>
                    </a:p>
                  </a:txBody>
                  <a:tcPr anchor="ctr" marL="27432" marR="27432" marT="9144" marB="9144">
                    <a:solidFill>
                      <a:srgbClr val="D9E2F3"/>
                    </a:solidFill>
                  </a:tcPr>
                </a:tc>
              </a:tr>
              <a:tr h="330490">
                <a:tc>
                  <a:txBody>
                    <a:bodyPr/>
                    <a:lstStyle/>
                    <a:p>
                      <a:r>
                        <a:rPr sz="409" b="1">
                          <a:solidFill>
                            <a:srgbClr val="111827"/>
                          </a:solidFill>
                          <a:latin typeface="Times New Roman"/>
                        </a:rPr>
                        <a:t>Study Design</a:t>
                      </a:r>
                    </a:p>
                  </a:txBody>
                  <a:tcPr anchor="ctr" marL="27432" marR="27432" marT="9144" marB="9144">
                    <a:solidFill>
                      <a:srgbClr val="EEF2F8"/>
                    </a:solidFill>
                  </a:tcPr>
                </a:tc>
                <a:tc>
                  <a:txBody>
                    <a:bodyPr/>
                    <a:lstStyle/>
                    <a:p>
                      <a:r>
                        <a:rPr sz="409" b="0">
                          <a:solidFill>
                            <a:srgbClr val="111827"/>
                          </a:solidFill>
                          <a:latin typeface="Times New Roman"/>
                        </a:rPr>
                        <a:t>Scoping review guided by Arksey and O’Malley’s framework³ and reported using PRISMA-ScR.⁴</a:t>
                      </a:r>
                    </a:p>
                  </a:txBody>
                  <a:tcPr anchor="ctr" marL="27432" marR="27432" marT="9144" marB="9144">
                    <a:solidFill>
                      <a:srgbClr val="EEF2F8"/>
                    </a:solidFill>
                  </a:tcPr>
                </a:tc>
              </a:tr>
              <a:tr h="330490">
                <a:tc>
                  <a:txBody>
                    <a:bodyPr/>
                    <a:lstStyle/>
                    <a:p>
                      <a:r>
                        <a:rPr sz="409" b="1">
                          <a:solidFill>
                            <a:srgbClr val="111827"/>
                          </a:solidFill>
                          <a:latin typeface="Times New Roman"/>
                        </a:rPr>
                        <a:t>Databases</a:t>
                      </a:r>
                    </a:p>
                  </a:txBody>
                  <a:tcPr anchor="ctr" marL="27432" marR="27432" marT="9144" marB="9144">
                    <a:solidFill>
                      <a:srgbClr val="FFFFFF"/>
                    </a:solidFill>
                  </a:tcPr>
                </a:tc>
                <a:tc>
                  <a:txBody>
                    <a:bodyPr/>
                    <a:lstStyle/>
                    <a:p>
                      <a:r>
                        <a:rPr sz="409" b="0">
                          <a:solidFill>
                            <a:srgbClr val="111827"/>
                          </a:solidFill>
                          <a:latin typeface="Times New Roman"/>
                        </a:rPr>
                        <a:t>CINAHL Ultimate, APA PsycInfo, APA PsycArticles, MEDLINE Ultimate, Women’s Studies International, PubMed/MEDLINE and Cochrane Library.</a:t>
                      </a:r>
                    </a:p>
                  </a:txBody>
                  <a:tcPr anchor="ctr" marL="27432" marR="27432" marT="9144" marB="9144">
                    <a:solidFill>
                      <a:srgbClr val="FFFFFF"/>
                    </a:solidFill>
                  </a:tcPr>
                </a:tc>
              </a:tr>
              <a:tr h="330490">
                <a:tc>
                  <a:txBody>
                    <a:bodyPr/>
                    <a:lstStyle/>
                    <a:p>
                      <a:r>
                        <a:rPr sz="409" b="1">
                          <a:solidFill>
                            <a:srgbClr val="111827"/>
                          </a:solidFill>
                          <a:latin typeface="Times New Roman"/>
                        </a:rPr>
                        <a:t>Publication Years</a:t>
                      </a:r>
                    </a:p>
                  </a:txBody>
                  <a:tcPr anchor="ctr" marL="27432" marR="27432" marT="9144" marB="9144">
                    <a:solidFill>
                      <a:srgbClr val="EEF2F8"/>
                    </a:solidFill>
                  </a:tcPr>
                </a:tc>
                <a:tc>
                  <a:txBody>
                    <a:bodyPr/>
                    <a:lstStyle/>
                    <a:p>
                      <a:r>
                        <a:rPr sz="409" b="0">
                          <a:solidFill>
                            <a:srgbClr val="111827"/>
                          </a:solidFill>
                          <a:latin typeface="Times New Roman"/>
                        </a:rPr>
                        <a:t>2010–2025; English language.</a:t>
                      </a:r>
                    </a:p>
                  </a:txBody>
                  <a:tcPr anchor="ctr" marL="27432" marR="27432" marT="9144" marB="9144">
                    <a:solidFill>
                      <a:srgbClr val="EEF2F8"/>
                    </a:solidFill>
                  </a:tcPr>
                </a:tc>
              </a:tr>
              <a:tr h="330490">
                <a:tc>
                  <a:txBody>
                    <a:bodyPr/>
                    <a:lstStyle/>
                    <a:p>
                      <a:r>
                        <a:rPr sz="409" b="1">
                          <a:solidFill>
                            <a:srgbClr val="111827"/>
                          </a:solidFill>
                          <a:latin typeface="Times New Roman"/>
                        </a:rPr>
                        <a:t>Inclusion Criteria</a:t>
                      </a:r>
                    </a:p>
                  </a:txBody>
                  <a:tcPr anchor="ctr" marL="27432" marR="27432" marT="9144" marB="9144">
                    <a:solidFill>
                      <a:srgbClr val="FFFFFF"/>
                    </a:solidFill>
                  </a:tcPr>
                </a:tc>
                <a:tc>
                  <a:txBody>
                    <a:bodyPr/>
                    <a:lstStyle/>
                    <a:p>
                      <a:r>
                        <a:rPr sz="409" b="0">
                          <a:solidFill>
                            <a:srgbClr val="111827"/>
                          </a:solidFill>
                          <a:latin typeface="Times New Roman"/>
                        </a:rPr>
                        <a:t>Peer-reviewed empirical or qualitative studies with PMDD (provisional or confirmed) as the study population and ≥1 psychosocial outcome or coping mechanism as a primary aim.</a:t>
                      </a:r>
                    </a:p>
                  </a:txBody>
                  <a:tcPr anchor="ctr" marL="27432" marR="27432" marT="9144" marB="9144">
                    <a:solidFill>
                      <a:srgbClr val="FFFFFF"/>
                    </a:solidFill>
                  </a:tcPr>
                </a:tc>
              </a:tr>
              <a:tr h="330490">
                <a:tc>
                  <a:txBody>
                    <a:bodyPr/>
                    <a:lstStyle/>
                    <a:p>
                      <a:r>
                        <a:rPr sz="409" b="1">
                          <a:solidFill>
                            <a:srgbClr val="111827"/>
                          </a:solidFill>
                          <a:latin typeface="Times New Roman"/>
                        </a:rPr>
                        <a:t>Exclusion Criteria</a:t>
                      </a:r>
                    </a:p>
                  </a:txBody>
                  <a:tcPr anchor="ctr" marL="27432" marR="27432" marT="9144" marB="9144">
                    <a:solidFill>
                      <a:srgbClr val="EEF2F8"/>
                    </a:solidFill>
                  </a:tcPr>
                </a:tc>
                <a:tc>
                  <a:txBody>
                    <a:bodyPr/>
                    <a:lstStyle/>
                    <a:p>
                      <a:r>
                        <a:rPr sz="409" b="0">
                          <a:solidFill>
                            <a:srgbClr val="111827"/>
                          </a:solidFill>
                          <a:latin typeface="Times New Roman"/>
                        </a:rPr>
                        <a:t>Animal, laboratory/biological, intervention, review, instrument-validation and case-report studies; non-peer-reviewed publications; PMS-only samples.</a:t>
                      </a:r>
                    </a:p>
                  </a:txBody>
                  <a:tcPr anchor="ctr" marL="27432" marR="27432" marT="9144" marB="9144">
                    <a:solidFill>
                      <a:srgbClr val="EEF2F8"/>
                    </a:solidFill>
                  </a:tcPr>
                </a:tc>
              </a:tr>
              <a:tr h="330490">
                <a:tc>
                  <a:txBody>
                    <a:bodyPr/>
                    <a:lstStyle/>
                    <a:p>
                      <a:r>
                        <a:rPr sz="409" b="1">
                          <a:solidFill>
                            <a:srgbClr val="111827"/>
                          </a:solidFill>
                          <a:latin typeface="Times New Roman"/>
                        </a:rPr>
                        <a:t>Screening Process</a:t>
                      </a:r>
                    </a:p>
                  </a:txBody>
                  <a:tcPr anchor="ctr" marL="27432" marR="27432" marT="9144" marB="9144">
                    <a:solidFill>
                      <a:srgbClr val="FFFFFF"/>
                    </a:solidFill>
                  </a:tcPr>
                </a:tc>
                <a:tc>
                  <a:txBody>
                    <a:bodyPr/>
                    <a:lstStyle/>
                    <a:p>
                      <a:r>
                        <a:rPr sz="409" b="0">
                          <a:solidFill>
                            <a:srgbClr val="111827"/>
                          </a:solidFill>
                          <a:latin typeface="Times New Roman"/>
                        </a:rPr>
                        <a:t>1,801 records deduplicated (DOI and title matching) to 1,459; titles, abstracts and subject terms screened with every exclusion reason logged; 85 studies included.</a:t>
                      </a:r>
                    </a:p>
                  </a:txBody>
                  <a:tcPr anchor="ctr" marL="27432" marR="27432" marT="9144" marB="9144">
                    <a:solidFill>
                      <a:srgbClr val="FFFFFF"/>
                    </a:solidFill>
                  </a:tcPr>
                </a:tc>
              </a:tr>
              <a:tr h="330490">
                <a:tc>
                  <a:txBody>
                    <a:bodyPr/>
                    <a:lstStyle/>
                    <a:p>
                      <a:r>
                        <a:rPr sz="409" b="1">
                          <a:solidFill>
                            <a:srgbClr val="111827"/>
                          </a:solidFill>
                          <a:latin typeface="Times New Roman"/>
                        </a:rPr>
                        <a:t>Evidence Mapping</a:t>
                      </a:r>
                    </a:p>
                  </a:txBody>
                  <a:tcPr anchor="ctr" marL="27432" marR="27432" marT="9144" marB="9144">
                    <a:solidFill>
                      <a:srgbClr val="EEF2F8"/>
                    </a:solidFill>
                  </a:tcPr>
                </a:tc>
                <a:tc>
                  <a:txBody>
                    <a:bodyPr/>
                    <a:lstStyle/>
                    <a:p>
                      <a:r>
                        <a:rPr sz="409" b="0">
                          <a:solidFill>
                            <a:srgbClr val="111827"/>
                          </a:solidFill>
                          <a:latin typeface="Times New Roman"/>
                        </a:rPr>
                        <a:t>Studies charted by psychosocial domain (13 categories), coping mechanism, PMDD diagnostic method, country, World Bank region and income group (FY2027).</a:t>
                      </a:r>
                    </a:p>
                  </a:txBody>
                  <a:tcPr anchor="ctr" marL="27432" marR="27432" marT="9144" marB="9144">
                    <a:solidFill>
                      <a:srgbClr val="EEF2F8"/>
                    </a:solidFill>
                  </a:tcPr>
                </a:tc>
              </a:tr>
            </a:tbl>
          </a:graphicData>
        </a:graphic>
      </p:graphicFrame>
      <p:sp>
        <p:nvSpPr>
          <p:cNvPr id="313" name="TextBox 312"/>
          <p:cNvSpPr txBox="1"/>
          <p:nvPr/>
        </p:nvSpPr>
        <p:spPr>
          <a:xfrm>
            <a:off x="2410358"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0A254E"/>
                </a:solidFill>
                <a:latin typeface="Times New Roman"/>
              </a:rPr>
              <a:t>1,801</a:t>
            </a:r>
          </a:p>
          <a:p>
            <a:pPr algn="ctr">
              <a:spcAft>
                <a:spcPts val="0"/>
              </a:spcAft>
            </a:pPr>
            <a:r>
              <a:rPr sz="600" b="0" i="0">
                <a:solidFill>
                  <a:srgbClr val="111827"/>
                </a:solidFill>
                <a:latin typeface="Times New Roman"/>
              </a:rPr>
              <a:t>records identified</a:t>
            </a:r>
          </a:p>
          <a:p>
            <a:pPr algn="ctr">
              <a:spcAft>
                <a:spcPts val="0"/>
              </a:spcAft>
            </a:pPr>
            <a:r>
              <a:rPr sz="550" b="0" i="1">
                <a:solidFill>
                  <a:srgbClr val="4B5563"/>
                </a:solidFill>
                <a:latin typeface="Times New Roman"/>
              </a:rPr>
              <a:t>across 7 databases</a:t>
            </a:r>
          </a:p>
        </p:txBody>
      </p:sp>
      <p:sp>
        <p:nvSpPr>
          <p:cNvPr id="314" name="TextBox 313"/>
          <p:cNvSpPr txBox="1"/>
          <p:nvPr/>
        </p:nvSpPr>
        <p:spPr>
          <a:xfrm>
            <a:off x="3548557"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0A254E"/>
                </a:solidFill>
                <a:latin typeface="Times New Roman"/>
              </a:rPr>
              <a:t>85</a:t>
            </a:r>
          </a:p>
          <a:p>
            <a:pPr algn="ctr">
              <a:spcAft>
                <a:spcPts val="0"/>
              </a:spcAft>
            </a:pPr>
            <a:r>
              <a:rPr sz="600" b="0" i="0">
                <a:solidFill>
                  <a:srgbClr val="111827"/>
                </a:solidFill>
                <a:latin typeface="Times New Roman"/>
              </a:rPr>
              <a:t>studies included</a:t>
            </a:r>
          </a:p>
          <a:p>
            <a:pPr algn="ctr">
              <a:spcAft>
                <a:spcPts val="0"/>
              </a:spcAft>
            </a:pPr>
            <a:r>
              <a:rPr sz="550" b="0" i="1">
                <a:solidFill>
                  <a:srgbClr val="4B5563"/>
                </a:solidFill>
                <a:latin typeface="Times New Roman"/>
              </a:rPr>
              <a:t>in the scoping review</a:t>
            </a:r>
          </a:p>
        </p:txBody>
      </p:sp>
      <p:cxnSp>
        <p:nvCxnSpPr>
          <p:cNvPr id="315" name="Connector 314"/>
          <p:cNvCxnSpPr/>
          <p:nvPr/>
        </p:nvCxnSpPr>
        <p:spPr>
          <a:xfrm>
            <a:off x="3548557"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16" name="TextBox 315"/>
          <p:cNvSpPr txBox="1"/>
          <p:nvPr/>
        </p:nvSpPr>
        <p:spPr>
          <a:xfrm>
            <a:off x="4686757"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A31F34"/>
                </a:solidFill>
                <a:latin typeface="Times New Roman"/>
              </a:rPr>
              <a:t>7</a:t>
            </a:r>
          </a:p>
          <a:p>
            <a:pPr algn="ctr">
              <a:spcAft>
                <a:spcPts val="0"/>
              </a:spcAft>
            </a:pPr>
            <a:r>
              <a:rPr sz="600" b="0" i="0">
                <a:solidFill>
                  <a:srgbClr val="111827"/>
                </a:solidFill>
                <a:latin typeface="Times New Roman"/>
              </a:rPr>
              <a:t>studies addressing coping</a:t>
            </a:r>
          </a:p>
          <a:p>
            <a:pPr algn="ctr">
              <a:spcAft>
                <a:spcPts val="0"/>
              </a:spcAft>
            </a:pPr>
            <a:r>
              <a:rPr sz="550" b="0" i="1">
                <a:solidFill>
                  <a:srgbClr val="4B5563"/>
                </a:solidFill>
                <a:latin typeface="Times New Roman"/>
              </a:rPr>
              <a:t>8.2% of 85</a:t>
            </a:r>
          </a:p>
        </p:txBody>
      </p:sp>
      <p:cxnSp>
        <p:nvCxnSpPr>
          <p:cNvPr id="317" name="Connector 316"/>
          <p:cNvCxnSpPr/>
          <p:nvPr/>
        </p:nvCxnSpPr>
        <p:spPr>
          <a:xfrm>
            <a:off x="4686757"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18" name="TextBox 317"/>
          <p:cNvSpPr txBox="1"/>
          <p:nvPr/>
        </p:nvSpPr>
        <p:spPr>
          <a:xfrm>
            <a:off x="5824956"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A31F34"/>
                </a:solidFill>
                <a:latin typeface="Times New Roman"/>
              </a:rPr>
              <a:t>3</a:t>
            </a:r>
          </a:p>
          <a:p>
            <a:pPr algn="ctr">
              <a:spcAft>
                <a:spcPts val="0"/>
              </a:spcAft>
            </a:pPr>
            <a:r>
              <a:rPr sz="600" b="0" i="0">
                <a:solidFill>
                  <a:srgbClr val="111827"/>
                </a:solidFill>
                <a:latin typeface="Times New Roman"/>
              </a:rPr>
              <a:t>studies from sub-Saharan Africa</a:t>
            </a:r>
          </a:p>
          <a:p>
            <a:pPr algn="ctr">
              <a:spcAft>
                <a:spcPts val="0"/>
              </a:spcAft>
            </a:pPr>
            <a:r>
              <a:rPr sz="550" b="0" i="1">
                <a:solidFill>
                  <a:srgbClr val="4B5563"/>
                </a:solidFill>
                <a:latin typeface="Times New Roman"/>
              </a:rPr>
              <a:t>3.5% of 85</a:t>
            </a:r>
          </a:p>
        </p:txBody>
      </p:sp>
      <p:cxnSp>
        <p:nvCxnSpPr>
          <p:cNvPr id="319" name="Connector 318"/>
          <p:cNvCxnSpPr/>
          <p:nvPr/>
        </p:nvCxnSpPr>
        <p:spPr>
          <a:xfrm>
            <a:off x="5824956"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20" name="TextBox 319"/>
          <p:cNvSpPr txBox="1"/>
          <p:nvPr/>
        </p:nvSpPr>
        <p:spPr>
          <a:xfrm>
            <a:off x="2414016" y="1627632"/>
            <a:ext cx="224028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 1. Study Selection — PRISMA-ScR Flow Diagram</a:t>
            </a:r>
          </a:p>
        </p:txBody>
      </p:sp>
      <p:sp>
        <p:nvSpPr>
          <p:cNvPr id="321" name="Rounded Rectangle 320"/>
          <p:cNvSpPr/>
          <p:nvPr/>
        </p:nvSpPr>
        <p:spPr>
          <a:xfrm>
            <a:off x="2414016" y="1828800"/>
            <a:ext cx="301752" cy="420624"/>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Identification</a:t>
            </a:r>
          </a:p>
        </p:txBody>
      </p:sp>
      <p:sp>
        <p:nvSpPr>
          <p:cNvPr id="322" name="Rounded Rectangle 321"/>
          <p:cNvSpPr/>
          <p:nvPr/>
        </p:nvSpPr>
        <p:spPr>
          <a:xfrm>
            <a:off x="2414016" y="2340864"/>
            <a:ext cx="301752" cy="329184"/>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De-duplication</a:t>
            </a:r>
          </a:p>
        </p:txBody>
      </p:sp>
      <p:sp>
        <p:nvSpPr>
          <p:cNvPr id="323" name="Rounded Rectangle 322"/>
          <p:cNvSpPr/>
          <p:nvPr/>
        </p:nvSpPr>
        <p:spPr>
          <a:xfrm>
            <a:off x="2414016" y="2761488"/>
            <a:ext cx="301752" cy="384048"/>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Screening</a:t>
            </a:r>
          </a:p>
        </p:txBody>
      </p:sp>
      <p:sp>
        <p:nvSpPr>
          <p:cNvPr id="324" name="Rounded Rectangle 323"/>
          <p:cNvSpPr/>
          <p:nvPr/>
        </p:nvSpPr>
        <p:spPr>
          <a:xfrm>
            <a:off x="2414016" y="3255264"/>
            <a:ext cx="301752" cy="384048"/>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Included</a:t>
            </a:r>
          </a:p>
        </p:txBody>
      </p:sp>
      <p:sp>
        <p:nvSpPr>
          <p:cNvPr id="325" name="Rounded Rectangle 324"/>
          <p:cNvSpPr/>
          <p:nvPr/>
        </p:nvSpPr>
        <p:spPr>
          <a:xfrm>
            <a:off x="2761488" y="1828800"/>
            <a:ext cx="960120" cy="420624"/>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70" b="1" i="0">
                <a:solidFill>
                  <a:srgbClr val="111827"/>
                </a:solidFill>
                <a:latin typeface="Times New Roman"/>
              </a:rPr>
              <a:t>Records identified via</a:t>
            </a:r>
          </a:p>
          <a:p>
            <a:pPr algn="ctr">
              <a:spcAft>
                <a:spcPts val="0"/>
              </a:spcAft>
            </a:pPr>
            <a:r>
              <a:rPr sz="370" b="0" i="0">
                <a:solidFill>
                  <a:srgbClr val="111827"/>
                </a:solidFill>
                <a:latin typeface="Times New Roman"/>
              </a:rPr>
              <a:t>database search</a:t>
            </a:r>
          </a:p>
          <a:p>
            <a:pPr algn="ctr">
              <a:spcAft>
                <a:spcPts val="0"/>
              </a:spcAft>
            </a:pPr>
            <a:r>
              <a:rPr sz="370" b="0" i="0">
                <a:solidFill>
                  <a:srgbClr val="111827"/>
                </a:solidFill>
                <a:latin typeface="Times New Roman"/>
              </a:rPr>
              <a:t>n = 1,801</a:t>
            </a:r>
          </a:p>
        </p:txBody>
      </p:sp>
      <p:sp>
        <p:nvSpPr>
          <p:cNvPr id="326" name="Rounded Rectangle 325"/>
          <p:cNvSpPr/>
          <p:nvPr/>
        </p:nvSpPr>
        <p:spPr>
          <a:xfrm>
            <a:off x="3785615" y="1810512"/>
            <a:ext cx="886968" cy="457200"/>
          </a:xfrm>
          <a:prstGeom prst="roundRect">
            <a:avLst>
              <a:gd name="adj" fmla="val 8000"/>
            </a:avLst>
          </a:prstGeom>
          <a:solidFill>
            <a:srgbClr val="FFFFFF"/>
          </a:solidFill>
          <a:ln w="762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l">
              <a:spcAft>
                <a:spcPts val="0"/>
              </a:spcAft>
            </a:pPr>
            <a:r>
              <a:rPr sz="290" b="0" i="0">
                <a:solidFill>
                  <a:srgbClr val="111827"/>
                </a:solidFill>
                <a:latin typeface="Times New Roman"/>
              </a:rPr>
              <a:t>CINAHL Ultimate: 974</a:t>
            </a:r>
          </a:p>
          <a:p>
            <a:pPr algn="l">
              <a:spcAft>
                <a:spcPts val="0"/>
              </a:spcAft>
            </a:pPr>
            <a:r>
              <a:rPr sz="290" b="0" i="0">
                <a:solidFill>
                  <a:srgbClr val="111827"/>
                </a:solidFill>
                <a:latin typeface="Times New Roman"/>
              </a:rPr>
              <a:t>APA PsycInfo: 649</a:t>
            </a:r>
          </a:p>
          <a:p>
            <a:pPr algn="l">
              <a:spcAft>
                <a:spcPts val="0"/>
              </a:spcAft>
            </a:pPr>
            <a:r>
              <a:rPr sz="290" b="0" i="0">
                <a:solidFill>
                  <a:srgbClr val="111827"/>
                </a:solidFill>
                <a:latin typeface="Times New Roman"/>
              </a:rPr>
              <a:t>MEDLINE Ultimate: 145</a:t>
            </a:r>
          </a:p>
          <a:p>
            <a:pPr algn="l">
              <a:spcAft>
                <a:spcPts val="0"/>
              </a:spcAft>
            </a:pPr>
            <a:r>
              <a:rPr sz="290" b="0" i="0">
                <a:solidFill>
                  <a:srgbClr val="111827"/>
                </a:solidFill>
                <a:latin typeface="Times New Roman"/>
              </a:rPr>
              <a:t>Women's Studies International: 15</a:t>
            </a:r>
          </a:p>
          <a:p>
            <a:pPr algn="l">
              <a:spcAft>
                <a:spcPts val="0"/>
              </a:spcAft>
            </a:pPr>
            <a:r>
              <a:rPr sz="290" b="0" i="0">
                <a:solidFill>
                  <a:srgbClr val="111827"/>
                </a:solidFill>
                <a:latin typeface="Times New Roman"/>
              </a:rPr>
              <a:t>APA PsycArticles: 8</a:t>
            </a:r>
          </a:p>
          <a:p>
            <a:pPr algn="l">
              <a:spcAft>
                <a:spcPts val="0"/>
              </a:spcAft>
            </a:pPr>
            <a:r>
              <a:rPr sz="290" b="0" i="0">
                <a:solidFill>
                  <a:srgbClr val="111827"/>
                </a:solidFill>
                <a:latin typeface="Times New Roman"/>
              </a:rPr>
              <a:t>PubMed/MEDLINE: 6</a:t>
            </a:r>
          </a:p>
          <a:p>
            <a:pPr algn="l">
              <a:spcAft>
                <a:spcPts val="0"/>
              </a:spcAft>
            </a:pPr>
            <a:r>
              <a:rPr sz="290" b="0" i="0">
                <a:solidFill>
                  <a:srgbClr val="111827"/>
                </a:solidFill>
                <a:latin typeface="Times New Roman"/>
              </a:rPr>
              <a:t>Cochrane Database of Systematic Reviews: 4</a:t>
            </a:r>
          </a:p>
        </p:txBody>
      </p:sp>
      <p:cxnSp>
        <p:nvCxnSpPr>
          <p:cNvPr id="327" name="Connector 326"/>
          <p:cNvCxnSpPr/>
          <p:nvPr/>
        </p:nvCxnSpPr>
        <p:spPr>
          <a:xfrm>
            <a:off x="3241548" y="2249424"/>
            <a:ext cx="0" cy="91440"/>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8" name="Rounded Rectangle 327"/>
          <p:cNvSpPr/>
          <p:nvPr/>
        </p:nvSpPr>
        <p:spPr>
          <a:xfrm>
            <a:off x="2761488" y="2340864"/>
            <a:ext cx="960120" cy="329184"/>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after duplicate removal</a:t>
            </a:r>
          </a:p>
          <a:p>
            <a:pPr algn="ctr">
              <a:spcAft>
                <a:spcPts val="0"/>
              </a:spcAft>
            </a:pPr>
            <a:r>
              <a:rPr sz="360" b="0" i="0">
                <a:solidFill>
                  <a:srgbClr val="111827"/>
                </a:solidFill>
                <a:latin typeface="Times New Roman"/>
              </a:rPr>
              <a:t>342 duplicates removed</a:t>
            </a:r>
          </a:p>
          <a:p>
            <a:pPr algn="ctr">
              <a:spcAft>
                <a:spcPts val="0"/>
              </a:spcAft>
            </a:pPr>
            <a:r>
              <a:rPr sz="360" b="0" i="0">
                <a:solidFill>
                  <a:srgbClr val="111827"/>
                </a:solidFill>
                <a:latin typeface="Times New Roman"/>
              </a:rPr>
              <a:t>n = 1,459</a:t>
            </a:r>
          </a:p>
        </p:txBody>
      </p:sp>
      <p:cxnSp>
        <p:nvCxnSpPr>
          <p:cNvPr id="329" name="Connector 328"/>
          <p:cNvCxnSpPr/>
          <p:nvPr/>
        </p:nvCxnSpPr>
        <p:spPr>
          <a:xfrm>
            <a:off x="3241548" y="2670048"/>
            <a:ext cx="0" cy="91440"/>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0" name="Rounded Rectangle 329"/>
          <p:cNvSpPr/>
          <p:nvPr/>
        </p:nvSpPr>
        <p:spPr>
          <a:xfrm>
            <a:off x="2761488" y="2761488"/>
            <a:ext cx="960120" cy="384048"/>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screened</a:t>
            </a:r>
          </a:p>
          <a:p>
            <a:pPr algn="ctr">
              <a:spcAft>
                <a:spcPts val="0"/>
              </a:spcAft>
            </a:pPr>
            <a:r>
              <a:rPr sz="360" b="0" i="0">
                <a:solidFill>
                  <a:srgbClr val="111827"/>
                </a:solidFill>
                <a:latin typeface="Times New Roman"/>
              </a:rPr>
              <a:t>(title, abstract, subject terms)</a:t>
            </a:r>
          </a:p>
          <a:p>
            <a:pPr algn="ctr">
              <a:spcAft>
                <a:spcPts val="0"/>
              </a:spcAft>
            </a:pPr>
            <a:r>
              <a:rPr sz="360" b="0" i="0">
                <a:solidFill>
                  <a:srgbClr val="111827"/>
                </a:solidFill>
                <a:latin typeface="Times New Roman"/>
              </a:rPr>
              <a:t>n = 1,459</a:t>
            </a:r>
          </a:p>
        </p:txBody>
      </p:sp>
      <p:sp>
        <p:nvSpPr>
          <p:cNvPr id="331" name="Rounded Rectangle 330"/>
          <p:cNvSpPr/>
          <p:nvPr/>
        </p:nvSpPr>
        <p:spPr>
          <a:xfrm>
            <a:off x="3785615" y="2395728"/>
            <a:ext cx="886968" cy="896112"/>
          </a:xfrm>
          <a:prstGeom prst="roundRect">
            <a:avLst>
              <a:gd name="adj" fmla="val 8000"/>
            </a:avLst>
          </a:prstGeom>
          <a:solidFill>
            <a:srgbClr val="FDECEE"/>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l">
              <a:spcAft>
                <a:spcPts val="0"/>
              </a:spcAft>
            </a:pPr>
            <a:r>
              <a:rPr sz="320" b="1" i="0">
                <a:solidFill>
                  <a:srgbClr val="111827"/>
                </a:solidFill>
                <a:latin typeface="Times New Roman"/>
              </a:rPr>
              <a:t>Excluded (n = 1,374)</a:t>
            </a:r>
          </a:p>
          <a:p>
            <a:pPr algn="l">
              <a:spcAft>
                <a:spcPts val="0"/>
              </a:spcAft>
            </a:pPr>
            <a:r>
              <a:rPr sz="320" b="0" i="0">
                <a:solidFill>
                  <a:srgbClr val="111827"/>
                </a:solidFill>
                <a:latin typeface="Times New Roman"/>
              </a:rPr>
              <a:t>PMDD not primary population: 491</a:t>
            </a:r>
          </a:p>
          <a:p>
            <a:pPr algn="l">
              <a:spcAft>
                <a:spcPts val="0"/>
              </a:spcAft>
            </a:pPr>
            <a:r>
              <a:rPr sz="320" b="0" i="0">
                <a:solidFill>
                  <a:srgbClr val="111827"/>
                </a:solidFill>
                <a:latin typeface="Times New Roman"/>
              </a:rPr>
              <a:t>Outside 2010–2025: 457</a:t>
            </a:r>
          </a:p>
          <a:p>
            <a:pPr algn="l">
              <a:spcAft>
                <a:spcPts val="0"/>
              </a:spcAft>
            </a:pPr>
            <a:r>
              <a:rPr sz="320" b="0" i="0">
                <a:solidFill>
                  <a:srgbClr val="111827"/>
                </a:solidFill>
                <a:latin typeface="Times New Roman"/>
              </a:rPr>
              <a:t>Reviews / commentaries: 170</a:t>
            </a:r>
          </a:p>
          <a:p>
            <a:pPr algn="l">
              <a:spcAft>
                <a:spcPts val="0"/>
              </a:spcAft>
            </a:pPr>
            <a:r>
              <a:rPr sz="320" b="0" i="0">
                <a:solidFill>
                  <a:srgbClr val="111827"/>
                </a:solidFill>
                <a:latin typeface="Times New Roman"/>
              </a:rPr>
              <a:t>Other ineligible formats: 106</a:t>
            </a:r>
          </a:p>
          <a:p>
            <a:pPr algn="l">
              <a:spcAft>
                <a:spcPts val="0"/>
              </a:spcAft>
            </a:pPr>
            <a:r>
              <a:rPr sz="320" b="0" i="0">
                <a:solidFill>
                  <a:srgbClr val="111827"/>
                </a:solidFill>
                <a:latin typeface="Times New Roman"/>
              </a:rPr>
              <a:t>Non-English: 65</a:t>
            </a:r>
          </a:p>
          <a:p>
            <a:pPr algn="l">
              <a:spcAft>
                <a:spcPts val="0"/>
              </a:spcAft>
            </a:pPr>
            <a:r>
              <a:rPr sz="320" b="0" i="0">
                <a:solidFill>
                  <a:srgbClr val="111827"/>
                </a:solidFill>
                <a:latin typeface="Times New Roman"/>
              </a:rPr>
              <a:t>Intervention studies: 28</a:t>
            </a:r>
          </a:p>
          <a:p>
            <a:pPr algn="l">
              <a:spcAft>
                <a:spcPts val="0"/>
              </a:spcAft>
            </a:pPr>
            <a:r>
              <a:rPr sz="320" b="0" i="0">
                <a:solidFill>
                  <a:srgbClr val="111827"/>
                </a:solidFill>
                <a:latin typeface="Times New Roman"/>
              </a:rPr>
              <a:t>Laboratory / biological: 22</a:t>
            </a:r>
          </a:p>
          <a:p>
            <a:pPr algn="l">
              <a:spcAft>
                <a:spcPts val="0"/>
              </a:spcAft>
            </a:pPr>
            <a:r>
              <a:rPr sz="320" b="0" i="0">
                <a:solidFill>
                  <a:srgbClr val="111827"/>
                </a:solidFill>
                <a:latin typeface="Times New Roman"/>
              </a:rPr>
              <a:t>No psychosocial/coping aim: 15</a:t>
            </a:r>
          </a:p>
          <a:p>
            <a:pPr algn="l">
              <a:spcAft>
                <a:spcPts val="0"/>
              </a:spcAft>
            </a:pPr>
            <a:r>
              <a:rPr sz="320" b="0" i="0">
                <a:solidFill>
                  <a:srgbClr val="111827"/>
                </a:solidFill>
                <a:latin typeface="Times New Roman"/>
              </a:rPr>
              <a:t>Instrument validation: 11</a:t>
            </a:r>
          </a:p>
          <a:p>
            <a:pPr algn="l">
              <a:spcAft>
                <a:spcPts val="0"/>
              </a:spcAft>
            </a:pPr>
            <a:r>
              <a:rPr sz="320" b="0" i="0">
                <a:solidFill>
                  <a:srgbClr val="111827"/>
                </a:solidFill>
                <a:latin typeface="Times New Roman"/>
              </a:rPr>
              <a:t>Animal studies: 9</a:t>
            </a:r>
          </a:p>
        </p:txBody>
      </p:sp>
      <p:cxnSp>
        <p:nvCxnSpPr>
          <p:cNvPr id="332" name="Connector 331"/>
          <p:cNvCxnSpPr/>
          <p:nvPr/>
        </p:nvCxnSpPr>
        <p:spPr>
          <a:xfrm>
            <a:off x="3721608" y="2953512"/>
            <a:ext cx="64007" cy="0"/>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a:off x="3241548" y="3145536"/>
            <a:ext cx="0" cy="109728"/>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4" name="Rounded Rectangle 333"/>
          <p:cNvSpPr/>
          <p:nvPr/>
        </p:nvSpPr>
        <p:spPr>
          <a:xfrm>
            <a:off x="2761488" y="3255264"/>
            <a:ext cx="960120" cy="384048"/>
          </a:xfrm>
          <a:prstGeom prst="roundRect">
            <a:avLst>
              <a:gd name="adj" fmla="val 8000"/>
            </a:avLst>
          </a:prstGeom>
          <a:solidFill>
            <a:srgbClr val="D9E2F3"/>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420" b="1" i="0">
                <a:solidFill>
                  <a:srgbClr val="111827"/>
                </a:solidFill>
                <a:latin typeface="Times New Roman"/>
              </a:rPr>
              <a:t>Studies included in</a:t>
            </a:r>
          </a:p>
          <a:p>
            <a:pPr algn="ctr">
              <a:spcAft>
                <a:spcPts val="0"/>
              </a:spcAft>
            </a:pPr>
            <a:r>
              <a:rPr sz="420" b="0" i="0">
                <a:solidFill>
                  <a:srgbClr val="111827"/>
                </a:solidFill>
                <a:latin typeface="Times New Roman"/>
              </a:rPr>
              <a:t>the scoping review</a:t>
            </a:r>
          </a:p>
          <a:p>
            <a:pPr algn="ctr">
              <a:spcAft>
                <a:spcPts val="0"/>
              </a:spcAft>
            </a:pPr>
            <a:r>
              <a:rPr sz="420" b="0" i="0">
                <a:solidFill>
                  <a:srgbClr val="111827"/>
                </a:solidFill>
                <a:latin typeface="Times New Roman"/>
              </a:rPr>
              <a:t>n = 85</a:t>
            </a:r>
          </a:p>
        </p:txBody>
      </p:sp>
      <p:sp>
        <p:nvSpPr>
          <p:cNvPr id="335" name="TextBox 334"/>
          <p:cNvSpPr txBox="1"/>
          <p:nvPr/>
        </p:nvSpPr>
        <p:spPr>
          <a:xfrm>
            <a:off x="2414016" y="3694176"/>
            <a:ext cx="2258568" cy="237744"/>
          </a:xfrm>
          <a:prstGeom prst="rect">
            <a:avLst/>
          </a:prstGeom>
          <a:noFill/>
        </p:spPr>
        <p:txBody>
          <a:bodyPr wrap="square" anchor="t" lIns="27432" rIns="27432" tIns="13716" bIns="13716">
            <a:spAutoFit/>
          </a:bodyPr>
          <a:lstStyle/>
          <a:p>
            <a:pPr algn="l">
              <a:spcAft>
                <a:spcPts val="120"/>
              </a:spcAft>
            </a:pPr>
            <a:r>
              <a:rPr sz="320" b="0" i="1">
                <a:solidFill>
                  <a:srgbClr val="4B5563"/>
                </a:solidFill>
                <a:latin typeface="Times New Roman"/>
              </a:rPr>
              <a:t>Eligibility judged on titles, abstracts and subject terms; full-text verification ongoing. All decisions logged in the supplementary workbook.</a:t>
            </a:r>
          </a:p>
        </p:txBody>
      </p:sp>
      <p:sp>
        <p:nvSpPr>
          <p:cNvPr id="336" name="Rounded Rectangle 335"/>
          <p:cNvSpPr/>
          <p:nvPr/>
        </p:nvSpPr>
        <p:spPr>
          <a:xfrm>
            <a:off x="2414016" y="3959352"/>
            <a:ext cx="2258568" cy="566928"/>
          </a:xfrm>
          <a:prstGeom prst="roundRect">
            <a:avLst>
              <a:gd name="adj" fmla="val 8000"/>
            </a:avLst>
          </a:prstGeom>
          <a:solidFill>
            <a:srgbClr val="EEF2F8"/>
          </a:solidFill>
          <a:ln w="635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100"/>
              </a:spcAft>
            </a:pPr>
            <a:r>
              <a:rPr sz="380" b="1" i="0">
                <a:solidFill>
                  <a:srgbClr val="111827"/>
                </a:solidFill>
                <a:latin typeface="Times New Roman"/>
              </a:rPr>
              <a:t>Inclusion Criteria (Arksey &amp; O’Malley, 2005 — scoping review framework)</a:t>
            </a:r>
          </a:p>
          <a:p>
            <a:pPr algn="ctr">
              <a:spcAft>
                <a:spcPts val="50"/>
              </a:spcAft>
            </a:pPr>
            <a:r>
              <a:rPr sz="360" b="0" i="0">
                <a:solidFill>
                  <a:srgbClr val="111827"/>
                </a:solidFill>
                <a:latin typeface="Times New Roman"/>
              </a:rPr>
              <a:t>✓  Peer-reviewed empirical or qualitative studies, 2010–2025</a:t>
            </a:r>
          </a:p>
          <a:p>
            <a:pPr algn="ctr">
              <a:spcAft>
                <a:spcPts val="50"/>
              </a:spcAft>
            </a:pPr>
            <a:r>
              <a:rPr sz="360" b="0" i="0">
                <a:solidFill>
                  <a:srgbClr val="111827"/>
                </a:solidFill>
                <a:latin typeface="Times New Roman"/>
              </a:rPr>
              <a:t>✓  PMDD as the primary population</a:t>
            </a:r>
          </a:p>
          <a:p>
            <a:pPr algn="ctr">
              <a:spcAft>
                <a:spcPts val="0"/>
              </a:spcAft>
            </a:pPr>
            <a:r>
              <a:rPr sz="360" b="0" i="0">
                <a:solidFill>
                  <a:srgbClr val="111827"/>
                </a:solidFill>
                <a:latin typeface="Times New Roman"/>
              </a:rPr>
              <a:t>✓  At least one psychosocial outcome or coping mechanism as a primary aim</a:t>
            </a:r>
          </a:p>
        </p:txBody>
      </p:sp>
      <p:sp>
        <p:nvSpPr>
          <p:cNvPr id="337" name="TextBox 336"/>
          <p:cNvSpPr txBox="1"/>
          <p:nvPr/>
        </p:nvSpPr>
        <p:spPr>
          <a:xfrm>
            <a:off x="4754880" y="1627632"/>
            <a:ext cx="224028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 2. Included Studies Reporting Each Outcome (of 85)</a:t>
            </a:r>
          </a:p>
        </p:txBody>
      </p:sp>
      <p:graphicFrame>
        <p:nvGraphicFramePr>
          <p:cNvPr id="338" name="Chart 337"/>
          <p:cNvGraphicFramePr>
            <a:graphicFrameLocks noGrp="1"/>
          </p:cNvGraphicFramePr>
          <p:nvPr/>
        </p:nvGraphicFramePr>
        <p:xfrm>
          <a:off x="4754880" y="1810512"/>
          <a:ext cx="2240280" cy="2606040"/>
        </p:xfrm>
        <a:graphic>
          <a:graphicData uri="http://schemas.openxmlformats.org/drawingml/2006/chart">
            <c:chart xmlns:c="http://schemas.openxmlformats.org/drawingml/2006/chart" r:id="rId9"/>
          </a:graphicData>
        </a:graphic>
      </p:graphicFrame>
      <p:sp>
        <p:nvSpPr>
          <p:cNvPr id="339" name="TextBox 338"/>
          <p:cNvSpPr txBox="1"/>
          <p:nvPr/>
        </p:nvSpPr>
        <p:spPr>
          <a:xfrm>
            <a:off x="4754880" y="4407408"/>
            <a:ext cx="2240280" cy="128016"/>
          </a:xfrm>
          <a:prstGeom prst="rect">
            <a:avLst/>
          </a:prstGeom>
          <a:noFill/>
        </p:spPr>
        <p:txBody>
          <a:bodyPr wrap="square" anchor="t" lIns="27432" rIns="27432" tIns="13716" bIns="13716">
            <a:spAutoFit/>
          </a:bodyPr>
          <a:lstStyle/>
          <a:p>
            <a:pPr algn="l">
              <a:spcAft>
                <a:spcPts val="120"/>
              </a:spcAft>
            </a:pPr>
            <a:r>
              <a:rPr sz="320" b="0" i="1">
                <a:solidFill>
                  <a:srgbClr val="4B5563"/>
                </a:solidFill>
                <a:latin typeface="Times New Roman"/>
              </a:rPr>
              <a:t>A study could report more than one outcome; counts should not be summed.</a:t>
            </a:r>
          </a:p>
        </p:txBody>
      </p:sp>
      <p:sp>
        <p:nvSpPr>
          <p:cNvPr id="340" name="TextBox 339"/>
          <p:cNvSpPr txBox="1"/>
          <p:nvPr/>
        </p:nvSpPr>
        <p:spPr>
          <a:xfrm>
            <a:off x="2414016" y="4636008"/>
            <a:ext cx="457200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 3. Share of the 85 Included Studies, by World Bank Region and Income Group</a:t>
            </a:r>
          </a:p>
        </p:txBody>
      </p:sp>
      <p:graphicFrame>
        <p:nvGraphicFramePr>
          <p:cNvPr id="341" name="Chart 340"/>
          <p:cNvGraphicFramePr>
            <a:graphicFrameLocks noGrp="1"/>
          </p:cNvGraphicFramePr>
          <p:nvPr/>
        </p:nvGraphicFramePr>
        <p:xfrm>
          <a:off x="2414016" y="4818888"/>
          <a:ext cx="2514600" cy="1600200"/>
        </p:xfrm>
        <a:graphic>
          <a:graphicData uri="http://schemas.openxmlformats.org/drawingml/2006/chart">
            <c:chart xmlns:c="http://schemas.openxmlformats.org/drawingml/2006/chart" r:id="rId10"/>
          </a:graphicData>
        </a:graphic>
      </p:graphicFrame>
      <p:graphicFrame>
        <p:nvGraphicFramePr>
          <p:cNvPr id="342" name="Chart 341"/>
          <p:cNvGraphicFramePr>
            <a:graphicFrameLocks noGrp="1"/>
          </p:cNvGraphicFramePr>
          <p:nvPr/>
        </p:nvGraphicFramePr>
        <p:xfrm>
          <a:off x="4983480" y="4818888"/>
          <a:ext cx="2011680" cy="1600200"/>
        </p:xfrm>
        <a:graphic>
          <a:graphicData uri="http://schemas.openxmlformats.org/drawingml/2006/chart">
            <c:chart xmlns:c="http://schemas.openxmlformats.org/drawingml/2006/chart" r:id="rId11"/>
          </a:graphicData>
        </a:graphic>
      </p:graphicFrame>
      <p:sp>
        <p:nvSpPr>
          <p:cNvPr id="343" name="TextBox 342"/>
          <p:cNvSpPr txBox="1"/>
          <p:nvPr/>
        </p:nvSpPr>
        <p:spPr>
          <a:xfrm>
            <a:off x="2414016" y="6400800"/>
            <a:ext cx="4572000" cy="274320"/>
          </a:xfrm>
          <a:prstGeom prst="rect">
            <a:avLst/>
          </a:prstGeom>
          <a:noFill/>
        </p:spPr>
        <p:txBody>
          <a:bodyPr wrap="square" anchor="t" lIns="27432" rIns="27432" tIns="13716" bIns="13716">
            <a:spAutoFit/>
          </a:bodyPr>
          <a:lstStyle/>
          <a:p>
            <a:pPr algn="ctr">
              <a:spcAft>
                <a:spcPts val="120"/>
              </a:spcAft>
            </a:pPr>
            <a:r>
              <a:rPr sz="340" b="0" i="1">
                <a:solidFill>
                  <a:srgbClr val="4B5563"/>
                </a:solidFill>
                <a:latin typeface="Times New Roman"/>
              </a:rPr>
              <a:t>Sub-Saharan Africa: 3 studies (Ethiopia 2, Nigeria 1). Red columns = low- and middle-income countries (21 studies, 25%); only 5 (5.9%) from low or lower-middle-income countries. Income groups: World Bank FY2027.</a:t>
            </a:r>
          </a:p>
        </p:txBody>
      </p:sp>
      <p:sp>
        <p:nvSpPr>
          <p:cNvPr id="344" name="Rectangle 343"/>
          <p:cNvSpPr/>
          <p:nvPr/>
        </p:nvSpPr>
        <p:spPr>
          <a:xfrm>
            <a:off x="7107631" y="726033"/>
            <a:ext cx="193578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Results, Discussion, Conclusion, and Limitations</a:t>
            </a:r>
          </a:p>
        </p:txBody>
      </p:sp>
      <p:sp>
        <p:nvSpPr>
          <p:cNvPr id="345" name="Rectangle 344"/>
          <p:cNvSpPr/>
          <p:nvPr/>
        </p:nvSpPr>
        <p:spPr>
          <a:xfrm>
            <a:off x="7107631" y="1088136"/>
            <a:ext cx="1935784" cy="2971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50"/>
              </a:spcAft>
            </a:pPr>
            <a:r>
              <a:rPr sz="450" b="1" i="0">
                <a:solidFill>
                  <a:srgbClr val="111827"/>
                </a:solidFill>
                <a:latin typeface="Times New Roman"/>
              </a:rPr>
              <a:t>Results</a:t>
            </a:r>
          </a:p>
          <a:p>
            <a:pPr algn="just">
              <a:spcAft>
                <a:spcPts val="150"/>
              </a:spcAft>
            </a:pPr>
            <a:r>
              <a:rPr sz="450" b="0" i="0">
                <a:solidFill>
                  <a:srgbClr val="111827"/>
                </a:solidFill>
                <a:latin typeface="Times New Roman"/>
              </a:rPr>
              <a:t>Of 1,801 records, 342 duplicates were removed; 1,459 titles and abstracts were screened and 85 studies met the inclusion criteria (Fig. 1). Nearly half (49%) were published since 2020; most were cross-sectional (56%), and only 24% confirmed PMDD with prospective daily ratings.</a:t>
            </a:r>
          </a:p>
          <a:p>
            <a:pPr algn="just">
              <a:spcAft>
                <a:spcPts val="150"/>
              </a:spcAft>
            </a:pPr>
            <a:r>
              <a:rPr sz="450" b="0" i="0">
                <a:solidFill>
                  <a:srgbClr val="111827"/>
                </a:solidFill>
                <a:latin typeface="Times New Roman"/>
              </a:rPr>
              <a:t>Depression was the most frequently examined outcome (n=28), followed by mood and emotion regulation and psychiatric comorbidity (n=18 each), psychological distress (n=16) and suicidal ideation or self-harm (n=13) (Fig. 2). PMDD was associated with suicidal ideation (OR 2.22) and attempts (OR 2.10) in a US national sample,⁵ and 72% of a global PMDD sample reported lifetime active suicidal ideation.⁶ Only 7 studies examined coping, mostly self-medication or maladaptive coping styles.</a:t>
            </a:r>
          </a:p>
          <a:p>
            <a:pPr algn="just">
              <a:spcAft>
                <a:spcPts val="150"/>
              </a:spcAft>
            </a:pPr>
            <a:r>
              <a:rPr sz="450" b="0" i="0">
                <a:solidFill>
                  <a:srgbClr val="111827"/>
                </a:solidFill>
                <a:latin typeface="Times New Roman"/>
              </a:rPr>
              <a:t>Two-thirds of studies (67%) came from high-income countries; 3 came from sub-Saharan Africa (Fig. 3).</a:t>
            </a:r>
          </a:p>
          <a:p>
            <a:pPr algn="just">
              <a:spcAft>
                <a:spcPts val="150"/>
              </a:spcAft>
            </a:pPr>
            <a:r>
              <a:rPr sz="450" b="1" i="0">
                <a:solidFill>
                  <a:srgbClr val="111827"/>
                </a:solidFill>
                <a:latin typeface="Times New Roman"/>
              </a:rPr>
              <a:t>Discussion</a:t>
            </a:r>
          </a:p>
          <a:p>
            <a:pPr algn="just">
              <a:spcAft>
                <a:spcPts val="150"/>
              </a:spcAft>
            </a:pPr>
            <a:r>
              <a:rPr sz="450" b="0" i="0">
                <a:solidFill>
                  <a:srgbClr val="111827"/>
                </a:solidFill>
                <a:latin typeface="Times New Roman"/>
              </a:rPr>
              <a:t>The literature consistently links PMDD with depression, suicidality, impaired functioning and reduced quality of life, but it relies heavily on provisional diagnoses, and coping and lived experience remain understudied. No study from sub-Saharan Africa examined suicidality, quality of life or coping, so the burden there is largely undocumented.</a:t>
            </a:r>
          </a:p>
          <a:p>
            <a:pPr algn="just">
              <a:spcAft>
                <a:spcPts val="150"/>
              </a:spcAft>
            </a:pPr>
            <a:r>
              <a:rPr sz="450" b="1" i="0">
                <a:solidFill>
                  <a:srgbClr val="111827"/>
                </a:solidFill>
                <a:latin typeface="Times New Roman"/>
              </a:rPr>
              <a:t>Conclusion</a:t>
            </a:r>
          </a:p>
          <a:p>
            <a:pPr algn="just">
              <a:spcAft>
                <a:spcPts val="150"/>
              </a:spcAft>
            </a:pPr>
            <a:r>
              <a:rPr sz="450" b="0" i="0">
                <a:solidFill>
                  <a:srgbClr val="111827"/>
                </a:solidFill>
                <a:latin typeface="Times New Roman"/>
              </a:rPr>
              <a:t>PMDD research documents a substantial psychosocial burden, while coping mechanisms and low-income settings remain underrepresented. Culturally responsive screening and Africa-centred research are needed.</a:t>
            </a:r>
          </a:p>
          <a:p>
            <a:pPr algn="just">
              <a:spcAft>
                <a:spcPts val="150"/>
              </a:spcAft>
            </a:pPr>
            <a:r>
              <a:rPr sz="450" b="1" i="0">
                <a:solidFill>
                  <a:srgbClr val="111827"/>
                </a:solidFill>
                <a:latin typeface="Times New Roman"/>
              </a:rPr>
              <a:t>Limitations</a:t>
            </a:r>
          </a:p>
          <a:p>
            <a:pPr algn="just" marL="73152" indent="-64008">
              <a:spcAft>
                <a:spcPts val="150"/>
              </a:spcAft>
              <a:buFont typeface="Arial"/>
              <a:buChar char="•"/>
            </a:pPr>
            <a:r>
              <a:rPr sz="450" b="1" i="0">
                <a:solidFill>
                  <a:srgbClr val="111827"/>
                </a:solidFill>
                <a:latin typeface="Times New Roman"/>
              </a:rPr>
              <a:t>Screening stage: </a:t>
            </a:r>
            <a:r>
              <a:rPr sz="450" b="0" i="0">
                <a:solidFill>
                  <a:srgbClr val="111827"/>
                </a:solidFill>
                <a:latin typeface="Times New Roman"/>
              </a:rPr>
              <a:t>eligibility judged on titles and abstracts; full-text verification ongoing.</a:t>
            </a:r>
          </a:p>
          <a:p>
            <a:pPr algn="just" marL="73152" indent="-64008">
              <a:spcAft>
                <a:spcPts val="150"/>
              </a:spcAft>
              <a:buFont typeface="Arial"/>
              <a:buChar char="•"/>
            </a:pPr>
            <a:r>
              <a:rPr sz="450" b="1" i="0">
                <a:solidFill>
                  <a:srgbClr val="111827"/>
                </a:solidFill>
                <a:latin typeface="Times New Roman"/>
              </a:rPr>
              <a:t>Search scope: </a:t>
            </a:r>
            <a:r>
              <a:rPr sz="450" b="0" i="0">
                <a:solidFill>
                  <a:srgbClr val="111827"/>
                </a:solidFill>
                <a:latin typeface="Times New Roman"/>
              </a:rPr>
              <a:t>English only; African Journals Online and grey literature not searched.</a:t>
            </a:r>
          </a:p>
          <a:p>
            <a:pPr algn="just" marL="73152" indent="-64008">
              <a:spcAft>
                <a:spcPts val="150"/>
              </a:spcAft>
              <a:buFont typeface="Arial"/>
              <a:buChar char="•"/>
            </a:pPr>
            <a:r>
              <a:rPr sz="450" b="1" i="0">
                <a:solidFill>
                  <a:srgbClr val="111827"/>
                </a:solidFill>
                <a:latin typeface="Times New Roman"/>
              </a:rPr>
              <a:t>Diagnosis: </a:t>
            </a:r>
            <a:r>
              <a:rPr sz="450" b="0" i="0">
                <a:solidFill>
                  <a:srgbClr val="111827"/>
                </a:solidFill>
                <a:latin typeface="Times New Roman"/>
              </a:rPr>
              <a:t>many studies used provisional diagnoses or combined PMS and PMDD.</a:t>
            </a:r>
          </a:p>
          <a:p>
            <a:pPr algn="just" marL="73152" indent="-64008">
              <a:spcAft>
                <a:spcPts val="150"/>
              </a:spcAft>
              <a:buFont typeface="Arial"/>
              <a:buChar char="•"/>
            </a:pPr>
            <a:r>
              <a:rPr sz="450" b="1" i="0">
                <a:solidFill>
                  <a:srgbClr val="111827"/>
                </a:solidFill>
                <a:latin typeface="Times New Roman"/>
              </a:rPr>
              <a:t>Coding overlap: </a:t>
            </a:r>
            <a:r>
              <a:rPr sz="450" b="0" i="0">
                <a:solidFill>
                  <a:srgbClr val="111827"/>
                </a:solidFill>
                <a:latin typeface="Times New Roman"/>
              </a:rPr>
              <a:t>studies can address several domains, so counts should not be summed.</a:t>
            </a:r>
          </a:p>
        </p:txBody>
      </p:sp>
      <p:sp>
        <p:nvSpPr>
          <p:cNvPr id="346" name="Rectangle 345"/>
          <p:cNvSpPr/>
          <p:nvPr/>
        </p:nvSpPr>
        <p:spPr>
          <a:xfrm>
            <a:off x="7107631" y="4123944"/>
            <a:ext cx="193578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Public Health Implications and Future Work</a:t>
            </a:r>
          </a:p>
        </p:txBody>
      </p:sp>
      <p:sp>
        <p:nvSpPr>
          <p:cNvPr id="347" name="Rectangle 346"/>
          <p:cNvSpPr/>
          <p:nvPr/>
        </p:nvSpPr>
        <p:spPr>
          <a:xfrm>
            <a:off x="7107631" y="4480560"/>
            <a:ext cx="1935784" cy="103327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l">
              <a:spcAft>
                <a:spcPts val="90"/>
              </a:spcAft>
            </a:pPr>
            <a:r>
              <a:rPr sz="420" b="1" i="0">
                <a:solidFill>
                  <a:srgbClr val="111827"/>
                </a:solidFill>
                <a:latin typeface="Times New Roman"/>
              </a:rPr>
              <a:t>Public Health Implications</a:t>
            </a:r>
          </a:p>
          <a:p>
            <a:pPr algn="l" marL="73152" indent="-64008">
              <a:spcAft>
                <a:spcPts val="90"/>
              </a:spcAft>
              <a:buFont typeface="Arial"/>
              <a:buChar char="•"/>
            </a:pPr>
            <a:r>
              <a:rPr sz="420" b="1" i="0">
                <a:solidFill>
                  <a:srgbClr val="111827"/>
                </a:solidFill>
                <a:latin typeface="Times New Roman"/>
              </a:rPr>
              <a:t>Screen for suicide risk: </a:t>
            </a:r>
            <a:r>
              <a:rPr sz="420" b="0" i="0">
                <a:solidFill>
                  <a:srgbClr val="111827"/>
                </a:solidFill>
                <a:latin typeface="Times New Roman"/>
              </a:rPr>
              <a:t>ask about suicidal thoughts when women present with severe premenstrual mood symptoms.</a:t>
            </a:r>
          </a:p>
          <a:p>
            <a:pPr algn="l" marL="73152" indent="-64008">
              <a:spcAft>
                <a:spcPts val="90"/>
              </a:spcAft>
              <a:buFont typeface="Arial"/>
              <a:buChar char="•"/>
            </a:pPr>
            <a:r>
              <a:rPr sz="420" b="1" i="0">
                <a:solidFill>
                  <a:srgbClr val="111827"/>
                </a:solidFill>
                <a:latin typeface="Times New Roman"/>
              </a:rPr>
              <a:t>Integrate care: </a:t>
            </a:r>
            <a:r>
              <a:rPr sz="420" b="0" i="0">
                <a:solidFill>
                  <a:srgbClr val="111827"/>
                </a:solidFill>
                <a:latin typeface="Times New Roman"/>
              </a:rPr>
              <a:t>include PMDD screening in sexual and reproductive, school and university health services.</a:t>
            </a:r>
          </a:p>
          <a:p>
            <a:pPr algn="l" marL="73152" indent="-64008">
              <a:spcAft>
                <a:spcPts val="90"/>
              </a:spcAft>
              <a:buFont typeface="Arial"/>
              <a:buChar char="•"/>
            </a:pPr>
            <a:r>
              <a:rPr sz="420" b="1" i="0">
                <a:solidFill>
                  <a:srgbClr val="111827"/>
                </a:solidFill>
                <a:latin typeface="Times New Roman"/>
              </a:rPr>
              <a:t>Address coping needs: </a:t>
            </a:r>
            <a:r>
              <a:rPr sz="420" b="0" i="0">
                <a:solidFill>
                  <a:srgbClr val="111827"/>
                </a:solidFill>
                <a:latin typeface="Times New Roman"/>
              </a:rPr>
              <a:t>ask how women manage symptoms and what support they need.</a:t>
            </a:r>
          </a:p>
          <a:p>
            <a:pPr algn="l">
              <a:spcAft>
                <a:spcPts val="90"/>
              </a:spcAft>
            </a:pPr>
            <a:r>
              <a:rPr sz="420" b="1" i="0">
                <a:solidFill>
                  <a:srgbClr val="111827"/>
                </a:solidFill>
                <a:latin typeface="Times New Roman"/>
              </a:rPr>
              <a:t>Future Work</a:t>
            </a:r>
          </a:p>
          <a:p>
            <a:pPr algn="l" marL="73152" indent="-64008">
              <a:spcAft>
                <a:spcPts val="90"/>
              </a:spcAft>
              <a:buFont typeface="Arial"/>
              <a:buChar char="•"/>
            </a:pPr>
            <a:r>
              <a:rPr sz="420" b="1" i="0">
                <a:solidFill>
                  <a:srgbClr val="111827"/>
                </a:solidFill>
                <a:latin typeface="Times New Roman"/>
              </a:rPr>
              <a:t>Confirm PMDD prospectively </a:t>
            </a:r>
            <a:r>
              <a:rPr sz="420" b="0" i="0">
                <a:solidFill>
                  <a:srgbClr val="111827"/>
                </a:solidFill>
                <a:latin typeface="Times New Roman"/>
              </a:rPr>
              <a:t>in studies from low- and middle-income countries.</a:t>
            </a:r>
          </a:p>
          <a:p>
            <a:pPr algn="l" marL="73152" indent="-64008">
              <a:spcAft>
                <a:spcPts val="90"/>
              </a:spcAft>
              <a:buFont typeface="Arial"/>
              <a:buChar char="•"/>
            </a:pPr>
            <a:r>
              <a:rPr sz="420" b="1" i="0">
                <a:solidFill>
                  <a:srgbClr val="111827"/>
                </a:solidFill>
                <a:latin typeface="Times New Roman"/>
              </a:rPr>
              <a:t>Study lived experience: </a:t>
            </a:r>
            <a:r>
              <a:rPr sz="420" b="0" i="0">
                <a:solidFill>
                  <a:srgbClr val="111827"/>
                </a:solidFill>
                <a:latin typeface="Times New Roman"/>
              </a:rPr>
              <a:t>stigma, coping and help-seeking in African settings.</a:t>
            </a:r>
          </a:p>
          <a:p>
            <a:pPr algn="l" marL="73152" indent="-64008">
              <a:spcAft>
                <a:spcPts val="90"/>
              </a:spcAft>
              <a:buFont typeface="Arial"/>
              <a:buChar char="•"/>
            </a:pPr>
            <a:r>
              <a:rPr sz="420" b="1" i="0">
                <a:solidFill>
                  <a:srgbClr val="111827"/>
                </a:solidFill>
                <a:latin typeface="Times New Roman"/>
              </a:rPr>
              <a:t>Validate screening tools </a:t>
            </a:r>
            <a:r>
              <a:rPr sz="420" b="0" i="0">
                <a:solidFill>
                  <a:srgbClr val="111827"/>
                </a:solidFill>
                <a:latin typeface="Times New Roman"/>
              </a:rPr>
              <a:t>in African languages.</a:t>
            </a:r>
          </a:p>
        </p:txBody>
      </p:sp>
      <p:sp>
        <p:nvSpPr>
          <p:cNvPr id="348" name="Rectangle 347"/>
          <p:cNvSpPr/>
          <p:nvPr/>
        </p:nvSpPr>
        <p:spPr>
          <a:xfrm>
            <a:off x="7107631" y="5573268"/>
            <a:ext cx="193578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References</a:t>
            </a:r>
          </a:p>
        </p:txBody>
      </p:sp>
      <p:sp>
        <p:nvSpPr>
          <p:cNvPr id="349" name="Rectangle 348"/>
          <p:cNvSpPr/>
          <p:nvPr/>
        </p:nvSpPr>
        <p:spPr>
          <a:xfrm>
            <a:off x="8067751" y="5788152"/>
            <a:ext cx="975664"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l">
              <a:spcAft>
                <a:spcPts val="60"/>
              </a:spcAft>
            </a:pPr>
            <a:r>
              <a:rPr sz="300" b="0" i="0">
                <a:solidFill>
                  <a:srgbClr val="111827"/>
                </a:solidFill>
                <a:latin typeface="Times New Roman"/>
              </a:rPr>
              <a:t>1. Reilly TJ et al. J Affect Disord. 2024;349:534-540.</a:t>
            </a:r>
          </a:p>
          <a:p>
            <a:pPr algn="l">
              <a:spcAft>
                <a:spcPts val="60"/>
              </a:spcAft>
            </a:pPr>
            <a:r>
              <a:rPr sz="300" b="0" i="0">
                <a:solidFill>
                  <a:srgbClr val="111827"/>
                </a:solidFill>
                <a:latin typeface="Times New Roman"/>
              </a:rPr>
              <a:t>2. American Psychiatric Association. DSM-5. 2013.</a:t>
            </a:r>
          </a:p>
          <a:p>
            <a:pPr algn="l">
              <a:spcAft>
                <a:spcPts val="60"/>
              </a:spcAft>
            </a:pPr>
            <a:r>
              <a:rPr sz="300" b="0" i="0">
                <a:solidFill>
                  <a:srgbClr val="111827"/>
                </a:solidFill>
                <a:latin typeface="Times New Roman"/>
              </a:rPr>
              <a:t>3. Arksey H, O’Malley L. Int J Soc Res Methodol. 2005;8:19-32.</a:t>
            </a:r>
          </a:p>
          <a:p>
            <a:pPr algn="l">
              <a:spcAft>
                <a:spcPts val="60"/>
              </a:spcAft>
            </a:pPr>
            <a:r>
              <a:rPr sz="300" b="0" i="0">
                <a:solidFill>
                  <a:srgbClr val="111827"/>
                </a:solidFill>
                <a:latin typeface="Times New Roman"/>
              </a:rPr>
              <a:t>4. Tricco AC et al. Ann Intern Med. 2018;169:467-473.</a:t>
            </a:r>
          </a:p>
          <a:p>
            <a:pPr algn="l">
              <a:spcAft>
                <a:spcPts val="60"/>
              </a:spcAft>
            </a:pPr>
            <a:r>
              <a:rPr sz="300" b="0" i="0">
                <a:solidFill>
                  <a:srgbClr val="111827"/>
                </a:solidFill>
                <a:latin typeface="Times New Roman"/>
              </a:rPr>
              <a:t>5. Pilver CE et al. Soc Psychiatry Psychiatr Epidemiol. 2013;48:437-446.</a:t>
            </a:r>
          </a:p>
          <a:p>
            <a:pPr algn="l">
              <a:spcAft>
                <a:spcPts val="60"/>
              </a:spcAft>
            </a:pPr>
            <a:r>
              <a:rPr sz="300" b="0" i="0">
                <a:solidFill>
                  <a:srgbClr val="111827"/>
                </a:solidFill>
                <a:latin typeface="Times New Roman"/>
              </a:rPr>
              <a:t>6. Eisenlohr-Moul T et al. BMC Psychiatry. 2022;22. doi:10.1186/s12888-022-03851-0</a:t>
            </a:r>
          </a:p>
          <a:p>
            <a:pPr algn="l">
              <a:spcAft>
                <a:spcPts val="60"/>
              </a:spcAft>
            </a:pPr>
            <a:r>
              <a:rPr sz="300" b="0" i="1">
                <a:solidFill>
                  <a:srgbClr val="111827"/>
                </a:solidFill>
                <a:latin typeface="Times New Roman"/>
              </a:rPr>
              <a:t>Scan the QR code for the full reference list.</a:t>
            </a:r>
          </a:p>
        </p:txBody>
      </p:sp>
    </p:spTree>
    <p:extLst>
      <p:ext uri="{BB962C8B-B14F-4D97-AF65-F5344CB8AC3E}">
        <p14:creationId xmlns:p14="http://schemas.microsoft.com/office/powerpoint/2010/main" val="161073397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866</TotalTime>
  <Words>1215</Words>
  <Application>Microsoft Office PowerPoint</Application>
  <PresentationFormat>On-screen Show (4:3)</PresentationFormat>
  <Paragraphs>65</Paragraphs>
  <Slides>1</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vt:i4>
      </vt:variant>
    </vt:vector>
  </HeadingPairs>
  <TitlesOfParts>
    <vt:vector size="10" baseType="lpstr">
      <vt:lpstr>Aptos</vt: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Shobayo, Ifeoluwanimi (Public &amp; Community Health)</dc:creator>
  <cp:lastModifiedBy>Shobayo, Ifeoluwanimi (Public &amp; Community Health)</cp:lastModifiedBy>
  <cp:revision>5</cp:revision>
  <dcterms:created xsi:type="dcterms:W3CDTF">2026-08-26T00:09:23Z</dcterms:created>
  <dcterms:modified xsi:type="dcterms:W3CDTF">2026-09-29T15:33:18Z</dcterms:modified>
</cp:coreProperties>
</file>