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
  </p:notesMasterIdLst>
  <p:sldIdLst>
    <p:sldId id="256" r:id="rId2"/>
  </p:sldIdLst>
  <p:sldSz cx="43891200" cy="32918400"/>
  <p:notesSz cx="9144000" cy="6858000"/>
  <p:defaultTextStyle>
    <a:defPPr>
      <a:defRPr lang="en-US"/>
    </a:defPPr>
    <a:lvl1pPr marL="0" algn="l" defTabSz="2072951" rtl="0" eaLnBrk="1" latinLnBrk="0" hangingPunct="1">
      <a:defRPr sz="8200" kern="1200">
        <a:solidFill>
          <a:schemeClr val="tx1"/>
        </a:solidFill>
        <a:latin typeface="+mn-lt"/>
        <a:ea typeface="+mn-ea"/>
        <a:cs typeface="+mn-cs"/>
      </a:defRPr>
    </a:lvl1pPr>
    <a:lvl2pPr marL="2072951" algn="l" defTabSz="2072951" rtl="0" eaLnBrk="1" latinLnBrk="0" hangingPunct="1">
      <a:defRPr sz="8200" kern="1200">
        <a:solidFill>
          <a:schemeClr val="tx1"/>
        </a:solidFill>
        <a:latin typeface="+mn-lt"/>
        <a:ea typeface="+mn-ea"/>
        <a:cs typeface="+mn-cs"/>
      </a:defRPr>
    </a:lvl2pPr>
    <a:lvl3pPr marL="4145900" algn="l" defTabSz="2072951" rtl="0" eaLnBrk="1" latinLnBrk="0" hangingPunct="1">
      <a:defRPr sz="8200" kern="1200">
        <a:solidFill>
          <a:schemeClr val="tx1"/>
        </a:solidFill>
        <a:latin typeface="+mn-lt"/>
        <a:ea typeface="+mn-ea"/>
        <a:cs typeface="+mn-cs"/>
      </a:defRPr>
    </a:lvl3pPr>
    <a:lvl4pPr marL="6218851" algn="l" defTabSz="2072951" rtl="0" eaLnBrk="1" latinLnBrk="0" hangingPunct="1">
      <a:defRPr sz="8200" kern="1200">
        <a:solidFill>
          <a:schemeClr val="tx1"/>
        </a:solidFill>
        <a:latin typeface="+mn-lt"/>
        <a:ea typeface="+mn-ea"/>
        <a:cs typeface="+mn-cs"/>
      </a:defRPr>
    </a:lvl4pPr>
    <a:lvl5pPr marL="8291798" algn="l" defTabSz="2072951" rtl="0" eaLnBrk="1" latinLnBrk="0" hangingPunct="1">
      <a:defRPr sz="8200" kern="1200">
        <a:solidFill>
          <a:schemeClr val="tx1"/>
        </a:solidFill>
        <a:latin typeface="+mn-lt"/>
        <a:ea typeface="+mn-ea"/>
        <a:cs typeface="+mn-cs"/>
      </a:defRPr>
    </a:lvl5pPr>
    <a:lvl6pPr marL="10364750" algn="l" defTabSz="2072951" rtl="0" eaLnBrk="1" latinLnBrk="0" hangingPunct="1">
      <a:defRPr sz="8200" kern="1200">
        <a:solidFill>
          <a:schemeClr val="tx1"/>
        </a:solidFill>
        <a:latin typeface="+mn-lt"/>
        <a:ea typeface="+mn-ea"/>
        <a:cs typeface="+mn-cs"/>
      </a:defRPr>
    </a:lvl6pPr>
    <a:lvl7pPr marL="12437701" algn="l" defTabSz="2072951" rtl="0" eaLnBrk="1" latinLnBrk="0" hangingPunct="1">
      <a:defRPr sz="8200" kern="1200">
        <a:solidFill>
          <a:schemeClr val="tx1"/>
        </a:solidFill>
        <a:latin typeface="+mn-lt"/>
        <a:ea typeface="+mn-ea"/>
        <a:cs typeface="+mn-cs"/>
      </a:defRPr>
    </a:lvl7pPr>
    <a:lvl8pPr marL="14510648" algn="l" defTabSz="2072951" rtl="0" eaLnBrk="1" latinLnBrk="0" hangingPunct="1">
      <a:defRPr sz="8200" kern="1200">
        <a:solidFill>
          <a:schemeClr val="tx1"/>
        </a:solidFill>
        <a:latin typeface="+mn-lt"/>
        <a:ea typeface="+mn-ea"/>
        <a:cs typeface="+mn-cs"/>
      </a:defRPr>
    </a:lvl8pPr>
    <a:lvl9pPr marL="16583601" algn="l" defTabSz="207295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9">
          <p15:clr>
            <a:srgbClr val="A4A3A4"/>
          </p15:clr>
        </p15:guide>
        <p15:guide id="2" pos="16128">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CE1E"/>
    <a:srgbClr val="00C28D"/>
    <a:srgbClr val="00B4FF"/>
    <a:srgbClr val="008080"/>
    <a:srgbClr val="1270FC"/>
    <a:srgbClr val="FFA200"/>
    <a:srgbClr val="008000"/>
    <a:srgbClr val="FFFFFF"/>
    <a:srgbClr val="0A254E"/>
    <a:srgbClr val="0A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1260" y="112"/>
      </p:cViewPr>
      <p:guideLst>
        <p:guide orient="horz" pos="10369"/>
        <p:guide pos="1612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Studies</c:v>
                </c:pt>
              </c:strCache>
            </c:strRef>
          </c:tx>
          <c:spPr>
            <a:solidFill>
              <a:srgbClr val="0A254E"/>
            </a:solidFill>
          </c:spPr>
          <c:cat>
            <c:strRef>
              <c:f>Sheet1!$A$2:$A$14</c:f>
              <c:strCache>
                <c:ptCount val="13"/>
                <c:pt idx="0">
                  <c:v>Lived experience &amp; help-seeking</c:v>
                </c:pt>
                <c:pt idx="1">
                  <c:v>Coping strategies &amp; resilience</c:v>
                </c:pt>
                <c:pt idx="2">
                  <c:v>Trauma &amp; adversity</c:v>
                </c:pt>
                <c:pt idx="3">
                  <c:v>Personality &amp; temperament</c:v>
                </c:pt>
                <c:pt idx="4">
                  <c:v>Quality of life</c:v>
                </c:pt>
                <c:pt idx="5">
                  <c:v>Interpersonal functioning</c:v>
                </c:pt>
                <c:pt idx="6">
                  <c:v>Anxiety</c:v>
                </c:pt>
                <c:pt idx="7">
                  <c:v>Suicidality &amp; self-harm</c:v>
                </c:pt>
                <c:pt idx="8">
                  <c:v>Academic/occupational functioning</c:v>
                </c:pt>
                <c:pt idx="9">
                  <c:v>Distress &amp; perceived stress</c:v>
                </c:pt>
                <c:pt idx="10">
                  <c:v>Mood &amp; emotion regulation</c:v>
                </c:pt>
                <c:pt idx="11">
                  <c:v>Psychiatric comorbidity</c:v>
                </c:pt>
                <c:pt idx="12">
                  <c:v>Depression</c:v>
                </c:pt>
              </c:strCache>
            </c:strRef>
          </c:cat>
          <c:val>
            <c:numRef>
              <c:f>Sheet1!$B$2:$B$14</c:f>
              <c:numCache>
                <c:formatCode>General</c:formatCode>
                <c:ptCount val="13"/>
                <c:pt idx="0">
                  <c:v>5</c:v>
                </c:pt>
                <c:pt idx="1">
                  <c:v>7</c:v>
                </c:pt>
                <c:pt idx="2">
                  <c:v>7</c:v>
                </c:pt>
                <c:pt idx="3">
                  <c:v>7</c:v>
                </c:pt>
                <c:pt idx="4">
                  <c:v>8</c:v>
                </c:pt>
                <c:pt idx="5">
                  <c:v>12</c:v>
                </c:pt>
                <c:pt idx="6">
                  <c:v>13</c:v>
                </c:pt>
                <c:pt idx="7">
                  <c:v>13</c:v>
                </c:pt>
                <c:pt idx="8">
                  <c:v>13</c:v>
                </c:pt>
                <c:pt idx="9">
                  <c:v>16</c:v>
                </c:pt>
                <c:pt idx="10">
                  <c:v>18</c:v>
                </c:pt>
                <c:pt idx="11">
                  <c:v>18</c:v>
                </c:pt>
                <c:pt idx="12">
                  <c:v>28</c:v>
                </c:pt>
              </c:numCache>
            </c:numRef>
          </c:val>
        </c:ser>
        <c:dLbls>
          <c:numFmt formatCode="0" sourceLinked="0"/>
          <c:txPr>
            <a:bodyPr/>
            <a:lstStyle/>
            <a:p>
              <a:pPr>
                <a:defRPr sz="1500">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9CA3AF"/>
            </a:solidFill>
          </a:ln>
        </c:spPr>
        <c:txPr>
          <a:bodyPr/>
          <a:lstStyle/>
          <a:p>
            <a:pPr>
              <a:defRPr sz="1500"/>
            </a:pPr>
          </a:p>
        </c:txPr>
        <c:crossAx val="-2113994440"/>
        <c:crosses val="autoZero"/>
        <c:auto val="1"/>
        <c:lblAlgn val="ctr"/>
        <c:lblOffset val="100"/>
        <c:noMultiLvlLbl val="0"/>
      </c:catAx>
      <c:valAx>
        <c:axId val="-2113994440"/>
        <c:scaling>
          <c:max val="32.0"/>
          <c:min val="0.0"/>
        </c:scaling>
        <c:delete/>
        <c:axPos val="b"/>
        <c:majorTickMark val="out"/>
        <c:minorTickMark val="none"/>
        <c:tickLblPos val="nextTo"/>
        <c:crossAx val="-2068027336"/>
        <c:crosses val="autoZero"/>
      </c:valAx>
    </c:plotArea>
    <c:dispBlanksAs val="gap"/>
  </c:chart>
  <c:txPr>
    <a:bodyPr/>
    <a:lstStyle/>
    <a:p>
      <a:pPr>
        <a:defRPr sz="1500">
          <a:solidFill>
            <a:srgbClr val="11182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Studies</c:v>
                </c:pt>
              </c:strCache>
            </c:strRef>
          </c:tx>
          <c:spPr>
            <a:solidFill>
              <a:srgbClr val="0A254E"/>
            </a:solidFill>
          </c:spPr>
          <c:dPt>
            <c:idx val="0"/>
            <c:spPr>
              <a:solidFill>
                <a:srgbClr val="0A254E"/>
              </a:solidFill>
            </c:spPr>
          </c:dPt>
          <c:dPt>
            <c:idx val="1"/>
            <c:spPr>
              <a:solidFill>
                <a:srgbClr val="C2410C"/>
              </a:solidFill>
            </c:spPr>
          </c:dPt>
          <c:dPt>
            <c:idx val="2"/>
            <c:spPr>
              <a:solidFill>
                <a:srgbClr val="C2410C"/>
              </a:solidFill>
            </c:spPr>
          </c:dPt>
          <c:dPt>
            <c:idx val="3"/>
            <c:spPr>
              <a:solidFill>
                <a:srgbClr val="C2410C"/>
              </a:solidFill>
            </c:spPr>
          </c:dPt>
          <c:dPt>
            <c:idx val="4"/>
            <c:spPr>
              <a:solidFill>
                <a:srgbClr val="9CA3AF"/>
              </a:solidFill>
            </c:spPr>
          </c:dPt>
          <c:cat>
            <c:strRef>
              <c:f>Sheet1!$A$2:$A$6</c:f>
              <c:strCache>
                <c:ptCount val="5"/>
                <c:pt idx="0">
                  <c:v>High</c:v>
                </c:pt>
                <c:pt idx="1">
                  <c:v>Upper-middle</c:v>
                </c:pt>
                <c:pt idx="2">
                  <c:v>Lower-middle</c:v>
                </c:pt>
                <c:pt idx="3">
                  <c:v>Low</c:v>
                </c:pt>
                <c:pt idx="4">
                  <c:v>Online / NR</c:v>
                </c:pt>
              </c:strCache>
            </c:strRef>
          </c:cat>
          <c:val>
            <c:numRef>
              <c:f>Sheet1!$B$2:$B$6</c:f>
              <c:numCache>
                <c:formatCode>General</c:formatCode>
                <c:ptCount val="5"/>
                <c:pt idx="0">
                  <c:v>57</c:v>
                </c:pt>
                <c:pt idx="1">
                  <c:v>16</c:v>
                </c:pt>
                <c:pt idx="2">
                  <c:v>3</c:v>
                </c:pt>
                <c:pt idx="3">
                  <c:v>2</c:v>
                </c:pt>
                <c:pt idx="4">
                  <c:v>7</c:v>
                </c:pt>
              </c:numCache>
            </c:numRef>
          </c:val>
        </c:ser>
        <c:dLbls>
          <c:numFmt formatCode="0" sourceLinked="0"/>
          <c:txPr>
            <a:bodyPr/>
            <a:lstStyle/>
            <a:p>
              <a:pPr>
                <a:defRPr sz="1600">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9CA3AF"/>
            </a:solidFill>
          </a:ln>
        </c:spPr>
        <c:txPr>
          <a:bodyPr/>
          <a:lstStyle/>
          <a:p>
            <a:pPr>
              <a:defRPr sz="1600"/>
            </a:pPr>
          </a:p>
        </c:txPr>
        <c:crossAx val="-2113994440"/>
        <c:crosses val="autoZero"/>
        <c:auto val="1"/>
        <c:lblAlgn val="ctr"/>
        <c:lblOffset val="100"/>
        <c:noMultiLvlLbl val="0"/>
      </c:catAx>
      <c:valAx>
        <c:axId val="-2113994440"/>
        <c:scaling>
          <c:max val="64.0"/>
          <c:min val="0.0"/>
        </c:scaling>
        <c:delete/>
        <c:axPos val="l"/>
        <c:majorTickMark val="out"/>
        <c:minorTickMark val="none"/>
        <c:tickLblPos val="nextTo"/>
        <c:crossAx val="-2068027336"/>
        <c:crosses val="autoZero"/>
      </c:valAx>
    </c:plotArea>
    <c:dispBlanksAs val="gap"/>
  </c:chart>
  <c:txPr>
    <a:bodyPr/>
    <a:lstStyle/>
    <a:p>
      <a:pPr>
        <a:defRPr sz="1600">
          <a:solidFill>
            <a:srgbClr val="111827"/>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Studies</c:v>
                </c:pt>
              </c:strCache>
            </c:strRef>
          </c:tx>
          <c:spPr>
            <a:solidFill>
              <a:srgbClr val="0A254E"/>
            </a:solidFill>
          </c:spPr>
          <c:dPt>
            <c:idx val="1"/>
            <c:spPr>
              <a:solidFill>
                <a:srgbClr val="C2410C"/>
              </a:solidFill>
            </c:spPr>
          </c:dPt>
          <c:cat>
            <c:strRef>
              <c:f>Sheet1!$A$2:$A$9</c:f>
              <c:strCache>
                <c:ptCount val="8"/>
                <c:pt idx="0">
                  <c:v>South Asia</c:v>
                </c:pt>
                <c:pt idx="1">
                  <c:v>Sub-Saharan Africa</c:v>
                </c:pt>
                <c:pt idx="2">
                  <c:v>Latin America &amp; Caribbean</c:v>
                </c:pt>
                <c:pt idx="3">
                  <c:v>Online / multinational / NR</c:v>
                </c:pt>
                <c:pt idx="4">
                  <c:v>Middle East &amp; North Africa</c:v>
                </c:pt>
                <c:pt idx="5">
                  <c:v>North America</c:v>
                </c:pt>
                <c:pt idx="6">
                  <c:v>East Asia &amp; Pacific</c:v>
                </c:pt>
                <c:pt idx="7">
                  <c:v>Europe &amp; Central Asia</c:v>
                </c:pt>
              </c:strCache>
            </c:strRef>
          </c:cat>
          <c:val>
            <c:numRef>
              <c:f>Sheet1!$B$2:$B$9</c:f>
              <c:numCache>
                <c:formatCode>General</c:formatCode>
                <c:ptCount val="8"/>
                <c:pt idx="0">
                  <c:v>1</c:v>
                </c:pt>
                <c:pt idx="1">
                  <c:v>3</c:v>
                </c:pt>
                <c:pt idx="2">
                  <c:v>3</c:v>
                </c:pt>
                <c:pt idx="3">
                  <c:v>7</c:v>
                </c:pt>
                <c:pt idx="4">
                  <c:v>10</c:v>
                </c:pt>
                <c:pt idx="5">
                  <c:v>15</c:v>
                </c:pt>
                <c:pt idx="6">
                  <c:v>17</c:v>
                </c:pt>
                <c:pt idx="7">
                  <c:v>29</c:v>
                </c:pt>
              </c:numCache>
            </c:numRef>
          </c:val>
        </c:ser>
        <c:dLbls>
          <c:numFmt formatCode="0" sourceLinked="0"/>
          <c:txPr>
            <a:bodyPr/>
            <a:lstStyle/>
            <a:p>
              <a:pPr>
                <a:defRPr sz="1600">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9CA3AF"/>
            </a:solidFill>
          </a:ln>
        </c:spPr>
        <c:txPr>
          <a:bodyPr/>
          <a:lstStyle/>
          <a:p>
            <a:pPr>
              <a:defRPr sz="1600"/>
            </a:pPr>
          </a:p>
        </c:txPr>
        <c:crossAx val="-2113994440"/>
        <c:crosses val="autoZero"/>
        <c:auto val="1"/>
        <c:lblAlgn val="ctr"/>
        <c:lblOffset val="100"/>
        <c:noMultiLvlLbl val="0"/>
      </c:catAx>
      <c:valAx>
        <c:axId val="-2113994440"/>
        <c:scaling>
          <c:max val="33.0"/>
          <c:min val="0.0"/>
        </c:scaling>
        <c:delete/>
        <c:axPos val="b"/>
        <c:majorTickMark val="out"/>
        <c:minorTickMark val="none"/>
        <c:tickLblPos val="nextTo"/>
        <c:crossAx val="-2068027336"/>
        <c:crosses val="autoZero"/>
      </c:valAx>
    </c:plotArea>
    <c:dispBlanksAs val="gap"/>
  </c:chart>
  <c:txPr>
    <a:bodyPr/>
    <a:lstStyle/>
    <a:p>
      <a:pPr>
        <a:defRPr sz="1600">
          <a:solidFill>
            <a:srgbClr val="111827"/>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6263FE2-9438-354A-B60A-5A471281E58B}" type="datetimeFigureOut">
              <a:rPr lang="en-US" smtClean="0"/>
              <a:t>9/27/2026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ECA9BC3-5A08-5C40-8DE6-1B49CE826337}" type="slidenum">
              <a:rPr lang="en-US" smtClean="0"/>
              <a:t>‹#›</a:t>
            </a:fld>
            <a:endParaRPr lang="en-US"/>
          </a:p>
        </p:txBody>
      </p:sp>
    </p:spTree>
    <p:extLst>
      <p:ext uri="{BB962C8B-B14F-4D97-AF65-F5344CB8AC3E}">
        <p14:creationId xmlns:p14="http://schemas.microsoft.com/office/powerpoint/2010/main" val="3278815488"/>
      </p:ext>
    </p:extLst>
  </p:cSld>
  <p:clrMap bg1="lt1" tx1="dk1" bg2="lt2" tx2="dk2" accent1="accent1" accent2="accent2" accent3="accent3" accent4="accent4" accent5="accent5" accent6="accent6" hlink="hlink" folHlink="folHlink"/>
  <p:notesStyle>
    <a:lvl1pPr marL="0" algn="l" defTabSz="477467" rtl="0" eaLnBrk="1" latinLnBrk="0" hangingPunct="1">
      <a:defRPr sz="1300" kern="1200">
        <a:solidFill>
          <a:schemeClr val="tx1"/>
        </a:solidFill>
        <a:latin typeface="+mn-lt"/>
        <a:ea typeface="+mn-ea"/>
        <a:cs typeface="+mn-cs"/>
      </a:defRPr>
    </a:lvl1pPr>
    <a:lvl2pPr marL="477467" algn="l" defTabSz="477467" rtl="0" eaLnBrk="1" latinLnBrk="0" hangingPunct="1">
      <a:defRPr sz="1300" kern="1200">
        <a:solidFill>
          <a:schemeClr val="tx1"/>
        </a:solidFill>
        <a:latin typeface="+mn-lt"/>
        <a:ea typeface="+mn-ea"/>
        <a:cs typeface="+mn-cs"/>
      </a:defRPr>
    </a:lvl2pPr>
    <a:lvl3pPr marL="954936" algn="l" defTabSz="477467" rtl="0" eaLnBrk="1" latinLnBrk="0" hangingPunct="1">
      <a:defRPr sz="1300" kern="1200">
        <a:solidFill>
          <a:schemeClr val="tx1"/>
        </a:solidFill>
        <a:latin typeface="+mn-lt"/>
        <a:ea typeface="+mn-ea"/>
        <a:cs typeface="+mn-cs"/>
      </a:defRPr>
    </a:lvl3pPr>
    <a:lvl4pPr marL="1432403" algn="l" defTabSz="477467" rtl="0" eaLnBrk="1" latinLnBrk="0" hangingPunct="1">
      <a:defRPr sz="1300" kern="1200">
        <a:solidFill>
          <a:schemeClr val="tx1"/>
        </a:solidFill>
        <a:latin typeface="+mn-lt"/>
        <a:ea typeface="+mn-ea"/>
        <a:cs typeface="+mn-cs"/>
      </a:defRPr>
    </a:lvl4pPr>
    <a:lvl5pPr marL="1909870" algn="l" defTabSz="477467" rtl="0" eaLnBrk="1" latinLnBrk="0" hangingPunct="1">
      <a:defRPr sz="1300" kern="1200">
        <a:solidFill>
          <a:schemeClr val="tx1"/>
        </a:solidFill>
        <a:latin typeface="+mn-lt"/>
        <a:ea typeface="+mn-ea"/>
        <a:cs typeface="+mn-cs"/>
      </a:defRPr>
    </a:lvl5pPr>
    <a:lvl6pPr marL="2387337" algn="l" defTabSz="477467" rtl="0" eaLnBrk="1" latinLnBrk="0" hangingPunct="1">
      <a:defRPr sz="1300" kern="1200">
        <a:solidFill>
          <a:schemeClr val="tx1"/>
        </a:solidFill>
        <a:latin typeface="+mn-lt"/>
        <a:ea typeface="+mn-ea"/>
        <a:cs typeface="+mn-cs"/>
      </a:defRPr>
    </a:lvl6pPr>
    <a:lvl7pPr marL="2864805" algn="l" defTabSz="477467" rtl="0" eaLnBrk="1" latinLnBrk="0" hangingPunct="1">
      <a:defRPr sz="1300" kern="1200">
        <a:solidFill>
          <a:schemeClr val="tx1"/>
        </a:solidFill>
        <a:latin typeface="+mn-lt"/>
        <a:ea typeface="+mn-ea"/>
        <a:cs typeface="+mn-cs"/>
      </a:defRPr>
    </a:lvl7pPr>
    <a:lvl8pPr marL="3342272" algn="l" defTabSz="477467" rtl="0" eaLnBrk="1" latinLnBrk="0" hangingPunct="1">
      <a:defRPr sz="1300" kern="1200">
        <a:solidFill>
          <a:schemeClr val="tx1"/>
        </a:solidFill>
        <a:latin typeface="+mn-lt"/>
        <a:ea typeface="+mn-ea"/>
        <a:cs typeface="+mn-cs"/>
      </a:defRPr>
    </a:lvl8pPr>
    <a:lvl9pPr marL="3819741" algn="l" defTabSz="47746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ECA9BC3-5A08-5C40-8DE6-1B49CE826337}" type="slidenum">
              <a:rPr lang="en-US" smtClean="0"/>
              <a:t>1</a:t>
            </a:fld>
            <a:endParaRPr lang="en-US"/>
          </a:p>
        </p:txBody>
      </p:sp>
    </p:spTree>
    <p:extLst>
      <p:ext uri="{BB962C8B-B14F-4D97-AF65-F5344CB8AC3E}">
        <p14:creationId xmlns:p14="http://schemas.microsoft.com/office/powerpoint/2010/main" val="2332982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34496" y="8493799"/>
            <a:ext cx="33984125" cy="8778245"/>
          </a:xfrm>
        </p:spPr>
        <p:txBody>
          <a:bodyPr anchor="b">
            <a:normAutofit/>
          </a:bodyPr>
          <a:lstStyle>
            <a:lvl1pPr algn="ctr">
              <a:defRPr sz="25920"/>
            </a:lvl1pPr>
          </a:lstStyle>
          <a:p>
            <a:r>
              <a:rPr lang="en-US"/>
              <a:t>Click to edit Master title style</a:t>
            </a:r>
          </a:p>
        </p:txBody>
      </p:sp>
      <p:sp>
        <p:nvSpPr>
          <p:cNvPr id="3" name="Subtitle 2"/>
          <p:cNvSpPr>
            <a:spLocks noGrp="1"/>
          </p:cNvSpPr>
          <p:nvPr>
            <p:ph type="subTitle" idx="1"/>
          </p:nvPr>
        </p:nvSpPr>
        <p:spPr>
          <a:xfrm>
            <a:off x="4934496" y="17272029"/>
            <a:ext cx="33984125" cy="5039362"/>
          </a:xfrm>
        </p:spPr>
        <p:txBody>
          <a:bodyPr anchor="t"/>
          <a:lstStyle>
            <a:lvl1pPr marL="0" indent="0" algn="ctr">
              <a:buNone/>
              <a:defRPr>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63D97CC-475F-BE49-B579-6BFEF977A37E}"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23356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3D97CC-475F-BE49-B579-6BFEF977A37E}"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6753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63447" y="8453129"/>
            <a:ext cx="34525982" cy="8778302"/>
          </a:xfrm>
        </p:spPr>
        <p:txBody>
          <a:bodyPr anchor="b"/>
          <a:lstStyle>
            <a:lvl1pPr algn="ctr">
              <a:defRPr sz="19200" b="0" cap="none"/>
            </a:lvl1pPr>
          </a:lstStyle>
          <a:p>
            <a:r>
              <a:rPr lang="en-US"/>
              <a:t>Click to edit Master title style</a:t>
            </a:r>
          </a:p>
        </p:txBody>
      </p:sp>
      <p:sp>
        <p:nvSpPr>
          <p:cNvPr id="3" name="Text Placeholder 2"/>
          <p:cNvSpPr>
            <a:spLocks noGrp="1"/>
          </p:cNvSpPr>
          <p:nvPr>
            <p:ph type="body" idx="1"/>
          </p:nvPr>
        </p:nvSpPr>
        <p:spPr>
          <a:xfrm>
            <a:off x="4663447" y="17231419"/>
            <a:ext cx="34525982" cy="7233859"/>
          </a:xfrm>
        </p:spPr>
        <p:txBody>
          <a:bodyPr anchor="t"/>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3D97CC-475F-BE49-B579-6BFEF977A37E}"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46892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89668" y="8315755"/>
            <a:ext cx="18217790" cy="194820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30414" y="8315762"/>
            <a:ext cx="18232795" cy="194820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41003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659" y="8497553"/>
            <a:ext cx="18179630" cy="19742174"/>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3579" y="8497553"/>
            <a:ext cx="18179630" cy="1974217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621139" y="8809219"/>
            <a:ext cx="17554838" cy="2615443"/>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621139" y="11424665"/>
            <a:ext cx="17554838"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661880" y="8809227"/>
            <a:ext cx="17623190" cy="2615438"/>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661880" y="11424665"/>
            <a:ext cx="17623190"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3D97CC-475F-BE49-B579-6BFEF977A37E}"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53281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3D97CC-475F-BE49-B579-6BFEF977A37E}"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4682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D97CC-475F-BE49-B579-6BFEF977A37E}"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70770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8" y="2926080"/>
            <a:ext cx="13344802" cy="8745206"/>
          </a:xfrm>
        </p:spPr>
        <p:txBody>
          <a:bodyPr anchor="b">
            <a:normAutofit/>
          </a:bodyPr>
          <a:lstStyle>
            <a:lvl1pPr algn="ctr">
              <a:defRPr sz="11520" b="0"/>
            </a:lvl1pPr>
          </a:lstStyle>
          <a:p>
            <a:r>
              <a:rPr lang="en-US"/>
              <a:t>Click to edit Master title style</a:t>
            </a:r>
          </a:p>
        </p:txBody>
      </p:sp>
      <p:sp>
        <p:nvSpPr>
          <p:cNvPr id="3" name="Content Placeholder 2"/>
          <p:cNvSpPr>
            <a:spLocks noGrp="1"/>
          </p:cNvSpPr>
          <p:nvPr>
            <p:ph idx="1"/>
          </p:nvPr>
        </p:nvSpPr>
        <p:spPr>
          <a:xfrm>
            <a:off x="17480283" y="2926080"/>
            <a:ext cx="23082926" cy="248716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289668" y="11671289"/>
            <a:ext cx="13344802" cy="16126469"/>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661533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5938" y="2927630"/>
            <a:ext cx="16455101" cy="24986266"/>
          </a:xfrm>
          <a:prstGeom prst="rect">
            <a:avLst/>
          </a:prstGeom>
        </p:spPr>
      </p:pic>
      <p:sp>
        <p:nvSpPr>
          <p:cNvPr id="2" name="Title 1"/>
          <p:cNvSpPr>
            <a:spLocks noGrp="1"/>
          </p:cNvSpPr>
          <p:nvPr>
            <p:ph type="title"/>
          </p:nvPr>
        </p:nvSpPr>
        <p:spPr>
          <a:xfrm>
            <a:off x="3289666" y="2927631"/>
            <a:ext cx="18838445" cy="8780822"/>
          </a:xfrm>
        </p:spPr>
        <p:txBody>
          <a:bodyPr anchor="b">
            <a:noAutofit/>
          </a:bodyPr>
          <a:lstStyle>
            <a:lvl1pPr algn="ctr">
              <a:defRPr sz="15360" b="0"/>
            </a:lvl1pPr>
          </a:lstStyle>
          <a:p>
            <a:r>
              <a:rPr lang="en-US"/>
              <a:t>Click to edit Master title style</a:t>
            </a:r>
          </a:p>
        </p:txBody>
      </p:sp>
      <p:sp>
        <p:nvSpPr>
          <p:cNvPr id="3" name="Picture Placeholder 2"/>
          <p:cNvSpPr>
            <a:spLocks noGrp="1" noChangeAspect="1"/>
          </p:cNvSpPr>
          <p:nvPr>
            <p:ph type="pic" idx="1"/>
          </p:nvPr>
        </p:nvSpPr>
        <p:spPr>
          <a:xfrm>
            <a:off x="23888297" y="3571147"/>
            <a:ext cx="15193800" cy="23581546"/>
          </a:xfr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p>
        </p:txBody>
      </p:sp>
      <p:sp>
        <p:nvSpPr>
          <p:cNvPr id="4" name="Text Placeholder 3"/>
          <p:cNvSpPr>
            <a:spLocks noGrp="1"/>
          </p:cNvSpPr>
          <p:nvPr>
            <p:ph type="body" sz="half" idx="2"/>
          </p:nvPr>
        </p:nvSpPr>
        <p:spPr>
          <a:xfrm>
            <a:off x="3289666" y="11708453"/>
            <a:ext cx="18838445" cy="16205443"/>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97521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176" y="2592408"/>
            <a:ext cx="36748848" cy="18404995"/>
          </a:xfrm>
          <a:prstGeom prst="rect">
            <a:avLst/>
          </a:prstGeom>
        </p:spPr>
      </p:pic>
      <p:sp>
        <p:nvSpPr>
          <p:cNvPr id="2" name="Title 1"/>
          <p:cNvSpPr>
            <a:spLocks noGrp="1"/>
          </p:cNvSpPr>
          <p:nvPr>
            <p:ph type="title"/>
          </p:nvPr>
        </p:nvSpPr>
        <p:spPr>
          <a:xfrm>
            <a:off x="3289702" y="21913224"/>
            <a:ext cx="37279176" cy="2608666"/>
          </a:xfrm>
        </p:spPr>
        <p:txBody>
          <a:bodyPr anchor="b">
            <a:normAutofit/>
          </a:bodyPr>
          <a:lstStyle>
            <a:lvl1pPr algn="ctr">
              <a:defRPr sz="13440"/>
            </a:lvl1pPr>
          </a:lstStyle>
          <a:p>
            <a:r>
              <a:rPr lang="en-US"/>
              <a:t>Click to edit Master title style</a:t>
            </a:r>
          </a:p>
        </p:txBody>
      </p:sp>
      <p:sp>
        <p:nvSpPr>
          <p:cNvPr id="3" name="Picture Placeholder 2"/>
          <p:cNvSpPr>
            <a:spLocks noGrp="1" noChangeAspect="1"/>
          </p:cNvSpPr>
          <p:nvPr>
            <p:ph type="pic" idx="1"/>
          </p:nvPr>
        </p:nvSpPr>
        <p:spPr>
          <a:xfrm>
            <a:off x="4445842" y="3336050"/>
            <a:ext cx="34970880" cy="16923221"/>
          </a:xfrm>
          <a:effectLst>
            <a:outerShdw blurRad="38100" dist="25400" dir="4440000">
              <a:srgbClr val="000000">
                <a:alpha val="36000"/>
              </a:srgbClr>
            </a:outerShdw>
          </a:effectLst>
        </p:spPr>
        <p:txBody>
          <a:bodyPr anchor="t">
            <a:normAutofit/>
          </a:bodyPr>
          <a:lstStyle>
            <a:lvl1pPr marL="0" indent="0" algn="ctr">
              <a:buNone/>
              <a:defRPr sz="9600"/>
            </a:lvl1pPr>
            <a:lvl2pPr marL="2194560" indent="0">
              <a:buNone/>
              <a:defRPr sz="9600"/>
            </a:lvl2pPr>
            <a:lvl3pPr marL="4389120" indent="0">
              <a:buNone/>
              <a:defRPr sz="9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a:off x="3289661" y="24521894"/>
            <a:ext cx="37273546" cy="3275866"/>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6241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1" y="2920498"/>
            <a:ext cx="37273546" cy="16964851"/>
          </a:xfrm>
        </p:spPr>
        <p:txBody>
          <a:bodyPr anchor="ctr"/>
          <a:lstStyle>
            <a:lvl1pPr>
              <a:defRPr sz="15360"/>
            </a:lvl1pPr>
          </a:lstStyle>
          <a:p>
            <a:r>
              <a:rPr lang="en-US"/>
              <a:t>Click to edit Master title style</a:t>
            </a:r>
          </a:p>
        </p:txBody>
      </p:sp>
      <p:sp>
        <p:nvSpPr>
          <p:cNvPr id="4" name="Text Placeholder 3"/>
          <p:cNvSpPr>
            <a:spLocks noGrp="1"/>
          </p:cNvSpPr>
          <p:nvPr>
            <p:ph type="body" sz="half" idx="2"/>
          </p:nvPr>
        </p:nvSpPr>
        <p:spPr>
          <a:xfrm>
            <a:off x="3289661" y="20616864"/>
            <a:ext cx="37273546" cy="7208765"/>
          </a:xfrm>
        </p:spPr>
        <p:txBody>
          <a:bodyPr anchor="ct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131837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6363" y="2926080"/>
            <a:ext cx="33489907" cy="14365939"/>
          </a:xfrm>
        </p:spPr>
        <p:txBody>
          <a:bodyPr anchor="ctr"/>
          <a:lstStyle>
            <a:lvl1pPr>
              <a:defRPr sz="15360"/>
            </a:lvl1pPr>
          </a:lstStyle>
          <a:p>
            <a:r>
              <a:rPr lang="en-US"/>
              <a:t>Click to edit Master title style</a:t>
            </a:r>
          </a:p>
        </p:txBody>
      </p:sp>
      <p:sp>
        <p:nvSpPr>
          <p:cNvPr id="12" name="Text Placeholder 3"/>
          <p:cNvSpPr>
            <a:spLocks noGrp="1"/>
          </p:cNvSpPr>
          <p:nvPr>
            <p:ph type="body" sz="half" idx="13"/>
          </p:nvPr>
        </p:nvSpPr>
        <p:spPr>
          <a:xfrm>
            <a:off x="6194323" y="17328161"/>
            <a:ext cx="31508275" cy="2557195"/>
          </a:xfrm>
        </p:spPr>
        <p:txBody>
          <a:bodyPr anchor="t">
            <a:normAutofit/>
          </a:bodyPr>
          <a:lstStyle>
            <a:lvl1pPr marL="0" indent="0" algn="r">
              <a:buNone/>
              <a:defRPr sz="672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4" name="Text Placeholder 3"/>
          <p:cNvSpPr>
            <a:spLocks noGrp="1"/>
          </p:cNvSpPr>
          <p:nvPr>
            <p:ph type="body" sz="half" idx="2"/>
          </p:nvPr>
        </p:nvSpPr>
        <p:spPr>
          <a:xfrm>
            <a:off x="3289661" y="20660894"/>
            <a:ext cx="37273546" cy="7149581"/>
          </a:xfrm>
        </p:spPr>
        <p:txBody>
          <a:bodyPr anchor="ctr">
            <a:normAutofit/>
          </a:bodyP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
        <p:nvSpPr>
          <p:cNvPr id="11" name="TextBox 10"/>
          <p:cNvSpPr txBox="1"/>
          <p:nvPr/>
        </p:nvSpPr>
        <p:spPr>
          <a:xfrm>
            <a:off x="3011803" y="4194778"/>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8400">
                <a:solidFill>
                  <a:schemeClr val="tx1"/>
                </a:solidFill>
                <a:effectLst/>
              </a:rPr>
              <a:t>“</a:t>
            </a:r>
          </a:p>
        </p:txBody>
      </p:sp>
      <p:sp>
        <p:nvSpPr>
          <p:cNvPr id="13" name="TextBox 12"/>
          <p:cNvSpPr txBox="1"/>
          <p:nvPr/>
        </p:nvSpPr>
        <p:spPr>
          <a:xfrm>
            <a:off x="37576123" y="14079576"/>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38400">
                <a:solidFill>
                  <a:schemeClr val="tx1"/>
                </a:solidFill>
                <a:effectLst/>
              </a:rPr>
              <a:t>”</a:t>
            </a:r>
          </a:p>
        </p:txBody>
      </p:sp>
    </p:spTree>
    <p:extLst>
      <p:ext uri="{BB962C8B-B14F-4D97-AF65-F5344CB8AC3E}">
        <p14:creationId xmlns:p14="http://schemas.microsoft.com/office/powerpoint/2010/main" val="2960242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289661" y="10209329"/>
            <a:ext cx="37273546" cy="12056808"/>
          </a:xfrm>
        </p:spPr>
        <p:txBody>
          <a:bodyPr anchor="b"/>
          <a:lstStyle>
            <a:lvl1pPr>
              <a:defRPr sz="15360"/>
            </a:lvl1pPr>
          </a:lstStyle>
          <a:p>
            <a:r>
              <a:rPr lang="en-US"/>
              <a:t>Click to edit Master title style</a:t>
            </a:r>
          </a:p>
        </p:txBody>
      </p:sp>
      <p:sp>
        <p:nvSpPr>
          <p:cNvPr id="4" name="Text Placeholder 3"/>
          <p:cNvSpPr>
            <a:spLocks noGrp="1"/>
          </p:cNvSpPr>
          <p:nvPr>
            <p:ph type="body" sz="half" idx="2"/>
          </p:nvPr>
        </p:nvSpPr>
        <p:spPr>
          <a:xfrm>
            <a:off x="3289630" y="22322669"/>
            <a:ext cx="37267915" cy="5475091"/>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407312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289661" y="2926080"/>
            <a:ext cx="37273546" cy="4658160"/>
          </a:xfrm>
        </p:spPr>
        <p:txBody>
          <a:bodyPr/>
          <a:lstStyle/>
          <a:p>
            <a:r>
              <a:rPr lang="en-US"/>
              <a:t>Click to edit Master title style</a:t>
            </a:r>
          </a:p>
        </p:txBody>
      </p:sp>
      <p:sp>
        <p:nvSpPr>
          <p:cNvPr id="7" name="Text Placeholder 2"/>
          <p:cNvSpPr>
            <a:spLocks noGrp="1"/>
          </p:cNvSpPr>
          <p:nvPr>
            <p:ph type="body" idx="1"/>
          </p:nvPr>
        </p:nvSpPr>
        <p:spPr>
          <a:xfrm>
            <a:off x="3289661"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8" name="Text Placeholder 3"/>
          <p:cNvSpPr>
            <a:spLocks noGrp="1"/>
          </p:cNvSpPr>
          <p:nvPr>
            <p:ph type="body" sz="half" idx="15"/>
          </p:nvPr>
        </p:nvSpPr>
        <p:spPr>
          <a:xfrm>
            <a:off x="3289661"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9" name="Text Placeholder 4"/>
          <p:cNvSpPr>
            <a:spLocks noGrp="1"/>
          </p:cNvSpPr>
          <p:nvPr>
            <p:ph type="body" sz="quarter" idx="3"/>
          </p:nvPr>
        </p:nvSpPr>
        <p:spPr>
          <a:xfrm>
            <a:off x="160081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0" name="Text Placeholder 3"/>
          <p:cNvSpPr>
            <a:spLocks noGrp="1"/>
          </p:cNvSpPr>
          <p:nvPr>
            <p:ph type="body" sz="half" idx="16"/>
          </p:nvPr>
        </p:nvSpPr>
        <p:spPr>
          <a:xfrm>
            <a:off x="15989165"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1" name="Text Placeholder 4"/>
          <p:cNvSpPr>
            <a:spLocks noGrp="1"/>
          </p:cNvSpPr>
          <p:nvPr>
            <p:ph type="body" sz="quarter" idx="13"/>
          </p:nvPr>
        </p:nvSpPr>
        <p:spPr>
          <a:xfrm>
            <a:off x="286796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2" name="Text Placeholder 3"/>
          <p:cNvSpPr>
            <a:spLocks noGrp="1"/>
          </p:cNvSpPr>
          <p:nvPr>
            <p:ph type="body" sz="half" idx="17"/>
          </p:nvPr>
        </p:nvSpPr>
        <p:spPr>
          <a:xfrm>
            <a:off x="28679659"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637317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347" y="8765016"/>
            <a:ext cx="12139421" cy="880107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0302" y="8765016"/>
            <a:ext cx="12139421" cy="880107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232" y="8765016"/>
            <a:ext cx="12139421" cy="8801078"/>
          </a:xfrm>
          <a:prstGeom prst="rect">
            <a:avLst/>
          </a:prstGeom>
        </p:spPr>
      </p:pic>
      <p:sp>
        <p:nvSpPr>
          <p:cNvPr id="30" name="Title 1"/>
          <p:cNvSpPr>
            <a:spLocks noGrp="1"/>
          </p:cNvSpPr>
          <p:nvPr>
            <p:ph type="title"/>
          </p:nvPr>
        </p:nvSpPr>
        <p:spPr>
          <a:xfrm>
            <a:off x="3289661" y="2926080"/>
            <a:ext cx="37273546" cy="4658160"/>
          </a:xfrm>
        </p:spPr>
        <p:txBody>
          <a:bodyPr/>
          <a:lstStyle/>
          <a:p>
            <a:r>
              <a:rPr lang="en-US"/>
              <a:t>Click to edit Master title style</a:t>
            </a:r>
          </a:p>
        </p:txBody>
      </p:sp>
      <p:sp>
        <p:nvSpPr>
          <p:cNvPr id="19" name="Text Placeholder 2"/>
          <p:cNvSpPr>
            <a:spLocks noGrp="1"/>
          </p:cNvSpPr>
          <p:nvPr>
            <p:ph type="body" idx="1"/>
          </p:nvPr>
        </p:nvSpPr>
        <p:spPr>
          <a:xfrm>
            <a:off x="328966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0" name="Picture Placeholder 2"/>
          <p:cNvSpPr>
            <a:spLocks noGrp="1" noChangeAspect="1"/>
          </p:cNvSpPr>
          <p:nvPr>
            <p:ph type="pic" idx="15"/>
          </p:nvPr>
        </p:nvSpPr>
        <p:spPr>
          <a:xfrm>
            <a:off x="3665170" y="9306807"/>
            <a:ext cx="11132525" cy="769417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p>
        </p:txBody>
      </p:sp>
      <p:sp>
        <p:nvSpPr>
          <p:cNvPr id="21" name="Text Placeholder 3"/>
          <p:cNvSpPr>
            <a:spLocks noGrp="1"/>
          </p:cNvSpPr>
          <p:nvPr>
            <p:ph type="body" sz="half" idx="18"/>
          </p:nvPr>
        </p:nvSpPr>
        <p:spPr>
          <a:xfrm>
            <a:off x="3289661" y="21505774"/>
            <a:ext cx="11883542"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2" name="Text Placeholder 4"/>
          <p:cNvSpPr>
            <a:spLocks noGrp="1"/>
          </p:cNvSpPr>
          <p:nvPr>
            <p:ph type="body" sz="quarter" idx="3"/>
          </p:nvPr>
        </p:nvSpPr>
        <p:spPr>
          <a:xfrm>
            <a:off x="15994037"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Picture Placeholder 2"/>
          <p:cNvSpPr>
            <a:spLocks noGrp="1" noChangeAspect="1"/>
          </p:cNvSpPr>
          <p:nvPr>
            <p:ph type="pic" idx="21"/>
          </p:nvPr>
        </p:nvSpPr>
        <p:spPr>
          <a:xfrm>
            <a:off x="16364674" y="9307651"/>
            <a:ext cx="11132525" cy="771918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p>
        </p:txBody>
      </p:sp>
      <p:sp>
        <p:nvSpPr>
          <p:cNvPr id="24" name="Text Placeholder 3"/>
          <p:cNvSpPr>
            <a:spLocks noGrp="1"/>
          </p:cNvSpPr>
          <p:nvPr>
            <p:ph type="body" sz="half" idx="19"/>
          </p:nvPr>
        </p:nvSpPr>
        <p:spPr>
          <a:xfrm>
            <a:off x="15989163" y="21505769"/>
            <a:ext cx="11888414"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5" name="Text Placeholder 4"/>
          <p:cNvSpPr>
            <a:spLocks noGrp="1"/>
          </p:cNvSpPr>
          <p:nvPr>
            <p:ph type="body" sz="quarter" idx="13"/>
          </p:nvPr>
        </p:nvSpPr>
        <p:spPr>
          <a:xfrm>
            <a:off x="2868011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6" name="Picture Placeholder 2"/>
          <p:cNvSpPr>
            <a:spLocks noGrp="1" noChangeAspect="1"/>
          </p:cNvSpPr>
          <p:nvPr>
            <p:ph type="pic" idx="22"/>
          </p:nvPr>
        </p:nvSpPr>
        <p:spPr>
          <a:xfrm>
            <a:off x="29072515" y="9285274"/>
            <a:ext cx="11132525" cy="771501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p>
        </p:txBody>
      </p:sp>
      <p:sp>
        <p:nvSpPr>
          <p:cNvPr id="27" name="Text Placeholder 3"/>
          <p:cNvSpPr>
            <a:spLocks noGrp="1"/>
          </p:cNvSpPr>
          <p:nvPr>
            <p:ph type="body" sz="half" idx="20"/>
          </p:nvPr>
        </p:nvSpPr>
        <p:spPr>
          <a:xfrm>
            <a:off x="28679659" y="21505759"/>
            <a:ext cx="11883542" cy="629200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337930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3D97CC-475F-BE49-B579-6BFEF977A37E}"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83887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9052" y="2926082"/>
            <a:ext cx="8224152" cy="24871685"/>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289666" y="2926082"/>
            <a:ext cx="28500739" cy="248716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3D97CC-475F-BE49-B579-6BFEF977A37E}"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7012772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9661" y="2926080"/>
            <a:ext cx="37273546" cy="465816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289661" y="8315762"/>
            <a:ext cx="37273546" cy="19482005"/>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643450" y="28239727"/>
            <a:ext cx="9875520"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163D97CC-475F-BE49-B579-6BFEF977A37E}" type="datetimeFigureOut">
              <a:rPr lang="en-US" smtClean="0"/>
              <a:t>9/27/2026</a:t>
            </a:fld>
            <a:endParaRPr lang="en-US"/>
          </a:p>
        </p:txBody>
      </p:sp>
      <p:sp>
        <p:nvSpPr>
          <p:cNvPr id="5" name="Footer Placeholder 4"/>
          <p:cNvSpPr>
            <a:spLocks noGrp="1"/>
          </p:cNvSpPr>
          <p:nvPr>
            <p:ph type="ftr" sz="quarter" idx="3"/>
          </p:nvPr>
        </p:nvSpPr>
        <p:spPr>
          <a:xfrm>
            <a:off x="3289668" y="28239727"/>
            <a:ext cx="24022315" cy="1752600"/>
          </a:xfrm>
          <a:prstGeom prst="rect">
            <a:avLst/>
          </a:prstGeom>
        </p:spPr>
        <p:txBody>
          <a:bodyPr vert="horz" lIns="91440" tIns="45720" rIns="91440" bIns="45720" rtlCol="0" anchor="ctr"/>
          <a:lstStyle>
            <a:lvl1pPr algn="l">
              <a:defRPr sz="48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37850446" y="28239727"/>
            <a:ext cx="2712763"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BEC96AFA-303D-8042-85F3-1EA037B235F2}" type="slidenum">
              <a:rPr lang="en-US" smtClean="0"/>
              <a:t>‹#›</a:t>
            </a:fld>
            <a:endParaRPr lang="en-US"/>
          </a:p>
        </p:txBody>
      </p:sp>
    </p:spTree>
    <p:extLst>
      <p:ext uri="{BB962C8B-B14F-4D97-AF65-F5344CB8AC3E}">
        <p14:creationId xmlns:p14="http://schemas.microsoft.com/office/powerpoint/2010/main" val="736249571"/>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ctr" defTabSz="2194560" rtl="0" eaLnBrk="1" latinLnBrk="0" hangingPunct="1">
        <a:spcBef>
          <a:spcPct val="0"/>
        </a:spcBef>
        <a:buNone/>
        <a:defRPr sz="19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468800" algn="l" defTabSz="2194560" rtl="0" eaLnBrk="1" latinLnBrk="0" hangingPunct="1">
        <a:spcBef>
          <a:spcPct val="20000"/>
        </a:spcBef>
        <a:spcAft>
          <a:spcPts val="2880"/>
        </a:spcAft>
        <a:buClr>
          <a:schemeClr val="tx2"/>
        </a:buClr>
        <a:buSzPct val="70000"/>
        <a:buFont typeface="Wingdings 2" charset="2"/>
        <a:buChar char=""/>
        <a:defRPr sz="9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3456000" indent="-1296000" algn="l" defTabSz="2194560" rtl="0" eaLnBrk="1" latinLnBrk="0" hangingPunct="1">
        <a:spcBef>
          <a:spcPct val="20000"/>
        </a:spcBef>
        <a:spcAft>
          <a:spcPts val="2880"/>
        </a:spcAft>
        <a:buClr>
          <a:schemeClr val="tx2"/>
        </a:buClr>
        <a:buSzPct val="70000"/>
        <a:buFont typeface="Wingdings 2" charset="2"/>
        <a:buChar char=""/>
        <a:defRPr sz="864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4924800" indent="-1036800" algn="l" defTabSz="2194560" rtl="0" eaLnBrk="1" latinLnBrk="0" hangingPunct="1">
        <a:spcBef>
          <a:spcPct val="20000"/>
        </a:spcBef>
        <a:spcAft>
          <a:spcPts val="2880"/>
        </a:spcAft>
        <a:buClr>
          <a:schemeClr val="tx2"/>
        </a:buClr>
        <a:buSzPct val="70000"/>
        <a:buFont typeface="Wingdings 2" charset="2"/>
        <a:buChar char=""/>
        <a:defRPr sz="768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66528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80352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967008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152864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1338720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1490976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chart" Target="../charts/chart1.xml"/><Relationship Id="rId9" Type="http://schemas.openxmlformats.org/officeDocument/2006/relationships/chart" Target="../charts/chart2.xml"/><Relationship Id="rId10"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0" y="0"/>
            <a:ext cx="43891200" cy="6263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753" y="1991593"/>
            <a:ext cx="4840224" cy="1377696"/>
          </a:xfrm>
          <a:prstGeom prst="rect">
            <a:avLst/>
          </a:prstGeom>
        </p:spPr>
      </p:pic>
      <p:sp>
        <p:nvSpPr>
          <p:cNvPr id="79" name="TextBox 78"/>
          <p:cNvSpPr txBox="1"/>
          <p:nvPr/>
        </p:nvSpPr>
        <p:spPr>
          <a:xfrm>
            <a:off x="6035040" y="228600"/>
            <a:ext cx="37307520" cy="5852160"/>
          </a:xfrm>
          <a:prstGeom prst="rect">
            <a:avLst/>
          </a:prstGeom>
          <a:noFill/>
        </p:spPr>
        <p:txBody>
          <a:bodyPr wrap="square" anchor="ctr" lIns="109728" rIns="109728" tIns="54864" bIns="54864">
            <a:spAutoFit/>
          </a:bodyPr>
          <a:lstStyle/>
          <a:p>
            <a:pPr algn="ctr">
              <a:spcAft>
                <a:spcPts val="600"/>
              </a:spcAft>
            </a:pPr>
            <a:r>
              <a:rPr sz="6600" b="1" i="0">
                <a:solidFill>
                  <a:srgbClr val="0A254E"/>
                </a:solidFill>
                <a:latin typeface="Times New Roman"/>
              </a:rPr>
              <a:t>Psychosocial Outcomes and Coping Mechanisms Among Women with</a:t>
            </a:r>
          </a:p>
          <a:p>
            <a:pPr algn="ctr">
              <a:spcAft>
                <a:spcPts val="600"/>
              </a:spcAft>
            </a:pPr>
            <a:r>
              <a:rPr sz="6600" b="1" i="0">
                <a:solidFill>
                  <a:srgbClr val="0A254E"/>
                </a:solidFill>
                <a:latin typeface="Times New Roman"/>
              </a:rPr>
              <a:t>Premenstrual Dysphoric Disorder: A Global Scoping Review</a:t>
            </a:r>
          </a:p>
          <a:p>
            <a:pPr algn="ctr">
              <a:spcAft>
                <a:spcPts val="600"/>
              </a:spcAft>
            </a:pPr>
            <a:r>
              <a:rPr sz="3600" b="0" i="0">
                <a:solidFill>
                  <a:srgbClr val="111827"/>
                </a:solidFill>
                <a:latin typeface="Times New Roman"/>
              </a:rPr>
              <a:t>Ifeoluwanimi P. Shobayo, BSc, MSPHc</a:t>
            </a:r>
          </a:p>
        </p:txBody>
      </p:sp>
      <p:sp>
        <p:nvSpPr>
          <p:cNvPr id="80" name="Rectangle 79"/>
          <p:cNvSpPr/>
          <p:nvPr/>
        </p:nvSpPr>
        <p:spPr>
          <a:xfrm>
            <a:off x="457200" y="6446520"/>
            <a:ext cx="1033272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400" b="0" i="0">
                <a:solidFill>
                  <a:srgbClr val="FFFFFF"/>
                </a:solidFill>
                <a:latin typeface="Times New Roman"/>
              </a:rPr>
              <a:t>Abstract</a:t>
            </a:r>
          </a:p>
        </p:txBody>
      </p:sp>
      <p:sp>
        <p:nvSpPr>
          <p:cNvPr id="81" name="Rectangle 80"/>
          <p:cNvSpPr/>
          <p:nvPr/>
        </p:nvSpPr>
        <p:spPr>
          <a:xfrm>
            <a:off x="457200" y="7315200"/>
            <a:ext cx="10332720" cy="662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a:spcAft>
                <a:spcPts val="700"/>
              </a:spcAft>
            </a:pPr>
            <a:r>
              <a:rPr sz="2400" b="1" i="0">
                <a:solidFill>
                  <a:srgbClr val="111827"/>
                </a:solidFill>
                <a:latin typeface="Times New Roman"/>
              </a:rPr>
              <a:t>Background: </a:t>
            </a:r>
            <a:r>
              <a:rPr sz="2400" b="0" i="0">
                <a:solidFill>
                  <a:srgbClr val="111827"/>
                </a:solidFill>
                <a:latin typeface="Times New Roman"/>
              </a:rPr>
              <a:t>Premenstrual dysphoric disorder (PMDD) is a DSM-5 depressive disorder affecting an estimated 1.6% of women and girls (~31 million) worldwide, yet its psychosocial burden—especially in low- and middle-income countries (LMICs)—has not been mapped.</a:t>
            </a:r>
          </a:p>
          <a:p>
            <a:pPr algn="l">
              <a:spcAft>
                <a:spcPts val="700"/>
              </a:spcAft>
            </a:pPr>
            <a:r>
              <a:rPr sz="2400" b="1" i="0">
                <a:solidFill>
                  <a:srgbClr val="111827"/>
                </a:solidFill>
                <a:latin typeface="Times New Roman"/>
              </a:rPr>
              <a:t>Methods: </a:t>
            </a:r>
            <a:r>
              <a:rPr sz="2400" b="0" i="0">
                <a:solidFill>
                  <a:srgbClr val="111827"/>
                </a:solidFill>
                <a:latin typeface="Times New Roman"/>
              </a:rPr>
              <a:t>Scoping review (Arksey &amp; O'Malley; PRISMA-ScR) of seven databases, 2010–2025: peer-reviewed empirical studies with PMDD as the population and a psychosocial outcome or coping mechanism as a primary aim.</a:t>
            </a:r>
          </a:p>
          <a:p>
            <a:pPr algn="l">
              <a:spcAft>
                <a:spcPts val="700"/>
              </a:spcAft>
            </a:pPr>
            <a:r>
              <a:rPr sz="2400" b="1" i="0">
                <a:solidFill>
                  <a:srgbClr val="111827"/>
                </a:solidFill>
                <a:latin typeface="Times New Roman"/>
              </a:rPr>
              <a:t>Results: </a:t>
            </a:r>
            <a:r>
              <a:rPr sz="2400" b="0" i="0">
                <a:solidFill>
                  <a:srgbClr val="111827"/>
                </a:solidFill>
                <a:latin typeface="Times New Roman"/>
              </a:rPr>
              <a:t>1,801 records yielded 85 studies. Depression (n = 28), mood/emotion regulation (n = 18), psychiatric comorbidity (n = 18), distress (n = 16), suicidality (n = 13) and functioning (n = 13) dominated; coping was studied in 7. Two-thirds of studies came from high-income countries; 3 came from sub-Saharan Africa.</a:t>
            </a:r>
          </a:p>
          <a:p>
            <a:pPr algn="l">
              <a:spcAft>
                <a:spcPts val="700"/>
              </a:spcAft>
            </a:pPr>
            <a:r>
              <a:rPr sz="2400" b="1" i="0">
                <a:solidFill>
                  <a:srgbClr val="111827"/>
                </a:solidFill>
                <a:latin typeface="Times New Roman"/>
              </a:rPr>
              <a:t>Conclusions: </a:t>
            </a:r>
            <a:r>
              <a:rPr sz="2400" b="0" i="0">
                <a:solidFill>
                  <a:srgbClr val="111827"/>
                </a:solidFill>
                <a:latin typeface="Times New Roman"/>
              </a:rPr>
              <a:t>Evidence is growing but geographically concentrated, relies on provisional diagnoses and rarely examines coping or lived experience.</a:t>
            </a:r>
          </a:p>
          <a:p>
            <a:pPr algn="l">
              <a:spcAft>
                <a:spcPts val="700"/>
              </a:spcAft>
            </a:pPr>
            <a:r>
              <a:rPr sz="2400" b="1" i="0">
                <a:solidFill>
                  <a:srgbClr val="111827"/>
                </a:solidFill>
                <a:latin typeface="Times New Roman"/>
              </a:rPr>
              <a:t>Keywords: </a:t>
            </a:r>
            <a:r>
              <a:rPr sz="2400" b="0" i="1">
                <a:solidFill>
                  <a:srgbClr val="111827"/>
                </a:solidFill>
                <a:latin typeface="Times New Roman"/>
              </a:rPr>
              <a:t>PMDD; psychosocial outcomes; coping; suicidality; LMICs; sub-Saharan Africa</a:t>
            </a:r>
          </a:p>
        </p:txBody>
      </p:sp>
      <p:sp>
        <p:nvSpPr>
          <p:cNvPr id="82" name="Rectangle 81"/>
          <p:cNvSpPr/>
          <p:nvPr/>
        </p:nvSpPr>
        <p:spPr>
          <a:xfrm>
            <a:off x="457200" y="14173200"/>
            <a:ext cx="1033272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400" b="0" i="0">
                <a:solidFill>
                  <a:srgbClr val="FFFFFF"/>
                </a:solidFill>
                <a:latin typeface="Times New Roman"/>
              </a:rPr>
              <a:t>Introduction and Research Question</a:t>
            </a:r>
          </a:p>
        </p:txBody>
      </p:sp>
      <p:sp>
        <p:nvSpPr>
          <p:cNvPr id="83" name="Rectangle 82"/>
          <p:cNvSpPr/>
          <p:nvPr/>
        </p:nvSpPr>
        <p:spPr>
          <a:xfrm>
            <a:off x="457200" y="15041880"/>
            <a:ext cx="10332720" cy="74980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a:spcAft>
                <a:spcPts val="1200"/>
              </a:spcAft>
            </a:pPr>
            <a:r>
              <a:rPr sz="2500" b="0" i="0">
                <a:solidFill>
                  <a:srgbClr val="111827"/>
                </a:solidFill>
                <a:latin typeface="Times New Roman"/>
              </a:rPr>
              <a:t>PMDD is a severe, hormone-linked mood disorder in which irritability, mood swings, depressed mood and anxiety recur in the late luteal phase and remit after menses begin. It is classified as a depressive disorder in DSM-5 and recognised in ICD-11.</a:t>
            </a:r>
          </a:p>
          <a:p>
            <a:pPr algn="l">
              <a:spcAft>
                <a:spcPts val="1200"/>
              </a:spcAft>
            </a:pPr>
            <a:r>
              <a:rPr sz="2500" b="0" i="0">
                <a:solidFill>
                  <a:srgbClr val="111827"/>
                </a:solidFill>
                <a:latin typeface="Times New Roman"/>
              </a:rPr>
              <a:t>Using prospectively confirmed diagnoses, community prevalence is about 1.6%—roughly 31 million women and girls (Reilly et al., 2024)—and premenstrual symptoms are common across Africa (pooled PMS prevalence 47%; Andualem et al., 2024).</a:t>
            </a:r>
          </a:p>
          <a:p>
            <a:pPr algn="l">
              <a:spcAft>
                <a:spcPts val="1200"/>
              </a:spcAft>
            </a:pPr>
            <a:r>
              <a:rPr sz="2500" b="0" i="0">
                <a:solidFill>
                  <a:srgbClr val="111827"/>
                </a:solidFill>
                <a:latin typeface="Times New Roman"/>
              </a:rPr>
              <a:t>Because symptoms recur every month, PMDD can affect mental health, relationships, school and work. This evidence is scattered across disciplines, and it is unclear where in the world it has been generated.</a:t>
            </a:r>
          </a:p>
          <a:p>
            <a:pPr algn="l">
              <a:spcAft>
                <a:spcPts val="1200"/>
              </a:spcAft>
            </a:pPr>
            <a:r>
              <a:rPr sz="2500" b="1" i="0">
                <a:solidFill>
                  <a:srgbClr val="111827"/>
                </a:solidFill>
                <a:latin typeface="Times New Roman"/>
              </a:rPr>
              <a:t>Research Question</a:t>
            </a:r>
          </a:p>
          <a:p>
            <a:pPr algn="l">
              <a:spcAft>
                <a:spcPts val="1200"/>
              </a:spcAft>
            </a:pPr>
            <a:r>
              <a:rPr sz="2500" b="0" i="1">
                <a:solidFill>
                  <a:srgbClr val="111827"/>
                </a:solidFill>
                <a:latin typeface="Times New Roman"/>
              </a:rPr>
              <a:t>What psychosocial outcomes and coping mechanisms have been documented among women with PMDD, and how is this evidence distributed across global settings—particularly LMICs and sub-Saharan Africa?</a:t>
            </a:r>
          </a:p>
        </p:txBody>
      </p:sp>
      <p:sp>
        <p:nvSpPr>
          <p:cNvPr id="84" name="Rectangle 83"/>
          <p:cNvSpPr/>
          <p:nvPr/>
        </p:nvSpPr>
        <p:spPr>
          <a:xfrm>
            <a:off x="457200" y="22768560"/>
            <a:ext cx="1033272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400" b="0" i="0">
                <a:solidFill>
                  <a:srgbClr val="FFFFFF"/>
                </a:solidFill>
                <a:latin typeface="Times New Roman"/>
              </a:rPr>
              <a:t>Methods</a:t>
            </a:r>
          </a:p>
        </p:txBody>
      </p:sp>
      <p:graphicFrame>
        <p:nvGraphicFramePr>
          <p:cNvPr id="85" name="Table 84"/>
          <p:cNvGraphicFramePr>
            <a:graphicFrameLocks noGrp="1"/>
          </p:cNvGraphicFramePr>
          <p:nvPr/>
        </p:nvGraphicFramePr>
        <p:xfrm>
          <a:off x="457200" y="23637240"/>
          <a:ext cx="10332720" cy="8778240"/>
        </p:xfrm>
        <a:graphic>
          <a:graphicData uri="http://schemas.openxmlformats.org/drawingml/2006/table">
            <a:tbl>
              <a:tblPr firstRow="1" bandRow="0">
                <a:tableStyleId>{5C22544A-7EE6-4342-B048-85BDC9FD1C3A}</a:tableStyleId>
              </a:tblPr>
              <a:tblGrid>
                <a:gridCol w="2743200"/>
                <a:gridCol w="7589520"/>
              </a:tblGrid>
              <a:tr h="548640">
                <a:tc>
                  <a:txBody>
                    <a:bodyPr/>
                    <a:lstStyle/>
                    <a:p>
                      <a:r>
                        <a:rPr b="1" sz="2000">
                          <a:solidFill>
                            <a:srgbClr val="111827"/>
                          </a:solidFill>
                          <a:latin typeface="Times New Roman"/>
                        </a:rPr>
                        <a:t>Category</a:t>
                      </a:r>
                    </a:p>
                  </a:txBody>
                  <a:tcPr>
                    <a:solidFill>
                      <a:srgbClr val="D9E2F3"/>
                    </a:solidFill>
                  </a:tcPr>
                </a:tc>
                <a:tc>
                  <a:txBody>
                    <a:bodyPr/>
                    <a:lstStyle/>
                    <a:p>
                      <a:r>
                        <a:rPr b="1" sz="2000">
                          <a:solidFill>
                            <a:srgbClr val="111827"/>
                          </a:solidFill>
                          <a:latin typeface="Times New Roman"/>
                        </a:rPr>
                        <a:t>Description</a:t>
                      </a:r>
                    </a:p>
                  </a:txBody>
                  <a:tcPr>
                    <a:solidFill>
                      <a:srgbClr val="D9E2F3"/>
                    </a:solidFill>
                  </a:tcPr>
                </a:tc>
              </a:tr>
              <a:tr h="1371600">
                <a:tc>
                  <a:txBody>
                    <a:bodyPr/>
                    <a:lstStyle/>
                    <a:p>
                      <a:r>
                        <a:rPr sz="2000" b="1">
                          <a:solidFill>
                            <a:srgbClr val="111827"/>
                          </a:solidFill>
                          <a:latin typeface="Times New Roman"/>
                        </a:rPr>
                        <a:t>Study design</a:t>
                      </a:r>
                    </a:p>
                  </a:txBody>
                  <a:tcPr anchor="ctr" marL="91440" marR="91440" marT="45720" marB="45720">
                    <a:solidFill>
                      <a:srgbClr val="FFFFFF"/>
                    </a:solidFill>
                  </a:tcPr>
                </a:tc>
                <a:tc>
                  <a:txBody>
                    <a:bodyPr/>
                    <a:lstStyle/>
                    <a:p>
                      <a:r>
                        <a:rPr sz="2000" b="0">
                          <a:solidFill>
                            <a:srgbClr val="111827"/>
                          </a:solidFill>
                          <a:latin typeface="Times New Roman"/>
                        </a:rPr>
                        <a:t>Scoping review (Arksey &amp; O'Malley, 2005; Levac et al., 2010), reported per PRISMA-ScR (Tricco et al., 2018).</a:t>
                      </a:r>
                    </a:p>
                  </a:txBody>
                  <a:tcPr anchor="ctr" marL="91440" marR="91440" marT="45720" marB="45720">
                    <a:solidFill>
                      <a:srgbClr val="FFFFFF"/>
                    </a:solidFill>
                  </a:tcPr>
                </a:tc>
              </a:tr>
              <a:tr h="1371600">
                <a:tc>
                  <a:txBody>
                    <a:bodyPr/>
                    <a:lstStyle/>
                    <a:p>
                      <a:r>
                        <a:rPr sz="2000" b="1">
                          <a:solidFill>
                            <a:srgbClr val="111827"/>
                          </a:solidFill>
                          <a:latin typeface="Times New Roman"/>
                        </a:rPr>
                        <a:t>Databases</a:t>
                      </a:r>
                    </a:p>
                  </a:txBody>
                  <a:tcPr anchor="ctr" marL="91440" marR="91440" marT="45720" marB="45720">
                    <a:solidFill>
                      <a:srgbClr val="FFFFFF"/>
                    </a:solidFill>
                  </a:tcPr>
                </a:tc>
                <a:tc>
                  <a:txBody>
                    <a:bodyPr/>
                    <a:lstStyle/>
                    <a:p>
                      <a:r>
                        <a:rPr sz="2000" b="0">
                          <a:solidFill>
                            <a:srgbClr val="111827"/>
                          </a:solidFill>
                          <a:latin typeface="Times New Roman"/>
                        </a:rPr>
                        <a:t>CINAHL Ultimate, APA PsycInfo, APA PsycArticles, MEDLINE Ultimate, Women’s Studies International, PubMed, Cochrane Library.</a:t>
                      </a:r>
                    </a:p>
                  </a:txBody>
                  <a:tcPr anchor="ctr" marL="91440" marR="91440" marT="45720" marB="45720">
                    <a:solidFill>
                      <a:srgbClr val="FFFFFF"/>
                    </a:solidFill>
                  </a:tcPr>
                </a:tc>
              </a:tr>
              <a:tr h="1371600">
                <a:tc>
                  <a:txBody>
                    <a:bodyPr/>
                    <a:lstStyle/>
                    <a:p>
                      <a:r>
                        <a:rPr sz="2000" b="1">
                          <a:solidFill>
                            <a:srgbClr val="111827"/>
                          </a:solidFill>
                          <a:latin typeface="Times New Roman"/>
                        </a:rPr>
                        <a:t>Years &amp; language</a:t>
                      </a:r>
                    </a:p>
                  </a:txBody>
                  <a:tcPr anchor="ctr" marL="91440" marR="91440" marT="45720" marB="45720">
                    <a:solidFill>
                      <a:srgbClr val="FFFFFF"/>
                    </a:solidFill>
                  </a:tcPr>
                </a:tc>
                <a:tc>
                  <a:txBody>
                    <a:bodyPr/>
                    <a:lstStyle/>
                    <a:p>
                      <a:r>
                        <a:rPr sz="2000" b="0">
                          <a:solidFill>
                            <a:srgbClr val="111827"/>
                          </a:solidFill>
                          <a:latin typeface="Times New Roman"/>
                        </a:rPr>
                        <a:t>2010–2025; English.</a:t>
                      </a:r>
                    </a:p>
                  </a:txBody>
                  <a:tcPr anchor="ctr" marL="91440" marR="91440" marT="45720" marB="45720">
                    <a:solidFill>
                      <a:srgbClr val="FFFFFF"/>
                    </a:solidFill>
                  </a:tcPr>
                </a:tc>
              </a:tr>
              <a:tr h="1371600">
                <a:tc>
                  <a:txBody>
                    <a:bodyPr/>
                    <a:lstStyle/>
                    <a:p>
                      <a:r>
                        <a:rPr sz="2000" b="1">
                          <a:solidFill>
                            <a:srgbClr val="111827"/>
                          </a:solidFill>
                          <a:latin typeface="Times New Roman"/>
                        </a:rPr>
                        <a:t>Inclusion</a:t>
                      </a:r>
                    </a:p>
                  </a:txBody>
                  <a:tcPr anchor="ctr" marL="91440" marR="91440" marT="45720" marB="45720">
                    <a:solidFill>
                      <a:srgbClr val="FFFFFF"/>
                    </a:solidFill>
                  </a:tcPr>
                </a:tc>
                <a:tc>
                  <a:txBody>
                    <a:bodyPr/>
                    <a:lstStyle/>
                    <a:p>
                      <a:r>
                        <a:rPr sz="2000" b="0">
                          <a:solidFill>
                            <a:srgbClr val="111827"/>
                          </a:solidFill>
                          <a:latin typeface="Times New Roman"/>
                        </a:rPr>
                        <a:t>Peer-reviewed empirical studies; PMDD (provisional or confirmed) as the defined population; ≥1 psychosocial outcome or coping mechanism as a primary aim.</a:t>
                      </a:r>
                    </a:p>
                  </a:txBody>
                  <a:tcPr anchor="ctr" marL="91440" marR="91440" marT="45720" marB="45720">
                    <a:solidFill>
                      <a:srgbClr val="FFFFFF"/>
                    </a:solidFill>
                  </a:tcPr>
                </a:tc>
              </a:tr>
              <a:tr h="1371600">
                <a:tc>
                  <a:txBody>
                    <a:bodyPr/>
                    <a:lstStyle/>
                    <a:p>
                      <a:r>
                        <a:rPr sz="2000" b="1">
                          <a:solidFill>
                            <a:srgbClr val="111827"/>
                          </a:solidFill>
                          <a:latin typeface="Times New Roman"/>
                        </a:rPr>
                        <a:t>Exclusion</a:t>
                      </a:r>
                    </a:p>
                  </a:txBody>
                  <a:tcPr anchor="ctr" marL="91440" marR="91440" marT="45720" marB="45720">
                    <a:solidFill>
                      <a:srgbClr val="FFFFFF"/>
                    </a:solidFill>
                  </a:tcPr>
                </a:tc>
                <a:tc>
                  <a:txBody>
                    <a:bodyPr/>
                    <a:lstStyle/>
                    <a:p>
                      <a:r>
                        <a:rPr sz="2000" b="0">
                          <a:solidFill>
                            <a:srgbClr val="111827"/>
                          </a:solidFill>
                          <a:latin typeface="Times New Roman"/>
                        </a:rPr>
                        <a:t>Animal, laboratory/biological, intervention, review, instrument-validation, case-report and non-peer-reviewed formats; PMS-only samples.</a:t>
                      </a:r>
                    </a:p>
                  </a:txBody>
                  <a:tcPr anchor="ctr" marL="91440" marR="91440" marT="45720" marB="45720">
                    <a:solidFill>
                      <a:srgbClr val="FFFFFF"/>
                    </a:solidFill>
                  </a:tcPr>
                </a:tc>
              </a:tr>
              <a:tr h="1371600">
                <a:tc>
                  <a:txBody>
                    <a:bodyPr/>
                    <a:lstStyle/>
                    <a:p>
                      <a:r>
                        <a:rPr sz="2000" b="1">
                          <a:solidFill>
                            <a:srgbClr val="111827"/>
                          </a:solidFill>
                          <a:latin typeface="Times New Roman"/>
                        </a:rPr>
                        <a:t>Screening &amp; charting</a:t>
                      </a:r>
                    </a:p>
                  </a:txBody>
                  <a:tcPr anchor="ctr" marL="91440" marR="91440" marT="45720" marB="45720">
                    <a:solidFill>
                      <a:srgbClr val="FFFFFF"/>
                    </a:solidFill>
                  </a:tcPr>
                </a:tc>
                <a:tc>
                  <a:txBody>
                    <a:bodyPr/>
                    <a:lstStyle/>
                    <a:p>
                      <a:r>
                        <a:rPr sz="2000" b="0">
                          <a:solidFill>
                            <a:srgbClr val="111827"/>
                          </a:solidFill>
                          <a:latin typeface="Times New Roman"/>
                        </a:rPr>
                        <a:t>Deduplication (DOI + title); title/abstract screening with logged reasons; charted design, country, World Bank income group (FY2027), PMDD ascertainment and 13 psychosocial domains.</a:t>
                      </a:r>
                    </a:p>
                  </a:txBody>
                  <a:tcPr anchor="ctr" marL="91440" marR="91440" marT="45720" marB="45720">
                    <a:solidFill>
                      <a:srgbClr val="FFFFFF"/>
                    </a:solidFill>
                  </a:tcPr>
                </a:tc>
              </a:tr>
            </a:tbl>
          </a:graphicData>
        </a:graphic>
      </p:graphicFrame>
      <p:sp>
        <p:nvSpPr>
          <p:cNvPr id="86" name="Rectangle 85"/>
          <p:cNvSpPr/>
          <p:nvPr/>
        </p:nvSpPr>
        <p:spPr>
          <a:xfrm>
            <a:off x="11155680" y="6446520"/>
            <a:ext cx="22494240" cy="26014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p>
        </p:txBody>
      </p:sp>
      <p:sp>
        <p:nvSpPr>
          <p:cNvPr id="87" name="TextBox 86"/>
          <p:cNvSpPr txBox="1"/>
          <p:nvPr/>
        </p:nvSpPr>
        <p:spPr>
          <a:xfrm>
            <a:off x="11521440" y="6720840"/>
            <a:ext cx="10241280" cy="548640"/>
          </a:xfrm>
          <a:prstGeom prst="rect">
            <a:avLst/>
          </a:prstGeom>
          <a:noFill/>
        </p:spPr>
        <p:txBody>
          <a:bodyPr wrap="square" anchor="t" lIns="109728" rIns="109728" tIns="54864" bIns="54864">
            <a:spAutoFit/>
          </a:bodyPr>
          <a:lstStyle/>
          <a:p>
            <a:pPr algn="l">
              <a:spcAft>
                <a:spcPts val="400"/>
              </a:spcAft>
            </a:pPr>
            <a:r>
              <a:rPr sz="2200" b="1" i="0">
                <a:solidFill>
                  <a:srgbClr val="0A254E"/>
                </a:solidFill>
                <a:latin typeface="Times New Roman"/>
              </a:rPr>
              <a:t>Fig 1: PRISMA-ScR Flow of Records</a:t>
            </a:r>
          </a:p>
        </p:txBody>
      </p:sp>
      <p:sp>
        <p:nvSpPr>
          <p:cNvPr id="88" name="Rounded Rectangle 87"/>
          <p:cNvSpPr/>
          <p:nvPr/>
        </p:nvSpPr>
        <p:spPr>
          <a:xfrm>
            <a:off x="11521440" y="7498079"/>
            <a:ext cx="685800" cy="2103120"/>
          </a:xfrm>
          <a:prstGeom prst="roundRect">
            <a:avLst>
              <a:gd name="adj" fmla="val 8000"/>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54864" bIns="54864" vert="vert270"/>
          <a:lstStyle/>
          <a:p>
            <a:pPr algn="ctr">
              <a:spcAft>
                <a:spcPts val="400"/>
              </a:spcAft>
            </a:pPr>
            <a:r>
              <a:rPr sz="1600" b="1" i="0">
                <a:solidFill>
                  <a:srgbClr val="FFFFFF"/>
                </a:solidFill>
                <a:latin typeface="Times New Roman"/>
              </a:rPr>
              <a:t>Identification</a:t>
            </a:r>
          </a:p>
        </p:txBody>
      </p:sp>
      <p:sp>
        <p:nvSpPr>
          <p:cNvPr id="89" name="Rounded Rectangle 88"/>
          <p:cNvSpPr/>
          <p:nvPr/>
        </p:nvSpPr>
        <p:spPr>
          <a:xfrm>
            <a:off x="11521440" y="9966960"/>
            <a:ext cx="685800" cy="5760720"/>
          </a:xfrm>
          <a:prstGeom prst="roundRect">
            <a:avLst>
              <a:gd name="adj" fmla="val 8000"/>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54864" bIns="54864" vert="vert270"/>
          <a:lstStyle/>
          <a:p>
            <a:pPr algn="ctr">
              <a:spcAft>
                <a:spcPts val="400"/>
              </a:spcAft>
            </a:pPr>
            <a:r>
              <a:rPr sz="1600" b="1" i="0">
                <a:solidFill>
                  <a:srgbClr val="FFFFFF"/>
                </a:solidFill>
                <a:latin typeface="Times New Roman"/>
              </a:rPr>
              <a:t>Screening</a:t>
            </a:r>
          </a:p>
        </p:txBody>
      </p:sp>
      <p:sp>
        <p:nvSpPr>
          <p:cNvPr id="90" name="Rounded Rectangle 89"/>
          <p:cNvSpPr/>
          <p:nvPr/>
        </p:nvSpPr>
        <p:spPr>
          <a:xfrm>
            <a:off x="11521440" y="16093440"/>
            <a:ext cx="685800" cy="2103120"/>
          </a:xfrm>
          <a:prstGeom prst="roundRect">
            <a:avLst>
              <a:gd name="adj" fmla="val 8000"/>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54864" bIns="54864" vert="vert270"/>
          <a:lstStyle/>
          <a:p>
            <a:pPr algn="ctr">
              <a:spcAft>
                <a:spcPts val="400"/>
              </a:spcAft>
            </a:pPr>
            <a:r>
              <a:rPr sz="1600" b="1" i="0">
                <a:solidFill>
                  <a:srgbClr val="FFFFFF"/>
                </a:solidFill>
                <a:latin typeface="Times New Roman"/>
              </a:rPr>
              <a:t>Included</a:t>
            </a:r>
          </a:p>
        </p:txBody>
      </p:sp>
      <p:sp>
        <p:nvSpPr>
          <p:cNvPr id="91" name="Rounded Rectangle 90"/>
          <p:cNvSpPr/>
          <p:nvPr/>
        </p:nvSpPr>
        <p:spPr>
          <a:xfrm>
            <a:off x="12435840" y="7498079"/>
            <a:ext cx="4480560" cy="2103120"/>
          </a:xfrm>
          <a:prstGeom prst="roundRect">
            <a:avLst>
              <a:gd name="adj" fmla="val 8000"/>
            </a:avLst>
          </a:prstGeom>
          <a:solidFill>
            <a:srgbClr val="FFFFFF"/>
          </a:solidFill>
          <a:ln w="31750">
            <a:solidFill>
              <a:srgbClr val="0A25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700" b="1" i="0">
                <a:solidFill>
                  <a:srgbClr val="111827"/>
                </a:solidFill>
                <a:latin typeface="Times New Roman"/>
              </a:rPr>
              <a:t>Records identified from databases</a:t>
            </a:r>
          </a:p>
          <a:p>
            <a:pPr algn="ctr">
              <a:spcAft>
                <a:spcPts val="100"/>
              </a:spcAft>
            </a:pPr>
            <a:r>
              <a:rPr sz="1700" b="0" i="0">
                <a:solidFill>
                  <a:srgbClr val="111827"/>
                </a:solidFill>
                <a:latin typeface="Times New Roman"/>
              </a:rPr>
              <a:t>(n = 1,801)</a:t>
            </a:r>
          </a:p>
        </p:txBody>
      </p:sp>
      <p:sp>
        <p:nvSpPr>
          <p:cNvPr id="92" name="Rounded Rectangle 91"/>
          <p:cNvSpPr/>
          <p:nvPr/>
        </p:nvSpPr>
        <p:spPr>
          <a:xfrm>
            <a:off x="17327880" y="7498079"/>
            <a:ext cx="4434840" cy="2103120"/>
          </a:xfrm>
          <a:prstGeom prst="roundRect">
            <a:avLst>
              <a:gd name="adj" fmla="val 8000"/>
            </a:avLst>
          </a:prstGeom>
          <a:solidFill>
            <a:srgbClr val="F3F4F6"/>
          </a:solidFill>
          <a:ln w="317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100"/>
              </a:spcAft>
            </a:pPr>
            <a:r>
              <a:rPr sz="1400" b="0" i="0">
                <a:solidFill>
                  <a:srgbClr val="111827"/>
                </a:solidFill>
                <a:latin typeface="Times New Roman"/>
              </a:rPr>
              <a:t>CINAHL Ultimate: 974</a:t>
            </a:r>
          </a:p>
          <a:p>
            <a:pPr algn="l">
              <a:spcAft>
                <a:spcPts val="100"/>
              </a:spcAft>
            </a:pPr>
            <a:r>
              <a:rPr sz="1400" b="0" i="0">
                <a:solidFill>
                  <a:srgbClr val="111827"/>
                </a:solidFill>
                <a:latin typeface="Times New Roman"/>
              </a:rPr>
              <a:t>APA PsycInfo: 649</a:t>
            </a:r>
          </a:p>
          <a:p>
            <a:pPr algn="l">
              <a:spcAft>
                <a:spcPts val="100"/>
              </a:spcAft>
            </a:pPr>
            <a:r>
              <a:rPr sz="1400" b="0" i="0">
                <a:solidFill>
                  <a:srgbClr val="111827"/>
                </a:solidFill>
                <a:latin typeface="Times New Roman"/>
              </a:rPr>
              <a:t>MEDLINE Ultimate: 145</a:t>
            </a:r>
          </a:p>
          <a:p>
            <a:pPr algn="l">
              <a:spcAft>
                <a:spcPts val="100"/>
              </a:spcAft>
            </a:pPr>
            <a:r>
              <a:rPr sz="1400" b="0" i="0">
                <a:solidFill>
                  <a:srgbClr val="111827"/>
                </a:solidFill>
                <a:latin typeface="Times New Roman"/>
              </a:rPr>
              <a:t>Women's Studies International: 15</a:t>
            </a:r>
          </a:p>
          <a:p>
            <a:pPr algn="l">
              <a:spcAft>
                <a:spcPts val="100"/>
              </a:spcAft>
            </a:pPr>
            <a:r>
              <a:rPr sz="1400" b="0" i="0">
                <a:solidFill>
                  <a:srgbClr val="111827"/>
                </a:solidFill>
                <a:latin typeface="Times New Roman"/>
              </a:rPr>
              <a:t>APA PsycArticles: 8</a:t>
            </a:r>
          </a:p>
          <a:p>
            <a:pPr algn="l">
              <a:spcAft>
                <a:spcPts val="100"/>
              </a:spcAft>
            </a:pPr>
            <a:r>
              <a:rPr sz="1400" b="0" i="0">
                <a:solidFill>
                  <a:srgbClr val="111827"/>
                </a:solidFill>
                <a:latin typeface="Times New Roman"/>
              </a:rPr>
              <a:t>PubMed/MEDLINE: 6</a:t>
            </a:r>
          </a:p>
          <a:p>
            <a:pPr algn="l">
              <a:spcAft>
                <a:spcPts val="100"/>
              </a:spcAft>
            </a:pPr>
            <a:r>
              <a:rPr sz="1400" b="0" i="0">
                <a:solidFill>
                  <a:srgbClr val="111827"/>
                </a:solidFill>
                <a:latin typeface="Times New Roman"/>
              </a:rPr>
              <a:t>Cochrane Database of Systematic Reviews: 4</a:t>
            </a:r>
          </a:p>
        </p:txBody>
      </p:sp>
      <p:cxnSp>
        <p:nvCxnSpPr>
          <p:cNvPr id="93" name="Connector 92"/>
          <p:cNvCxnSpPr/>
          <p:nvPr/>
        </p:nvCxnSpPr>
        <p:spPr>
          <a:xfrm>
            <a:off x="14676120" y="9601200"/>
            <a:ext cx="0" cy="365760"/>
          </a:xfrm>
          <a:prstGeom prst="line">
            <a:avLst/>
          </a:prstGeom>
          <a:ln w="38100">
            <a:solidFill>
              <a:srgbClr val="0A25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Rounded Rectangle 93"/>
          <p:cNvSpPr/>
          <p:nvPr/>
        </p:nvSpPr>
        <p:spPr>
          <a:xfrm>
            <a:off x="12435840" y="9966960"/>
            <a:ext cx="4480560" cy="1463040"/>
          </a:xfrm>
          <a:prstGeom prst="roundRect">
            <a:avLst>
              <a:gd name="adj" fmla="val 8000"/>
            </a:avLst>
          </a:prstGeom>
          <a:solidFill>
            <a:srgbClr val="FFFFFF"/>
          </a:solidFill>
          <a:ln w="31750">
            <a:solidFill>
              <a:srgbClr val="0A25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600" b="0" i="0">
                <a:solidFill>
                  <a:srgbClr val="111827"/>
                </a:solidFill>
                <a:latin typeface="Times New Roman"/>
              </a:rPr>
              <a:t>Records after duplicates removed</a:t>
            </a:r>
          </a:p>
          <a:p>
            <a:pPr algn="ctr">
              <a:spcAft>
                <a:spcPts val="100"/>
              </a:spcAft>
            </a:pPr>
            <a:r>
              <a:rPr sz="1600" b="0" i="0">
                <a:solidFill>
                  <a:srgbClr val="111827"/>
                </a:solidFill>
                <a:latin typeface="Times New Roman"/>
              </a:rPr>
              <a:t>(n = 1,459)</a:t>
            </a:r>
          </a:p>
        </p:txBody>
      </p:sp>
      <p:sp>
        <p:nvSpPr>
          <p:cNvPr id="95" name="Rounded Rectangle 94"/>
          <p:cNvSpPr/>
          <p:nvPr/>
        </p:nvSpPr>
        <p:spPr>
          <a:xfrm>
            <a:off x="17327880" y="9966960"/>
            <a:ext cx="4434840" cy="1463040"/>
          </a:xfrm>
          <a:prstGeom prst="roundRect">
            <a:avLst>
              <a:gd name="adj" fmla="val 8000"/>
            </a:avLst>
          </a:prstGeom>
          <a:solidFill>
            <a:srgbClr val="F3F4F6"/>
          </a:solidFill>
          <a:ln w="3175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500" b="0" i="0">
                <a:solidFill>
                  <a:srgbClr val="111827"/>
                </a:solidFill>
                <a:latin typeface="Times New Roman"/>
              </a:rPr>
              <a:t>Duplicates removed (n = 342)</a:t>
            </a:r>
          </a:p>
        </p:txBody>
      </p:sp>
      <p:cxnSp>
        <p:nvCxnSpPr>
          <p:cNvPr id="96" name="Connector 95"/>
          <p:cNvCxnSpPr/>
          <p:nvPr/>
        </p:nvCxnSpPr>
        <p:spPr>
          <a:xfrm>
            <a:off x="16916400" y="10698480"/>
            <a:ext cx="411480" cy="0"/>
          </a:xfrm>
          <a:prstGeom prst="line">
            <a:avLst/>
          </a:prstGeom>
          <a:ln w="38100">
            <a:solidFill>
              <a:srgbClr val="0A25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4676120" y="11430000"/>
            <a:ext cx="0" cy="731520"/>
          </a:xfrm>
          <a:prstGeom prst="line">
            <a:avLst/>
          </a:prstGeom>
          <a:ln w="38100">
            <a:solidFill>
              <a:srgbClr val="0A25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12435840" y="12161520"/>
            <a:ext cx="4480560" cy="2011680"/>
          </a:xfrm>
          <a:prstGeom prst="roundRect">
            <a:avLst>
              <a:gd name="adj" fmla="val 8000"/>
            </a:avLst>
          </a:prstGeom>
          <a:solidFill>
            <a:srgbClr val="FFFFFF"/>
          </a:solidFill>
          <a:ln w="31750">
            <a:solidFill>
              <a:srgbClr val="0A254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600" b="0" i="0">
                <a:solidFill>
                  <a:srgbClr val="111827"/>
                </a:solidFill>
                <a:latin typeface="Times New Roman"/>
              </a:rPr>
              <a:t>Records screened</a:t>
            </a:r>
          </a:p>
          <a:p>
            <a:pPr algn="ctr">
              <a:spcAft>
                <a:spcPts val="100"/>
              </a:spcAft>
            </a:pPr>
            <a:r>
              <a:rPr sz="1600" b="0" i="0">
                <a:solidFill>
                  <a:srgbClr val="111827"/>
                </a:solidFill>
                <a:latin typeface="Times New Roman"/>
              </a:rPr>
              <a:t>(title, abstract, subject terms)</a:t>
            </a:r>
          </a:p>
          <a:p>
            <a:pPr algn="ctr">
              <a:spcAft>
                <a:spcPts val="100"/>
              </a:spcAft>
            </a:pPr>
            <a:r>
              <a:rPr sz="1600" b="0" i="0">
                <a:solidFill>
                  <a:srgbClr val="111827"/>
                </a:solidFill>
                <a:latin typeface="Times New Roman"/>
              </a:rPr>
              <a:t>(n = 1,459)</a:t>
            </a:r>
          </a:p>
        </p:txBody>
      </p:sp>
      <p:sp>
        <p:nvSpPr>
          <p:cNvPr id="99" name="Rounded Rectangle 98"/>
          <p:cNvSpPr/>
          <p:nvPr/>
        </p:nvSpPr>
        <p:spPr>
          <a:xfrm>
            <a:off x="17327880" y="11795760"/>
            <a:ext cx="4434840" cy="3931920"/>
          </a:xfrm>
          <a:prstGeom prst="roundRect">
            <a:avLst>
              <a:gd name="adj" fmla="val 8000"/>
            </a:avLst>
          </a:prstGeom>
          <a:solidFill>
            <a:srgbClr val="FEF2F2"/>
          </a:solidFill>
          <a:ln w="317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100"/>
              </a:spcAft>
            </a:pPr>
            <a:r>
              <a:rPr sz="1500" b="1" i="0">
                <a:solidFill>
                  <a:srgbClr val="111827"/>
                </a:solidFill>
                <a:latin typeface="Times New Roman"/>
              </a:rPr>
              <a:t>Records excluded (n = 1,374)</a:t>
            </a:r>
          </a:p>
          <a:p>
            <a:pPr algn="l">
              <a:spcAft>
                <a:spcPts val="100"/>
              </a:spcAft>
            </a:pPr>
            <a:r>
              <a:rPr sz="1500" b="0" i="0">
                <a:solidFill>
                  <a:srgbClr val="111827"/>
                </a:solidFill>
                <a:latin typeface="Times New Roman"/>
              </a:rPr>
              <a:t>PMDD not primary population: 491</a:t>
            </a:r>
          </a:p>
          <a:p>
            <a:pPr algn="l">
              <a:spcAft>
                <a:spcPts val="100"/>
              </a:spcAft>
            </a:pPr>
            <a:r>
              <a:rPr sz="1500" b="0" i="0">
                <a:solidFill>
                  <a:srgbClr val="111827"/>
                </a:solidFill>
                <a:latin typeface="Times New Roman"/>
              </a:rPr>
              <a:t>Outside 2010–2025: 457</a:t>
            </a:r>
          </a:p>
          <a:p>
            <a:pPr algn="l">
              <a:spcAft>
                <a:spcPts val="100"/>
              </a:spcAft>
            </a:pPr>
            <a:r>
              <a:rPr sz="1500" b="0" i="0">
                <a:solidFill>
                  <a:srgbClr val="111827"/>
                </a:solidFill>
                <a:latin typeface="Times New Roman"/>
              </a:rPr>
              <a:t>Reviews/commentaries: 170</a:t>
            </a:r>
          </a:p>
          <a:p>
            <a:pPr algn="l">
              <a:spcAft>
                <a:spcPts val="100"/>
              </a:spcAft>
            </a:pPr>
            <a:r>
              <a:rPr sz="1500" b="0" i="0">
                <a:solidFill>
                  <a:srgbClr val="111827"/>
                </a:solidFill>
                <a:latin typeface="Times New Roman"/>
              </a:rPr>
              <a:t>Other ineligible formats: 106</a:t>
            </a:r>
          </a:p>
          <a:p>
            <a:pPr algn="l">
              <a:spcAft>
                <a:spcPts val="100"/>
              </a:spcAft>
            </a:pPr>
            <a:r>
              <a:rPr sz="1500" b="0" i="0">
                <a:solidFill>
                  <a:srgbClr val="111827"/>
                </a:solidFill>
                <a:latin typeface="Times New Roman"/>
              </a:rPr>
              <a:t>Non-English: 65</a:t>
            </a:r>
          </a:p>
          <a:p>
            <a:pPr algn="l">
              <a:spcAft>
                <a:spcPts val="100"/>
              </a:spcAft>
            </a:pPr>
            <a:r>
              <a:rPr sz="1500" b="0" i="0">
                <a:solidFill>
                  <a:srgbClr val="111827"/>
                </a:solidFill>
                <a:latin typeface="Times New Roman"/>
              </a:rPr>
              <a:t>Intervention studies: 28</a:t>
            </a:r>
          </a:p>
          <a:p>
            <a:pPr algn="l">
              <a:spcAft>
                <a:spcPts val="100"/>
              </a:spcAft>
            </a:pPr>
            <a:r>
              <a:rPr sz="1500" b="0" i="0">
                <a:solidFill>
                  <a:srgbClr val="111827"/>
                </a:solidFill>
                <a:latin typeface="Times New Roman"/>
              </a:rPr>
              <a:t>Laboratory/biological: 22</a:t>
            </a:r>
          </a:p>
          <a:p>
            <a:pPr algn="l">
              <a:spcAft>
                <a:spcPts val="100"/>
              </a:spcAft>
            </a:pPr>
            <a:r>
              <a:rPr sz="1500" b="0" i="0">
                <a:solidFill>
                  <a:srgbClr val="111827"/>
                </a:solidFill>
                <a:latin typeface="Times New Roman"/>
              </a:rPr>
              <a:t>No psychosocial/coping aim: 15</a:t>
            </a:r>
          </a:p>
          <a:p>
            <a:pPr algn="l">
              <a:spcAft>
                <a:spcPts val="100"/>
              </a:spcAft>
            </a:pPr>
            <a:r>
              <a:rPr sz="1500" b="0" i="0">
                <a:solidFill>
                  <a:srgbClr val="111827"/>
                </a:solidFill>
                <a:latin typeface="Times New Roman"/>
              </a:rPr>
              <a:t>Instrument validation: 11</a:t>
            </a:r>
          </a:p>
          <a:p>
            <a:pPr algn="l">
              <a:spcAft>
                <a:spcPts val="100"/>
              </a:spcAft>
            </a:pPr>
            <a:r>
              <a:rPr sz="1500" b="0" i="0">
                <a:solidFill>
                  <a:srgbClr val="111827"/>
                </a:solidFill>
                <a:latin typeface="Times New Roman"/>
              </a:rPr>
              <a:t>Animal studies: 9</a:t>
            </a:r>
          </a:p>
        </p:txBody>
      </p:sp>
      <p:cxnSp>
        <p:nvCxnSpPr>
          <p:cNvPr id="100" name="Connector 99"/>
          <p:cNvCxnSpPr/>
          <p:nvPr/>
        </p:nvCxnSpPr>
        <p:spPr>
          <a:xfrm>
            <a:off x="16916400" y="13167360"/>
            <a:ext cx="411480" cy="0"/>
          </a:xfrm>
          <a:prstGeom prst="line">
            <a:avLst/>
          </a:prstGeom>
          <a:ln w="38100">
            <a:solidFill>
              <a:srgbClr val="0A25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4676120" y="14173200"/>
            <a:ext cx="0" cy="1920240"/>
          </a:xfrm>
          <a:prstGeom prst="line">
            <a:avLst/>
          </a:prstGeom>
          <a:ln w="38100">
            <a:solidFill>
              <a:srgbClr val="0A25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12435840" y="16093440"/>
            <a:ext cx="4480560" cy="2103120"/>
          </a:xfrm>
          <a:prstGeom prst="roundRect">
            <a:avLst>
              <a:gd name="adj" fmla="val 8000"/>
            </a:avLst>
          </a:prstGeom>
          <a:solidFill>
            <a:srgbClr val="ECFDF5"/>
          </a:solidFill>
          <a:ln w="317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2000" b="1" i="0">
                <a:solidFill>
                  <a:srgbClr val="111827"/>
                </a:solidFill>
                <a:latin typeface="Times New Roman"/>
              </a:rPr>
              <a:t>Studies included</a:t>
            </a:r>
          </a:p>
          <a:p>
            <a:pPr algn="ctr">
              <a:spcAft>
                <a:spcPts val="100"/>
              </a:spcAft>
            </a:pPr>
            <a:r>
              <a:rPr sz="2000" b="0" i="0">
                <a:solidFill>
                  <a:srgbClr val="111827"/>
                </a:solidFill>
                <a:latin typeface="Times New Roman"/>
              </a:rPr>
              <a:t>(n = 85)</a:t>
            </a:r>
          </a:p>
        </p:txBody>
      </p:sp>
      <p:sp>
        <p:nvSpPr>
          <p:cNvPr id="103" name="TextBox 102"/>
          <p:cNvSpPr txBox="1"/>
          <p:nvPr/>
        </p:nvSpPr>
        <p:spPr>
          <a:xfrm>
            <a:off x="17327880" y="16002000"/>
            <a:ext cx="4434840" cy="2286000"/>
          </a:xfrm>
          <a:prstGeom prst="rect">
            <a:avLst/>
          </a:prstGeom>
          <a:noFill/>
        </p:spPr>
        <p:txBody>
          <a:bodyPr wrap="square" anchor="t" lIns="109728" rIns="109728" tIns="54864" bIns="54864">
            <a:spAutoFit/>
          </a:bodyPr>
          <a:lstStyle/>
          <a:p>
            <a:pPr algn="l">
              <a:spcAft>
                <a:spcPts val="400"/>
              </a:spcAft>
            </a:pPr>
            <a:r>
              <a:rPr sz="1200" b="0" i="1">
                <a:solidFill>
                  <a:srgbClr val="4B5563"/>
                </a:solidFill>
                <a:latin typeface="Times New Roman"/>
              </a:rPr>
              <a:t>Eligibility judged on titles, abstracts and subject terms; full-text review ongoing. Source: authors’ screening of database exports.</a:t>
            </a:r>
          </a:p>
        </p:txBody>
      </p:sp>
      <p:sp>
        <p:nvSpPr>
          <p:cNvPr id="104" name="TextBox 103"/>
          <p:cNvSpPr txBox="1"/>
          <p:nvPr/>
        </p:nvSpPr>
        <p:spPr>
          <a:xfrm>
            <a:off x="22128480" y="6720840"/>
            <a:ext cx="11247120" cy="548640"/>
          </a:xfrm>
          <a:prstGeom prst="rect">
            <a:avLst/>
          </a:prstGeom>
          <a:noFill/>
        </p:spPr>
        <p:txBody>
          <a:bodyPr wrap="square" anchor="t" lIns="109728" rIns="109728" tIns="54864" bIns="54864">
            <a:spAutoFit/>
          </a:bodyPr>
          <a:lstStyle/>
          <a:p>
            <a:pPr algn="l">
              <a:spcAft>
                <a:spcPts val="400"/>
              </a:spcAft>
            </a:pPr>
            <a:r>
              <a:rPr sz="2200" b="1" i="0">
                <a:solidFill>
                  <a:srgbClr val="0A254E"/>
                </a:solidFill>
                <a:latin typeface="Times New Roman"/>
              </a:rPr>
              <a:t>Fig 2: Psychosocial Domains Examined (n = 85 studies)</a:t>
            </a:r>
          </a:p>
        </p:txBody>
      </p:sp>
      <p:graphicFrame>
        <p:nvGraphicFramePr>
          <p:cNvPr id="105" name="Chart 104"/>
          <p:cNvGraphicFramePr>
            <a:graphicFrameLocks noGrp="1"/>
          </p:cNvGraphicFramePr>
          <p:nvPr/>
        </p:nvGraphicFramePr>
        <p:xfrm>
          <a:off x="22128480" y="7315200"/>
          <a:ext cx="11247120" cy="10972800"/>
        </p:xfrm>
        <a:graphic>
          <a:graphicData uri="http://schemas.openxmlformats.org/drawingml/2006/chart">
            <c:chart xmlns:c="http://schemas.openxmlformats.org/drawingml/2006/chart" r:id="rId8"/>
          </a:graphicData>
        </a:graphic>
      </p:graphicFrame>
      <p:sp>
        <p:nvSpPr>
          <p:cNvPr id="106" name="TextBox 105"/>
          <p:cNvSpPr txBox="1"/>
          <p:nvPr/>
        </p:nvSpPr>
        <p:spPr>
          <a:xfrm>
            <a:off x="22128480" y="18288000"/>
            <a:ext cx="11247120" cy="731520"/>
          </a:xfrm>
          <a:prstGeom prst="rect">
            <a:avLst/>
          </a:prstGeom>
          <a:noFill/>
        </p:spPr>
        <p:txBody>
          <a:bodyPr wrap="square" anchor="t" lIns="109728" rIns="109728" tIns="54864" bIns="54864">
            <a:spAutoFit/>
          </a:bodyPr>
          <a:lstStyle/>
          <a:p>
            <a:pPr algn="l">
              <a:spcAft>
                <a:spcPts val="400"/>
              </a:spcAft>
            </a:pPr>
            <a:r>
              <a:rPr sz="1200" b="0" i="1">
                <a:solidFill>
                  <a:srgbClr val="4B5563"/>
                </a:solidFill>
                <a:latin typeface="Times New Roman"/>
              </a:rPr>
              <a:t>Studies may address more than one domain. Source: authors’ charting of included studies.</a:t>
            </a:r>
          </a:p>
        </p:txBody>
      </p:sp>
      <p:sp>
        <p:nvSpPr>
          <p:cNvPr id="107" name="Rounded Rectangle 106"/>
          <p:cNvSpPr/>
          <p:nvPr/>
        </p:nvSpPr>
        <p:spPr>
          <a:xfrm>
            <a:off x="11521440" y="19293840"/>
            <a:ext cx="5200650" cy="28346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6000" b="1" i="0">
                <a:solidFill>
                  <a:srgbClr val="0A254E"/>
                </a:solidFill>
                <a:latin typeface="Times New Roman"/>
              </a:rPr>
              <a:t>85</a:t>
            </a:r>
          </a:p>
          <a:p>
            <a:pPr algn="ctr">
              <a:spcAft>
                <a:spcPts val="0"/>
              </a:spcAft>
            </a:pPr>
            <a:r>
              <a:rPr sz="1900" b="0" i="0">
                <a:solidFill>
                  <a:srgbClr val="111827"/>
                </a:solidFill>
                <a:latin typeface="Times New Roman"/>
              </a:rPr>
              <a:t>studies included
(2010–2025)</a:t>
            </a:r>
          </a:p>
        </p:txBody>
      </p:sp>
      <p:sp>
        <p:nvSpPr>
          <p:cNvPr id="108" name="Rounded Rectangle 107"/>
          <p:cNvSpPr/>
          <p:nvPr/>
        </p:nvSpPr>
        <p:spPr>
          <a:xfrm>
            <a:off x="17042130" y="19293840"/>
            <a:ext cx="5200650" cy="28346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6000" b="1" i="0">
                <a:solidFill>
                  <a:srgbClr val="0A254E"/>
                </a:solidFill>
                <a:latin typeface="Times New Roman"/>
              </a:rPr>
              <a:t>67%</a:t>
            </a:r>
          </a:p>
          <a:p>
            <a:pPr algn="ctr">
              <a:spcAft>
                <a:spcPts val="0"/>
              </a:spcAft>
            </a:pPr>
            <a:r>
              <a:rPr sz="1900" b="0" i="0">
                <a:solidFill>
                  <a:srgbClr val="111827"/>
                </a:solidFill>
                <a:latin typeface="Times New Roman"/>
              </a:rPr>
              <a:t>from high-income
countries</a:t>
            </a:r>
          </a:p>
        </p:txBody>
      </p:sp>
      <p:sp>
        <p:nvSpPr>
          <p:cNvPr id="109" name="Rounded Rectangle 108"/>
          <p:cNvSpPr/>
          <p:nvPr/>
        </p:nvSpPr>
        <p:spPr>
          <a:xfrm>
            <a:off x="22562819" y="19293840"/>
            <a:ext cx="5200650" cy="28346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6000" b="1" i="0">
                <a:solidFill>
                  <a:srgbClr val="C2410C"/>
                </a:solidFill>
                <a:latin typeface="Times New Roman"/>
              </a:rPr>
              <a:t>3</a:t>
            </a:r>
          </a:p>
          <a:p>
            <a:pPr algn="ctr">
              <a:spcAft>
                <a:spcPts val="0"/>
              </a:spcAft>
            </a:pPr>
            <a:r>
              <a:rPr sz="1900" b="0" i="0">
                <a:solidFill>
                  <a:srgbClr val="111827"/>
                </a:solidFill>
                <a:latin typeface="Times New Roman"/>
              </a:rPr>
              <a:t>studies from
sub-Saharan Africa</a:t>
            </a:r>
          </a:p>
        </p:txBody>
      </p:sp>
      <p:sp>
        <p:nvSpPr>
          <p:cNvPr id="110" name="Rounded Rectangle 109"/>
          <p:cNvSpPr/>
          <p:nvPr/>
        </p:nvSpPr>
        <p:spPr>
          <a:xfrm>
            <a:off x="28083510" y="19293840"/>
            <a:ext cx="5200650" cy="28346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6000" b="1" i="0">
                <a:solidFill>
                  <a:srgbClr val="0A254E"/>
                </a:solidFill>
                <a:latin typeface="Times New Roman"/>
              </a:rPr>
              <a:t>24%</a:t>
            </a:r>
          </a:p>
          <a:p>
            <a:pPr algn="ctr">
              <a:spcAft>
                <a:spcPts val="0"/>
              </a:spcAft>
            </a:pPr>
            <a:r>
              <a:rPr sz="1900" b="0" i="0">
                <a:solidFill>
                  <a:srgbClr val="111827"/>
                </a:solidFill>
                <a:latin typeface="Times New Roman"/>
              </a:rPr>
              <a:t>confirmed PMDD with
prospective ratings</a:t>
            </a:r>
          </a:p>
        </p:txBody>
      </p:sp>
      <p:sp>
        <p:nvSpPr>
          <p:cNvPr id="111" name="TextBox 110"/>
          <p:cNvSpPr txBox="1"/>
          <p:nvPr/>
        </p:nvSpPr>
        <p:spPr>
          <a:xfrm>
            <a:off x="11521440" y="22448520"/>
            <a:ext cx="10241280" cy="548640"/>
          </a:xfrm>
          <a:prstGeom prst="rect">
            <a:avLst/>
          </a:prstGeom>
          <a:noFill/>
        </p:spPr>
        <p:txBody>
          <a:bodyPr wrap="square" anchor="t" lIns="109728" rIns="109728" tIns="54864" bIns="54864">
            <a:spAutoFit/>
          </a:bodyPr>
          <a:lstStyle/>
          <a:p>
            <a:pPr algn="l">
              <a:spcAft>
                <a:spcPts val="400"/>
              </a:spcAft>
            </a:pPr>
            <a:r>
              <a:rPr sz="2200" b="1" i="0">
                <a:solidFill>
                  <a:srgbClr val="0A254E"/>
                </a:solidFill>
                <a:latin typeface="Times New Roman"/>
              </a:rPr>
              <a:t>Fig 3: Studies by World Bank Income Group (FY2027)</a:t>
            </a:r>
          </a:p>
        </p:txBody>
      </p:sp>
      <p:graphicFrame>
        <p:nvGraphicFramePr>
          <p:cNvPr id="112" name="Chart 111"/>
          <p:cNvGraphicFramePr>
            <a:graphicFrameLocks noGrp="1"/>
          </p:cNvGraphicFramePr>
          <p:nvPr/>
        </p:nvGraphicFramePr>
        <p:xfrm>
          <a:off x="11521440" y="23088600"/>
          <a:ext cx="10241280" cy="8412480"/>
        </p:xfrm>
        <a:graphic>
          <a:graphicData uri="http://schemas.openxmlformats.org/drawingml/2006/chart">
            <c:chart xmlns:c="http://schemas.openxmlformats.org/drawingml/2006/chart" r:id="rId9"/>
          </a:graphicData>
        </a:graphic>
      </p:graphicFrame>
      <p:sp>
        <p:nvSpPr>
          <p:cNvPr id="113" name="TextBox 112"/>
          <p:cNvSpPr txBox="1"/>
          <p:nvPr/>
        </p:nvSpPr>
        <p:spPr>
          <a:xfrm>
            <a:off x="11521440" y="31546800"/>
            <a:ext cx="10241280" cy="822960"/>
          </a:xfrm>
          <a:prstGeom prst="rect">
            <a:avLst/>
          </a:prstGeom>
          <a:noFill/>
        </p:spPr>
        <p:txBody>
          <a:bodyPr wrap="square" anchor="t" lIns="109728" rIns="109728" tIns="54864" bIns="54864">
            <a:spAutoFit/>
          </a:bodyPr>
          <a:lstStyle/>
          <a:p>
            <a:pPr algn="l">
              <a:spcAft>
                <a:spcPts val="400"/>
              </a:spcAft>
            </a:pPr>
            <a:r>
              <a:rPr sz="1300" b="0" i="1">
                <a:solidFill>
                  <a:srgbClr val="4B5563"/>
                </a:solidFill>
                <a:latin typeface="Times New Roman"/>
              </a:rPr>
              <a:t>Orange = LMICs (21 studies, 25%); only 5 from low/lower-middle-income countries.</a:t>
            </a:r>
          </a:p>
        </p:txBody>
      </p:sp>
      <p:sp>
        <p:nvSpPr>
          <p:cNvPr id="114" name="TextBox 113"/>
          <p:cNvSpPr txBox="1"/>
          <p:nvPr/>
        </p:nvSpPr>
        <p:spPr>
          <a:xfrm>
            <a:off x="22128480" y="22448520"/>
            <a:ext cx="11247120" cy="548640"/>
          </a:xfrm>
          <a:prstGeom prst="rect">
            <a:avLst/>
          </a:prstGeom>
          <a:noFill/>
        </p:spPr>
        <p:txBody>
          <a:bodyPr wrap="square" anchor="t" lIns="109728" rIns="109728" tIns="54864" bIns="54864">
            <a:spAutoFit/>
          </a:bodyPr>
          <a:lstStyle/>
          <a:p>
            <a:pPr algn="l">
              <a:spcAft>
                <a:spcPts val="400"/>
              </a:spcAft>
            </a:pPr>
            <a:r>
              <a:rPr sz="2200" b="1" i="0">
                <a:solidFill>
                  <a:srgbClr val="0A254E"/>
                </a:solidFill>
                <a:latin typeface="Times New Roman"/>
              </a:rPr>
              <a:t>Fig 4: Studies by World Bank Region</a:t>
            </a:r>
          </a:p>
        </p:txBody>
      </p:sp>
      <p:graphicFrame>
        <p:nvGraphicFramePr>
          <p:cNvPr id="115" name="Chart 114"/>
          <p:cNvGraphicFramePr>
            <a:graphicFrameLocks noGrp="1"/>
          </p:cNvGraphicFramePr>
          <p:nvPr/>
        </p:nvGraphicFramePr>
        <p:xfrm>
          <a:off x="22128480" y="23088600"/>
          <a:ext cx="11247120" cy="8412480"/>
        </p:xfrm>
        <a:graphic>
          <a:graphicData uri="http://schemas.openxmlformats.org/drawingml/2006/chart">
            <c:chart xmlns:c="http://schemas.openxmlformats.org/drawingml/2006/chart" r:id="rId10"/>
          </a:graphicData>
        </a:graphic>
      </p:graphicFrame>
      <p:sp>
        <p:nvSpPr>
          <p:cNvPr id="116" name="TextBox 115"/>
          <p:cNvSpPr txBox="1"/>
          <p:nvPr/>
        </p:nvSpPr>
        <p:spPr>
          <a:xfrm>
            <a:off x="22128480" y="31546800"/>
            <a:ext cx="11247120" cy="822960"/>
          </a:xfrm>
          <a:prstGeom prst="rect">
            <a:avLst/>
          </a:prstGeom>
          <a:noFill/>
        </p:spPr>
        <p:txBody>
          <a:bodyPr wrap="square" anchor="t" lIns="109728" rIns="109728" tIns="54864" bIns="54864">
            <a:spAutoFit/>
          </a:bodyPr>
          <a:lstStyle/>
          <a:p>
            <a:pPr algn="l">
              <a:spcAft>
                <a:spcPts val="400"/>
              </a:spcAft>
            </a:pPr>
            <a:r>
              <a:rPr sz="1300" b="0" i="1">
                <a:solidFill>
                  <a:srgbClr val="4B5563"/>
                </a:solidFill>
                <a:latin typeface="Times New Roman"/>
              </a:rPr>
              <a:t>Sub-Saharan Africa: Ethiopia (n = 2), Nigeria (n = 1). Europe &amp; Central Asia includes Türkiye.</a:t>
            </a:r>
          </a:p>
        </p:txBody>
      </p:sp>
      <p:sp>
        <p:nvSpPr>
          <p:cNvPr id="117" name="Rectangle 116"/>
          <p:cNvSpPr/>
          <p:nvPr/>
        </p:nvSpPr>
        <p:spPr>
          <a:xfrm>
            <a:off x="33924240" y="6446520"/>
            <a:ext cx="960120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400" b="0" i="0">
                <a:solidFill>
                  <a:srgbClr val="FFFFFF"/>
                </a:solidFill>
                <a:latin typeface="Times New Roman"/>
              </a:rPr>
              <a:t>Results</a:t>
            </a:r>
          </a:p>
        </p:txBody>
      </p:sp>
      <p:sp>
        <p:nvSpPr>
          <p:cNvPr id="118" name="Rectangle 117"/>
          <p:cNvSpPr/>
          <p:nvPr/>
        </p:nvSpPr>
        <p:spPr>
          <a:xfrm>
            <a:off x="33924240" y="7315200"/>
            <a:ext cx="9601200" cy="9555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marL="292608" indent="-256032">
              <a:spcAft>
                <a:spcPts val="1000"/>
              </a:spcAft>
              <a:buFont typeface="Arial"/>
              <a:buChar char="•"/>
            </a:pPr>
            <a:r>
              <a:rPr sz="2600" b="1" i="0">
                <a:solidFill>
                  <a:srgbClr val="111827"/>
                </a:solidFill>
                <a:latin typeface="Times New Roman"/>
              </a:rPr>
              <a:t>Growing evidence: </a:t>
            </a:r>
            <a:r>
              <a:rPr sz="2600" b="0" i="0">
                <a:solidFill>
                  <a:srgbClr val="111827"/>
                </a:solidFill>
                <a:latin typeface="Times New Roman"/>
              </a:rPr>
              <a:t>49% of studies published since 2020; 56% cross-sectional, only 3 qualitative.</a:t>
            </a:r>
          </a:p>
          <a:p>
            <a:pPr algn="l" marL="292608" indent="-256032">
              <a:spcAft>
                <a:spcPts val="1000"/>
              </a:spcAft>
              <a:buFont typeface="Arial"/>
              <a:buChar char="•"/>
            </a:pPr>
            <a:r>
              <a:rPr sz="2600" b="1" i="0">
                <a:solidFill>
                  <a:srgbClr val="111827"/>
                </a:solidFill>
                <a:latin typeface="Times New Roman"/>
              </a:rPr>
              <a:t>Diagnosis: </a:t>
            </a:r>
            <a:r>
              <a:rPr sz="2600" b="0" i="0">
                <a:solidFill>
                  <a:srgbClr val="111827"/>
                </a:solidFill>
                <a:latin typeface="Times New Roman"/>
              </a:rPr>
              <a:t>only 24% confirmed PMDD with prospective daily ratings; 42% used provisional screening.</a:t>
            </a:r>
          </a:p>
          <a:p>
            <a:pPr algn="l" marL="292608" indent="-256032">
              <a:spcAft>
                <a:spcPts val="1000"/>
              </a:spcAft>
              <a:buFont typeface="Arial"/>
              <a:buChar char="•"/>
            </a:pPr>
            <a:r>
              <a:rPr sz="2600" b="1" i="0">
                <a:solidFill>
                  <a:srgbClr val="111827"/>
                </a:solidFill>
                <a:latin typeface="Times New Roman"/>
              </a:rPr>
              <a:t>Suicidality: </a:t>
            </a:r>
            <a:r>
              <a:rPr sz="2600" b="0" i="0">
                <a:solidFill>
                  <a:srgbClr val="111827"/>
                </a:solidFill>
                <a:latin typeface="Times New Roman"/>
              </a:rPr>
              <a:t>PMDD linked with suicidal ideation (OR 2.22) and attempts (OR 2.10) in a US national sample; 72% lifetime active ideation and 34% attempts in a global PMDD sample.</a:t>
            </a:r>
          </a:p>
          <a:p>
            <a:pPr algn="l" marL="292608" indent="-256032">
              <a:spcAft>
                <a:spcPts val="1000"/>
              </a:spcAft>
              <a:buFont typeface="Arial"/>
              <a:buChar char="•"/>
            </a:pPr>
            <a:r>
              <a:rPr sz="2600" b="1" i="0">
                <a:solidFill>
                  <a:srgbClr val="111827"/>
                </a:solidFill>
                <a:latin typeface="Times New Roman"/>
              </a:rPr>
              <a:t>Depression: </a:t>
            </a:r>
            <a:r>
              <a:rPr sz="2600" b="0" i="0">
                <a:solidFill>
                  <a:srgbClr val="111827"/>
                </a:solidFill>
                <a:latin typeface="Times New Roman"/>
              </a:rPr>
              <a:t>2.6-fold higher risk of later depression in a Taiwanese national cohort.</a:t>
            </a:r>
          </a:p>
          <a:p>
            <a:pPr algn="l" marL="292608" indent="-256032">
              <a:spcAft>
                <a:spcPts val="1000"/>
              </a:spcAft>
              <a:buFont typeface="Arial"/>
              <a:buChar char="•"/>
            </a:pPr>
            <a:r>
              <a:rPr sz="2600" b="1" i="0">
                <a:solidFill>
                  <a:srgbClr val="111827"/>
                </a:solidFill>
                <a:latin typeface="Times New Roman"/>
              </a:rPr>
              <a:t>Quality of life &amp; relationships: </a:t>
            </a:r>
            <a:r>
              <a:rPr sz="2600" b="0" i="0">
                <a:solidFill>
                  <a:srgbClr val="111827"/>
                </a:solidFill>
                <a:latin typeface="Times New Roman"/>
              </a:rPr>
              <a:t>lower QoL (Sweden, n = 17,284) and more relationship disruption (IRR 1.22).</a:t>
            </a:r>
          </a:p>
          <a:p>
            <a:pPr algn="l" marL="292608" indent="-256032">
              <a:spcAft>
                <a:spcPts val="1000"/>
              </a:spcAft>
              <a:buFont typeface="Arial"/>
              <a:buChar char="•"/>
            </a:pPr>
            <a:r>
              <a:rPr sz="2600" b="1" i="0">
                <a:solidFill>
                  <a:srgbClr val="111827"/>
                </a:solidFill>
                <a:latin typeface="Times New Roman"/>
              </a:rPr>
              <a:t>Trauma &amp; adversity: </a:t>
            </a:r>
            <a:r>
              <a:rPr sz="2600" b="0" i="0">
                <a:solidFill>
                  <a:srgbClr val="111827"/>
                </a:solidFill>
                <a:latin typeface="Times New Roman"/>
              </a:rPr>
              <a:t>adverse childhood experiences were linked to PMDD in Iceland and Japan (aOR 5.61 for ≥4 ACEs).</a:t>
            </a:r>
          </a:p>
          <a:p>
            <a:pPr algn="l" marL="292608" indent="-256032">
              <a:spcAft>
                <a:spcPts val="1000"/>
              </a:spcAft>
              <a:buFont typeface="Arial"/>
              <a:buChar char="•"/>
            </a:pPr>
            <a:r>
              <a:rPr sz="2600" b="1" i="0">
                <a:solidFill>
                  <a:srgbClr val="111827"/>
                </a:solidFill>
                <a:latin typeface="Times New Roman"/>
              </a:rPr>
              <a:t>Coping: </a:t>
            </a:r>
            <a:r>
              <a:rPr sz="2600" b="0" i="0">
                <a:solidFill>
                  <a:srgbClr val="111827"/>
                </a:solidFill>
                <a:latin typeface="Times New Roman"/>
              </a:rPr>
              <a:t>only 7 studies—mostly self-medication (analgesics, cannabis) or maladaptive styles.</a:t>
            </a:r>
          </a:p>
          <a:p>
            <a:pPr algn="l" marL="292608" indent="-256032">
              <a:spcAft>
                <a:spcPts val="1000"/>
              </a:spcAft>
              <a:buFont typeface="Arial"/>
              <a:buChar char="•"/>
            </a:pPr>
            <a:r>
              <a:rPr sz="2600" b="1" i="0">
                <a:solidFill>
                  <a:srgbClr val="111827"/>
                </a:solidFill>
                <a:latin typeface="Times New Roman"/>
              </a:rPr>
              <a:t>Geography: </a:t>
            </a:r>
            <a:r>
              <a:rPr sz="2600" b="0" i="0">
                <a:solidFill>
                  <a:srgbClr val="111827"/>
                </a:solidFill>
                <a:latin typeface="Times New Roman"/>
              </a:rPr>
              <a:t>67% high-income; 5 studies (6%) from low/lower-middle-income countries; 3 (3.5%) from sub-Saharan Africa; 1 LMIC study used prospective diagnosis.</a:t>
            </a:r>
          </a:p>
        </p:txBody>
      </p:sp>
      <p:sp>
        <p:nvSpPr>
          <p:cNvPr id="119" name="Rectangle 118"/>
          <p:cNvSpPr/>
          <p:nvPr/>
        </p:nvSpPr>
        <p:spPr>
          <a:xfrm>
            <a:off x="33924240" y="17099280"/>
            <a:ext cx="960120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000" b="0" i="0">
                <a:solidFill>
                  <a:srgbClr val="FFFFFF"/>
                </a:solidFill>
                <a:latin typeface="Times New Roman"/>
              </a:rPr>
              <a:t>Discussion and Conclusion</a:t>
            </a:r>
          </a:p>
        </p:txBody>
      </p:sp>
      <p:sp>
        <p:nvSpPr>
          <p:cNvPr id="120" name="Rectangle 119"/>
          <p:cNvSpPr/>
          <p:nvPr/>
        </p:nvSpPr>
        <p:spPr>
          <a:xfrm>
            <a:off x="33924240" y="17967960"/>
            <a:ext cx="9601200" cy="5074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a:spcAft>
                <a:spcPts val="1200"/>
              </a:spcAft>
            </a:pPr>
            <a:r>
              <a:rPr sz="2700" b="0" i="0">
                <a:solidFill>
                  <a:srgbClr val="111827"/>
                </a:solidFill>
                <a:latin typeface="Times New Roman"/>
              </a:rPr>
              <a:t>Evidence on PMDD’s psychosocial burden is expanding and consistent—depression, suicidality, impaired functioning and reduced quality of life—but it is concentrated in high-income countries, relies on provisional diagnoses and rarely examines coping or lived experience.</a:t>
            </a:r>
          </a:p>
          <a:p>
            <a:pPr algn="l">
              <a:spcAft>
                <a:spcPts val="1200"/>
              </a:spcAft>
            </a:pPr>
            <a:r>
              <a:rPr sz="2700" b="0" i="0">
                <a:solidFill>
                  <a:srgbClr val="111827"/>
                </a:solidFill>
                <a:latin typeface="Times New Roman"/>
              </a:rPr>
              <a:t>In sub-Saharan Africa the burden is largely undocumented: no study examined suicidality, quality of life or coping. Culturally responsive screening, integration of PMDD into sexual, reproductive and mental health services, and Africa-centred research investment are needed.</a:t>
            </a:r>
          </a:p>
        </p:txBody>
      </p:sp>
      <p:sp>
        <p:nvSpPr>
          <p:cNvPr id="121" name="Rectangle 120"/>
          <p:cNvSpPr/>
          <p:nvPr/>
        </p:nvSpPr>
        <p:spPr>
          <a:xfrm>
            <a:off x="33924240" y="23225760"/>
            <a:ext cx="960120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000" b="0" i="0">
                <a:solidFill>
                  <a:srgbClr val="FFFFFF"/>
                </a:solidFill>
                <a:latin typeface="Times New Roman"/>
              </a:rPr>
              <a:t>Limitations</a:t>
            </a:r>
          </a:p>
        </p:txBody>
      </p:sp>
      <p:sp>
        <p:nvSpPr>
          <p:cNvPr id="122" name="Rectangle 121"/>
          <p:cNvSpPr/>
          <p:nvPr/>
        </p:nvSpPr>
        <p:spPr>
          <a:xfrm>
            <a:off x="33924240" y="24094440"/>
            <a:ext cx="96012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marL="292608" indent="-256032">
              <a:spcAft>
                <a:spcPts val="500"/>
              </a:spcAft>
              <a:buFont typeface="Arial"/>
              <a:buChar char="•"/>
            </a:pPr>
            <a:r>
              <a:rPr sz="2400" b="0" i="0">
                <a:solidFill>
                  <a:srgbClr val="111827"/>
                </a:solidFill>
                <a:latin typeface="Times New Roman"/>
              </a:rPr>
              <a:t>Eligibility judged on titles/abstracts; full-text review ongoing.</a:t>
            </a:r>
          </a:p>
          <a:p>
            <a:pPr algn="l" marL="292608" indent="-256032">
              <a:spcAft>
                <a:spcPts val="500"/>
              </a:spcAft>
              <a:buFont typeface="Arial"/>
              <a:buChar char="•"/>
            </a:pPr>
            <a:r>
              <a:rPr sz="2400" b="0" i="0">
                <a:solidFill>
                  <a:srgbClr val="111827"/>
                </a:solidFill>
                <a:latin typeface="Times New Roman"/>
              </a:rPr>
              <a:t>English only; African Journals Online and grey literature not searched.</a:t>
            </a:r>
          </a:p>
          <a:p>
            <a:pPr algn="l" marL="292608" indent="-256032">
              <a:spcAft>
                <a:spcPts val="500"/>
              </a:spcAft>
              <a:buFont typeface="Arial"/>
              <a:buChar char="•"/>
            </a:pPr>
            <a:r>
              <a:rPr sz="2400" b="0" i="0">
                <a:solidFill>
                  <a:srgbClr val="111827"/>
                </a:solidFill>
                <a:latin typeface="Times New Roman"/>
              </a:rPr>
              <a:t>Many studies combined PMS and PMDD or used provisional diagnoses.</a:t>
            </a:r>
          </a:p>
        </p:txBody>
      </p:sp>
      <p:sp>
        <p:nvSpPr>
          <p:cNvPr id="123" name="Rectangle 122"/>
          <p:cNvSpPr/>
          <p:nvPr/>
        </p:nvSpPr>
        <p:spPr>
          <a:xfrm>
            <a:off x="33924240" y="26563320"/>
            <a:ext cx="9601200" cy="8686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4000" b="0" i="0">
                <a:solidFill>
                  <a:srgbClr val="FFFFFF"/>
                </a:solidFill>
                <a:latin typeface="Times New Roman"/>
              </a:rPr>
              <a:t>Future Work</a:t>
            </a:r>
          </a:p>
        </p:txBody>
      </p:sp>
      <p:sp>
        <p:nvSpPr>
          <p:cNvPr id="124" name="Rectangle 123"/>
          <p:cNvSpPr/>
          <p:nvPr/>
        </p:nvSpPr>
        <p:spPr>
          <a:xfrm>
            <a:off x="33924240" y="27432000"/>
            <a:ext cx="960120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marL="292608" indent="-256032">
              <a:spcAft>
                <a:spcPts val="500"/>
              </a:spcAft>
              <a:buFont typeface="Arial"/>
              <a:buChar char="•"/>
            </a:pPr>
            <a:r>
              <a:rPr sz="2400" b="0" i="0">
                <a:solidFill>
                  <a:srgbClr val="111827"/>
                </a:solidFill>
                <a:latin typeface="Times New Roman"/>
              </a:rPr>
              <a:t>Prospectively confirmed PMDD studies in LMICs and sub-Saharan Africa.</a:t>
            </a:r>
          </a:p>
          <a:p>
            <a:pPr algn="l" marL="292608" indent="-256032">
              <a:spcAft>
                <a:spcPts val="500"/>
              </a:spcAft>
              <a:buFont typeface="Arial"/>
              <a:buChar char="•"/>
            </a:pPr>
            <a:r>
              <a:rPr sz="2400" b="0" i="0">
                <a:solidFill>
                  <a:srgbClr val="111827"/>
                </a:solidFill>
                <a:latin typeface="Times New Roman"/>
              </a:rPr>
              <a:t>Qualitative research on stigma, lived experience and coping.</a:t>
            </a:r>
          </a:p>
          <a:p>
            <a:pPr algn="l" marL="292608" indent="-256032">
              <a:spcAft>
                <a:spcPts val="500"/>
              </a:spcAft>
              <a:buFont typeface="Arial"/>
              <a:buChar char="•"/>
            </a:pPr>
            <a:r>
              <a:rPr sz="2400" b="0" i="0">
                <a:solidFill>
                  <a:srgbClr val="111827"/>
                </a:solidFill>
                <a:latin typeface="Times New Roman"/>
              </a:rPr>
              <a:t>Validate PMDD tools in African languages.</a:t>
            </a:r>
          </a:p>
        </p:txBody>
      </p:sp>
      <p:sp>
        <p:nvSpPr>
          <p:cNvPr id="125" name="Rectangle 124"/>
          <p:cNvSpPr/>
          <p:nvPr/>
        </p:nvSpPr>
        <p:spPr>
          <a:xfrm>
            <a:off x="33924240" y="29718000"/>
            <a:ext cx="9601200" cy="640080"/>
          </a:xfrm>
          <a:prstGeom prst="rect">
            <a:avLst/>
          </a:prstGeom>
          <a:solidFill>
            <a:srgbClr val="0A2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3400" b="0" i="0">
                <a:solidFill>
                  <a:srgbClr val="FFFFFF"/>
                </a:solidFill>
                <a:latin typeface="Times New Roman"/>
              </a:rPr>
              <a:t>References</a:t>
            </a:r>
          </a:p>
        </p:txBody>
      </p:sp>
      <p:sp>
        <p:nvSpPr>
          <p:cNvPr id="126" name="Rectangle 125"/>
          <p:cNvSpPr/>
          <p:nvPr/>
        </p:nvSpPr>
        <p:spPr>
          <a:xfrm>
            <a:off x="33924240" y="30358080"/>
            <a:ext cx="960120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54864"/>
          <a:lstStyle/>
          <a:p>
            <a:pPr algn="l">
              <a:spcAft>
                <a:spcPts val="0"/>
              </a:spcAft>
            </a:pPr>
            <a:r>
              <a:rPr sz="1200" b="0" i="0">
                <a:solidFill>
                  <a:srgbClr val="111827"/>
                </a:solidFill>
                <a:latin typeface="Times New Roman"/>
              </a:rPr>
              <a:t>1. Reilly TJ et al. J Affect Disord. 2024;349:534-540.</a:t>
            </a:r>
          </a:p>
          <a:p>
            <a:pPr algn="l">
              <a:spcAft>
                <a:spcPts val="0"/>
              </a:spcAft>
            </a:pPr>
            <a:r>
              <a:rPr sz="1200" b="0" i="0">
                <a:solidFill>
                  <a:srgbClr val="111827"/>
                </a:solidFill>
                <a:latin typeface="Times New Roman"/>
              </a:rPr>
              <a:t>2. Andualem F et al. Front Psychiatry. 2024;15:1338304.</a:t>
            </a:r>
          </a:p>
          <a:p>
            <a:pPr algn="l">
              <a:spcAft>
                <a:spcPts val="0"/>
              </a:spcAft>
            </a:pPr>
            <a:r>
              <a:rPr sz="1200" b="0" i="0">
                <a:solidFill>
                  <a:srgbClr val="111827"/>
                </a:solidFill>
                <a:latin typeface="Times New Roman"/>
              </a:rPr>
              <a:t>3. Arksey H, O'Malley L. Int J Soc Res Methodol. 2005;8(1):19-32.</a:t>
            </a:r>
          </a:p>
          <a:p>
            <a:pPr algn="l">
              <a:spcAft>
                <a:spcPts val="0"/>
              </a:spcAft>
            </a:pPr>
            <a:r>
              <a:rPr sz="1200" b="0" i="0">
                <a:solidFill>
                  <a:srgbClr val="111827"/>
                </a:solidFill>
                <a:latin typeface="Times New Roman"/>
              </a:rPr>
              <a:t>4. Tricco AC et al. Ann Intern Med. 2018;169(7):467-473.</a:t>
            </a:r>
          </a:p>
          <a:p>
            <a:pPr algn="l">
              <a:spcAft>
                <a:spcPts val="0"/>
              </a:spcAft>
            </a:pPr>
            <a:r>
              <a:rPr sz="1200" b="0" i="0">
                <a:solidFill>
                  <a:srgbClr val="111827"/>
                </a:solidFill>
                <a:latin typeface="Times New Roman"/>
              </a:rPr>
              <a:t>5. Pilver CE et al. Soc Psychiatry Psychiatr Epidemiol. 2013;48(3):437-446.</a:t>
            </a:r>
          </a:p>
          <a:p>
            <a:pPr algn="l">
              <a:spcAft>
                <a:spcPts val="0"/>
              </a:spcAft>
            </a:pPr>
            <a:r>
              <a:rPr sz="1200" b="0" i="0">
                <a:solidFill>
                  <a:srgbClr val="111827"/>
                </a:solidFill>
                <a:latin typeface="Times New Roman"/>
              </a:rPr>
              <a:t>6. Eisenlohr-Moul T et al. BMC Psychiatry. 2022;22. doi:10.1186/s12888-022-03851-0</a:t>
            </a:r>
          </a:p>
          <a:p>
            <a:pPr algn="l">
              <a:spcAft>
                <a:spcPts val="0"/>
              </a:spcAft>
            </a:pPr>
            <a:r>
              <a:rPr sz="1200" b="0" i="0">
                <a:solidFill>
                  <a:srgbClr val="111827"/>
                </a:solidFill>
                <a:latin typeface="Times New Roman"/>
              </a:rPr>
              <a:t>7. Li DJ et al. Asian J Psychiatr. 2023;79:103355.</a:t>
            </a:r>
          </a:p>
          <a:p>
            <a:pPr algn="l">
              <a:spcAft>
                <a:spcPts val="0"/>
              </a:spcAft>
            </a:pPr>
            <a:r>
              <a:rPr sz="1200" b="0" i="0">
                <a:solidFill>
                  <a:srgbClr val="111827"/>
                </a:solidFill>
                <a:latin typeface="Times New Roman"/>
              </a:rPr>
              <a:t>8. Wang Q et al. JAMA Netw Open. 2025;8(9):e2533823.</a:t>
            </a:r>
          </a:p>
          <a:p>
            <a:pPr algn="l">
              <a:spcAft>
                <a:spcPts val="0"/>
              </a:spcAft>
            </a:pPr>
            <a:r>
              <a:rPr sz="1200" b="0" i="0">
                <a:solidFill>
                  <a:srgbClr val="111827"/>
                </a:solidFill>
                <a:latin typeface="Times New Roman"/>
              </a:rPr>
              <a:t>9. Westermark V et al. J Affect Disord. 2024;364:132-138.</a:t>
            </a:r>
          </a:p>
          <a:p>
            <a:pPr algn="l">
              <a:spcAft>
                <a:spcPts val="0"/>
              </a:spcAft>
            </a:pPr>
            <a:r>
              <a:rPr sz="1200" b="0" i="0">
                <a:solidFill>
                  <a:srgbClr val="111827"/>
                </a:solidFill>
                <a:latin typeface="Times New Roman"/>
              </a:rPr>
              <a:t>Full list of 85 included studies: see manuscript and supplementary file.</a:t>
            </a:r>
          </a:p>
        </p:txBody>
      </p:sp>
    </p:spTree>
    <p:extLst>
      <p:ext uri="{BB962C8B-B14F-4D97-AF65-F5344CB8AC3E}">
        <p14:creationId xmlns:p14="http://schemas.microsoft.com/office/powerpoint/2010/main" val="32477086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af8218e-b302-4465-a993-4a39c97251b2}" enabled="0" method="" siteId="{baf8218e-b302-4465-a993-4a39c97251b2}" removed="1"/>
</clbl:labelList>
</file>

<file path=docProps/app.xml><?xml version="1.0" encoding="utf-8"?>
<Properties xmlns="http://schemas.openxmlformats.org/officeDocument/2006/extended-properties" xmlns:vt="http://schemas.openxmlformats.org/officeDocument/2006/docPropsVTypes">
  <Template/>
  <TotalTime>56</TotalTime>
  <Words>1348</Words>
  <Application>Microsoft Office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Calisto MT</vt:lpstr>
      <vt:lpstr>Garamond</vt:lpstr>
      <vt:lpstr>Lucida Grande</vt:lpstr>
      <vt:lpstr>Times New Roman</vt:lpstr>
      <vt:lpstr>Wingdings 2</vt:lpstr>
      <vt:lpstr>Slate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Montalvo</dc:creator>
  <cp:lastModifiedBy>Shobayo, Ifeoluwanimi (Public &amp; Community Health)</cp:lastModifiedBy>
  <cp:revision>4</cp:revision>
  <dcterms:created xsi:type="dcterms:W3CDTF">2013-10-19T16:33:22Z</dcterms:created>
  <dcterms:modified xsi:type="dcterms:W3CDTF">2026-09-28T01:06:14Z</dcterms:modified>
</cp:coreProperties>
</file>