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PREVALENCE OF HIGH-FRUCTOSE CORN SYRUP IN THE U.S. BRANDED FOOD SUPPLY:</a:t>
            </a:r>
          </a:p>
          <a:p>
            <a:pPr algn="ctr">
              <a:lnSpc>
                <a:spcPct val="100000"/>
              </a:lnSpc>
            </a:pPr>
            <a:r>
              <a:rPr sz="5200" b="1" i="0">
                <a:solidFill>
                  <a:srgbClr val="000000"/>
                </a:solidFill>
                <a:latin typeface="Times New Roman"/>
              </a:rPr>
              <a:t>A CROSS-SECTIONAL ANALYSIS OF THE USDA GLOBAL BRANDED FOOD PRODUCTS DATABASE</a:t>
            </a:r>
          </a:p>
          <a:p>
            <a:pPr algn="ctr">
              <a:lnSpc>
                <a:spcPct val="100000"/>
              </a:lnSpc>
            </a:pPr>
            <a:r>
              <a:rPr sz="4400" b="0" i="0">
                <a:solidFill>
                  <a:srgbClr val="000000"/>
                </a:solidFill>
                <a:latin typeface="Times New Roman"/>
              </a:rPr>
              <a:t>[Author Name, Credentials; Author Name, Credentials; Author Name, Credentials]</a:t>
            </a:r>
          </a:p>
          <a:p>
            <a:pPr algn="ctr">
              <a:lnSpc>
                <a:spcPct val="100000"/>
              </a:lnSpc>
            </a:pPr>
            <a:r>
              <a:rPr sz="3400" b="0" i="0">
                <a:solidFill>
                  <a:srgbClr val="000000"/>
                </a:solidFill>
                <a:latin typeface="Times New Roman"/>
              </a:rPr>
              <a:t>[Department],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685800" y="4956048"/>
            <a:ext cx="9427464" cy="7772400"/>
          </a:xfrm>
          <a:prstGeom prst="rect">
            <a:avLst/>
          </a:prstGeom>
          <a:solidFill>
            <a:schemeClr val="tx1"/>
          </a:solidFill>
          <a:ln>
            <a:solidFill>
              <a:schemeClr val="bg1"/>
            </a:solidFill>
          </a:ln>
        </p:spPr>
        <p:txBody>
          <a:bodyPr wrap="square" lIns="131445" tIns="65723" rIns="131445" bIns="65723" rtlCol="0" anchor="t">
            <a:noAutofit/>
          </a:bodyPr>
          <a:lstStyle/>
          <a:p>
            <a:pPr marL="0" indent="0" algn="just">
              <a:lnSpc>
                <a:spcPct val="100000"/>
              </a:lnSpc>
              <a:spcAft>
                <a:spcPts val="300"/>
              </a:spcAft>
            </a:pPr>
            <a:r>
              <a:rPr sz="2100" b="1" i="0">
                <a:solidFill>
                  <a:srgbClr val="000000"/>
                </a:solidFill>
                <a:latin typeface="Times New Roman"/>
              </a:rPr>
              <a:t>Background:</a:t>
            </a:r>
            <a:r>
              <a:rPr sz="2100" b="0" i="0">
                <a:solidFill>
                  <a:srgbClr val="000000"/>
                </a:solidFill>
                <a:latin typeface="Times New Roman"/>
              </a:rPr>
              <a:t> High-fructose corn syrup (HFCS) is a widely used caloric sweetener in the U.S. food supply, but product-level data on its prevalence are limited. Ingredient lists do not specify amounts, and nutrient databases do not distinguish among types of added sugars.</a:t>
            </a:r>
          </a:p>
          <a:p>
            <a:pPr marL="0" indent="0" algn="just">
              <a:lnSpc>
                <a:spcPct val="100000"/>
              </a:lnSpc>
              <a:spcAft>
                <a:spcPts val="300"/>
              </a:spcAft>
            </a:pPr>
            <a:r>
              <a:rPr sz="2100" b="1" i="0">
                <a:solidFill>
                  <a:srgbClr val="000000"/>
                </a:solidFill>
                <a:latin typeface="Times New Roman"/>
              </a:rPr>
              <a:t>Objectives:</a:t>
            </a:r>
            <a:r>
              <a:rPr sz="2100" b="0" i="0">
                <a:solidFill>
                  <a:srgbClr val="000000"/>
                </a:solidFill>
                <a:latin typeface="Times New Roman"/>
              </a:rPr>
              <a:t> To estimate the prevalence of HFCS as a listed ingredient in U.S. branded food products and to establish a reproducible baseline for future surveillance.</a:t>
            </a:r>
          </a:p>
          <a:p>
            <a:pPr marL="0" indent="0" algn="just">
              <a:lnSpc>
                <a:spcPct val="100000"/>
              </a:lnSpc>
              <a:spcAft>
                <a:spcPts val="300"/>
              </a:spcAft>
            </a:pPr>
            <a:r>
              <a:rPr sz="2100" b="1" i="0">
                <a:solidFill>
                  <a:srgbClr val="000000"/>
                </a:solidFill>
                <a:latin typeface="Times New Roman"/>
              </a:rPr>
              <a:t>Methods:</a:t>
            </a:r>
            <a:r>
              <a:rPr sz="2100" b="0" i="0">
                <a:solidFill>
                  <a:srgbClr val="000000"/>
                </a:solidFill>
                <a:latin typeface="Times New Roman"/>
              </a:rPr>
              <a:t> We conducted a retrospective, cross-sectional, descriptive analysis of the USDA FoodData Central Global Branded Food Products Database (GBFPD), covering products published between April 13, 2019, and December 13, 2025. The primary outcome was the proportion of eligible products listing HFCS as an ingredient. We used descriptive statistics (counts and percentages).</a:t>
            </a:r>
          </a:p>
          <a:p>
            <a:pPr marL="0" indent="0" algn="just">
              <a:lnSpc>
                <a:spcPct val="100000"/>
              </a:lnSpc>
              <a:spcAft>
                <a:spcPts val="300"/>
              </a:spcAft>
            </a:pPr>
            <a:r>
              <a:rPr sz="2100" b="1" i="0">
                <a:solidFill>
                  <a:srgbClr val="000000"/>
                </a:solidFill>
                <a:latin typeface="Times New Roman"/>
              </a:rPr>
              <a:t>Results:</a:t>
            </a:r>
            <a:r>
              <a:rPr sz="2100" b="0" i="0">
                <a:solidFill>
                  <a:srgbClr val="000000"/>
                </a:solidFill>
                <a:latin typeface="Times New Roman"/>
              </a:rPr>
              <a:t> Of 454,324 products identified, 447,607 were eligible for analysis. HFCS was listed as an ingredient in 29,503 products (6.6%), or about 1 in 15. The remaining 418,104 products (93.4%) did not list HFCS.</a:t>
            </a:r>
          </a:p>
          <a:p>
            <a:pPr marL="0" indent="0" algn="just">
              <a:lnSpc>
                <a:spcPct val="100000"/>
              </a:lnSpc>
              <a:spcAft>
                <a:spcPts val="300"/>
              </a:spcAft>
            </a:pPr>
            <a:r>
              <a:rPr sz="2100" b="1" i="0">
                <a:solidFill>
                  <a:srgbClr val="000000"/>
                </a:solidFill>
                <a:latin typeface="Times New Roman"/>
              </a:rPr>
              <a:t>Conclusions:</a:t>
            </a:r>
            <a:r>
              <a:rPr sz="2100" b="0" i="0">
                <a:solidFill>
                  <a:srgbClr val="000000"/>
                </a:solidFill>
                <a:latin typeface="Times New Roman"/>
              </a:rPr>
              <a:t> HFCS remains present in roughly 30,000 U.S. branded food products. Because we measured prevalence by product count rather than weighted by sales or intake, and could not quantify HFCS per product, these findings do not directly measure population exposure. They provide a reproducible baseline for monitoring reformulation and market change. Future work should link ingredient data to sales-weighted datasets and stratify by food category and trade channel.</a:t>
            </a:r>
          </a:p>
          <a:p>
            <a:pPr marL="0" indent="0" algn="just">
              <a:lnSpc>
                <a:spcPct val="100000"/>
              </a:lnSpc>
              <a:spcAft>
                <a:spcPts val="300"/>
              </a:spcAft>
            </a:pPr>
            <a:r>
              <a:rPr sz="2100" b="1" i="0">
                <a:solidFill>
                  <a:srgbClr val="000000"/>
                </a:solidFill>
                <a:latin typeface="Times New Roman"/>
              </a:rPr>
              <a:t>Keywords:</a:t>
            </a:r>
            <a:r>
              <a:rPr sz="2100" b="0" i="0">
                <a:solidFill>
                  <a:srgbClr val="000000"/>
                </a:solidFill>
                <a:latin typeface="Times New Roman"/>
              </a:rPr>
              <a:t> </a:t>
            </a:r>
            <a:r>
              <a:rPr sz="2100" b="0" i="1">
                <a:solidFill>
                  <a:srgbClr val="000000"/>
                </a:solidFill>
                <a:latin typeface="Times New Roman"/>
              </a:rPr>
              <a:t>high-fructose corn syrup; added sugars; branded foods; FoodData Central; food supply surveillance</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800" y="4087368"/>
            <a:ext cx="9427464"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85800" y="14374368"/>
            <a:ext cx="9427464" cy="7360920"/>
          </a:xfrm>
          <a:prstGeom prst="rect">
            <a:avLst/>
          </a:prstGeom>
          <a:solidFill>
            <a:schemeClr val="tx1"/>
          </a:solidFill>
          <a:ln>
            <a:solidFill>
              <a:schemeClr val="bg1"/>
            </a:solidFill>
          </a:ln>
        </p:spPr>
        <p:txBody>
          <a:bodyPr wrap="square" lIns="131445" tIns="65723" rIns="131445" bIns="65723" rtlCol="0" anchor="t">
            <a:noAutofit/>
          </a:bodyPr>
          <a:lstStyle/>
          <a:p>
            <a:pPr algn="just" marL="0" indent="0">
              <a:lnSpc>
                <a:spcPct val="100000"/>
              </a:lnSpc>
              <a:spcAft>
                <a:spcPts val="300"/>
              </a:spcAft>
            </a:pPr>
            <a:r>
              <a:rPr sz="2400" b="1" i="0">
                <a:solidFill>
                  <a:srgbClr val="000000"/>
                </a:solidFill>
                <a:latin typeface="Times New Roman"/>
              </a:rPr>
              <a:t>Introduction</a:t>
            </a:r>
          </a:p>
          <a:p>
            <a:pPr marL="0" indent="0" algn="just">
              <a:lnSpc>
                <a:spcPct val="100000"/>
              </a:lnSpc>
              <a:spcAft>
                <a:spcPts val="300"/>
              </a:spcAft>
            </a:pPr>
            <a:r>
              <a:rPr sz="2400" b="0" i="0">
                <a:solidFill>
                  <a:srgbClr val="000000"/>
                </a:solidFill>
                <a:latin typeface="Times New Roman"/>
              </a:rPr>
              <a:t>High-fructose corn syrup (HFCS) is a caloric sweetener made by enzymatically converting cornstarch into free fructose and glucose, used widely in soft drinks, baked goods, ready-to-eat meals, and condiments.</a:t>
            </a:r>
            <a:r>
              <a:rPr sz="2400" b="0" i="0" baseline="30000">
                <a:solidFill>
                  <a:srgbClr val="000000"/>
                </a:solidFill>
                <a:latin typeface="Times New Roman"/>
              </a:rPr>
              <a:t>1,2</a:t>
            </a:r>
            <a:r>
              <a:rPr sz="2400" b="0" i="0">
                <a:solidFill>
                  <a:srgbClr val="000000"/>
                </a:solidFill>
                <a:latin typeface="Times New Roman"/>
              </a:rPr>
              <a:t> Common blends are HFCS-55, mainly in soft drinks, and HFCS-42, mainly in processed foods.</a:t>
            </a:r>
            <a:r>
              <a:rPr sz="2400" b="0" i="0" baseline="30000">
                <a:solidFill>
                  <a:srgbClr val="000000"/>
                </a:solidFill>
                <a:latin typeface="Times New Roman"/>
              </a:rPr>
              <a:t>3</a:t>
            </a:r>
            <a:r>
              <a:rPr sz="2400" b="0" i="0">
                <a:solidFill>
                  <a:srgbClr val="000000"/>
                </a:solidFill>
                <a:latin typeface="Times New Roman"/>
              </a:rPr>
              <a:t> Low cost linked to domestic corn production drove its adoption in the U.S. food supply.</a:t>
            </a:r>
            <a:r>
              <a:rPr sz="2400" b="0" i="0" baseline="30000">
                <a:solidFill>
                  <a:srgbClr val="000000"/>
                </a:solidFill>
                <a:latin typeface="Times New Roman"/>
              </a:rPr>
              <a:t>4</a:t>
            </a:r>
            <a:r>
              <a:rPr sz="2400" b="0" i="0">
                <a:solidFill>
                  <a:srgbClr val="000000"/>
                </a:solidFill>
                <a:latin typeface="Times New Roman"/>
              </a:rPr>
              <a:t> HFCS-sweetened beverages increase liver fat and reduce insulin sensitivity,</a:t>
            </a:r>
            <a:r>
              <a:rPr sz="2400" b="0" i="0" baseline="30000">
                <a:solidFill>
                  <a:srgbClr val="000000"/>
                </a:solidFill>
                <a:latin typeface="Times New Roman"/>
              </a:rPr>
              <a:t>5</a:t>
            </a:r>
            <a:r>
              <a:rPr sz="2400" b="0" i="0">
                <a:solidFill>
                  <a:srgbClr val="000000"/>
                </a:solidFill>
                <a:latin typeface="Times New Roman"/>
              </a:rPr>
              <a:t> and excess free fructose may affect gut and metabolic health.</a:t>
            </a:r>
            <a:r>
              <a:rPr sz="2400" b="0" i="0" baseline="30000">
                <a:solidFill>
                  <a:srgbClr val="000000"/>
                </a:solidFill>
                <a:latin typeface="Times New Roman"/>
              </a:rPr>
              <a:t>6</a:t>
            </a:r>
            <a:r>
              <a:rPr sz="2400" b="0" i="0">
                <a:solidFill>
                  <a:srgbClr val="000000"/>
                </a:solidFill>
                <a:latin typeface="Times New Roman"/>
              </a:rPr>
              <a:t> The 2025–2030 Dietary Guidelines state that no amount of added sugars is recommended as part of a healthy diet.</a:t>
            </a:r>
            <a:r>
              <a:rPr sz="2400" b="0" i="0" baseline="30000">
                <a:solidFill>
                  <a:srgbClr val="000000"/>
                </a:solidFill>
                <a:latin typeface="Times New Roman"/>
              </a:rPr>
              <a:t>7</a:t>
            </a:r>
            <a:r>
              <a:rPr sz="2400" b="0" i="0">
                <a:solidFill>
                  <a:srgbClr val="000000"/>
                </a:solidFill>
                <a:latin typeface="Times New Roman"/>
              </a:rPr>
              <a:t> Yet ingredient lists do not give HFCS amounts, and nutrient databases do not separate types of added sugar, so product-level HFCS data are limited.</a:t>
            </a:r>
          </a:p>
          <a:p>
            <a:pPr marL="0" indent="0" algn="just">
              <a:lnSpc>
                <a:spcPct val="100000"/>
              </a:lnSpc>
              <a:spcAft>
                <a:spcPts val="300"/>
              </a:spcAft>
            </a:pPr>
            <a:r>
              <a:rPr sz="2400" b="1" i="0">
                <a:solidFill>
                  <a:srgbClr val="000000"/>
                </a:solidFill>
                <a:latin typeface="Times New Roman"/>
              </a:rPr>
              <a:t>Objective</a:t>
            </a:r>
          </a:p>
          <a:p>
            <a:pPr marL="0" indent="0" algn="just">
              <a:lnSpc>
                <a:spcPct val="100000"/>
              </a:lnSpc>
              <a:spcAft>
                <a:spcPts val="300"/>
              </a:spcAft>
            </a:pPr>
            <a:r>
              <a:rPr sz="2400" b="0" i="0">
                <a:solidFill>
                  <a:srgbClr val="000000"/>
                </a:solidFill>
                <a:latin typeface="Times New Roman"/>
              </a:rPr>
              <a:t>To estimate the prevalence of HFCS as a listed ingredient in U.S. branded food products and establish a reproducible baseline for future surveillance.</a:t>
            </a:r>
          </a:p>
          <a:p>
            <a:pPr marL="0" indent="0" algn="just">
              <a:lnSpc>
                <a:spcPct val="100000"/>
              </a:lnSpc>
              <a:spcAft>
                <a:spcPts val="300"/>
              </a:spcAft>
            </a:pPr>
            <a:r>
              <a:rPr sz="2400" b="1" i="0">
                <a:solidFill>
                  <a:srgbClr val="000000"/>
                </a:solidFill>
                <a:latin typeface="Times New Roman"/>
              </a:rPr>
              <a:t>Research Question</a:t>
            </a:r>
          </a:p>
          <a:p>
            <a:pPr marL="0" indent="0" algn="just">
              <a:lnSpc>
                <a:spcPct val="100000"/>
              </a:lnSpc>
              <a:spcAft>
                <a:spcPts val="300"/>
              </a:spcAft>
            </a:pPr>
            <a:r>
              <a:rPr sz="2400" b="0" i="0">
                <a:solidFill>
                  <a:srgbClr val="000000"/>
                </a:solidFill>
                <a:latin typeface="Times New Roman"/>
              </a:rPr>
              <a:t>What proportion of U.S. branded food products list HFCS as an ingredient?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685800" y="13002768"/>
            <a:ext cx="9427464"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85800" y="22009608"/>
            <a:ext cx="9427464" cy="86868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20729448"/>
            <a:ext cx="9253728" cy="6126480"/>
          </a:xfrm>
          <a:prstGeom prst="rect">
            <a:avLst/>
          </a:prstGeom>
          <a:solidFill>
            <a:srgbClr val="FFFFFF"/>
          </a:solidFill>
          <a:ln cap="rnd">
            <a:solidFill>
              <a:schemeClr val="bg1"/>
            </a:solidFill>
          </a:ln>
        </p:spPr>
        <p:txBody>
          <a:bodyPr wrap="square" lIns="182880" rIns="182880" rtlCol="0" anchor="t">
            <a:noAutofit/>
          </a:bodyPr>
          <a:lstStyle/>
          <a:p>
            <a:pPr marL="0" indent="0" algn="just">
              <a:lnSpc>
                <a:spcPct val="100000"/>
              </a:lnSpc>
              <a:spcAft>
                <a:spcPts val="300"/>
              </a:spcAft>
            </a:pPr>
            <a:r>
              <a:rPr sz="2400" b="1" i="0">
                <a:solidFill>
                  <a:srgbClr val="000000"/>
                </a:solidFill>
                <a:latin typeface="Times New Roman"/>
              </a:rPr>
              <a:t>Public Health Implications</a:t>
            </a:r>
          </a:p>
          <a:p>
            <a:pPr algn="l" marL="274320" indent="-274320">
              <a:lnSpc>
                <a:spcPct val="100000"/>
              </a:lnSpc>
              <a:spcAft>
                <a:spcPts val="300"/>
              </a:spcAft>
            </a:pPr>
            <a:r>
              <a:rPr sz="2400" b="0" i="0">
                <a:solidFill>
                  <a:srgbClr val="000000"/>
                </a:solidFill>
                <a:latin typeface="Times New Roman"/>
              </a:rPr>
              <a:t>• Use ingredient-level surveillance to track HFCS and added sugars in branded foods</a:t>
            </a:r>
          </a:p>
          <a:p>
            <a:pPr algn="l" marL="274320" indent="-274320">
              <a:lnSpc>
                <a:spcPct val="100000"/>
              </a:lnSpc>
              <a:spcAft>
                <a:spcPts val="300"/>
              </a:spcAft>
            </a:pPr>
            <a:r>
              <a:rPr sz="2400" b="0" i="0">
                <a:solidFill>
                  <a:srgbClr val="000000"/>
                </a:solidFill>
                <a:latin typeface="Times New Roman"/>
              </a:rPr>
              <a:t>• Target reformulation where HFCS is concentrated</a:t>
            </a:r>
          </a:p>
          <a:p>
            <a:pPr algn="l" marL="274320" indent="-274320">
              <a:lnSpc>
                <a:spcPct val="100000"/>
              </a:lnSpc>
              <a:spcAft>
                <a:spcPts val="300"/>
              </a:spcAft>
            </a:pPr>
            <a:r>
              <a:rPr sz="2400" b="0" i="0">
                <a:solidFill>
                  <a:srgbClr val="000000"/>
                </a:solidFill>
                <a:latin typeface="Times New Roman"/>
              </a:rPr>
              <a:t>• Inform procurement standards in food service and child nutrition programs</a:t>
            </a:r>
          </a:p>
          <a:p>
            <a:pPr algn="l" marL="274320" indent="-274320">
              <a:lnSpc>
                <a:spcPct val="100000"/>
              </a:lnSpc>
              <a:spcAft>
                <a:spcPts val="300"/>
              </a:spcAft>
            </a:pPr>
            <a:r>
              <a:rPr sz="2400" b="0" i="0">
                <a:solidFill>
                  <a:srgbClr val="000000"/>
                </a:solidFill>
                <a:latin typeface="Times New Roman"/>
              </a:rPr>
              <a:t>• Support consumer education on reading ingredient lists</a:t>
            </a:r>
          </a:p>
          <a:p>
            <a:pPr algn="l" marL="274320" indent="-274320">
              <a:lnSpc>
                <a:spcPct val="100000"/>
              </a:lnSpc>
              <a:spcAft>
                <a:spcPts val="300"/>
              </a:spcAft>
            </a:pPr>
            <a:r>
              <a:rPr sz="2400" b="0" i="0">
                <a:solidFill>
                  <a:srgbClr val="000000"/>
                </a:solidFill>
                <a:latin typeface="Times New Roman"/>
              </a:rPr>
              <a:t>• Align monitoring with the 2025–2030 Dietary Guidelines</a:t>
            </a:r>
            <a:r>
              <a:rPr sz="2400" b="0" i="0" baseline="30000">
                <a:solidFill>
                  <a:srgbClr val="000000"/>
                </a:solidFill>
                <a:latin typeface="Times New Roman"/>
              </a:rPr>
              <a:t>7</a:t>
            </a:r>
            <a:r>
              <a:rPr sz="2400" b="0" i="0">
                <a:solidFill>
                  <a:srgbClr val="000000"/>
                </a:solidFill>
                <a:latin typeface="Times New Roman"/>
              </a:rPr>
              <a:t> and added-sugar labeling</a:t>
            </a:r>
            <a:r>
              <a:rPr sz="2400" b="0" i="0" baseline="30000">
                <a:solidFill>
                  <a:srgbClr val="000000"/>
                </a:solidFill>
                <a:latin typeface="Times New Roman"/>
              </a:rPr>
              <a:t>14</a:t>
            </a:r>
          </a:p>
          <a:p>
            <a:pPr marL="0" indent="0" algn="just">
              <a:lnSpc>
                <a:spcPct val="100000"/>
              </a:lnSpc>
              <a:spcAft>
                <a:spcPts val="300"/>
              </a:spcAft>
            </a:pPr>
            <a:r>
              <a:rPr sz="2400" b="1" i="0">
                <a:solidFill>
                  <a:srgbClr val="000000"/>
                </a:solidFill>
                <a:latin typeface="Times New Roman"/>
              </a:rPr>
              <a:t>Future Work</a:t>
            </a:r>
          </a:p>
          <a:p>
            <a:pPr algn="l" marL="274320" indent="-274320">
              <a:lnSpc>
                <a:spcPct val="100000"/>
              </a:lnSpc>
              <a:spcAft>
                <a:spcPts val="300"/>
              </a:spcAft>
            </a:pPr>
            <a:r>
              <a:rPr sz="2400" b="0" i="0">
                <a:solidFill>
                  <a:srgbClr val="000000"/>
                </a:solidFill>
                <a:latin typeface="Times New Roman"/>
              </a:rPr>
              <a:t>• Link ingredient data to sales-weighted or scanner data to estimate exposure</a:t>
            </a:r>
          </a:p>
          <a:p>
            <a:pPr algn="l" marL="274320" indent="-274320">
              <a:lnSpc>
                <a:spcPct val="100000"/>
              </a:lnSpc>
              <a:spcAft>
                <a:spcPts val="300"/>
              </a:spcAft>
            </a:pPr>
            <a:r>
              <a:rPr sz="2400" b="0" i="0">
                <a:solidFill>
                  <a:srgbClr val="000000"/>
                </a:solidFill>
                <a:latin typeface="Times New Roman"/>
              </a:rPr>
              <a:t>• Stratify prevalence by food category and trade channel</a:t>
            </a:r>
          </a:p>
          <a:p>
            <a:pPr algn="l" marL="274320" indent="-274320">
              <a:lnSpc>
                <a:spcPct val="100000"/>
              </a:lnSpc>
              <a:spcAft>
                <a:spcPts val="300"/>
              </a:spcAft>
            </a:pPr>
            <a:r>
              <a:rPr sz="2400" b="0" i="0">
                <a:solidFill>
                  <a:srgbClr val="000000"/>
                </a:solidFill>
                <a:latin typeface="Times New Roman"/>
              </a:rPr>
              <a:t>• Compare HFCS with other added sugars in the same database</a:t>
            </a:r>
          </a:p>
          <a:p>
            <a:pPr algn="l" marL="274320" indent="-274320">
              <a:lnSpc>
                <a:spcPct val="100000"/>
              </a:lnSpc>
              <a:spcAft>
                <a:spcPts val="300"/>
              </a:spcAft>
            </a:pPr>
            <a:r>
              <a:rPr sz="2400" b="0" i="0">
                <a:solidFill>
                  <a:srgbClr val="000000"/>
                </a:solidFill>
                <a:latin typeface="Times New Roman"/>
              </a:rPr>
              <a:t>• Repeat over time and validate a random sample of records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19357848"/>
            <a:ext cx="9253728"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Garamond"/>
              </a:rPr>
              <a:t>Public Health Implications and Future Work</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06536" y="27130248"/>
            <a:ext cx="9253728" cy="86868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458968"/>
            <a:ext cx="9253728" cy="13624560"/>
          </a:xfrm>
          <a:prstGeom prst="rect">
            <a:avLst/>
          </a:prstGeom>
          <a:solidFill>
            <a:srgbClr val="FFFFFF"/>
          </a:solidFill>
          <a:ln cap="rnd">
            <a:solidFill>
              <a:schemeClr val="bg1"/>
            </a:solidFill>
          </a:ln>
        </p:spPr>
        <p:txBody>
          <a:bodyPr wrap="square" lIns="182880" rIns="182880" rtlCol="0" anchor="t">
            <a:noAutofit/>
          </a:bodyPr>
          <a:lstStyle/>
          <a:p>
            <a:pPr algn="just" marL="0" indent="0">
              <a:lnSpc>
                <a:spcPct val="100000"/>
              </a:lnSpc>
              <a:spcAft>
                <a:spcPts val="300"/>
              </a:spcAft>
            </a:pPr>
            <a:r>
              <a:rPr sz="2500" b="1" i="0">
                <a:solidFill>
                  <a:srgbClr val="000000"/>
                </a:solidFill>
                <a:latin typeface="Times New Roman"/>
              </a:rPr>
              <a:t>Results</a:t>
            </a:r>
            <a:endParaRPr lang="en-US" sz="1800" dirty="0">
              <a:latin typeface="Garamond"/>
              <a:cs typeface="Garamond"/>
            </a:endParaRPr>
          </a:p>
          <a:p>
            <a:pPr marL="0" indent="0" algn="just">
              <a:lnSpc>
                <a:spcPct val="100000"/>
              </a:lnSpc>
              <a:spcAft>
                <a:spcPts val="300"/>
              </a:spcAft>
            </a:pPr>
            <a:r>
              <a:rPr sz="2500" b="0" i="0">
                <a:solidFill>
                  <a:srgbClr val="000000"/>
                </a:solidFill>
                <a:latin typeface="Times New Roman"/>
              </a:rPr>
              <a:t>Of 454,324 products identified, 6,717 were excluded, leaving 447,607 eligible U.S. branded products (Figure 1). HFCS was listed in </a:t>
            </a:r>
            <a:r>
              <a:rPr sz="2500" b="1" i="0">
                <a:solidFill>
                  <a:srgbClr val="000000"/>
                </a:solidFill>
                <a:latin typeface="Times New Roman"/>
              </a:rPr>
              <a:t>29,503 products (6.6%)</a:t>
            </a:r>
            <a:r>
              <a:rPr sz="2500" b="0" i="0">
                <a:solidFill>
                  <a:srgbClr val="000000"/>
                </a:solidFill>
                <a:latin typeface="Times New Roman"/>
              </a:rPr>
              <a:t>, about 1 in every 15; 418,104 (93.4%) did not list HFCS (Figure 2). Excluded records made up 1.5% of all products identified.</a:t>
            </a:r>
          </a:p>
          <a:p>
            <a:pPr marL="0" indent="0" algn="just">
              <a:lnSpc>
                <a:spcPct val="100000"/>
              </a:lnSpc>
              <a:spcAft>
                <a:spcPts val="300"/>
              </a:spcAft>
            </a:pPr>
            <a:r>
              <a:rPr sz="2500" b="1" i="0">
                <a:solidFill>
                  <a:srgbClr val="000000"/>
                </a:solidFill>
                <a:latin typeface="Times New Roman"/>
              </a:rPr>
              <a:t>Discussion</a:t>
            </a:r>
          </a:p>
          <a:p>
            <a:pPr marL="0" indent="0" algn="just">
              <a:lnSpc>
                <a:spcPct val="100000"/>
              </a:lnSpc>
              <a:spcAft>
                <a:spcPts val="300"/>
              </a:spcAft>
            </a:pPr>
            <a:r>
              <a:rPr sz="2500" b="0" i="0">
                <a:solidFill>
                  <a:srgbClr val="000000"/>
                </a:solidFill>
                <a:latin typeface="Times New Roman"/>
              </a:rPr>
              <a:t>HFCS appeared in a minority of products, yet its presence in nearly 30,000 items shows it remains embedded in the U.S. food supply. A 6.6% product share is not low exposure: counts are not sales-weighted, and HFCS may cluster in high-consumption foods such as sweetened beverages, desserts, and condiments. HFCS use grew rapidly after the 1970s,</a:t>
            </a:r>
            <a:r>
              <a:rPr sz="2500" b="0" i="0" baseline="30000">
                <a:solidFill>
                  <a:srgbClr val="000000"/>
                </a:solidFill>
                <a:latin typeface="Times New Roman"/>
              </a:rPr>
              <a:t>4</a:t>
            </a:r>
            <a:r>
              <a:rPr sz="2500" b="0" i="0">
                <a:solidFill>
                  <a:srgbClr val="000000"/>
                </a:solidFill>
                <a:latin typeface="Times New Roman"/>
              </a:rPr>
              <a:t> and although per capita corn sweetener availability has fallen 38% since its 1999 peak (Figure 4),</a:t>
            </a:r>
            <a:r>
              <a:rPr sz="2500" b="0" i="0" baseline="30000">
                <a:solidFill>
                  <a:srgbClr val="000000"/>
                </a:solidFill>
                <a:latin typeface="Times New Roman"/>
              </a:rPr>
              <a:t>10</a:t>
            </a:r>
            <a:r>
              <a:rPr sz="2500" b="0" i="0">
                <a:solidFill>
                  <a:srgbClr val="000000"/>
                </a:solidFill>
                <a:latin typeface="Times New Roman"/>
              </a:rPr>
              <a:t> HFCS remains common. Ultra-processed foods supply 89.7% of energy from added sugars in the U.S. diet,</a:t>
            </a:r>
            <a:r>
              <a:rPr sz="2500" b="0" i="0" baseline="30000">
                <a:solidFill>
                  <a:srgbClr val="000000"/>
                </a:solidFill>
                <a:latin typeface="Times New Roman"/>
              </a:rPr>
              <a:t>11</a:t>
            </a:r>
            <a:r>
              <a:rPr sz="2500" b="0" i="0">
                <a:solidFill>
                  <a:srgbClr val="000000"/>
                </a:solidFill>
                <a:latin typeface="Times New Roman"/>
              </a:rPr>
              <a:t> and sugar-sweetened beverages are linked to weight gain in children and adults.</a:t>
            </a:r>
            <a:r>
              <a:rPr sz="2500" b="0" i="0" baseline="30000">
                <a:solidFill>
                  <a:srgbClr val="000000"/>
                </a:solidFill>
                <a:latin typeface="Times New Roman"/>
              </a:rPr>
              <a:t>12</a:t>
            </a:r>
            <a:r>
              <a:rPr sz="2500" b="0" i="0">
                <a:solidFill>
                  <a:srgbClr val="000000"/>
                </a:solidFill>
                <a:latin typeface="Times New Roman"/>
              </a:rPr>
              <a:t> HFCS and sucrose have similar metabolic effects at equal intake,</a:t>
            </a:r>
            <a:r>
              <a:rPr sz="2500" b="0" i="0" baseline="30000">
                <a:solidFill>
                  <a:srgbClr val="000000"/>
                </a:solidFill>
                <a:latin typeface="Times New Roman"/>
              </a:rPr>
              <a:t>13</a:t>
            </a:r>
            <a:r>
              <a:rPr sz="2500" b="0" i="0">
                <a:solidFill>
                  <a:srgbClr val="000000"/>
                </a:solidFill>
                <a:latin typeface="Times New Roman"/>
              </a:rPr>
              <a:t> so total added sugar is the core concern.</a:t>
            </a:r>
          </a:p>
          <a:p>
            <a:pPr marL="0" indent="0" algn="just">
              <a:lnSpc>
                <a:spcPct val="100000"/>
              </a:lnSpc>
              <a:spcAft>
                <a:spcPts val="300"/>
              </a:spcAft>
            </a:pPr>
            <a:r>
              <a:rPr sz="2500" b="1" i="0">
                <a:solidFill>
                  <a:srgbClr val="000000"/>
                </a:solidFill>
                <a:latin typeface="Times New Roman"/>
              </a:rPr>
              <a:t>Conclusion</a:t>
            </a:r>
          </a:p>
          <a:p>
            <a:pPr marL="0" indent="0" algn="just">
              <a:lnSpc>
                <a:spcPct val="100000"/>
              </a:lnSpc>
              <a:spcAft>
                <a:spcPts val="300"/>
              </a:spcAft>
            </a:pPr>
            <a:r>
              <a:rPr sz="2500" b="0" i="0">
                <a:solidFill>
                  <a:srgbClr val="000000"/>
                </a:solidFill>
                <a:latin typeface="Times New Roman"/>
              </a:rPr>
              <a:t>HFCS is listed in 6.6% of U.S. branded food products, nearly 30,000 items. This reproducible baseline supports surveillance of HFCS and added sugars, evaluation of reformulation, and policy efforts to reduce added sugar.</a:t>
            </a:r>
          </a:p>
          <a:p>
            <a:pPr marL="0" indent="0" algn="just">
              <a:lnSpc>
                <a:spcPct val="100000"/>
              </a:lnSpc>
              <a:spcAft>
                <a:spcPts val="300"/>
              </a:spcAft>
            </a:pPr>
            <a:r>
              <a:rPr sz="2500" b="1" i="0">
                <a:solidFill>
                  <a:srgbClr val="000000"/>
                </a:solidFill>
                <a:latin typeface="Times New Roman"/>
              </a:rPr>
              <a:t>Limitations</a:t>
            </a:r>
          </a:p>
          <a:p>
            <a:pPr algn="l" marL="274320" indent="-274320">
              <a:lnSpc>
                <a:spcPct val="100000"/>
              </a:lnSpc>
              <a:spcAft>
                <a:spcPts val="300"/>
              </a:spcAft>
            </a:pPr>
            <a:r>
              <a:rPr sz="2500" b="0" i="0">
                <a:solidFill>
                  <a:srgbClr val="000000"/>
                </a:solidFill>
                <a:latin typeface="Times New Roman"/>
              </a:rPr>
              <a:t>• </a:t>
            </a:r>
            <a:r>
              <a:rPr sz="2500" b="1" i="0">
                <a:solidFill>
                  <a:srgbClr val="000000"/>
                </a:solidFill>
                <a:latin typeface="Times New Roman"/>
              </a:rPr>
              <a:t>Presence only:</a:t>
            </a:r>
            <a:r>
              <a:rPr sz="2500" b="0" i="0">
                <a:solidFill>
                  <a:srgbClr val="000000"/>
                </a:solidFill>
                <a:latin typeface="Times New Roman"/>
              </a:rPr>
              <a:t> no amount per product or intake; counts are not sales-weighted</a:t>
            </a:r>
          </a:p>
          <a:p>
            <a:pPr algn="l" marL="274320" indent="-274320">
              <a:lnSpc>
                <a:spcPct val="100000"/>
              </a:lnSpc>
              <a:spcAft>
                <a:spcPts val="300"/>
              </a:spcAft>
            </a:pPr>
            <a:r>
              <a:rPr sz="2500" b="0" i="0">
                <a:solidFill>
                  <a:srgbClr val="000000"/>
                </a:solidFill>
                <a:latin typeface="Times New Roman"/>
              </a:rPr>
              <a:t>• </a:t>
            </a:r>
            <a:r>
              <a:rPr sz="2500" b="1" i="0">
                <a:solidFill>
                  <a:srgbClr val="000000"/>
                </a:solidFill>
                <a:latin typeface="Times New Roman"/>
              </a:rPr>
              <a:t>Industry-supplied data:</a:t>
            </a:r>
            <a:r>
              <a:rPr sz="2500" b="0" i="0">
                <a:solidFill>
                  <a:srgbClr val="000000"/>
                </a:solidFill>
                <a:latin typeface="Times New Roman"/>
              </a:rPr>
              <a:t> quality and completeness vary by contributor</a:t>
            </a:r>
          </a:p>
          <a:p>
            <a:pPr algn="l" marL="274320" indent="-274320">
              <a:lnSpc>
                <a:spcPct val="100000"/>
              </a:lnSpc>
              <a:spcAft>
                <a:spcPts val="300"/>
              </a:spcAft>
            </a:pPr>
            <a:r>
              <a:rPr sz="2500" b="0" i="0">
                <a:solidFill>
                  <a:srgbClr val="000000"/>
                </a:solidFill>
                <a:latin typeface="Times New Roman"/>
              </a:rPr>
              <a:t>• </a:t>
            </a:r>
            <a:r>
              <a:rPr sz="2500" b="1" i="0">
                <a:solidFill>
                  <a:srgbClr val="000000"/>
                </a:solidFill>
                <a:latin typeface="Times New Roman"/>
              </a:rPr>
              <a:t>Search terms:</a:t>
            </a:r>
            <a:r>
              <a:rPr sz="2500" b="0" i="0">
                <a:solidFill>
                  <a:srgbClr val="000000"/>
                </a:solidFill>
                <a:latin typeface="Times New Roman"/>
              </a:rPr>
              <a:t> words need not be adjacent (possible over-count); other names such as “glucose-fructose syrup” are missed (possible under-count)</a:t>
            </a:r>
          </a:p>
          <a:p>
            <a:pPr algn="l" marL="274320" indent="-274320">
              <a:lnSpc>
                <a:spcPct val="100000"/>
              </a:lnSpc>
              <a:spcAft>
                <a:spcPts val="300"/>
              </a:spcAft>
            </a:pPr>
            <a:r>
              <a:rPr sz="2500" b="0" i="0">
                <a:solidFill>
                  <a:srgbClr val="000000"/>
                </a:solidFill>
                <a:latin typeface="Times New Roman"/>
              </a:rPr>
              <a:t>• </a:t>
            </a:r>
            <a:r>
              <a:rPr sz="2500" b="1" i="0">
                <a:solidFill>
                  <a:srgbClr val="000000"/>
                </a:solidFill>
                <a:latin typeface="Times New Roman"/>
              </a:rPr>
              <a:t>Item-level records:</a:t>
            </a:r>
            <a:r>
              <a:rPr sz="2500" b="0" i="0">
                <a:solidFill>
                  <a:srgbClr val="000000"/>
                </a:solidFill>
                <a:latin typeface="Times New Roman"/>
              </a:rPr>
              <a:t> package sizes counted separately; some products may be discontinued</a:t>
            </a: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087368"/>
            <a:ext cx="9253728"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Results, Discussion, Conclusion, and Limitations</a:t>
            </a:r>
            <a:endParaRPr lang="en-US" sz="6000" dirty="0">
              <a:latin typeface="Times New Roman"/>
              <a:cs typeface="Times New Roman"/>
            </a:endParaRP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85800" y="22924008"/>
          <a:ext cx="9427464" cy="9473184"/>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846790296"/>
                    </a:ext>
                  </a:extLst>
                </a:gridCol>
                <a:gridCol w="6775704">
                  <a:extLst>
                    <a:ext uri="{9D8B030D-6E8A-4147-A177-3AD203B41FA5}">
                      <a16:colId xmlns:a16="http://schemas.microsoft.com/office/drawing/2014/main" val="1015726853"/>
                    </a:ext>
                  </a:extLst>
                </a:gridCol>
              </a:tblGrid>
              <a:tr h="603504">
                <a:tc>
                  <a:txBody>
                    <a:bodyPr wrap="square"/>
                    <a:lstStyle/>
                    <a:p>
                      <a:pPr algn="l"/>
                      <a:r>
                        <a:rPr sz="2600" b="1" i="0">
                          <a:solidFill>
                            <a:srgbClr val="FFFFFF"/>
                          </a:solidFill>
                          <a:latin typeface="Times New Roman"/>
                        </a:rPr>
                        <a:t>METHOD</a:t>
                      </a:r>
                    </a:p>
                  </a:txBody>
                  <a:tcPr/>
                </a:tc>
                <a:tc>
                  <a:txBody>
                    <a:bodyPr wrap="square"/>
                    <a:lstStyle/>
                    <a:p>
                      <a:pPr algn="l"/>
                      <a:r>
                        <a:rPr sz="2600" b="1" i="0">
                          <a:solidFill>
                            <a:srgbClr val="FFFFFF"/>
                          </a:solidFill>
                          <a:latin typeface="Times New Roman"/>
                        </a:rPr>
                        <a:t>DESCRIPTION</a:t>
                      </a:r>
                    </a:p>
                  </a:txBody>
                  <a:tcPr/>
                </a:tc>
                <a:extLst>
                  <a:ext uri="{0D108BD9-81ED-4DB2-BD59-A6C34878D82A}">
                    <a16:rowId xmlns:a16="http://schemas.microsoft.com/office/drawing/2014/main" val="3897735149"/>
                  </a:ext>
                </a:extLst>
              </a:tr>
              <a:tr h="2651760">
                <a:tc>
                  <a:txBody>
                    <a:bodyPr wrap="square"/>
                    <a:lstStyle/>
                    <a:p>
                      <a:pPr algn="l"/>
                      <a:r>
                        <a:rPr sz="2400" b="1" i="0">
                          <a:solidFill>
                            <a:srgbClr val="000000"/>
                          </a:solidFill>
                          <a:latin typeface="Times New Roman"/>
                        </a:rPr>
                        <a:t>Design &amp; Data Source</a:t>
                      </a:r>
                    </a:p>
                  </a:txBody>
                  <a:tcPr/>
                </a:tc>
                <a:tc>
                  <a:txBody>
                    <a:bodyPr wrap="square"/>
                    <a:lstStyle/>
                    <a:p>
                      <a:pPr algn="l"/>
                      <a:r>
                        <a:rPr sz="2400" b="0" i="0">
                          <a:solidFill>
                            <a:srgbClr val="000000"/>
                          </a:solidFill>
                          <a:latin typeface="Times New Roman"/>
                        </a:rPr>
                        <a:t>Retrospective, cross-sectional, descriptive analysis of the USDA FoodData Central (FDC) Global Branded Food Products Database (GBFPD): 400,000+ branded and private-label products, supplied by industry and updated monthly.</a:t>
                      </a:r>
                      <a:r>
                        <a:rPr sz="2400" b="0" i="0" baseline="30000">
                          <a:solidFill>
                            <a:srgbClr val="000000"/>
                          </a:solidFill>
                          <a:latin typeface="Times New Roman"/>
                        </a:rPr>
                        <a:t>8,9</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3383280">
                <a:tc>
                  <a:txBody>
                    <a:bodyPr wrap="square"/>
                    <a:lstStyle/>
                    <a:p>
                      <a:pPr algn="l"/>
                      <a:r>
                        <a:rPr sz="2400" b="1" i="0">
                          <a:solidFill>
                            <a:srgbClr val="000000"/>
                          </a:solidFill>
                          <a:latin typeface="Times New Roman"/>
                        </a:rPr>
                        <a:t>Search &amp; Eligibility</a:t>
                      </a:r>
                    </a:p>
                  </a:txBody>
                  <a:tcPr/>
                </a:tc>
                <a:tc>
                  <a:txBody>
                    <a:bodyPr wrap="square"/>
                    <a:lstStyle/>
                    <a:p>
                      <a:pPr algn="l"/>
                      <a:r>
                        <a:rPr sz="2400" b="0" i="0">
                          <a:solidFill>
                            <a:srgbClr val="000000"/>
                          </a:solidFill>
                          <a:latin typeface="Times New Roman"/>
                        </a:rPr>
                        <a:t>FDC published date April 13, 2019 (earliest available) to December 13, 2025 (search date). Trade channels: grocery, convenience, mass merchandising, food service, vending, online, military, child nutrition programs, and none. </a:t>
                      </a:r>
                      <a:r>
                        <a:rPr sz="2400" b="1" i="0">
                          <a:solidFill>
                            <a:srgbClr val="000000"/>
                          </a:solidFill>
                          <a:latin typeface="Times New Roman"/>
                        </a:rPr>
                        <a:t>Excluded:</a:t>
                      </a:r>
                      <a:r>
                        <a:rPr sz="2400" b="0" i="0">
                          <a:solidFill>
                            <a:srgbClr val="000000"/>
                          </a:solidFill>
                          <a:latin typeface="Times New Roman"/>
                        </a:rPr>
                        <a:t> “Drug” category and New Zealand market (n = 6,717).</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1463040">
                <a:tc>
                  <a:txBody>
                    <a:bodyPr wrap="square"/>
                    <a:lstStyle/>
                    <a:p>
                      <a:pPr algn="l"/>
                      <a:r>
                        <a:rPr sz="2400" b="1" i="0">
                          <a:solidFill>
                            <a:srgbClr val="000000"/>
                          </a:solidFill>
                          <a:latin typeface="Times New Roman"/>
                        </a:rPr>
                        <a:t>HFCS Identification</a:t>
                      </a:r>
                    </a:p>
                  </a:txBody>
                  <a:tcPr/>
                </a:tc>
                <a:tc>
                  <a:txBody>
                    <a:bodyPr wrap="square"/>
                    <a:lstStyle/>
                    <a:p>
                      <a:pPr algn="l"/>
                      <a:r>
                        <a:rPr sz="2400" b="0" i="0">
                          <a:solidFill>
                            <a:srgbClr val="000000"/>
                          </a:solidFill>
                          <a:latin typeface="Times New Roman"/>
                        </a:rPr>
                        <a:t>Ingredients field searched for “High” AND “Fructose” AND “Corn” AND “Syrup” (all four terms required).</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1371600">
                <a:tc>
                  <a:txBody>
                    <a:bodyPr wrap="square"/>
                    <a:lstStyle/>
                    <a:p>
                      <a:pPr algn="l"/>
                      <a:r>
                        <a:rPr sz="2400" b="1" i="0">
                          <a:solidFill>
                            <a:srgbClr val="000000"/>
                          </a:solidFill>
                          <a:latin typeface="Times New Roman"/>
                        </a:rPr>
                        <a:t>Outcome &amp; Analysis</a:t>
                      </a:r>
                    </a:p>
                  </a:txBody>
                  <a:tcPr/>
                </a:tc>
                <a:tc>
                  <a:txBody>
                    <a:bodyPr wrap="square"/>
                    <a:lstStyle/>
                    <a:p>
                      <a:pPr algn="l"/>
                      <a:r>
                        <a:rPr sz="2400" b="0" i="0">
                          <a:solidFill>
                            <a:srgbClr val="000000"/>
                          </a:solidFill>
                          <a:latin typeface="Times New Roman"/>
                        </a:rPr>
                        <a:t>Proportion of eligible products listing HFCS as an ingredient; counts and percentages in Microsoft Excel.</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7" name="QR code spot"/>
          <p:cNvSpPr/>
          <p:nvPr/>
        </p:nvSpPr>
        <p:spPr>
          <a:xfrm>
            <a:off x="36676584" y="28181808"/>
            <a:ext cx="3913631" cy="3913631"/>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(4.3 × 4.3 in; links to the full AMA reference list)</a:t>
            </a:r>
          </a:p>
        </p:txBody>
      </p:sp>
      <p:sp>
        <p:nvSpPr>
          <p:cNvPr id="328" name="TextBox 327"/>
          <p:cNvSpPr txBox="1"/>
          <p:nvPr/>
        </p:nvSpPr>
        <p:spPr>
          <a:xfrm>
            <a:off x="11329416" y="4572000"/>
            <a:ext cx="5410962" cy="3383280"/>
          </a:xfrm>
          <a:prstGeom prst="rect">
            <a:avLst/>
          </a:prstGeom>
          <a:noFill/>
        </p:spPr>
        <p:txBody>
          <a:bodyPr wrap="square" anchor="t">
            <a:noAutofit/>
          </a:bodyPr>
          <a:lstStyle/>
          <a:p>
            <a:pPr algn="ctr"/>
            <a:r>
              <a:rPr sz="8800" b="1" i="0">
                <a:solidFill>
                  <a:srgbClr val="0A254E"/>
                </a:solidFill>
                <a:latin typeface="Times New Roman"/>
              </a:rPr>
              <a:t>454,324</a:t>
            </a:r>
          </a:p>
          <a:p>
            <a:pPr algn="ctr"/>
            <a:r>
              <a:rPr sz="2800" b="0" i="0">
                <a:solidFill>
                  <a:srgbClr val="000000"/>
                </a:solidFill>
                <a:latin typeface="Times New Roman"/>
              </a:rPr>
              <a:t>products identified</a:t>
            </a:r>
          </a:p>
          <a:p>
            <a:pPr algn="ctr"/>
            <a:r>
              <a:rPr sz="2400" b="0" i="1">
                <a:solidFill>
                  <a:srgbClr val="595959"/>
                </a:solidFill>
                <a:latin typeface="Times New Roman"/>
              </a:rPr>
              <a:t>USDA GBFPD, 2019–2025</a:t>
            </a:r>
          </a:p>
        </p:txBody>
      </p:sp>
      <p:sp>
        <p:nvSpPr>
          <p:cNvPr id="329" name="TextBox 328"/>
          <p:cNvSpPr txBox="1"/>
          <p:nvPr/>
        </p:nvSpPr>
        <p:spPr>
          <a:xfrm>
            <a:off x="16740378" y="4572000"/>
            <a:ext cx="5410962" cy="3383280"/>
          </a:xfrm>
          <a:prstGeom prst="rect">
            <a:avLst/>
          </a:prstGeom>
          <a:noFill/>
        </p:spPr>
        <p:txBody>
          <a:bodyPr wrap="square" anchor="t">
            <a:noAutofit/>
          </a:bodyPr>
          <a:lstStyle/>
          <a:p>
            <a:pPr algn="ctr"/>
            <a:r>
              <a:rPr sz="8800" b="1" i="0">
                <a:solidFill>
                  <a:srgbClr val="0A254E"/>
                </a:solidFill>
                <a:latin typeface="Times New Roman"/>
              </a:rPr>
              <a:t>447,607</a:t>
            </a:r>
          </a:p>
          <a:p>
            <a:pPr algn="ctr"/>
            <a:r>
              <a:rPr sz="2800" b="0" i="0">
                <a:solidFill>
                  <a:srgbClr val="000000"/>
                </a:solidFill>
                <a:latin typeface="Times New Roman"/>
              </a:rPr>
              <a:t>eligible U.S. products</a:t>
            </a:r>
          </a:p>
          <a:p>
            <a:pPr algn="ctr"/>
            <a:r>
              <a:rPr sz="2400" b="0" i="1">
                <a:solidFill>
                  <a:srgbClr val="595959"/>
                </a:solidFill>
                <a:latin typeface="Times New Roman"/>
              </a:rPr>
              <a:t>after 6,717 excluded</a:t>
            </a:r>
          </a:p>
        </p:txBody>
      </p:sp>
      <p:cxnSp>
        <p:nvCxnSpPr>
          <p:cNvPr id="330" name="Connector 329"/>
          <p:cNvCxnSpPr/>
          <p:nvPr/>
        </p:nvCxnSpPr>
        <p:spPr>
          <a:xfrm>
            <a:off x="16740378"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sp>
        <p:nvSpPr>
          <p:cNvPr id="331" name="TextBox 330"/>
          <p:cNvSpPr txBox="1"/>
          <p:nvPr/>
        </p:nvSpPr>
        <p:spPr>
          <a:xfrm>
            <a:off x="22151340" y="4572000"/>
            <a:ext cx="5410962" cy="3383280"/>
          </a:xfrm>
          <a:prstGeom prst="rect">
            <a:avLst/>
          </a:prstGeom>
          <a:noFill/>
        </p:spPr>
        <p:txBody>
          <a:bodyPr wrap="square" anchor="t">
            <a:noAutofit/>
          </a:bodyPr>
          <a:lstStyle/>
          <a:p>
            <a:pPr algn="ctr"/>
            <a:r>
              <a:rPr sz="8800" b="1" i="0">
                <a:solidFill>
                  <a:srgbClr val="D55E00"/>
                </a:solidFill>
                <a:latin typeface="Times New Roman"/>
              </a:rPr>
              <a:t>29,503</a:t>
            </a:r>
          </a:p>
          <a:p>
            <a:pPr algn="ctr"/>
            <a:r>
              <a:rPr sz="2800" b="0" i="0">
                <a:solidFill>
                  <a:srgbClr val="000000"/>
                </a:solidFill>
                <a:latin typeface="Times New Roman"/>
              </a:rPr>
              <a:t>list HFCS</a:t>
            </a:r>
          </a:p>
          <a:p>
            <a:pPr algn="ctr"/>
            <a:r>
              <a:rPr sz="2400" b="0" i="1">
                <a:solidFill>
                  <a:srgbClr val="595959"/>
                </a:solidFill>
                <a:latin typeface="Times New Roman"/>
              </a:rPr>
              <a:t>as an ingredient</a:t>
            </a:r>
          </a:p>
        </p:txBody>
      </p:sp>
      <p:cxnSp>
        <p:nvCxnSpPr>
          <p:cNvPr id="332" name="Connector 331"/>
          <p:cNvCxnSpPr/>
          <p:nvPr/>
        </p:nvCxnSpPr>
        <p:spPr>
          <a:xfrm>
            <a:off x="22151340"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sp>
        <p:nvSpPr>
          <p:cNvPr id="333" name="TextBox 332"/>
          <p:cNvSpPr txBox="1"/>
          <p:nvPr/>
        </p:nvSpPr>
        <p:spPr>
          <a:xfrm>
            <a:off x="27562302" y="4572000"/>
            <a:ext cx="5410962" cy="3383280"/>
          </a:xfrm>
          <a:prstGeom prst="rect">
            <a:avLst/>
          </a:prstGeom>
          <a:noFill/>
        </p:spPr>
        <p:txBody>
          <a:bodyPr wrap="square" anchor="t">
            <a:noAutofit/>
          </a:bodyPr>
          <a:lstStyle/>
          <a:p>
            <a:pPr algn="ctr"/>
            <a:r>
              <a:rPr sz="8800" b="1" i="0">
                <a:solidFill>
                  <a:srgbClr val="D55E00"/>
                </a:solidFill>
                <a:latin typeface="Times New Roman"/>
              </a:rPr>
              <a:t>6.6%</a:t>
            </a:r>
          </a:p>
          <a:p>
            <a:pPr algn="ctr"/>
            <a:r>
              <a:rPr sz="2800" b="0" i="0">
                <a:solidFill>
                  <a:srgbClr val="000000"/>
                </a:solidFill>
                <a:latin typeface="Times New Roman"/>
              </a:rPr>
              <a:t>of branded products</a:t>
            </a:r>
          </a:p>
          <a:p>
            <a:pPr algn="ctr"/>
            <a:r>
              <a:rPr sz="2400" b="0" i="1">
                <a:solidFill>
                  <a:srgbClr val="595959"/>
                </a:solidFill>
                <a:latin typeface="Times New Roman"/>
              </a:rPr>
              <a:t>about 1 in 15</a:t>
            </a:r>
          </a:p>
        </p:txBody>
      </p:sp>
      <p:cxnSp>
        <p:nvCxnSpPr>
          <p:cNvPr id="334" name="Connector 333"/>
          <p:cNvCxnSpPr/>
          <p:nvPr/>
        </p:nvCxnSpPr>
        <p:spPr>
          <a:xfrm>
            <a:off x="27562302"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pic>
        <p:nvPicPr>
          <p:cNvPr id="335" name="Picture 334" descr="flow_new.png"/>
          <p:cNvPicPr>
            <a:picLocks noChangeAspect="1"/>
          </p:cNvPicPr>
          <p:nvPr/>
        </p:nvPicPr>
        <p:blipFill>
          <a:blip r:embed="rId4"/>
          <a:stretch>
            <a:fillRect/>
          </a:stretch>
        </p:blipFill>
        <p:spPr>
          <a:xfrm>
            <a:off x="11237976" y="8145586"/>
            <a:ext cx="10776204" cy="8397627"/>
          </a:xfrm>
          <a:prstGeom prst="rect">
            <a:avLst/>
          </a:prstGeom>
        </p:spPr>
      </p:pic>
      <p:sp>
        <p:nvSpPr>
          <p:cNvPr id="336" name="TextBox 335"/>
          <p:cNvSpPr txBox="1"/>
          <p:nvPr/>
        </p:nvSpPr>
        <p:spPr>
          <a:xfrm>
            <a:off x="11237976" y="16596359"/>
            <a:ext cx="10776204" cy="1097280"/>
          </a:xfrm>
          <a:prstGeom prst="rect">
            <a:avLst/>
          </a:prstGeom>
          <a:noFill/>
        </p:spPr>
        <p:txBody>
          <a:bodyPr wrap="square" anchor="t">
            <a:noAutofit/>
          </a:bodyPr>
          <a:lstStyle/>
          <a:p>
            <a:pPr algn="l"/>
            <a:r>
              <a:rPr sz="2200" b="1" i="0">
                <a:solidFill>
                  <a:srgbClr val="000000"/>
                </a:solidFill>
                <a:latin typeface="Times New Roman"/>
              </a:rPr>
              <a:t>Figure 1. Product Selection Flow.</a:t>
            </a:r>
            <a:r>
              <a:rPr sz="2200" b="0" i="0">
                <a:solidFill>
                  <a:srgbClr val="000000"/>
                </a:solidFill>
                <a:latin typeface="Times New Roman"/>
              </a:rPr>
              <a:t> Products published in the USDA Global Branded Food Products Database, April 13, 2019–December 13, 2025.</a:t>
            </a:r>
          </a:p>
        </p:txBody>
      </p:sp>
      <p:pic>
        <p:nvPicPr>
          <p:cNvPr id="337" name="Picture 336" descr="poster_Picture5.png"/>
          <p:cNvPicPr>
            <a:picLocks noChangeAspect="1"/>
          </p:cNvPicPr>
          <p:nvPr/>
        </p:nvPicPr>
        <p:blipFill>
          <a:blip r:embed="rId5"/>
          <a:stretch>
            <a:fillRect/>
          </a:stretch>
        </p:blipFill>
        <p:spPr>
          <a:xfrm>
            <a:off x="22442646" y="8138160"/>
            <a:ext cx="10467910" cy="8412480"/>
          </a:xfrm>
          <a:prstGeom prst="rect">
            <a:avLst/>
          </a:prstGeom>
        </p:spPr>
      </p:pic>
      <p:sp>
        <p:nvSpPr>
          <p:cNvPr id="338" name="TextBox 337"/>
          <p:cNvSpPr txBox="1"/>
          <p:nvPr/>
        </p:nvSpPr>
        <p:spPr>
          <a:xfrm>
            <a:off x="22288500" y="16596359"/>
            <a:ext cx="10776204" cy="1097280"/>
          </a:xfrm>
          <a:prstGeom prst="rect">
            <a:avLst/>
          </a:prstGeom>
          <a:noFill/>
        </p:spPr>
        <p:txBody>
          <a:bodyPr wrap="square" anchor="t">
            <a:noAutofit/>
          </a:bodyPr>
          <a:lstStyle/>
          <a:p>
            <a:pPr algn="l"/>
            <a:r>
              <a:rPr sz="2200" b="1" i="0">
                <a:solidFill>
                  <a:srgbClr val="000000"/>
                </a:solidFill>
                <a:latin typeface="Times New Roman"/>
              </a:rPr>
              <a:t>Figure 2. U.S. Branded Food Products With and Without HFCS (N = 447,607).</a:t>
            </a:r>
            <a:r>
              <a:rPr sz="2200" b="0" i="0">
                <a:solidFill>
                  <a:srgbClr val="000000"/>
                </a:solidFill>
                <a:latin typeface="Times New Roman"/>
              </a:rPr>
              <a:t> HFCS was listed in 29,503 products (6.6%).</a:t>
            </a:r>
          </a:p>
        </p:txBody>
      </p:sp>
      <p:pic>
        <p:nvPicPr>
          <p:cNvPr id="339" name="Picture 338" descr="fig4_fructose.png"/>
          <p:cNvPicPr>
            <a:picLocks noChangeAspect="1"/>
          </p:cNvPicPr>
          <p:nvPr/>
        </p:nvPicPr>
        <p:blipFill>
          <a:blip r:embed="rId6"/>
          <a:stretch>
            <a:fillRect/>
          </a:stretch>
        </p:blipFill>
        <p:spPr>
          <a:xfrm>
            <a:off x="11507070" y="18059400"/>
            <a:ext cx="10238014" cy="5212080"/>
          </a:xfrm>
          <a:prstGeom prst="rect">
            <a:avLst/>
          </a:prstGeom>
        </p:spPr>
      </p:pic>
      <p:sp>
        <p:nvSpPr>
          <p:cNvPr id="340" name="TextBox 339"/>
          <p:cNvSpPr txBox="1"/>
          <p:nvPr/>
        </p:nvSpPr>
        <p:spPr>
          <a:xfrm>
            <a:off x="11237976" y="23317200"/>
            <a:ext cx="10776204" cy="1097280"/>
          </a:xfrm>
          <a:prstGeom prst="rect">
            <a:avLst/>
          </a:prstGeom>
          <a:noFill/>
        </p:spPr>
        <p:txBody>
          <a:bodyPr wrap="square" anchor="t">
            <a:noAutofit/>
          </a:bodyPr>
          <a:lstStyle/>
          <a:p>
            <a:pPr algn="l"/>
            <a:r>
              <a:rPr sz="2200" b="1" i="0">
                <a:solidFill>
                  <a:srgbClr val="000000"/>
                </a:solidFill>
                <a:latin typeface="Times New Roman"/>
              </a:rPr>
              <a:t>Figure 3. Fructose Content of HFCS and Sucrose.</a:t>
            </a:r>
            <a:r>
              <a:rPr sz="2200" b="0" i="0">
                <a:solidFill>
                  <a:srgbClr val="000000"/>
                </a:solidFill>
                <a:latin typeface="Times New Roman"/>
              </a:rPr>
              <a:t> HFCS-42 and HFCS-55 bracket the 50% fructose of table sugar.</a:t>
            </a:r>
            <a:r>
              <a:rPr sz="2200" b="0" i="0" baseline="30000">
                <a:solidFill>
                  <a:srgbClr val="000000"/>
                </a:solidFill>
                <a:latin typeface="Times New Roman"/>
              </a:rPr>
              <a:t>3</a:t>
            </a:r>
          </a:p>
        </p:txBody>
      </p:sp>
      <p:pic>
        <p:nvPicPr>
          <p:cNvPr id="341" name="Picture 340" descr="fig5_ers.png"/>
          <p:cNvPicPr>
            <a:picLocks noChangeAspect="1"/>
          </p:cNvPicPr>
          <p:nvPr/>
        </p:nvPicPr>
        <p:blipFill>
          <a:blip r:embed="rId7"/>
          <a:stretch>
            <a:fillRect/>
          </a:stretch>
        </p:blipFill>
        <p:spPr>
          <a:xfrm>
            <a:off x="22557594" y="18059400"/>
            <a:ext cx="10238014" cy="5212080"/>
          </a:xfrm>
          <a:prstGeom prst="rect">
            <a:avLst/>
          </a:prstGeom>
        </p:spPr>
      </p:pic>
      <p:sp>
        <p:nvSpPr>
          <p:cNvPr id="342" name="TextBox 341"/>
          <p:cNvSpPr txBox="1"/>
          <p:nvPr/>
        </p:nvSpPr>
        <p:spPr>
          <a:xfrm>
            <a:off x="22288500" y="23317200"/>
            <a:ext cx="10776204" cy="1097280"/>
          </a:xfrm>
          <a:prstGeom prst="rect">
            <a:avLst/>
          </a:prstGeom>
          <a:noFill/>
        </p:spPr>
        <p:txBody>
          <a:bodyPr wrap="square" anchor="t">
            <a:noAutofit/>
          </a:bodyPr>
          <a:lstStyle/>
          <a:p>
            <a:pPr algn="l"/>
            <a:r>
              <a:rPr sz="2200" b="1" i="0">
                <a:solidFill>
                  <a:srgbClr val="000000"/>
                </a:solidFill>
                <a:latin typeface="Times New Roman"/>
              </a:rPr>
              <a:t>Figure 4. U.S. Per Capita Sweetener Availability, 1999 vs 2023.</a:t>
            </a:r>
            <a:r>
              <a:rPr sz="2200" b="0" i="0">
                <a:solidFill>
                  <a:srgbClr val="000000"/>
                </a:solidFill>
                <a:latin typeface="Times New Roman"/>
              </a:rPr>
              <a:t> USDA Economic Research Service data; corn sweeteners include HFCS, glucose syrup, and dextrose.</a:t>
            </a:r>
            <a:r>
              <a:rPr sz="2200" b="0" i="0" baseline="30000">
                <a:solidFill>
                  <a:srgbClr val="000000"/>
                </a:solidFill>
                <a:latin typeface="Times New Roman"/>
              </a:rPr>
              <a:t>10</a:t>
            </a:r>
          </a:p>
        </p:txBody>
      </p:sp>
      <p:sp>
        <p:nvSpPr>
          <p:cNvPr id="343" name="TextBox 342"/>
          <p:cNvSpPr txBox="1"/>
          <p:nvPr/>
        </p:nvSpPr>
        <p:spPr>
          <a:xfrm>
            <a:off x="11237976" y="24643080"/>
            <a:ext cx="21826728" cy="640080"/>
          </a:xfrm>
          <a:prstGeom prst="rect">
            <a:avLst/>
          </a:prstGeom>
          <a:noFill/>
        </p:spPr>
        <p:txBody>
          <a:bodyPr wrap="square" anchor="t">
            <a:noAutofit/>
          </a:bodyPr>
          <a:lstStyle/>
          <a:p>
            <a:pPr algn="ctr"/>
            <a:r>
              <a:rPr sz="3200" b="1" i="0">
                <a:solidFill>
                  <a:srgbClr val="0A254E"/>
                </a:solidFill>
                <a:latin typeface="Times New Roman"/>
              </a:rPr>
              <a:t>Public Health Context</a:t>
            </a:r>
          </a:p>
        </p:txBody>
      </p:sp>
      <p:sp>
        <p:nvSpPr>
          <p:cNvPr id="344" name="Rounded Rectangle 343"/>
          <p:cNvSpPr/>
          <p:nvPr/>
        </p:nvSpPr>
        <p:spPr>
          <a:xfrm>
            <a:off x="11237976" y="25374600"/>
            <a:ext cx="5250942" cy="324612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0A254E"/>
                </a:solidFill>
                <a:latin typeface="Times New Roman"/>
              </a:rPr>
              <a:t>57.9%</a:t>
            </a:r>
          </a:p>
          <a:p>
            <a:pPr algn="ctr"/>
            <a:r>
              <a:rPr sz="2400" b="0" i="0">
                <a:solidFill>
                  <a:srgbClr val="000000"/>
                </a:solidFill>
                <a:latin typeface="Times New Roman"/>
              </a:rPr>
              <a:t>of U.S. energy intake comes from ultra-processed foods</a:t>
            </a:r>
            <a:r>
              <a:rPr sz="2400" b="0" i="0" baseline="30000">
                <a:solidFill>
                  <a:srgbClr val="000000"/>
                </a:solidFill>
                <a:latin typeface="Times New Roman"/>
              </a:rPr>
              <a:t>11</a:t>
            </a:r>
          </a:p>
        </p:txBody>
      </p:sp>
      <p:sp>
        <p:nvSpPr>
          <p:cNvPr id="345" name="Rounded Rectangle 344"/>
          <p:cNvSpPr/>
          <p:nvPr/>
        </p:nvSpPr>
        <p:spPr>
          <a:xfrm>
            <a:off x="16763238" y="25374600"/>
            <a:ext cx="5250942" cy="324612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D55E00"/>
                </a:solidFill>
                <a:latin typeface="Times New Roman"/>
              </a:rPr>
              <a:t>89.7%</a:t>
            </a:r>
          </a:p>
          <a:p>
            <a:pPr algn="ctr"/>
            <a:r>
              <a:rPr sz="2400" b="0" i="0">
                <a:solidFill>
                  <a:srgbClr val="000000"/>
                </a:solidFill>
                <a:latin typeface="Times New Roman"/>
              </a:rPr>
              <a:t>of energy from added sugars comes from ultra-processed foods</a:t>
            </a:r>
            <a:r>
              <a:rPr sz="2400" b="0" i="0" baseline="30000">
                <a:solidFill>
                  <a:srgbClr val="000000"/>
                </a:solidFill>
                <a:latin typeface="Times New Roman"/>
              </a:rPr>
              <a:t>11</a:t>
            </a:r>
          </a:p>
        </p:txBody>
      </p:sp>
      <p:sp>
        <p:nvSpPr>
          <p:cNvPr id="346" name="Rounded Rectangle 345"/>
          <p:cNvSpPr/>
          <p:nvPr/>
        </p:nvSpPr>
        <p:spPr>
          <a:xfrm>
            <a:off x="22288500" y="25374600"/>
            <a:ext cx="5250942" cy="324612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0A254E"/>
                </a:solidFill>
                <a:latin typeface="Times New Roman"/>
              </a:rPr>
              <a:t>21.1%</a:t>
            </a:r>
          </a:p>
          <a:p>
            <a:pPr algn="ctr"/>
            <a:r>
              <a:rPr sz="2400" b="0" i="0">
                <a:solidFill>
                  <a:srgbClr val="000000"/>
                </a:solidFill>
                <a:latin typeface="Times New Roman"/>
              </a:rPr>
              <a:t>of calories in ultra-processed foods come from added sugars, vs 2.4% in processed foods</a:t>
            </a:r>
            <a:r>
              <a:rPr sz="2400" b="0" i="0" baseline="30000">
                <a:solidFill>
                  <a:srgbClr val="000000"/>
                </a:solidFill>
                <a:latin typeface="Times New Roman"/>
              </a:rPr>
              <a:t>11</a:t>
            </a:r>
          </a:p>
        </p:txBody>
      </p:sp>
      <p:sp>
        <p:nvSpPr>
          <p:cNvPr id="347" name="Rounded Rectangle 346"/>
          <p:cNvSpPr/>
          <p:nvPr/>
        </p:nvSpPr>
        <p:spPr>
          <a:xfrm>
            <a:off x="27813762" y="25374600"/>
            <a:ext cx="5250942" cy="324612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D55E00"/>
                </a:solidFill>
                <a:latin typeface="Times New Roman"/>
              </a:rPr>
              <a:t>≤10 g</a:t>
            </a:r>
          </a:p>
          <a:p>
            <a:pPr algn="ctr"/>
            <a:r>
              <a:rPr sz="2400" b="0" i="0">
                <a:solidFill>
                  <a:srgbClr val="000000"/>
                </a:solidFill>
                <a:latin typeface="Times New Roman"/>
              </a:rPr>
              <a:t>added sugars per meal under the 2025–2030 Dietary Guidelines</a:t>
            </a:r>
            <a:r>
              <a:rPr sz="2400" b="0" i="0" baseline="30000">
                <a:solidFill>
                  <a:srgbClr val="000000"/>
                </a:solidFill>
                <a:latin typeface="Times New Roman"/>
              </a:rPr>
              <a:t>7</a:t>
            </a:r>
          </a:p>
        </p:txBody>
      </p:sp>
      <p:sp>
        <p:nvSpPr>
          <p:cNvPr id="348" name="TextBox 347"/>
          <p:cNvSpPr txBox="1"/>
          <p:nvPr/>
        </p:nvSpPr>
        <p:spPr>
          <a:xfrm>
            <a:off x="11237976" y="28666440"/>
            <a:ext cx="21826728" cy="457200"/>
          </a:xfrm>
          <a:prstGeom prst="rect">
            <a:avLst/>
          </a:prstGeom>
          <a:noFill/>
        </p:spPr>
        <p:txBody>
          <a:bodyPr wrap="square" anchor="t">
            <a:noAutofit/>
          </a:bodyPr>
          <a:lstStyle/>
          <a:p>
            <a:pPr algn="ctr"/>
            <a:r>
              <a:rPr sz="1800" b="0" i="1">
                <a:solidFill>
                  <a:srgbClr val="595959"/>
                </a:solidFill>
                <a:latin typeface="Times New Roman"/>
              </a:rPr>
              <a:t>Ultra-processed food data: NHANES 2009–2010</a:t>
            </a:r>
          </a:p>
        </p:txBody>
      </p:sp>
      <p:sp>
        <p:nvSpPr>
          <p:cNvPr id="349" name="Rounded Rectangle 348"/>
          <p:cNvSpPr/>
          <p:nvPr/>
        </p:nvSpPr>
        <p:spPr>
          <a:xfrm>
            <a:off x="11603736" y="30083760"/>
            <a:ext cx="21095208" cy="1828800"/>
          </a:xfrm>
          <a:prstGeom prst="roundRect">
            <a:avLst>
              <a:gd name="adj" fmla="val 12000"/>
            </a:avLst>
          </a:prstGeom>
          <a:solidFill>
            <a:srgbClr val="0A254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3000" b="1" i="0">
                <a:solidFill>
                  <a:srgbClr val="F2C14E"/>
                </a:solidFill>
                <a:latin typeface="Times New Roman"/>
              </a:rPr>
              <a:t>KEY TAKEAWAY  </a:t>
            </a:r>
            <a:r>
              <a:rPr sz="3000" b="0" i="0">
                <a:solidFill>
                  <a:srgbClr val="FFFFFF"/>
                </a:solidFill>
                <a:latin typeface="Times New Roman"/>
              </a:rPr>
              <a:t>About 1 in 15 U.S. branded food products still lists high-fructose corn syrup, a reproducible baseline for tracking added sugar in the food supply.</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