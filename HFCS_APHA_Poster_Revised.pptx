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0" r:id="rId1"/>
  </p:sldMasterIdLst>
  <p:notesMasterIdLst>
    <p:notesMasterId r:id="rId3"/>
  </p:notesMasterIdLst>
  <p:sldIdLst>
    <p:sldId id="258" r:id="rId2"/>
  </p:sldIdLst>
  <p:sldSz cx="43891200" cy="32918400"/>
  <p:notesSz cx="9144000" cy="6858000"/>
  <p:defaultTextStyle>
    <a:defPPr>
      <a:defRPr lang="en-US"/>
    </a:defPPr>
    <a:lvl1pPr marL="0" algn="l" defTabSz="2072951" rtl="0" eaLnBrk="1" latinLnBrk="0" hangingPunct="1">
      <a:defRPr sz="8200" kern="1200">
        <a:solidFill>
          <a:schemeClr val="tx1"/>
        </a:solidFill>
        <a:latin typeface="+mn-lt"/>
        <a:ea typeface="+mn-ea"/>
        <a:cs typeface="+mn-cs"/>
      </a:defRPr>
    </a:lvl1pPr>
    <a:lvl2pPr marL="2072951" algn="l" defTabSz="2072951" rtl="0" eaLnBrk="1" latinLnBrk="0" hangingPunct="1">
      <a:defRPr sz="8200" kern="1200">
        <a:solidFill>
          <a:schemeClr val="tx1"/>
        </a:solidFill>
        <a:latin typeface="+mn-lt"/>
        <a:ea typeface="+mn-ea"/>
        <a:cs typeface="+mn-cs"/>
      </a:defRPr>
    </a:lvl2pPr>
    <a:lvl3pPr marL="4145900" algn="l" defTabSz="2072951" rtl="0" eaLnBrk="1" latinLnBrk="0" hangingPunct="1">
      <a:defRPr sz="8200" kern="1200">
        <a:solidFill>
          <a:schemeClr val="tx1"/>
        </a:solidFill>
        <a:latin typeface="+mn-lt"/>
        <a:ea typeface="+mn-ea"/>
        <a:cs typeface="+mn-cs"/>
      </a:defRPr>
    </a:lvl3pPr>
    <a:lvl4pPr marL="6218851" algn="l" defTabSz="2072951" rtl="0" eaLnBrk="1" latinLnBrk="0" hangingPunct="1">
      <a:defRPr sz="8200" kern="1200">
        <a:solidFill>
          <a:schemeClr val="tx1"/>
        </a:solidFill>
        <a:latin typeface="+mn-lt"/>
        <a:ea typeface="+mn-ea"/>
        <a:cs typeface="+mn-cs"/>
      </a:defRPr>
    </a:lvl4pPr>
    <a:lvl5pPr marL="8291798" algn="l" defTabSz="2072951" rtl="0" eaLnBrk="1" latinLnBrk="0" hangingPunct="1">
      <a:defRPr sz="8200" kern="1200">
        <a:solidFill>
          <a:schemeClr val="tx1"/>
        </a:solidFill>
        <a:latin typeface="+mn-lt"/>
        <a:ea typeface="+mn-ea"/>
        <a:cs typeface="+mn-cs"/>
      </a:defRPr>
    </a:lvl5pPr>
    <a:lvl6pPr marL="10364750" algn="l" defTabSz="2072951" rtl="0" eaLnBrk="1" latinLnBrk="0" hangingPunct="1">
      <a:defRPr sz="8200" kern="1200">
        <a:solidFill>
          <a:schemeClr val="tx1"/>
        </a:solidFill>
        <a:latin typeface="+mn-lt"/>
        <a:ea typeface="+mn-ea"/>
        <a:cs typeface="+mn-cs"/>
      </a:defRPr>
    </a:lvl6pPr>
    <a:lvl7pPr marL="12437701" algn="l" defTabSz="2072951" rtl="0" eaLnBrk="1" latinLnBrk="0" hangingPunct="1">
      <a:defRPr sz="8200" kern="1200">
        <a:solidFill>
          <a:schemeClr val="tx1"/>
        </a:solidFill>
        <a:latin typeface="+mn-lt"/>
        <a:ea typeface="+mn-ea"/>
        <a:cs typeface="+mn-cs"/>
      </a:defRPr>
    </a:lvl7pPr>
    <a:lvl8pPr marL="14510648" algn="l" defTabSz="2072951" rtl="0" eaLnBrk="1" latinLnBrk="0" hangingPunct="1">
      <a:defRPr sz="8200" kern="1200">
        <a:solidFill>
          <a:schemeClr val="tx1"/>
        </a:solidFill>
        <a:latin typeface="+mn-lt"/>
        <a:ea typeface="+mn-ea"/>
        <a:cs typeface="+mn-cs"/>
      </a:defRPr>
    </a:lvl8pPr>
    <a:lvl9pPr marL="16583601" algn="l" defTabSz="2072951" rtl="0" eaLnBrk="1" latinLnBrk="0" hangingPunct="1">
      <a:defRPr sz="82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9">
          <p15:clr>
            <a:srgbClr val="A4A3A4"/>
          </p15:clr>
        </p15:guide>
        <p15:guide id="2" pos="16128">
          <p15:clr>
            <a:srgbClr val="A4A3A4"/>
          </p15:clr>
        </p15:guide>
        <p15:guide id="3"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CE1E"/>
    <a:srgbClr val="00C28D"/>
    <a:srgbClr val="00B4FF"/>
    <a:srgbClr val="008080"/>
    <a:srgbClr val="1270FC"/>
    <a:srgbClr val="FFA200"/>
    <a:srgbClr val="008000"/>
    <a:srgbClr val="FFFFFF"/>
    <a:srgbClr val="0A254E"/>
    <a:srgbClr val="0AFF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310" autoAdjust="0"/>
  </p:normalViewPr>
  <p:slideViewPr>
    <p:cSldViewPr snapToGrid="0" snapToObjects="1">
      <p:cViewPr varScale="1">
        <p:scale>
          <a:sx n="14" d="100"/>
          <a:sy n="14" d="100"/>
        </p:scale>
        <p:origin x="1284" y="112"/>
      </p:cViewPr>
      <p:guideLst>
        <p:guide orient="horz" pos="10369"/>
        <p:guide pos="16128"/>
        <p:guide pos="13824"/>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36263FE2-9438-354A-B60A-5A471281E58B}" type="datetimeFigureOut">
              <a:rPr lang="en-US" smtClean="0"/>
              <a:t>9/3/2026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ECA9BC3-5A08-5C40-8DE6-1B49CE826337}" type="slidenum">
              <a:rPr lang="en-US" smtClean="0"/>
              <a:t>‹#›</a:t>
            </a:fld>
            <a:endParaRPr lang="en-US"/>
          </a:p>
        </p:txBody>
      </p:sp>
    </p:spTree>
    <p:extLst>
      <p:ext uri="{BB962C8B-B14F-4D97-AF65-F5344CB8AC3E}">
        <p14:creationId xmlns:p14="http://schemas.microsoft.com/office/powerpoint/2010/main" val="3278815488"/>
      </p:ext>
    </p:extLst>
  </p:cSld>
  <p:clrMap bg1="lt1" tx1="dk1" bg2="lt2" tx2="dk2" accent1="accent1" accent2="accent2" accent3="accent3" accent4="accent4" accent5="accent5" accent6="accent6" hlink="hlink" folHlink="folHlink"/>
  <p:notesStyle>
    <a:lvl1pPr marL="0" algn="l" defTabSz="477467" rtl="0" eaLnBrk="1" latinLnBrk="0" hangingPunct="1">
      <a:defRPr sz="1300" kern="1200">
        <a:solidFill>
          <a:schemeClr val="tx1"/>
        </a:solidFill>
        <a:latin typeface="+mn-lt"/>
        <a:ea typeface="+mn-ea"/>
        <a:cs typeface="+mn-cs"/>
      </a:defRPr>
    </a:lvl1pPr>
    <a:lvl2pPr marL="477467" algn="l" defTabSz="477467" rtl="0" eaLnBrk="1" latinLnBrk="0" hangingPunct="1">
      <a:defRPr sz="1300" kern="1200">
        <a:solidFill>
          <a:schemeClr val="tx1"/>
        </a:solidFill>
        <a:latin typeface="+mn-lt"/>
        <a:ea typeface="+mn-ea"/>
        <a:cs typeface="+mn-cs"/>
      </a:defRPr>
    </a:lvl2pPr>
    <a:lvl3pPr marL="954936" algn="l" defTabSz="477467" rtl="0" eaLnBrk="1" latinLnBrk="0" hangingPunct="1">
      <a:defRPr sz="1300" kern="1200">
        <a:solidFill>
          <a:schemeClr val="tx1"/>
        </a:solidFill>
        <a:latin typeface="+mn-lt"/>
        <a:ea typeface="+mn-ea"/>
        <a:cs typeface="+mn-cs"/>
      </a:defRPr>
    </a:lvl3pPr>
    <a:lvl4pPr marL="1432403" algn="l" defTabSz="477467" rtl="0" eaLnBrk="1" latinLnBrk="0" hangingPunct="1">
      <a:defRPr sz="1300" kern="1200">
        <a:solidFill>
          <a:schemeClr val="tx1"/>
        </a:solidFill>
        <a:latin typeface="+mn-lt"/>
        <a:ea typeface="+mn-ea"/>
        <a:cs typeface="+mn-cs"/>
      </a:defRPr>
    </a:lvl4pPr>
    <a:lvl5pPr marL="1909870" algn="l" defTabSz="477467" rtl="0" eaLnBrk="1" latinLnBrk="0" hangingPunct="1">
      <a:defRPr sz="1300" kern="1200">
        <a:solidFill>
          <a:schemeClr val="tx1"/>
        </a:solidFill>
        <a:latin typeface="+mn-lt"/>
        <a:ea typeface="+mn-ea"/>
        <a:cs typeface="+mn-cs"/>
      </a:defRPr>
    </a:lvl5pPr>
    <a:lvl6pPr marL="2387337" algn="l" defTabSz="477467" rtl="0" eaLnBrk="1" latinLnBrk="0" hangingPunct="1">
      <a:defRPr sz="1300" kern="1200">
        <a:solidFill>
          <a:schemeClr val="tx1"/>
        </a:solidFill>
        <a:latin typeface="+mn-lt"/>
        <a:ea typeface="+mn-ea"/>
        <a:cs typeface="+mn-cs"/>
      </a:defRPr>
    </a:lvl6pPr>
    <a:lvl7pPr marL="2864805" algn="l" defTabSz="477467" rtl="0" eaLnBrk="1" latinLnBrk="0" hangingPunct="1">
      <a:defRPr sz="1300" kern="1200">
        <a:solidFill>
          <a:schemeClr val="tx1"/>
        </a:solidFill>
        <a:latin typeface="+mn-lt"/>
        <a:ea typeface="+mn-ea"/>
        <a:cs typeface="+mn-cs"/>
      </a:defRPr>
    </a:lvl7pPr>
    <a:lvl8pPr marL="3342272" algn="l" defTabSz="477467" rtl="0" eaLnBrk="1" latinLnBrk="0" hangingPunct="1">
      <a:defRPr sz="1300" kern="1200">
        <a:solidFill>
          <a:schemeClr val="tx1"/>
        </a:solidFill>
        <a:latin typeface="+mn-lt"/>
        <a:ea typeface="+mn-ea"/>
        <a:cs typeface="+mn-cs"/>
      </a:defRPr>
    </a:lvl8pPr>
    <a:lvl9pPr marL="3819741" algn="l" defTabSz="477467"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EFD75-C664-C06B-8435-139272CD8B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CFBF99-3EB2-AAD2-6F03-91E84EC7D2C9}"/>
              </a:ext>
            </a:extLst>
          </p:cNvPr>
          <p:cNvSpPr>
            <a:spLocks noGrp="1" noRot="1" noChangeAspect="1"/>
          </p:cNvSpPr>
          <p:nvPr>
            <p:ph type="sldImg"/>
          </p:nvPr>
        </p:nvSpPr>
        <p:spPr>
          <a:xfrm>
            <a:off x="2857500" y="514350"/>
            <a:ext cx="3429000" cy="2571750"/>
          </a:xfrm>
        </p:spPr>
      </p:sp>
      <p:sp>
        <p:nvSpPr>
          <p:cNvPr id="3" name="Notes Placeholder 2">
            <a:extLst>
              <a:ext uri="{FF2B5EF4-FFF2-40B4-BE49-F238E27FC236}">
                <a16:creationId xmlns:a16="http://schemas.microsoft.com/office/drawing/2014/main" id="{DA8B7ED1-8F00-CF7C-FF86-F0BA76EF21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C7187B-62FD-CA95-DAC6-813F753CB3B0}"/>
              </a:ext>
            </a:extLst>
          </p:cNvPr>
          <p:cNvSpPr>
            <a:spLocks noGrp="1"/>
          </p:cNvSpPr>
          <p:nvPr>
            <p:ph type="sldNum" sz="quarter" idx="10"/>
          </p:nvPr>
        </p:nvSpPr>
        <p:spPr/>
        <p:txBody>
          <a:bodyPr/>
          <a:lstStyle/>
          <a:p>
            <a:fld id="{FECA9BC3-5A08-5C40-8DE6-1B49CE826337}" type="slidenum">
              <a:rPr lang="en-US" smtClean="0"/>
              <a:t>1</a:t>
            </a:fld>
            <a:endParaRPr lang="en-US"/>
          </a:p>
        </p:txBody>
      </p:sp>
    </p:spTree>
    <p:extLst>
      <p:ext uri="{BB962C8B-B14F-4D97-AF65-F5344CB8AC3E}">
        <p14:creationId xmlns:p14="http://schemas.microsoft.com/office/powerpoint/2010/main" val="4250958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934496" y="8493799"/>
            <a:ext cx="33984125" cy="8778245"/>
          </a:xfrm>
        </p:spPr>
        <p:txBody>
          <a:bodyPr anchor="b">
            <a:normAutofit/>
          </a:bodyPr>
          <a:lstStyle>
            <a:lvl1pPr algn="ctr">
              <a:defRPr sz="25920"/>
            </a:lvl1pPr>
          </a:lstStyle>
          <a:p>
            <a:r>
              <a:rPr lang="en-US"/>
              <a:t>Click to edit Master title style</a:t>
            </a:r>
            <a:endParaRPr lang="en-US" dirty="0"/>
          </a:p>
        </p:txBody>
      </p:sp>
      <p:sp>
        <p:nvSpPr>
          <p:cNvPr id="3" name="Subtitle 2"/>
          <p:cNvSpPr>
            <a:spLocks noGrp="1"/>
          </p:cNvSpPr>
          <p:nvPr>
            <p:ph type="subTitle" idx="1"/>
          </p:nvPr>
        </p:nvSpPr>
        <p:spPr>
          <a:xfrm>
            <a:off x="4934496" y="17272029"/>
            <a:ext cx="33984125" cy="5039362"/>
          </a:xfrm>
        </p:spPr>
        <p:txBody>
          <a:bodyPr anchor="t"/>
          <a:lstStyle>
            <a:lvl1pPr marL="0" indent="0" algn="ctr">
              <a:buNone/>
              <a:defRPr>
                <a:solidFill>
                  <a:schemeClr val="tx1"/>
                </a:solidFill>
              </a:defRPr>
            </a:lvl1pPr>
            <a:lvl2pPr marL="2194560" indent="0" algn="ctr">
              <a:buNone/>
              <a:defRPr>
                <a:solidFill>
                  <a:schemeClr val="tx1">
                    <a:tint val="75000"/>
                  </a:schemeClr>
                </a:solidFill>
              </a:defRPr>
            </a:lvl2pPr>
            <a:lvl3pPr marL="4389120" indent="0" algn="ctr">
              <a:buNone/>
              <a:defRPr>
                <a:solidFill>
                  <a:schemeClr val="tx1">
                    <a:tint val="75000"/>
                  </a:schemeClr>
                </a:solidFill>
              </a:defRPr>
            </a:lvl3pPr>
            <a:lvl4pPr marL="6583680" indent="0" algn="ctr">
              <a:buNone/>
              <a:defRPr>
                <a:solidFill>
                  <a:schemeClr val="tx1">
                    <a:tint val="75000"/>
                  </a:schemeClr>
                </a:solidFill>
              </a:defRPr>
            </a:lvl4pPr>
            <a:lvl5pPr marL="8778240" indent="0" algn="ctr">
              <a:buNone/>
              <a:defRPr>
                <a:solidFill>
                  <a:schemeClr val="tx1">
                    <a:tint val="75000"/>
                  </a:schemeClr>
                </a:solidFill>
              </a:defRPr>
            </a:lvl5pPr>
            <a:lvl6pPr marL="10972800" indent="0" algn="ctr">
              <a:buNone/>
              <a:defRPr>
                <a:solidFill>
                  <a:schemeClr val="tx1">
                    <a:tint val="75000"/>
                  </a:schemeClr>
                </a:solidFill>
              </a:defRPr>
            </a:lvl6pPr>
            <a:lvl7pPr marL="13167360" indent="0" algn="ctr">
              <a:buNone/>
              <a:defRPr>
                <a:solidFill>
                  <a:schemeClr val="tx1">
                    <a:tint val="75000"/>
                  </a:schemeClr>
                </a:solidFill>
              </a:defRPr>
            </a:lvl7pPr>
            <a:lvl8pPr marL="15361920" indent="0" algn="ctr">
              <a:buNone/>
              <a:defRPr>
                <a:solidFill>
                  <a:schemeClr val="tx1">
                    <a:tint val="75000"/>
                  </a:schemeClr>
                </a:solidFill>
              </a:defRPr>
            </a:lvl8pPr>
            <a:lvl9pPr marL="1755648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3D97CC-475F-BE49-B579-6BFEF977A37E}"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162335667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3D97CC-475F-BE49-B579-6BFEF977A37E}"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1667538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63447" y="8453129"/>
            <a:ext cx="34525982" cy="8778302"/>
          </a:xfrm>
        </p:spPr>
        <p:txBody>
          <a:bodyPr anchor="b"/>
          <a:lstStyle>
            <a:lvl1pPr algn="ctr">
              <a:defRPr sz="19200" b="0" cap="none"/>
            </a:lvl1pPr>
          </a:lstStyle>
          <a:p>
            <a:r>
              <a:rPr lang="en-US"/>
              <a:t>Click to edit Master title style</a:t>
            </a:r>
            <a:endParaRPr lang="en-US" dirty="0"/>
          </a:p>
        </p:txBody>
      </p:sp>
      <p:sp>
        <p:nvSpPr>
          <p:cNvPr id="3" name="Text Placeholder 2"/>
          <p:cNvSpPr>
            <a:spLocks noGrp="1"/>
          </p:cNvSpPr>
          <p:nvPr>
            <p:ph type="body" idx="1"/>
          </p:nvPr>
        </p:nvSpPr>
        <p:spPr>
          <a:xfrm>
            <a:off x="4663447" y="17231419"/>
            <a:ext cx="34525982" cy="7233859"/>
          </a:xfrm>
        </p:spPr>
        <p:txBody>
          <a:bodyPr anchor="t"/>
          <a:lstStyle>
            <a:lvl1pPr marL="0" indent="0" algn="ctr">
              <a:buNone/>
              <a:defRPr sz="9600">
                <a:solidFill>
                  <a:schemeClr val="tx1"/>
                </a:solidFill>
              </a:defRPr>
            </a:lvl1pPr>
            <a:lvl2pPr marL="2194560" indent="0">
              <a:buNone/>
              <a:defRPr sz="864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3D97CC-475F-BE49-B579-6BFEF977A37E}"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146892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289668" y="8315755"/>
            <a:ext cx="18217790" cy="1948200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330414" y="8315762"/>
            <a:ext cx="18232795" cy="194820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3D97CC-475F-BE49-B579-6BFEF977A37E}"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3410031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9659" y="8497553"/>
            <a:ext cx="18179630" cy="19742174"/>
          </a:xfrm>
          <a:prstGeom prst="rect">
            <a:avLst/>
          </a:prstGeom>
        </p:spPr>
      </p:pic>
      <p:pic>
        <p:nvPicPr>
          <p:cNvPr id="14" name="Picture 13"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83579" y="8497553"/>
            <a:ext cx="18179630" cy="19742174"/>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3621139" y="8809219"/>
            <a:ext cx="17554838" cy="2615443"/>
          </a:xfrm>
        </p:spPr>
        <p:txBody>
          <a:bodyPr anchor="b">
            <a:noAutofit/>
          </a:bodyPr>
          <a:lstStyle>
            <a:lvl1pPr marL="0" indent="0" algn="ctr">
              <a:buNone/>
              <a:defRPr sz="11520" b="0"/>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621139" y="11424665"/>
            <a:ext cx="17554838" cy="16373102"/>
          </a:xfrm>
        </p:spPr>
        <p:txBody>
          <a:bodyPr anchor="t">
            <a:normAutofit/>
          </a:bodyPr>
          <a:lstStyle>
            <a:lvl1pPr>
              <a:defRPr sz="8640"/>
            </a:lvl1pPr>
            <a:lvl2pPr>
              <a:defRPr sz="7680"/>
            </a:lvl2pPr>
            <a:lvl3pPr>
              <a:defRPr sz="6720"/>
            </a:lvl3pPr>
            <a:lvl4pPr>
              <a:defRPr sz="5760"/>
            </a:lvl4pPr>
            <a:lvl5pPr>
              <a:defRPr sz="576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661880" y="8809227"/>
            <a:ext cx="17623190" cy="2615438"/>
          </a:xfrm>
        </p:spPr>
        <p:txBody>
          <a:bodyPr anchor="b">
            <a:noAutofit/>
          </a:bodyPr>
          <a:lstStyle>
            <a:lvl1pPr marL="0" indent="0" algn="ctr">
              <a:buNone/>
              <a:defRPr sz="11520" b="0"/>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661880" y="11424665"/>
            <a:ext cx="17623190" cy="16373102"/>
          </a:xfrm>
        </p:spPr>
        <p:txBody>
          <a:bodyPr anchor="t">
            <a:normAutofit/>
          </a:bodyPr>
          <a:lstStyle>
            <a:lvl1pPr>
              <a:defRPr sz="8640"/>
            </a:lvl1pPr>
            <a:lvl2pPr>
              <a:defRPr sz="7680"/>
            </a:lvl2pPr>
            <a:lvl3pPr>
              <a:defRPr sz="6720"/>
            </a:lvl3pPr>
            <a:lvl4pPr>
              <a:defRPr sz="5760"/>
            </a:lvl4pPr>
            <a:lvl5pPr>
              <a:defRPr sz="576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3D97CC-475F-BE49-B579-6BFEF977A37E}" type="datetimeFigureOut">
              <a:rPr lang="en-US" smtClean="0"/>
              <a:t>9/3/2026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3532817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3D97CC-475F-BE49-B579-6BFEF977A37E}" type="datetimeFigureOut">
              <a:rPr lang="en-US" smtClean="0"/>
              <a:t>9/3/2026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2346824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3D97CC-475F-BE49-B579-6BFEF977A37E}" type="datetimeFigureOut">
              <a:rPr lang="en-US" smtClean="0"/>
              <a:t>9/3/2026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257077068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289668" y="2926080"/>
            <a:ext cx="13344802" cy="8745206"/>
          </a:xfrm>
        </p:spPr>
        <p:txBody>
          <a:bodyPr anchor="b">
            <a:normAutofit/>
          </a:bodyPr>
          <a:lstStyle>
            <a:lvl1pPr algn="ctr">
              <a:defRPr sz="11520" b="0"/>
            </a:lvl1pPr>
          </a:lstStyle>
          <a:p>
            <a:r>
              <a:rPr lang="en-US"/>
              <a:t>Click to edit Master title style</a:t>
            </a:r>
            <a:endParaRPr lang="en-US" dirty="0"/>
          </a:p>
        </p:txBody>
      </p:sp>
      <p:sp>
        <p:nvSpPr>
          <p:cNvPr id="3" name="Content Placeholder 2"/>
          <p:cNvSpPr>
            <a:spLocks noGrp="1"/>
          </p:cNvSpPr>
          <p:nvPr>
            <p:ph idx="1"/>
          </p:nvPr>
        </p:nvSpPr>
        <p:spPr>
          <a:xfrm>
            <a:off x="17480283" y="2926080"/>
            <a:ext cx="23082926" cy="2487168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289668" y="11671289"/>
            <a:ext cx="13344802" cy="16126469"/>
          </a:xfrm>
        </p:spPr>
        <p:txBody>
          <a:bodyPr anchor="t">
            <a:normAutofit/>
          </a:bodyPr>
          <a:lstStyle>
            <a:lvl1pPr marL="0" indent="0" algn="ctr">
              <a:buNone/>
              <a:defRPr sz="768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5" name="Date Placeholder 4"/>
          <p:cNvSpPr>
            <a:spLocks noGrp="1"/>
          </p:cNvSpPr>
          <p:nvPr>
            <p:ph type="dt" sz="half" idx="10"/>
          </p:nvPr>
        </p:nvSpPr>
        <p:spPr/>
        <p:txBody>
          <a:bodyPr/>
          <a:lstStyle/>
          <a:p>
            <a:fld id="{163D97CC-475F-BE49-B579-6BFEF977A37E}"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661533336"/>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2" name="Picture 11" descr="Slate-V2-S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55938" y="2927630"/>
            <a:ext cx="16455101" cy="24986266"/>
          </a:xfrm>
          <a:prstGeom prst="rect">
            <a:avLst/>
          </a:prstGeom>
        </p:spPr>
      </p:pic>
      <p:sp>
        <p:nvSpPr>
          <p:cNvPr id="2" name="Title 1"/>
          <p:cNvSpPr>
            <a:spLocks noGrp="1"/>
          </p:cNvSpPr>
          <p:nvPr>
            <p:ph type="title"/>
          </p:nvPr>
        </p:nvSpPr>
        <p:spPr>
          <a:xfrm>
            <a:off x="3289666" y="2927631"/>
            <a:ext cx="18838445" cy="8780822"/>
          </a:xfrm>
        </p:spPr>
        <p:txBody>
          <a:bodyPr anchor="b">
            <a:noAutofit/>
          </a:bodyPr>
          <a:lstStyle>
            <a:lvl1pPr algn="ctr">
              <a:defRPr sz="1536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88297" y="3571147"/>
            <a:ext cx="15193800" cy="23581546"/>
          </a:xfrm>
          <a:effectLst>
            <a:outerShdw blurRad="38100" dist="25400" dir="4440000">
              <a:srgbClr val="000000">
                <a:alpha val="36000"/>
              </a:srgbClr>
            </a:outerShdw>
          </a:effectLst>
        </p:spPr>
        <p:txBody>
          <a:bodyPr anchor="t">
            <a:normAutofit/>
          </a:bodyPr>
          <a:lstStyle>
            <a:lvl1pPr marL="0" indent="0" algn="ctr">
              <a:buNone/>
              <a:defRPr sz="7680"/>
            </a:lvl1pPr>
            <a:lvl2pPr marL="2194560" indent="0">
              <a:buNone/>
              <a:defRPr sz="7680"/>
            </a:lvl2pPr>
            <a:lvl3pPr marL="4389120" indent="0">
              <a:buNone/>
              <a:defRPr sz="7680"/>
            </a:lvl3pPr>
            <a:lvl4pPr marL="6583680" indent="0">
              <a:buNone/>
              <a:defRPr sz="7680"/>
            </a:lvl4pPr>
            <a:lvl5pPr marL="8778240" indent="0">
              <a:buNone/>
              <a:defRPr sz="7680"/>
            </a:lvl5pPr>
            <a:lvl6pPr marL="10972800" indent="0">
              <a:buNone/>
              <a:defRPr sz="7680"/>
            </a:lvl6pPr>
            <a:lvl7pPr marL="13167360" indent="0">
              <a:buNone/>
              <a:defRPr sz="7680"/>
            </a:lvl7pPr>
            <a:lvl8pPr marL="15361920" indent="0">
              <a:buNone/>
              <a:defRPr sz="7680"/>
            </a:lvl8pPr>
            <a:lvl9pPr marL="17556480" indent="0">
              <a:buNone/>
              <a:defRPr sz="7680"/>
            </a:lvl9pPr>
          </a:lstStyle>
          <a:p>
            <a:r>
              <a:rPr lang="en-US"/>
              <a:t>Click icon to add picture</a:t>
            </a:r>
            <a:endParaRPr lang="en-US" dirty="0"/>
          </a:p>
        </p:txBody>
      </p:sp>
      <p:sp>
        <p:nvSpPr>
          <p:cNvPr id="4" name="Text Placeholder 3"/>
          <p:cNvSpPr>
            <a:spLocks noGrp="1"/>
          </p:cNvSpPr>
          <p:nvPr>
            <p:ph type="body" sz="half" idx="2"/>
          </p:nvPr>
        </p:nvSpPr>
        <p:spPr>
          <a:xfrm>
            <a:off x="3289666" y="11708453"/>
            <a:ext cx="18838445" cy="16205443"/>
          </a:xfrm>
        </p:spPr>
        <p:txBody>
          <a:bodyPr anchor="t">
            <a:normAutofit/>
          </a:bodyPr>
          <a:lstStyle>
            <a:lvl1pPr marL="0" indent="0" algn="ctr">
              <a:buNone/>
              <a:defRPr sz="768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5" name="Date Placeholder 4"/>
          <p:cNvSpPr>
            <a:spLocks noGrp="1"/>
          </p:cNvSpPr>
          <p:nvPr>
            <p:ph type="dt" sz="half" idx="10"/>
          </p:nvPr>
        </p:nvSpPr>
        <p:spPr/>
        <p:txBody>
          <a:bodyPr/>
          <a:lstStyle/>
          <a:p>
            <a:fld id="{163D97CC-475F-BE49-B579-6BFEF977A37E}"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2975210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Slate-V2-S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1176" y="2592408"/>
            <a:ext cx="36748848" cy="18404995"/>
          </a:xfrm>
          <a:prstGeom prst="rect">
            <a:avLst/>
          </a:prstGeom>
        </p:spPr>
      </p:pic>
      <p:sp>
        <p:nvSpPr>
          <p:cNvPr id="2" name="Title 1"/>
          <p:cNvSpPr>
            <a:spLocks noGrp="1"/>
          </p:cNvSpPr>
          <p:nvPr>
            <p:ph type="title"/>
          </p:nvPr>
        </p:nvSpPr>
        <p:spPr>
          <a:xfrm>
            <a:off x="3289702" y="21913224"/>
            <a:ext cx="37279176" cy="2608666"/>
          </a:xfrm>
        </p:spPr>
        <p:txBody>
          <a:bodyPr anchor="b">
            <a:normAutofit/>
          </a:bodyPr>
          <a:lstStyle>
            <a:lvl1pPr algn="ctr">
              <a:defRPr sz="13440"/>
            </a:lvl1pPr>
          </a:lstStyle>
          <a:p>
            <a:r>
              <a:rPr lang="en-US"/>
              <a:t>Click to edit Master title style</a:t>
            </a:r>
            <a:endParaRPr lang="en-US" dirty="0"/>
          </a:p>
        </p:txBody>
      </p:sp>
      <p:sp>
        <p:nvSpPr>
          <p:cNvPr id="3" name="Picture Placeholder 2"/>
          <p:cNvSpPr>
            <a:spLocks noGrp="1" noChangeAspect="1"/>
          </p:cNvSpPr>
          <p:nvPr>
            <p:ph type="pic" idx="1"/>
          </p:nvPr>
        </p:nvSpPr>
        <p:spPr>
          <a:xfrm>
            <a:off x="4445842" y="3336050"/>
            <a:ext cx="34970880" cy="16923221"/>
          </a:xfrm>
          <a:effectLst>
            <a:outerShdw blurRad="38100" dist="25400" dir="4440000">
              <a:srgbClr val="000000">
                <a:alpha val="36000"/>
              </a:srgbClr>
            </a:outerShdw>
          </a:effectLst>
        </p:spPr>
        <p:txBody>
          <a:bodyPr anchor="t">
            <a:normAutofit/>
          </a:bodyPr>
          <a:lstStyle>
            <a:lvl1pPr marL="0" indent="0" algn="ctr">
              <a:buNone/>
              <a:defRPr sz="9600"/>
            </a:lvl1pPr>
            <a:lvl2pPr marL="2194560" indent="0">
              <a:buNone/>
              <a:defRPr sz="9600"/>
            </a:lvl2pPr>
            <a:lvl3pPr marL="4389120" indent="0">
              <a:buNone/>
              <a:defRPr sz="960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289661" y="24521894"/>
            <a:ext cx="37273546" cy="3275866"/>
          </a:xfrm>
        </p:spPr>
        <p:txBody>
          <a:bodyPr anchor="t"/>
          <a:lstStyle>
            <a:lvl1pPr marL="0" indent="0" algn="ctr">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163D97CC-475F-BE49-B579-6BFEF977A37E}"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2624113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3289661" y="2920498"/>
            <a:ext cx="37273546" cy="16964851"/>
          </a:xfrm>
        </p:spPr>
        <p:txBody>
          <a:bodyPr anchor="ctr"/>
          <a:lstStyle>
            <a:lvl1pPr>
              <a:defRPr sz="15360"/>
            </a:lvl1pPr>
          </a:lstStyle>
          <a:p>
            <a:r>
              <a:rPr lang="en-US"/>
              <a:t>Click to edit Master title style</a:t>
            </a:r>
            <a:endParaRPr lang="en-US" dirty="0"/>
          </a:p>
        </p:txBody>
      </p:sp>
      <p:sp>
        <p:nvSpPr>
          <p:cNvPr id="4" name="Text Placeholder 3"/>
          <p:cNvSpPr>
            <a:spLocks noGrp="1"/>
          </p:cNvSpPr>
          <p:nvPr>
            <p:ph type="body" sz="half" idx="2"/>
          </p:nvPr>
        </p:nvSpPr>
        <p:spPr>
          <a:xfrm>
            <a:off x="3289661" y="20616864"/>
            <a:ext cx="37273546" cy="7208765"/>
          </a:xfrm>
        </p:spPr>
        <p:txBody>
          <a:bodyPr anchor="ctr"/>
          <a:lstStyle>
            <a:lvl1pPr marL="0" indent="0" algn="ctr">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163D97CC-475F-BE49-B579-6BFEF977A37E}"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21318372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6363" y="2926080"/>
            <a:ext cx="33489907" cy="14365939"/>
          </a:xfrm>
        </p:spPr>
        <p:txBody>
          <a:bodyPr anchor="ctr"/>
          <a:lstStyle>
            <a:lvl1pPr>
              <a:defRPr sz="15360"/>
            </a:lvl1pPr>
          </a:lstStyle>
          <a:p>
            <a:r>
              <a:rPr lang="en-US"/>
              <a:t>Click to edit Master title style</a:t>
            </a:r>
            <a:endParaRPr lang="en-US" dirty="0"/>
          </a:p>
        </p:txBody>
      </p:sp>
      <p:sp>
        <p:nvSpPr>
          <p:cNvPr id="12" name="Text Placeholder 3"/>
          <p:cNvSpPr>
            <a:spLocks noGrp="1"/>
          </p:cNvSpPr>
          <p:nvPr>
            <p:ph type="body" sz="half" idx="13"/>
          </p:nvPr>
        </p:nvSpPr>
        <p:spPr>
          <a:xfrm>
            <a:off x="6194323" y="17328161"/>
            <a:ext cx="31508275" cy="2557195"/>
          </a:xfrm>
        </p:spPr>
        <p:txBody>
          <a:bodyPr anchor="t">
            <a:normAutofit/>
          </a:bodyPr>
          <a:lstStyle>
            <a:lvl1pPr marL="0" indent="0" algn="r">
              <a:buNone/>
              <a:defRPr sz="672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4" name="Text Placeholder 3"/>
          <p:cNvSpPr>
            <a:spLocks noGrp="1"/>
          </p:cNvSpPr>
          <p:nvPr>
            <p:ph type="body" sz="half" idx="2"/>
          </p:nvPr>
        </p:nvSpPr>
        <p:spPr>
          <a:xfrm>
            <a:off x="3289661" y="20660894"/>
            <a:ext cx="37273546" cy="7149581"/>
          </a:xfrm>
        </p:spPr>
        <p:txBody>
          <a:bodyPr anchor="ctr">
            <a:normAutofit/>
          </a:bodyPr>
          <a:lstStyle>
            <a:lvl1pPr marL="0" indent="0" algn="ctr">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163D97CC-475F-BE49-B579-6BFEF977A37E}"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6AFA-303D-8042-85F3-1EA037B235F2}" type="slidenum">
              <a:rPr lang="en-US" smtClean="0"/>
              <a:t>‹#›</a:t>
            </a:fld>
            <a:endParaRPr lang="en-US"/>
          </a:p>
        </p:txBody>
      </p:sp>
      <p:sp>
        <p:nvSpPr>
          <p:cNvPr id="11" name="TextBox 10"/>
          <p:cNvSpPr txBox="1"/>
          <p:nvPr/>
        </p:nvSpPr>
        <p:spPr>
          <a:xfrm>
            <a:off x="3011803" y="4194778"/>
            <a:ext cx="2194560" cy="2806925"/>
          </a:xfrm>
          <a:prstGeom prst="rect">
            <a:avLst/>
          </a:prstGeom>
        </p:spPr>
        <p:txBody>
          <a:bodyPr vert="horz" lIns="438912" tIns="219456" rIns="438912" bIns="219456"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38400" dirty="0">
                <a:solidFill>
                  <a:schemeClr val="tx1"/>
                </a:solidFill>
                <a:effectLst/>
              </a:rPr>
              <a:t>“</a:t>
            </a:r>
          </a:p>
        </p:txBody>
      </p:sp>
      <p:sp>
        <p:nvSpPr>
          <p:cNvPr id="13" name="TextBox 12"/>
          <p:cNvSpPr txBox="1"/>
          <p:nvPr/>
        </p:nvSpPr>
        <p:spPr>
          <a:xfrm>
            <a:off x="37576123" y="14079576"/>
            <a:ext cx="2194560" cy="2806925"/>
          </a:xfrm>
          <a:prstGeom prst="rect">
            <a:avLst/>
          </a:prstGeom>
        </p:spPr>
        <p:txBody>
          <a:bodyPr vert="horz" lIns="438912" tIns="219456" rIns="438912" bIns="219456"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38400" dirty="0">
                <a:solidFill>
                  <a:schemeClr val="tx1"/>
                </a:solidFill>
                <a:effectLst/>
              </a:rPr>
              <a:t>”</a:t>
            </a:r>
          </a:p>
        </p:txBody>
      </p:sp>
    </p:spTree>
    <p:extLst>
      <p:ext uri="{BB962C8B-B14F-4D97-AF65-F5344CB8AC3E}">
        <p14:creationId xmlns:p14="http://schemas.microsoft.com/office/powerpoint/2010/main" val="29602428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3289661" y="10209329"/>
            <a:ext cx="37273546" cy="12056808"/>
          </a:xfrm>
        </p:spPr>
        <p:txBody>
          <a:bodyPr anchor="b"/>
          <a:lstStyle>
            <a:lvl1pPr>
              <a:defRPr sz="15360"/>
            </a:lvl1pPr>
          </a:lstStyle>
          <a:p>
            <a:r>
              <a:rPr lang="en-US"/>
              <a:t>Click to edit Master title style</a:t>
            </a:r>
            <a:endParaRPr lang="en-US" dirty="0"/>
          </a:p>
        </p:txBody>
      </p:sp>
      <p:sp>
        <p:nvSpPr>
          <p:cNvPr id="4" name="Text Placeholder 3"/>
          <p:cNvSpPr>
            <a:spLocks noGrp="1"/>
          </p:cNvSpPr>
          <p:nvPr>
            <p:ph type="body" sz="half" idx="2"/>
          </p:nvPr>
        </p:nvSpPr>
        <p:spPr>
          <a:xfrm>
            <a:off x="3289630" y="22322669"/>
            <a:ext cx="37267915" cy="5475091"/>
          </a:xfrm>
        </p:spPr>
        <p:txBody>
          <a:bodyPr anchor="t"/>
          <a:lstStyle>
            <a:lvl1pPr marL="0" indent="0" algn="ctr">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163D97CC-475F-BE49-B579-6BFEF977A37E}"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40731274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3289661" y="2926080"/>
            <a:ext cx="37273546" cy="4658160"/>
          </a:xfrm>
        </p:spPr>
        <p:txBody>
          <a:bodyPr/>
          <a:lstStyle/>
          <a:p>
            <a:r>
              <a:rPr lang="en-US"/>
              <a:t>Click to edit Master title style</a:t>
            </a:r>
            <a:endParaRPr lang="en-US" dirty="0"/>
          </a:p>
        </p:txBody>
      </p:sp>
      <p:sp>
        <p:nvSpPr>
          <p:cNvPr id="7" name="Text Placeholder 2"/>
          <p:cNvSpPr>
            <a:spLocks noGrp="1"/>
          </p:cNvSpPr>
          <p:nvPr>
            <p:ph type="body" idx="1"/>
          </p:nvPr>
        </p:nvSpPr>
        <p:spPr>
          <a:xfrm>
            <a:off x="3289661" y="9052560"/>
            <a:ext cx="11883542" cy="2766058"/>
          </a:xfrm>
        </p:spPr>
        <p:txBody>
          <a:bodyPr anchor="b">
            <a:noAutofit/>
          </a:bodyPr>
          <a:lstStyle>
            <a:lvl1pPr marL="0" indent="0" algn="ctr">
              <a:buNone/>
              <a:defRPr sz="1152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8" name="Text Placeholder 3"/>
          <p:cNvSpPr>
            <a:spLocks noGrp="1"/>
          </p:cNvSpPr>
          <p:nvPr>
            <p:ph type="body" sz="half" idx="15"/>
          </p:nvPr>
        </p:nvSpPr>
        <p:spPr>
          <a:xfrm>
            <a:off x="3289661" y="12344400"/>
            <a:ext cx="11883542" cy="15453360"/>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9" name="Text Placeholder 4"/>
          <p:cNvSpPr>
            <a:spLocks noGrp="1"/>
          </p:cNvSpPr>
          <p:nvPr>
            <p:ph type="body" sz="quarter" idx="3"/>
          </p:nvPr>
        </p:nvSpPr>
        <p:spPr>
          <a:xfrm>
            <a:off x="16008159" y="9052560"/>
            <a:ext cx="11883542" cy="2766058"/>
          </a:xfrm>
        </p:spPr>
        <p:txBody>
          <a:bodyPr anchor="b">
            <a:noAutofit/>
          </a:bodyPr>
          <a:lstStyle>
            <a:lvl1pPr marL="0" indent="0" algn="ctr">
              <a:buNone/>
              <a:defRPr sz="1152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10" name="Text Placeholder 3"/>
          <p:cNvSpPr>
            <a:spLocks noGrp="1"/>
          </p:cNvSpPr>
          <p:nvPr>
            <p:ph type="body" sz="half" idx="16"/>
          </p:nvPr>
        </p:nvSpPr>
        <p:spPr>
          <a:xfrm>
            <a:off x="15989165" y="12344400"/>
            <a:ext cx="11883542" cy="15453360"/>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11" name="Text Placeholder 4"/>
          <p:cNvSpPr>
            <a:spLocks noGrp="1"/>
          </p:cNvSpPr>
          <p:nvPr>
            <p:ph type="body" sz="quarter" idx="13"/>
          </p:nvPr>
        </p:nvSpPr>
        <p:spPr>
          <a:xfrm>
            <a:off x="28679659" y="9052560"/>
            <a:ext cx="11883542" cy="2766058"/>
          </a:xfrm>
        </p:spPr>
        <p:txBody>
          <a:bodyPr anchor="b">
            <a:noAutofit/>
          </a:bodyPr>
          <a:lstStyle>
            <a:lvl1pPr marL="0" indent="0" algn="ctr">
              <a:buNone/>
              <a:defRPr sz="1152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12" name="Text Placeholder 3"/>
          <p:cNvSpPr>
            <a:spLocks noGrp="1"/>
          </p:cNvSpPr>
          <p:nvPr>
            <p:ph type="body" sz="half" idx="17"/>
          </p:nvPr>
        </p:nvSpPr>
        <p:spPr>
          <a:xfrm>
            <a:off x="28679659" y="12344400"/>
            <a:ext cx="11883542" cy="15453360"/>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3" name="Date Placeholder 2"/>
          <p:cNvSpPr>
            <a:spLocks noGrp="1"/>
          </p:cNvSpPr>
          <p:nvPr>
            <p:ph type="dt" sz="half" idx="10"/>
          </p:nvPr>
        </p:nvSpPr>
        <p:spPr/>
        <p:txBody>
          <a:bodyPr/>
          <a:lstStyle/>
          <a:p>
            <a:fld id="{163D97CC-475F-BE49-B579-6BFEF977A37E}" type="datetimeFigureOut">
              <a:rPr lang="en-US" smtClean="0"/>
              <a:t>9/3/2026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25637317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6" name="Picture 5"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4347" y="8765016"/>
            <a:ext cx="12139421" cy="8801078"/>
          </a:xfrm>
          <a:prstGeom prst="rect">
            <a:avLst/>
          </a:prstGeom>
        </p:spPr>
      </p:pic>
      <p:pic>
        <p:nvPicPr>
          <p:cNvPr id="28" name="Picture 27"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10302" y="8765016"/>
            <a:ext cx="12139421" cy="8801078"/>
          </a:xfrm>
          <a:prstGeom prst="rect">
            <a:avLst/>
          </a:prstGeom>
        </p:spPr>
      </p:pic>
      <p:pic>
        <p:nvPicPr>
          <p:cNvPr id="29" name="Picture 28"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24232" y="8765016"/>
            <a:ext cx="12139421" cy="8801078"/>
          </a:xfrm>
          <a:prstGeom prst="rect">
            <a:avLst/>
          </a:prstGeom>
        </p:spPr>
      </p:pic>
      <p:sp>
        <p:nvSpPr>
          <p:cNvPr id="30" name="Title 1"/>
          <p:cNvSpPr>
            <a:spLocks noGrp="1"/>
          </p:cNvSpPr>
          <p:nvPr>
            <p:ph type="title"/>
          </p:nvPr>
        </p:nvSpPr>
        <p:spPr>
          <a:xfrm>
            <a:off x="3289661" y="2926080"/>
            <a:ext cx="37273546" cy="465816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3289661" y="18739709"/>
            <a:ext cx="11883542" cy="2766058"/>
          </a:xfrm>
        </p:spPr>
        <p:txBody>
          <a:bodyPr anchor="b">
            <a:noAutofit/>
          </a:bodyPr>
          <a:lstStyle>
            <a:lvl1pPr marL="0" indent="0" algn="ctr">
              <a:buNone/>
              <a:defRPr sz="960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20" name="Picture Placeholder 2"/>
          <p:cNvSpPr>
            <a:spLocks noGrp="1" noChangeAspect="1"/>
          </p:cNvSpPr>
          <p:nvPr>
            <p:ph type="pic" idx="15"/>
          </p:nvPr>
        </p:nvSpPr>
        <p:spPr>
          <a:xfrm>
            <a:off x="3665170" y="9306807"/>
            <a:ext cx="11132525" cy="7694179"/>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7680"/>
            </a:lvl1pPr>
            <a:lvl2pPr marL="2194560" indent="0">
              <a:buNone/>
              <a:defRPr sz="7680"/>
            </a:lvl2pPr>
            <a:lvl3pPr marL="4389120" indent="0">
              <a:buNone/>
              <a:defRPr sz="7680"/>
            </a:lvl3pPr>
            <a:lvl4pPr marL="6583680" indent="0">
              <a:buNone/>
              <a:defRPr sz="7680"/>
            </a:lvl4pPr>
            <a:lvl5pPr marL="8778240" indent="0">
              <a:buNone/>
              <a:defRPr sz="7680"/>
            </a:lvl5pPr>
            <a:lvl6pPr marL="10972800" indent="0">
              <a:buNone/>
              <a:defRPr sz="7680"/>
            </a:lvl6pPr>
            <a:lvl7pPr marL="13167360" indent="0">
              <a:buNone/>
              <a:defRPr sz="7680"/>
            </a:lvl7pPr>
            <a:lvl8pPr marL="15361920" indent="0">
              <a:buNone/>
              <a:defRPr sz="7680"/>
            </a:lvl8pPr>
            <a:lvl9pPr marL="17556480" indent="0">
              <a:buNone/>
              <a:defRPr sz="7680"/>
            </a:lvl9pPr>
          </a:lstStyle>
          <a:p>
            <a:r>
              <a:rPr lang="en-US"/>
              <a:t>Click icon to add picture</a:t>
            </a:r>
            <a:endParaRPr lang="en-US" dirty="0"/>
          </a:p>
        </p:txBody>
      </p:sp>
      <p:sp>
        <p:nvSpPr>
          <p:cNvPr id="21" name="Text Placeholder 3"/>
          <p:cNvSpPr>
            <a:spLocks noGrp="1"/>
          </p:cNvSpPr>
          <p:nvPr>
            <p:ph type="body" sz="half" idx="18"/>
          </p:nvPr>
        </p:nvSpPr>
        <p:spPr>
          <a:xfrm>
            <a:off x="3289661" y="21505774"/>
            <a:ext cx="11883542" cy="6291998"/>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22" name="Text Placeholder 4"/>
          <p:cNvSpPr>
            <a:spLocks noGrp="1"/>
          </p:cNvSpPr>
          <p:nvPr>
            <p:ph type="body" sz="quarter" idx="3"/>
          </p:nvPr>
        </p:nvSpPr>
        <p:spPr>
          <a:xfrm>
            <a:off x="15994037" y="18739709"/>
            <a:ext cx="11883542" cy="2766058"/>
          </a:xfrm>
        </p:spPr>
        <p:txBody>
          <a:bodyPr anchor="b">
            <a:noAutofit/>
          </a:bodyPr>
          <a:lstStyle>
            <a:lvl1pPr marL="0" indent="0" algn="ctr">
              <a:buNone/>
              <a:defRPr sz="960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23" name="Picture Placeholder 2"/>
          <p:cNvSpPr>
            <a:spLocks noGrp="1" noChangeAspect="1"/>
          </p:cNvSpPr>
          <p:nvPr>
            <p:ph type="pic" idx="21"/>
          </p:nvPr>
        </p:nvSpPr>
        <p:spPr>
          <a:xfrm>
            <a:off x="16364674" y="9307651"/>
            <a:ext cx="11132525" cy="7719187"/>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7680"/>
            </a:lvl1pPr>
            <a:lvl2pPr marL="2194560" indent="0">
              <a:buNone/>
              <a:defRPr sz="7680"/>
            </a:lvl2pPr>
            <a:lvl3pPr marL="4389120" indent="0">
              <a:buNone/>
              <a:defRPr sz="7680"/>
            </a:lvl3pPr>
            <a:lvl4pPr marL="6583680" indent="0">
              <a:buNone/>
              <a:defRPr sz="7680"/>
            </a:lvl4pPr>
            <a:lvl5pPr marL="8778240" indent="0">
              <a:buNone/>
              <a:defRPr sz="7680"/>
            </a:lvl5pPr>
            <a:lvl6pPr marL="10972800" indent="0">
              <a:buNone/>
              <a:defRPr sz="7680"/>
            </a:lvl6pPr>
            <a:lvl7pPr marL="13167360" indent="0">
              <a:buNone/>
              <a:defRPr sz="7680"/>
            </a:lvl7pPr>
            <a:lvl8pPr marL="15361920" indent="0">
              <a:buNone/>
              <a:defRPr sz="7680"/>
            </a:lvl8pPr>
            <a:lvl9pPr marL="17556480" indent="0">
              <a:buNone/>
              <a:defRPr sz="7680"/>
            </a:lvl9pPr>
          </a:lstStyle>
          <a:p>
            <a:r>
              <a:rPr lang="en-US"/>
              <a:t>Click icon to add picture</a:t>
            </a:r>
            <a:endParaRPr lang="en-US" dirty="0"/>
          </a:p>
        </p:txBody>
      </p:sp>
      <p:sp>
        <p:nvSpPr>
          <p:cNvPr id="24" name="Text Placeholder 3"/>
          <p:cNvSpPr>
            <a:spLocks noGrp="1"/>
          </p:cNvSpPr>
          <p:nvPr>
            <p:ph type="body" sz="half" idx="19"/>
          </p:nvPr>
        </p:nvSpPr>
        <p:spPr>
          <a:xfrm>
            <a:off x="15989163" y="21505769"/>
            <a:ext cx="11888414" cy="6291998"/>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25" name="Text Placeholder 4"/>
          <p:cNvSpPr>
            <a:spLocks noGrp="1"/>
          </p:cNvSpPr>
          <p:nvPr>
            <p:ph type="body" sz="quarter" idx="13"/>
          </p:nvPr>
        </p:nvSpPr>
        <p:spPr>
          <a:xfrm>
            <a:off x="28680111" y="18739709"/>
            <a:ext cx="11883542" cy="2766058"/>
          </a:xfrm>
        </p:spPr>
        <p:txBody>
          <a:bodyPr anchor="b">
            <a:noAutofit/>
          </a:bodyPr>
          <a:lstStyle>
            <a:lvl1pPr marL="0" indent="0" algn="ctr">
              <a:buNone/>
              <a:defRPr sz="9600" b="0">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26" name="Picture Placeholder 2"/>
          <p:cNvSpPr>
            <a:spLocks noGrp="1" noChangeAspect="1"/>
          </p:cNvSpPr>
          <p:nvPr>
            <p:ph type="pic" idx="22"/>
          </p:nvPr>
        </p:nvSpPr>
        <p:spPr>
          <a:xfrm>
            <a:off x="29072515" y="9285274"/>
            <a:ext cx="11132525" cy="7715011"/>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7680"/>
            </a:lvl1pPr>
            <a:lvl2pPr marL="2194560" indent="0">
              <a:buNone/>
              <a:defRPr sz="7680"/>
            </a:lvl2pPr>
            <a:lvl3pPr marL="4389120" indent="0">
              <a:buNone/>
              <a:defRPr sz="7680"/>
            </a:lvl3pPr>
            <a:lvl4pPr marL="6583680" indent="0">
              <a:buNone/>
              <a:defRPr sz="7680"/>
            </a:lvl4pPr>
            <a:lvl5pPr marL="8778240" indent="0">
              <a:buNone/>
              <a:defRPr sz="7680"/>
            </a:lvl5pPr>
            <a:lvl6pPr marL="10972800" indent="0">
              <a:buNone/>
              <a:defRPr sz="7680"/>
            </a:lvl6pPr>
            <a:lvl7pPr marL="13167360" indent="0">
              <a:buNone/>
              <a:defRPr sz="7680"/>
            </a:lvl7pPr>
            <a:lvl8pPr marL="15361920" indent="0">
              <a:buNone/>
              <a:defRPr sz="7680"/>
            </a:lvl8pPr>
            <a:lvl9pPr marL="17556480" indent="0">
              <a:buNone/>
              <a:defRPr sz="7680"/>
            </a:lvl9pPr>
          </a:lstStyle>
          <a:p>
            <a:r>
              <a:rPr lang="en-US"/>
              <a:t>Click icon to add picture</a:t>
            </a:r>
            <a:endParaRPr lang="en-US" dirty="0"/>
          </a:p>
        </p:txBody>
      </p:sp>
      <p:sp>
        <p:nvSpPr>
          <p:cNvPr id="27" name="Text Placeholder 3"/>
          <p:cNvSpPr>
            <a:spLocks noGrp="1"/>
          </p:cNvSpPr>
          <p:nvPr>
            <p:ph type="body" sz="half" idx="20"/>
          </p:nvPr>
        </p:nvSpPr>
        <p:spPr>
          <a:xfrm>
            <a:off x="28679659" y="21505759"/>
            <a:ext cx="11883542" cy="6292008"/>
          </a:xfrm>
        </p:spPr>
        <p:txBody>
          <a:bodyPr anchor="t">
            <a:normAutofit/>
          </a:bodyPr>
          <a:lstStyle>
            <a:lvl1pPr marL="0" indent="0" algn="ctr">
              <a:buNone/>
              <a:defRPr sz="672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Click to edit Master text styles</a:t>
            </a:r>
          </a:p>
        </p:txBody>
      </p:sp>
      <p:sp>
        <p:nvSpPr>
          <p:cNvPr id="3" name="Date Placeholder 2"/>
          <p:cNvSpPr>
            <a:spLocks noGrp="1"/>
          </p:cNvSpPr>
          <p:nvPr>
            <p:ph type="dt" sz="half" idx="10"/>
          </p:nvPr>
        </p:nvSpPr>
        <p:spPr/>
        <p:txBody>
          <a:bodyPr/>
          <a:lstStyle/>
          <a:p>
            <a:fld id="{163D97CC-475F-BE49-B579-6BFEF977A37E}" type="datetimeFigureOut">
              <a:rPr lang="en-US" smtClean="0"/>
              <a:t>9/3/2026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13379308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3D97CC-475F-BE49-B579-6BFEF977A37E}"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23838870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339052" y="2926082"/>
            <a:ext cx="8224152" cy="2487168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3289666" y="2926082"/>
            <a:ext cx="28500739" cy="2487168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3D97CC-475F-BE49-B579-6BFEF977A37E}"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C96AFA-303D-8042-85F3-1EA037B235F2}" type="slidenum">
              <a:rPr lang="en-US" smtClean="0"/>
              <a:t>‹#›</a:t>
            </a:fld>
            <a:endParaRPr lang="en-US"/>
          </a:p>
        </p:txBody>
      </p:sp>
    </p:spTree>
    <p:extLst>
      <p:ext uri="{BB962C8B-B14F-4D97-AF65-F5344CB8AC3E}">
        <p14:creationId xmlns:p14="http://schemas.microsoft.com/office/powerpoint/2010/main" val="701277221"/>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289661" y="2926080"/>
            <a:ext cx="37273546" cy="465816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289661" y="8315762"/>
            <a:ext cx="37273546" cy="19482005"/>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643450" y="28239727"/>
            <a:ext cx="9875520" cy="1752600"/>
          </a:xfrm>
          <a:prstGeom prst="rect">
            <a:avLst/>
          </a:prstGeom>
        </p:spPr>
        <p:txBody>
          <a:bodyPr vert="horz" lIns="91440" tIns="45720" rIns="91440" bIns="45720" rtlCol="0" anchor="ctr"/>
          <a:lstStyle>
            <a:lvl1pPr algn="r">
              <a:defRPr sz="4800">
                <a:solidFill>
                  <a:schemeClr val="tx1">
                    <a:lumMod val="95000"/>
                  </a:schemeClr>
                </a:solidFill>
                <a:effectLst>
                  <a:outerShdw blurRad="50800" dist="38100" dir="2700000" algn="tl" rotWithShape="0">
                    <a:schemeClr val="bg1">
                      <a:alpha val="43000"/>
                    </a:schemeClr>
                  </a:outerShdw>
                </a:effectLst>
              </a:defRPr>
            </a:lvl1pPr>
          </a:lstStyle>
          <a:p>
            <a:fld id="{163D97CC-475F-BE49-B579-6BFEF977A37E}" type="datetimeFigureOut">
              <a:rPr lang="en-US" smtClean="0"/>
              <a:t>9/3/2026</a:t>
            </a:fld>
            <a:endParaRPr lang="en-US"/>
          </a:p>
        </p:txBody>
      </p:sp>
      <p:sp>
        <p:nvSpPr>
          <p:cNvPr id="5" name="Footer Placeholder 4"/>
          <p:cNvSpPr>
            <a:spLocks noGrp="1"/>
          </p:cNvSpPr>
          <p:nvPr>
            <p:ph type="ftr" sz="quarter" idx="3"/>
          </p:nvPr>
        </p:nvSpPr>
        <p:spPr>
          <a:xfrm>
            <a:off x="3289668" y="28239727"/>
            <a:ext cx="24022315" cy="1752600"/>
          </a:xfrm>
          <a:prstGeom prst="rect">
            <a:avLst/>
          </a:prstGeom>
        </p:spPr>
        <p:txBody>
          <a:bodyPr vert="horz" lIns="91440" tIns="45720" rIns="91440" bIns="45720" rtlCol="0" anchor="ctr"/>
          <a:lstStyle>
            <a:lvl1pPr algn="l">
              <a:defRPr sz="48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37850446" y="28239727"/>
            <a:ext cx="2712763" cy="1752600"/>
          </a:xfrm>
          <a:prstGeom prst="rect">
            <a:avLst/>
          </a:prstGeom>
        </p:spPr>
        <p:txBody>
          <a:bodyPr vert="horz" lIns="91440" tIns="45720" rIns="91440" bIns="45720" rtlCol="0" anchor="ctr"/>
          <a:lstStyle>
            <a:lvl1pPr algn="r">
              <a:defRPr sz="4800">
                <a:solidFill>
                  <a:schemeClr val="tx1">
                    <a:lumMod val="95000"/>
                  </a:schemeClr>
                </a:solidFill>
                <a:effectLst>
                  <a:outerShdw blurRad="50800" dist="38100" dir="2700000" algn="tl" rotWithShape="0">
                    <a:schemeClr val="bg1">
                      <a:alpha val="43000"/>
                    </a:schemeClr>
                  </a:outerShdw>
                </a:effectLst>
              </a:defRPr>
            </a:lvl1pPr>
          </a:lstStyle>
          <a:p>
            <a:fld id="{BEC96AFA-303D-8042-85F3-1EA037B235F2}" type="slidenum">
              <a:rPr lang="en-US" smtClean="0"/>
              <a:t>‹#›</a:t>
            </a:fld>
            <a:endParaRPr lang="en-US"/>
          </a:p>
        </p:txBody>
      </p:sp>
    </p:spTree>
    <p:extLst>
      <p:ext uri="{BB962C8B-B14F-4D97-AF65-F5344CB8AC3E}">
        <p14:creationId xmlns:p14="http://schemas.microsoft.com/office/powerpoint/2010/main" val="736249571"/>
      </p:ext>
    </p:extLst>
  </p:cSld>
  <p:clrMap bg1="dk1" tx1="lt1" bg2="dk2" tx2="lt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 id="2147483852" r:id="rId12"/>
    <p:sldLayoutId id="2147483853" r:id="rId13"/>
    <p:sldLayoutId id="2147483854" r:id="rId14"/>
    <p:sldLayoutId id="2147483855" r:id="rId15"/>
    <p:sldLayoutId id="2147483856" r:id="rId16"/>
    <p:sldLayoutId id="2147483857" r:id="rId17"/>
  </p:sldLayoutIdLst>
  <p:txStyles>
    <p:titleStyle>
      <a:lvl1pPr algn="ctr" defTabSz="2194560" rtl="0" eaLnBrk="1" latinLnBrk="0" hangingPunct="1">
        <a:spcBef>
          <a:spcPct val="0"/>
        </a:spcBef>
        <a:buNone/>
        <a:defRPr sz="192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645920" indent="-1468800" algn="l" defTabSz="2194560" rtl="0" eaLnBrk="1" latinLnBrk="0" hangingPunct="1">
        <a:spcBef>
          <a:spcPct val="20000"/>
        </a:spcBef>
        <a:spcAft>
          <a:spcPts val="2880"/>
        </a:spcAft>
        <a:buClr>
          <a:schemeClr val="tx2"/>
        </a:buClr>
        <a:buSzPct val="70000"/>
        <a:buFont typeface="Wingdings 2" charset="2"/>
        <a:buChar char=""/>
        <a:defRPr sz="9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3456000" indent="-1296000" algn="l" defTabSz="2194560" rtl="0" eaLnBrk="1" latinLnBrk="0" hangingPunct="1">
        <a:spcBef>
          <a:spcPct val="20000"/>
        </a:spcBef>
        <a:spcAft>
          <a:spcPts val="2880"/>
        </a:spcAft>
        <a:buClr>
          <a:schemeClr val="tx2"/>
        </a:buClr>
        <a:buSzPct val="70000"/>
        <a:buFont typeface="Wingdings 2" charset="2"/>
        <a:buChar char=""/>
        <a:defRPr sz="864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4924800" indent="-1036800" algn="l" defTabSz="2194560" rtl="0" eaLnBrk="1" latinLnBrk="0" hangingPunct="1">
        <a:spcBef>
          <a:spcPct val="20000"/>
        </a:spcBef>
        <a:spcAft>
          <a:spcPts val="2880"/>
        </a:spcAft>
        <a:buClr>
          <a:schemeClr val="tx2"/>
        </a:buClr>
        <a:buSzPct val="70000"/>
        <a:buFont typeface="Wingdings 2" charset="2"/>
        <a:buChar char=""/>
        <a:defRPr sz="768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6652800" indent="-103680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8035200" indent="-103680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9670080" indent="-109728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11528640" indent="-109728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13387200" indent="-109728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14909760" indent="-1097280" algn="l" defTabSz="2194560" rtl="0" eaLnBrk="1" latinLnBrk="0" hangingPunct="1">
        <a:spcBef>
          <a:spcPct val="20000"/>
        </a:spcBef>
        <a:spcAft>
          <a:spcPts val="2880"/>
        </a:spcAft>
        <a:buClr>
          <a:schemeClr val="tx2"/>
        </a:buClr>
        <a:buSzPct val="70000"/>
        <a:buFont typeface="Wingdings 2" charset="2"/>
        <a:buChar char=""/>
        <a:defRPr sz="672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2194560" rtl="0" eaLnBrk="1" latinLnBrk="0" hangingPunct="1">
        <a:defRPr sz="8640" kern="1200">
          <a:solidFill>
            <a:schemeClr val="tx1"/>
          </a:solidFill>
          <a:latin typeface="+mn-lt"/>
          <a:ea typeface="+mn-ea"/>
          <a:cs typeface="+mn-cs"/>
        </a:defRPr>
      </a:lvl1pPr>
      <a:lvl2pPr marL="2194560" algn="l" defTabSz="2194560" rtl="0" eaLnBrk="1" latinLnBrk="0" hangingPunct="1">
        <a:defRPr sz="8640" kern="1200">
          <a:solidFill>
            <a:schemeClr val="tx1"/>
          </a:solidFill>
          <a:latin typeface="+mn-lt"/>
          <a:ea typeface="+mn-ea"/>
          <a:cs typeface="+mn-cs"/>
        </a:defRPr>
      </a:lvl2pPr>
      <a:lvl3pPr marL="4389120" algn="l" defTabSz="2194560" rtl="0" eaLnBrk="1" latinLnBrk="0" hangingPunct="1">
        <a:defRPr sz="8640" kern="1200">
          <a:solidFill>
            <a:schemeClr val="tx1"/>
          </a:solidFill>
          <a:latin typeface="+mn-lt"/>
          <a:ea typeface="+mn-ea"/>
          <a:cs typeface="+mn-cs"/>
        </a:defRPr>
      </a:lvl3pPr>
      <a:lvl4pPr marL="6583680" algn="l" defTabSz="2194560" rtl="0" eaLnBrk="1" latinLnBrk="0" hangingPunct="1">
        <a:defRPr sz="8640" kern="1200">
          <a:solidFill>
            <a:schemeClr val="tx1"/>
          </a:solidFill>
          <a:latin typeface="+mn-lt"/>
          <a:ea typeface="+mn-ea"/>
          <a:cs typeface="+mn-cs"/>
        </a:defRPr>
      </a:lvl4pPr>
      <a:lvl5pPr marL="8778240" algn="l" defTabSz="2194560" rtl="0" eaLnBrk="1" latinLnBrk="0" hangingPunct="1">
        <a:defRPr sz="8640" kern="1200">
          <a:solidFill>
            <a:schemeClr val="tx1"/>
          </a:solidFill>
          <a:latin typeface="+mn-lt"/>
          <a:ea typeface="+mn-ea"/>
          <a:cs typeface="+mn-cs"/>
        </a:defRPr>
      </a:lvl5pPr>
      <a:lvl6pPr marL="10972800" algn="l" defTabSz="2194560" rtl="0" eaLnBrk="1" latinLnBrk="0" hangingPunct="1">
        <a:defRPr sz="8640" kern="1200">
          <a:solidFill>
            <a:schemeClr val="tx1"/>
          </a:solidFill>
          <a:latin typeface="+mn-lt"/>
          <a:ea typeface="+mn-ea"/>
          <a:cs typeface="+mn-cs"/>
        </a:defRPr>
      </a:lvl6pPr>
      <a:lvl7pPr marL="13167360" algn="l" defTabSz="2194560" rtl="0" eaLnBrk="1" latinLnBrk="0" hangingPunct="1">
        <a:defRPr sz="8640" kern="1200">
          <a:solidFill>
            <a:schemeClr val="tx1"/>
          </a:solidFill>
          <a:latin typeface="+mn-lt"/>
          <a:ea typeface="+mn-ea"/>
          <a:cs typeface="+mn-cs"/>
        </a:defRPr>
      </a:lvl7pPr>
      <a:lvl8pPr marL="15361920" algn="l" defTabSz="2194560" rtl="0" eaLnBrk="1" latinLnBrk="0" hangingPunct="1">
        <a:defRPr sz="8640" kern="1200">
          <a:solidFill>
            <a:schemeClr val="tx1"/>
          </a:solidFill>
          <a:latin typeface="+mn-lt"/>
          <a:ea typeface="+mn-ea"/>
          <a:cs typeface="+mn-cs"/>
        </a:defRPr>
      </a:lvl8pPr>
      <a:lvl9pPr marL="17556480" algn="l" defTabSz="2194560" rtl="0" eaLnBrk="1" latinLnBrk="0" hangingPunct="1">
        <a:defRPr sz="864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8F610-5E25-C02F-4785-351AC651288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3039183-8738-C635-5157-3D9EC402F895}"/>
              </a:ext>
            </a:extLst>
          </p:cNvPr>
          <p:cNvSpPr txBox="1"/>
          <p:nvPr/>
        </p:nvSpPr>
        <p:spPr>
          <a:xfrm>
            <a:off x="685278" y="278782"/>
            <a:ext cx="42721119" cy="3619515"/>
          </a:xfrm>
          <a:prstGeom prst="rect">
            <a:avLst/>
          </a:prstGeom>
          <a:ln w="12700" cap="rnd" cmpd="sng">
            <a:solidFill>
              <a:schemeClr val="bg1"/>
            </a:solidFill>
            <a:round/>
          </a:ln>
          <a:effectLst/>
        </p:spPr>
        <p:style>
          <a:lnRef idx="2">
            <a:schemeClr val="dk1"/>
          </a:lnRef>
          <a:fillRef idx="1">
            <a:schemeClr val="lt1"/>
          </a:fillRef>
          <a:effectRef idx="0">
            <a:schemeClr val="dk1"/>
          </a:effectRef>
          <a:fontRef idx="minor">
            <a:schemeClr val="dk1"/>
          </a:fontRef>
        </p:style>
        <p:txBody>
          <a:bodyPr wrap="square" lIns="414591" tIns="207295" rIns="414591" bIns="207295" rtlCol="0" anchor="t" anchorCtr="0">
            <a:spAutoFit/>
          </a:bodyPr>
          <a:lstStyle/>
          <a:p>
            <a:pPr algn="ctr">
              <a:lnSpc>
                <a:spcPct val="100000"/>
              </a:lnSpc>
            </a:pPr>
            <a:r>
              <a:rPr sz="5200" b="1" i="0">
                <a:solidFill>
                  <a:srgbClr val="000000"/>
                </a:solidFill>
                <a:latin typeface="Times New Roman"/>
              </a:rPr>
              <a:t>PREVALENCE OF HIGH-FRUCTOSE CORN SYRUP IN THE U.S. BRANDED FOOD SUPPLY:</a:t>
            </a:r>
          </a:p>
          <a:p>
            <a:pPr algn="ctr">
              <a:lnSpc>
                <a:spcPct val="100000"/>
              </a:lnSpc>
            </a:pPr>
            <a:r>
              <a:rPr sz="5200" b="1" i="0">
                <a:solidFill>
                  <a:srgbClr val="000000"/>
                </a:solidFill>
                <a:latin typeface="Times New Roman"/>
              </a:rPr>
              <a:t>A CROSS-SECTIONAL ANALYSIS OF THE USDA GLOBAL BRANDED FOOD PRODUCTS DATABASE</a:t>
            </a:r>
          </a:p>
          <a:p>
            <a:pPr algn="ctr">
              <a:lnSpc>
                <a:spcPct val="100000"/>
              </a:lnSpc>
            </a:pPr>
            <a:r>
              <a:rPr sz="4400" b="0" i="0">
                <a:solidFill>
                  <a:srgbClr val="000000"/>
                </a:solidFill>
                <a:latin typeface="Times New Roman"/>
              </a:rPr>
              <a:t>[Author Name, Credentials; Author Name, Credentials; Author Name, Credentials]</a:t>
            </a:r>
          </a:p>
          <a:p>
            <a:pPr algn="ctr">
              <a:lnSpc>
                <a:spcPct val="100000"/>
              </a:lnSpc>
            </a:pPr>
            <a:r>
              <a:rPr sz="3400" b="0" i="0">
                <a:solidFill>
                  <a:srgbClr val="000000"/>
                </a:solidFill>
                <a:latin typeface="Times New Roman"/>
              </a:rPr>
              <a:t>[Department], Liberty University</a:t>
            </a:r>
          </a:p>
        </p:txBody>
      </p:sp>
      <p:pic>
        <p:nvPicPr>
          <p:cNvPr id="77" name="Picture 76">
            <a:extLst>
              <a:ext uri="{FF2B5EF4-FFF2-40B4-BE49-F238E27FC236}">
                <a16:creationId xmlns:a16="http://schemas.microsoft.com/office/drawing/2014/main" id="{8C9C05FA-58BE-53E6-927D-097819D54A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6561" y="949846"/>
            <a:ext cx="4580142" cy="1486682"/>
          </a:xfrm>
          <a:prstGeom prst="rect">
            <a:avLst/>
          </a:prstGeom>
        </p:spPr>
      </p:pic>
      <p:sp>
        <p:nvSpPr>
          <p:cNvPr id="305" name="TextBox 304">
            <a:extLst>
              <a:ext uri="{FF2B5EF4-FFF2-40B4-BE49-F238E27FC236}">
                <a16:creationId xmlns:a16="http://schemas.microsoft.com/office/drawing/2014/main" id="{A065416B-4327-02A8-9591-8B9DE4E9BA73}"/>
              </a:ext>
            </a:extLst>
          </p:cNvPr>
          <p:cNvSpPr txBox="1"/>
          <p:nvPr/>
        </p:nvSpPr>
        <p:spPr>
          <a:xfrm>
            <a:off x="10871631" y="4220388"/>
            <a:ext cx="22559807" cy="28137863"/>
          </a:xfrm>
          <a:prstGeom prst="rect">
            <a:avLst/>
          </a:prstGeom>
          <a:solidFill>
            <a:srgbClr val="FFFFFF"/>
          </a:solidFill>
          <a:ln cap="rnd">
            <a:solidFill>
              <a:schemeClr val="bg1"/>
            </a:solidFill>
          </a:ln>
        </p:spPr>
        <p:txBody>
          <a:bodyPr wrap="square" lIns="182880" rIns="182880" rtlCol="0">
            <a:noAutofit/>
          </a:bodyPr>
          <a:lstStyle/>
          <a:p>
            <a:pPr algn="just"/>
            <a:endParaRPr lang="en-US" sz="1800" dirty="0">
              <a:solidFill>
                <a:schemeClr val="bg1"/>
              </a:solidFill>
              <a:latin typeface="Times New Roman"/>
              <a:cs typeface="Times New Roman"/>
            </a:endParaRPr>
          </a:p>
        </p:txBody>
      </p:sp>
      <p:sp>
        <p:nvSpPr>
          <p:cNvPr id="309" name="TextBox 308">
            <a:extLst>
              <a:ext uri="{FF2B5EF4-FFF2-40B4-BE49-F238E27FC236}">
                <a16:creationId xmlns:a16="http://schemas.microsoft.com/office/drawing/2014/main" id="{E262B778-3A7B-F270-6B03-864EB2DE932B}"/>
              </a:ext>
            </a:extLst>
          </p:cNvPr>
          <p:cNvSpPr txBox="1"/>
          <p:nvPr/>
        </p:nvSpPr>
        <p:spPr>
          <a:xfrm>
            <a:off x="685800" y="4956048"/>
            <a:ext cx="9427464" cy="7772400"/>
          </a:xfrm>
          <a:prstGeom prst="rect">
            <a:avLst/>
          </a:prstGeom>
          <a:solidFill>
            <a:schemeClr val="tx1"/>
          </a:solidFill>
          <a:ln>
            <a:solidFill>
              <a:schemeClr val="bg1"/>
            </a:solidFill>
          </a:ln>
        </p:spPr>
        <p:txBody>
          <a:bodyPr wrap="square" lIns="131445" tIns="65723" rIns="131445" bIns="65723" rtlCol="0" anchor="t">
            <a:noAutofit/>
          </a:bodyPr>
          <a:lstStyle/>
          <a:p>
            <a:pPr marL="0" indent="0" algn="just">
              <a:lnSpc>
                <a:spcPct val="100000"/>
              </a:lnSpc>
              <a:spcAft>
                <a:spcPts val="300"/>
              </a:spcAft>
            </a:pPr>
            <a:r>
              <a:rPr sz="2100" b="1" i="0">
                <a:solidFill>
                  <a:srgbClr val="000000"/>
                </a:solidFill>
                <a:latin typeface="Times New Roman"/>
              </a:rPr>
              <a:t>Background:</a:t>
            </a:r>
            <a:r>
              <a:rPr sz="2100" b="0" i="0">
                <a:solidFill>
                  <a:srgbClr val="000000"/>
                </a:solidFill>
                <a:latin typeface="Times New Roman"/>
              </a:rPr>
              <a:t> High-fructose corn syrup (HFCS) is a widely used caloric sweetener in the U.S. food supply, but product-level data on its prevalence are limited. Ingredient lists do not specify amounts, and nutrient databases do not distinguish among types of added sugars.</a:t>
            </a:r>
          </a:p>
          <a:p>
            <a:pPr marL="0" indent="0" algn="just">
              <a:lnSpc>
                <a:spcPct val="100000"/>
              </a:lnSpc>
              <a:spcAft>
                <a:spcPts val="300"/>
              </a:spcAft>
            </a:pPr>
            <a:r>
              <a:rPr sz="2100" b="1" i="0">
                <a:solidFill>
                  <a:srgbClr val="000000"/>
                </a:solidFill>
                <a:latin typeface="Times New Roman"/>
              </a:rPr>
              <a:t>Objectives:</a:t>
            </a:r>
            <a:r>
              <a:rPr sz="2100" b="0" i="0">
                <a:solidFill>
                  <a:srgbClr val="000000"/>
                </a:solidFill>
                <a:latin typeface="Times New Roman"/>
              </a:rPr>
              <a:t> To estimate the prevalence of HFCS as a listed ingredient in U.S. branded food products and to establish a reproducible baseline for future surveillance.</a:t>
            </a:r>
          </a:p>
          <a:p>
            <a:pPr marL="0" indent="0" algn="just">
              <a:lnSpc>
                <a:spcPct val="100000"/>
              </a:lnSpc>
              <a:spcAft>
                <a:spcPts val="300"/>
              </a:spcAft>
            </a:pPr>
            <a:r>
              <a:rPr sz="2100" b="1" i="0">
                <a:solidFill>
                  <a:srgbClr val="000000"/>
                </a:solidFill>
                <a:latin typeface="Times New Roman"/>
              </a:rPr>
              <a:t>Methods:</a:t>
            </a:r>
            <a:r>
              <a:rPr sz="2100" b="0" i="0">
                <a:solidFill>
                  <a:srgbClr val="000000"/>
                </a:solidFill>
                <a:latin typeface="Times New Roman"/>
              </a:rPr>
              <a:t> We conducted a retrospective, cross-sectional, descriptive analysis of the USDA FoodData Central Global Branded Food Products Database (GBFPD), covering products published between April 13, 2019, and December 13, 2025. The primary outcome was the proportion of eligible products listing HFCS as an ingredient. We used descriptive statistics (counts and percentages).</a:t>
            </a:r>
          </a:p>
          <a:p>
            <a:pPr marL="0" indent="0" algn="just">
              <a:lnSpc>
                <a:spcPct val="100000"/>
              </a:lnSpc>
              <a:spcAft>
                <a:spcPts val="300"/>
              </a:spcAft>
            </a:pPr>
            <a:r>
              <a:rPr sz="2100" b="1" i="0">
                <a:solidFill>
                  <a:srgbClr val="000000"/>
                </a:solidFill>
                <a:latin typeface="Times New Roman"/>
              </a:rPr>
              <a:t>Results:</a:t>
            </a:r>
            <a:r>
              <a:rPr sz="2100" b="0" i="0">
                <a:solidFill>
                  <a:srgbClr val="000000"/>
                </a:solidFill>
                <a:latin typeface="Times New Roman"/>
              </a:rPr>
              <a:t> Of 454,324 products identified, 447,607 were eligible for analysis. HFCS was listed as an ingredient in 29,503 products (6.6%), or about 1 in 15. The remaining 418,104 products (93.4%) did not list HFCS.</a:t>
            </a:r>
          </a:p>
          <a:p>
            <a:pPr marL="0" indent="0" algn="just">
              <a:lnSpc>
                <a:spcPct val="100000"/>
              </a:lnSpc>
              <a:spcAft>
                <a:spcPts val="300"/>
              </a:spcAft>
            </a:pPr>
            <a:r>
              <a:rPr sz="2100" b="1" i="0">
                <a:solidFill>
                  <a:srgbClr val="000000"/>
                </a:solidFill>
                <a:latin typeface="Times New Roman"/>
              </a:rPr>
              <a:t>Conclusions:</a:t>
            </a:r>
            <a:r>
              <a:rPr sz="2100" b="0" i="0">
                <a:solidFill>
                  <a:srgbClr val="000000"/>
                </a:solidFill>
                <a:latin typeface="Times New Roman"/>
              </a:rPr>
              <a:t> HFCS remains present in roughly 30,000 U.S. branded food products. Because we measured prevalence by product count rather than weighted by sales or intake, and could not quantify HFCS per product, these findings do not directly measure population exposure. They provide a reproducible baseline for monitoring reformulation and market change. Future work should link ingredient data to sales-weighted datasets and stratify by food category and trade channel.</a:t>
            </a:r>
          </a:p>
          <a:p>
            <a:pPr marL="0" indent="0" algn="just">
              <a:lnSpc>
                <a:spcPct val="100000"/>
              </a:lnSpc>
              <a:spcAft>
                <a:spcPts val="300"/>
              </a:spcAft>
            </a:pPr>
            <a:r>
              <a:rPr sz="2100" b="1" i="0">
                <a:solidFill>
                  <a:srgbClr val="000000"/>
                </a:solidFill>
                <a:latin typeface="Times New Roman"/>
              </a:rPr>
              <a:t>Keywords:</a:t>
            </a:r>
            <a:r>
              <a:rPr sz="2100" b="0" i="0">
                <a:solidFill>
                  <a:srgbClr val="000000"/>
                </a:solidFill>
                <a:latin typeface="Times New Roman"/>
              </a:rPr>
              <a:t> </a:t>
            </a:r>
            <a:r>
              <a:rPr sz="2100" b="0" i="1">
                <a:solidFill>
                  <a:srgbClr val="000000"/>
                </a:solidFill>
                <a:latin typeface="Times New Roman"/>
              </a:rPr>
              <a:t>high-fructose corn syrup; added sugars; branded foods; FoodData Central; food supply surveillance</a:t>
            </a:r>
          </a:p>
        </p:txBody>
      </p:sp>
      <p:sp>
        <p:nvSpPr>
          <p:cNvPr id="310" name="TextBox 309">
            <a:extLst>
              <a:ext uri="{FF2B5EF4-FFF2-40B4-BE49-F238E27FC236}">
                <a16:creationId xmlns:a16="http://schemas.microsoft.com/office/drawing/2014/main" id="{1747F5FB-C0E0-9E78-F84B-1D512F83536E}"/>
              </a:ext>
            </a:extLst>
          </p:cNvPr>
          <p:cNvSpPr txBox="1"/>
          <p:nvPr/>
        </p:nvSpPr>
        <p:spPr>
          <a:xfrm>
            <a:off x="685800" y="4087368"/>
            <a:ext cx="9427464" cy="868680"/>
          </a:xfrm>
          <a:prstGeom prst="rect">
            <a:avLst/>
          </a:prstGeom>
          <a:solidFill>
            <a:srgbClr val="0A254E"/>
          </a:solidFill>
          <a:ln>
            <a:solidFill>
              <a:schemeClr val="bg1"/>
            </a:solidFill>
          </a:ln>
        </p:spPr>
        <p:txBody>
          <a:bodyPr wrap="square" lIns="131445" tIns="65723" rIns="131445" bIns="65723" rtlCol="0">
            <a:spAutoFit/>
          </a:bodyPr>
          <a:lstStyle/>
          <a:p>
            <a:pPr algn="ctr"/>
            <a:r>
              <a:rPr lang="en-US" sz="4800" dirty="0">
                <a:latin typeface="Times New Roman"/>
                <a:cs typeface="Times New Roman"/>
              </a:rPr>
              <a:t>Abstract</a:t>
            </a:r>
            <a:endParaRPr lang="en-US" sz="6000" dirty="0">
              <a:latin typeface="Times New Roman"/>
              <a:cs typeface="Times New Roman"/>
            </a:endParaRPr>
          </a:p>
        </p:txBody>
      </p:sp>
      <p:sp>
        <p:nvSpPr>
          <p:cNvPr id="312" name="TextBox 311">
            <a:extLst>
              <a:ext uri="{FF2B5EF4-FFF2-40B4-BE49-F238E27FC236}">
                <a16:creationId xmlns:a16="http://schemas.microsoft.com/office/drawing/2014/main" id="{746F674E-FB28-8348-72E3-A91916401D8C}"/>
              </a:ext>
            </a:extLst>
          </p:cNvPr>
          <p:cNvSpPr txBox="1"/>
          <p:nvPr/>
        </p:nvSpPr>
        <p:spPr>
          <a:xfrm>
            <a:off x="685800" y="14374368"/>
            <a:ext cx="9427464" cy="7360920"/>
          </a:xfrm>
          <a:prstGeom prst="rect">
            <a:avLst/>
          </a:prstGeom>
          <a:solidFill>
            <a:schemeClr val="tx1"/>
          </a:solidFill>
          <a:ln>
            <a:solidFill>
              <a:schemeClr val="bg1"/>
            </a:solidFill>
          </a:ln>
        </p:spPr>
        <p:txBody>
          <a:bodyPr wrap="square" lIns="131445" tIns="65723" rIns="131445" bIns="65723" rtlCol="0" anchor="t">
            <a:noAutofit/>
          </a:bodyPr>
          <a:lstStyle/>
          <a:p>
            <a:pPr algn="just" marL="0" indent="0">
              <a:lnSpc>
                <a:spcPct val="100000"/>
              </a:lnSpc>
              <a:spcAft>
                <a:spcPts val="300"/>
              </a:spcAft>
            </a:pPr>
            <a:r>
              <a:rPr sz="2400" b="1" i="0">
                <a:solidFill>
                  <a:srgbClr val="000000"/>
                </a:solidFill>
                <a:latin typeface="Times New Roman"/>
              </a:rPr>
              <a:t>Introduction</a:t>
            </a:r>
          </a:p>
          <a:p>
            <a:pPr marL="0" indent="0" algn="just">
              <a:lnSpc>
                <a:spcPct val="100000"/>
              </a:lnSpc>
              <a:spcAft>
                <a:spcPts val="300"/>
              </a:spcAft>
            </a:pPr>
            <a:r>
              <a:rPr sz="2400" b="0" i="0">
                <a:solidFill>
                  <a:srgbClr val="000000"/>
                </a:solidFill>
                <a:latin typeface="Times New Roman"/>
              </a:rPr>
              <a:t>High-fructose corn syrup (HFCS) is a caloric sweetener made by enzymatically converting cornstarch into free fructose and glucose, used widely in soft drinks, baked goods, ready-to-eat meals, and condiments.</a:t>
            </a:r>
            <a:r>
              <a:rPr sz="2400" b="0" i="0" baseline="30000">
                <a:solidFill>
                  <a:srgbClr val="000000"/>
                </a:solidFill>
                <a:latin typeface="Times New Roman"/>
              </a:rPr>
              <a:t>1,2</a:t>
            </a:r>
            <a:r>
              <a:rPr sz="2400" b="0" i="0">
                <a:solidFill>
                  <a:srgbClr val="000000"/>
                </a:solidFill>
                <a:latin typeface="Times New Roman"/>
              </a:rPr>
              <a:t> Common blends are HFCS-55, mainly in soft drinks, and HFCS-42, mainly in processed foods.</a:t>
            </a:r>
            <a:r>
              <a:rPr sz="2400" b="0" i="0" baseline="30000">
                <a:solidFill>
                  <a:srgbClr val="000000"/>
                </a:solidFill>
                <a:latin typeface="Times New Roman"/>
              </a:rPr>
              <a:t>3</a:t>
            </a:r>
            <a:r>
              <a:rPr sz="2400" b="0" i="0">
                <a:solidFill>
                  <a:srgbClr val="000000"/>
                </a:solidFill>
                <a:latin typeface="Times New Roman"/>
              </a:rPr>
              <a:t> Low cost linked to domestic corn production drove its adoption in the U.S. food supply.</a:t>
            </a:r>
            <a:r>
              <a:rPr sz="2400" b="0" i="0" baseline="30000">
                <a:solidFill>
                  <a:srgbClr val="000000"/>
                </a:solidFill>
                <a:latin typeface="Times New Roman"/>
              </a:rPr>
              <a:t>4</a:t>
            </a:r>
            <a:r>
              <a:rPr sz="2400" b="0" i="0">
                <a:solidFill>
                  <a:srgbClr val="000000"/>
                </a:solidFill>
                <a:latin typeface="Times New Roman"/>
              </a:rPr>
              <a:t> HFCS-sweetened beverages increase liver fat and reduce insulin sensitivity,</a:t>
            </a:r>
            <a:r>
              <a:rPr sz="2400" b="0" i="0" baseline="30000">
                <a:solidFill>
                  <a:srgbClr val="000000"/>
                </a:solidFill>
                <a:latin typeface="Times New Roman"/>
              </a:rPr>
              <a:t>5</a:t>
            </a:r>
            <a:r>
              <a:rPr sz="2400" b="0" i="0">
                <a:solidFill>
                  <a:srgbClr val="000000"/>
                </a:solidFill>
                <a:latin typeface="Times New Roman"/>
              </a:rPr>
              <a:t> and excess free fructose may affect gut and metabolic health.</a:t>
            </a:r>
            <a:r>
              <a:rPr sz="2400" b="0" i="0" baseline="30000">
                <a:solidFill>
                  <a:srgbClr val="000000"/>
                </a:solidFill>
                <a:latin typeface="Times New Roman"/>
              </a:rPr>
              <a:t>6</a:t>
            </a:r>
            <a:r>
              <a:rPr sz="2400" b="0" i="0">
                <a:solidFill>
                  <a:srgbClr val="000000"/>
                </a:solidFill>
                <a:latin typeface="Times New Roman"/>
              </a:rPr>
              <a:t> The 2025–2030 Dietary Guidelines state that no amount of added sugars is recommended as part of a healthy diet.</a:t>
            </a:r>
            <a:r>
              <a:rPr sz="2400" b="0" i="0" baseline="30000">
                <a:solidFill>
                  <a:srgbClr val="000000"/>
                </a:solidFill>
                <a:latin typeface="Times New Roman"/>
              </a:rPr>
              <a:t>7</a:t>
            </a:r>
            <a:r>
              <a:rPr sz="2400" b="0" i="0">
                <a:solidFill>
                  <a:srgbClr val="000000"/>
                </a:solidFill>
                <a:latin typeface="Times New Roman"/>
              </a:rPr>
              <a:t> Yet ingredient lists do not give HFCS amounts, and nutrient databases do not separate types of added sugar, so product-level HFCS data are limited.</a:t>
            </a:r>
          </a:p>
          <a:p>
            <a:pPr marL="0" indent="0" algn="just">
              <a:lnSpc>
                <a:spcPct val="100000"/>
              </a:lnSpc>
              <a:spcAft>
                <a:spcPts val="300"/>
              </a:spcAft>
            </a:pPr>
            <a:r>
              <a:rPr sz="2400" b="1" i="0">
                <a:solidFill>
                  <a:srgbClr val="000000"/>
                </a:solidFill>
                <a:latin typeface="Times New Roman"/>
              </a:rPr>
              <a:t>Objective</a:t>
            </a:r>
          </a:p>
          <a:p>
            <a:pPr marL="0" indent="0" algn="just">
              <a:lnSpc>
                <a:spcPct val="100000"/>
              </a:lnSpc>
              <a:spcAft>
                <a:spcPts val="300"/>
              </a:spcAft>
            </a:pPr>
            <a:r>
              <a:rPr sz="2400" b="0" i="0">
                <a:solidFill>
                  <a:srgbClr val="000000"/>
                </a:solidFill>
                <a:latin typeface="Times New Roman"/>
              </a:rPr>
              <a:t>To estimate the prevalence of HFCS as a listed ingredient in U.S. branded food products and establish a reproducible baseline for future surveillance.</a:t>
            </a:r>
          </a:p>
          <a:p>
            <a:pPr marL="0" indent="0" algn="just">
              <a:lnSpc>
                <a:spcPct val="100000"/>
              </a:lnSpc>
              <a:spcAft>
                <a:spcPts val="300"/>
              </a:spcAft>
            </a:pPr>
            <a:r>
              <a:rPr sz="2400" b="1" i="0">
                <a:solidFill>
                  <a:srgbClr val="000000"/>
                </a:solidFill>
                <a:latin typeface="Times New Roman"/>
              </a:rPr>
              <a:t>Research Question</a:t>
            </a:r>
          </a:p>
          <a:p>
            <a:pPr marL="0" indent="0" algn="just">
              <a:lnSpc>
                <a:spcPct val="100000"/>
              </a:lnSpc>
              <a:spcAft>
                <a:spcPts val="300"/>
              </a:spcAft>
            </a:pPr>
            <a:r>
              <a:rPr sz="2400" b="0" i="0">
                <a:solidFill>
                  <a:srgbClr val="000000"/>
                </a:solidFill>
                <a:latin typeface="Times New Roman"/>
              </a:rPr>
              <a:t>What proportion of U.S. branded food products list HFCS as an ingredient?</a:t>
            </a:r>
          </a:p>
        </p:txBody>
      </p:sp>
      <p:sp>
        <p:nvSpPr>
          <p:cNvPr id="313" name="TextBox 312">
            <a:extLst>
              <a:ext uri="{FF2B5EF4-FFF2-40B4-BE49-F238E27FC236}">
                <a16:creationId xmlns:a16="http://schemas.microsoft.com/office/drawing/2014/main" id="{6DDFC9D8-2135-B804-986E-91DCE8E7F20A}"/>
              </a:ext>
            </a:extLst>
          </p:cNvPr>
          <p:cNvSpPr txBox="1"/>
          <p:nvPr/>
        </p:nvSpPr>
        <p:spPr>
          <a:xfrm>
            <a:off x="685800" y="13002768"/>
            <a:ext cx="9427464" cy="1371600"/>
          </a:xfrm>
          <a:prstGeom prst="rect">
            <a:avLst/>
          </a:prstGeom>
          <a:solidFill>
            <a:srgbClr val="0A254E"/>
          </a:solidFill>
          <a:ln>
            <a:solidFill>
              <a:schemeClr val="bg1"/>
            </a:solidFill>
          </a:ln>
        </p:spPr>
        <p:txBody>
          <a:bodyPr wrap="square" lIns="131445" tIns="65723" rIns="131445" bIns="65723" rtlCol="0" anchor="ctr">
            <a:noAutofit/>
          </a:bodyPr>
          <a:lstStyle/>
          <a:p>
            <a:pPr algn="ctr"/>
            <a:r>
              <a:rPr lang="en-US" sz="4800" dirty="0">
                <a:latin typeface="Times New Roman"/>
                <a:cs typeface="Times New Roman"/>
              </a:rPr>
              <a:t>Introduction, Objective, and Research Question</a:t>
            </a:r>
            <a:endParaRPr lang="en-US" sz="6000" dirty="0">
              <a:latin typeface="Times New Roman"/>
              <a:cs typeface="Times New Roman"/>
            </a:endParaRPr>
          </a:p>
        </p:txBody>
      </p:sp>
      <p:sp>
        <p:nvSpPr>
          <p:cNvPr id="316" name="TextBox 315">
            <a:extLst>
              <a:ext uri="{FF2B5EF4-FFF2-40B4-BE49-F238E27FC236}">
                <a16:creationId xmlns:a16="http://schemas.microsoft.com/office/drawing/2014/main" id="{BC19B682-B6AF-9A71-5C4D-B2D1BE476405}"/>
              </a:ext>
            </a:extLst>
          </p:cNvPr>
          <p:cNvSpPr txBox="1"/>
          <p:nvPr/>
        </p:nvSpPr>
        <p:spPr>
          <a:xfrm>
            <a:off x="685800" y="22009608"/>
            <a:ext cx="9427464" cy="868680"/>
          </a:xfrm>
          <a:prstGeom prst="rect">
            <a:avLst/>
          </a:prstGeom>
          <a:solidFill>
            <a:srgbClr val="0A254E"/>
          </a:solidFill>
          <a:ln>
            <a:solidFill>
              <a:schemeClr val="bg1"/>
            </a:solidFill>
          </a:ln>
        </p:spPr>
        <p:txBody>
          <a:bodyPr wrap="square" lIns="131445" tIns="65723" rIns="131445" bIns="65723" rtlCol="0" anchor="ctr">
            <a:noAutofit/>
          </a:bodyPr>
          <a:lstStyle/>
          <a:p>
            <a:pPr algn="ctr"/>
            <a:r>
              <a:rPr lang="en-US" sz="4800" dirty="0">
                <a:latin typeface="Times New Roman"/>
                <a:cs typeface="Times New Roman"/>
              </a:rPr>
              <a:t>Methods</a:t>
            </a:r>
            <a:endParaRPr lang="en-US" sz="6000" dirty="0">
              <a:latin typeface="Times New Roman"/>
              <a:cs typeface="Times New Roman"/>
            </a:endParaRPr>
          </a:p>
        </p:txBody>
      </p:sp>
      <p:sp>
        <p:nvSpPr>
          <p:cNvPr id="321" name="TextBox 320">
            <a:extLst>
              <a:ext uri="{FF2B5EF4-FFF2-40B4-BE49-F238E27FC236}">
                <a16:creationId xmlns:a16="http://schemas.microsoft.com/office/drawing/2014/main" id="{CB19DFF1-BA24-B68B-4652-0F80775C03FA}"/>
              </a:ext>
            </a:extLst>
          </p:cNvPr>
          <p:cNvSpPr txBox="1"/>
          <p:nvPr/>
        </p:nvSpPr>
        <p:spPr>
          <a:xfrm>
            <a:off x="34006536" y="20729448"/>
            <a:ext cx="9253728" cy="6126480"/>
          </a:xfrm>
          <a:prstGeom prst="rect">
            <a:avLst/>
          </a:prstGeom>
          <a:solidFill>
            <a:srgbClr val="FFFFFF"/>
          </a:solidFill>
          <a:ln cap="rnd">
            <a:solidFill>
              <a:schemeClr val="bg1"/>
            </a:solidFill>
          </a:ln>
        </p:spPr>
        <p:txBody>
          <a:bodyPr wrap="square" lIns="182880" rIns="182880" rtlCol="0" anchor="t">
            <a:noAutofit/>
          </a:bodyPr>
          <a:lstStyle/>
          <a:p>
            <a:pPr marL="0" indent="0" algn="just">
              <a:lnSpc>
                <a:spcPct val="100000"/>
              </a:lnSpc>
              <a:spcAft>
                <a:spcPts val="300"/>
              </a:spcAft>
            </a:pPr>
            <a:r>
              <a:rPr sz="2400" b="1" i="0">
                <a:solidFill>
                  <a:srgbClr val="000000"/>
                </a:solidFill>
                <a:latin typeface="Times New Roman"/>
              </a:rPr>
              <a:t>Public Health Implications</a:t>
            </a:r>
          </a:p>
          <a:p>
            <a:pPr algn="l" marL="274320" indent="-274320">
              <a:lnSpc>
                <a:spcPct val="100000"/>
              </a:lnSpc>
              <a:spcAft>
                <a:spcPts val="300"/>
              </a:spcAft>
            </a:pPr>
            <a:r>
              <a:rPr sz="2400" b="0" i="0">
                <a:solidFill>
                  <a:srgbClr val="000000"/>
                </a:solidFill>
                <a:latin typeface="Times New Roman"/>
              </a:rPr>
              <a:t>• Use ingredient-level surveillance to track HFCS and added sugars in branded foods</a:t>
            </a:r>
          </a:p>
          <a:p>
            <a:pPr algn="l" marL="274320" indent="-274320">
              <a:lnSpc>
                <a:spcPct val="100000"/>
              </a:lnSpc>
              <a:spcAft>
                <a:spcPts val="300"/>
              </a:spcAft>
            </a:pPr>
            <a:r>
              <a:rPr sz="2400" b="0" i="0">
                <a:solidFill>
                  <a:srgbClr val="000000"/>
                </a:solidFill>
                <a:latin typeface="Times New Roman"/>
              </a:rPr>
              <a:t>• Target reformulation where HFCS is concentrated</a:t>
            </a:r>
          </a:p>
          <a:p>
            <a:pPr algn="l" marL="274320" indent="-274320">
              <a:lnSpc>
                <a:spcPct val="100000"/>
              </a:lnSpc>
              <a:spcAft>
                <a:spcPts val="300"/>
              </a:spcAft>
            </a:pPr>
            <a:r>
              <a:rPr sz="2400" b="0" i="0">
                <a:solidFill>
                  <a:srgbClr val="000000"/>
                </a:solidFill>
                <a:latin typeface="Times New Roman"/>
              </a:rPr>
              <a:t>• Inform procurement standards in food service and child nutrition programs</a:t>
            </a:r>
          </a:p>
          <a:p>
            <a:pPr algn="l" marL="274320" indent="-274320">
              <a:lnSpc>
                <a:spcPct val="100000"/>
              </a:lnSpc>
              <a:spcAft>
                <a:spcPts val="300"/>
              </a:spcAft>
            </a:pPr>
            <a:r>
              <a:rPr sz="2400" b="0" i="0">
                <a:solidFill>
                  <a:srgbClr val="000000"/>
                </a:solidFill>
                <a:latin typeface="Times New Roman"/>
              </a:rPr>
              <a:t>• Support consumer education on reading ingredient lists</a:t>
            </a:r>
          </a:p>
          <a:p>
            <a:pPr algn="l" marL="274320" indent="-274320">
              <a:lnSpc>
                <a:spcPct val="100000"/>
              </a:lnSpc>
              <a:spcAft>
                <a:spcPts val="300"/>
              </a:spcAft>
            </a:pPr>
            <a:r>
              <a:rPr sz="2400" b="0" i="0">
                <a:solidFill>
                  <a:srgbClr val="000000"/>
                </a:solidFill>
                <a:latin typeface="Times New Roman"/>
              </a:rPr>
              <a:t>• Align monitoring with the 2025–2030 Dietary Guidelines</a:t>
            </a:r>
            <a:r>
              <a:rPr sz="2400" b="0" i="0" baseline="30000">
                <a:solidFill>
                  <a:srgbClr val="000000"/>
                </a:solidFill>
                <a:latin typeface="Times New Roman"/>
              </a:rPr>
              <a:t>7</a:t>
            </a:r>
            <a:r>
              <a:rPr sz="2400" b="0" i="0">
                <a:solidFill>
                  <a:srgbClr val="000000"/>
                </a:solidFill>
                <a:latin typeface="Times New Roman"/>
              </a:rPr>
              <a:t> and added-sugar labeling</a:t>
            </a:r>
            <a:r>
              <a:rPr sz="2400" b="0" i="0" baseline="30000">
                <a:solidFill>
                  <a:srgbClr val="000000"/>
                </a:solidFill>
                <a:latin typeface="Times New Roman"/>
              </a:rPr>
              <a:t>14</a:t>
            </a:r>
          </a:p>
          <a:p>
            <a:pPr marL="0" indent="0" algn="just">
              <a:lnSpc>
                <a:spcPct val="100000"/>
              </a:lnSpc>
              <a:spcAft>
                <a:spcPts val="300"/>
              </a:spcAft>
            </a:pPr>
            <a:r>
              <a:rPr sz="2400" b="1" i="0">
                <a:solidFill>
                  <a:srgbClr val="000000"/>
                </a:solidFill>
                <a:latin typeface="Times New Roman"/>
              </a:rPr>
              <a:t>Future Work</a:t>
            </a:r>
          </a:p>
          <a:p>
            <a:pPr algn="l" marL="274320" indent="-274320">
              <a:lnSpc>
                <a:spcPct val="100000"/>
              </a:lnSpc>
              <a:spcAft>
                <a:spcPts val="300"/>
              </a:spcAft>
            </a:pPr>
            <a:r>
              <a:rPr sz="2400" b="0" i="0">
                <a:solidFill>
                  <a:srgbClr val="000000"/>
                </a:solidFill>
                <a:latin typeface="Times New Roman"/>
              </a:rPr>
              <a:t>• Link ingredient data to sales-weighted or scanner data to estimate exposure</a:t>
            </a:r>
          </a:p>
          <a:p>
            <a:pPr algn="l" marL="274320" indent="-274320">
              <a:lnSpc>
                <a:spcPct val="100000"/>
              </a:lnSpc>
              <a:spcAft>
                <a:spcPts val="300"/>
              </a:spcAft>
            </a:pPr>
            <a:r>
              <a:rPr sz="2400" b="0" i="0">
                <a:solidFill>
                  <a:srgbClr val="000000"/>
                </a:solidFill>
                <a:latin typeface="Times New Roman"/>
              </a:rPr>
              <a:t>• Stratify prevalence by food category and trade channel</a:t>
            </a:r>
          </a:p>
          <a:p>
            <a:pPr algn="l" marL="274320" indent="-274320">
              <a:lnSpc>
                <a:spcPct val="100000"/>
              </a:lnSpc>
              <a:spcAft>
                <a:spcPts val="300"/>
              </a:spcAft>
            </a:pPr>
            <a:r>
              <a:rPr sz="2400" b="0" i="0">
                <a:solidFill>
                  <a:srgbClr val="000000"/>
                </a:solidFill>
                <a:latin typeface="Times New Roman"/>
              </a:rPr>
              <a:t>• Compare HFCS with other added sugars in the same database</a:t>
            </a:r>
          </a:p>
          <a:p>
            <a:pPr algn="l" marL="274320" indent="-274320">
              <a:lnSpc>
                <a:spcPct val="100000"/>
              </a:lnSpc>
              <a:spcAft>
                <a:spcPts val="300"/>
              </a:spcAft>
            </a:pPr>
            <a:r>
              <a:rPr sz="2400" b="0" i="0">
                <a:solidFill>
                  <a:srgbClr val="000000"/>
                </a:solidFill>
                <a:latin typeface="Times New Roman"/>
              </a:rPr>
              <a:t>• Repeat over time and validate a random sample of records</a:t>
            </a:r>
          </a:p>
        </p:txBody>
      </p:sp>
      <p:sp>
        <p:nvSpPr>
          <p:cNvPr id="322" name="TextBox 321">
            <a:extLst>
              <a:ext uri="{FF2B5EF4-FFF2-40B4-BE49-F238E27FC236}">
                <a16:creationId xmlns:a16="http://schemas.microsoft.com/office/drawing/2014/main" id="{FF9BD680-0755-89B6-9224-48721A47729A}"/>
              </a:ext>
            </a:extLst>
          </p:cNvPr>
          <p:cNvSpPr txBox="1"/>
          <p:nvPr/>
        </p:nvSpPr>
        <p:spPr>
          <a:xfrm>
            <a:off x="34006536" y="19357848"/>
            <a:ext cx="9253728" cy="1371600"/>
          </a:xfrm>
          <a:prstGeom prst="rect">
            <a:avLst/>
          </a:prstGeom>
          <a:solidFill>
            <a:srgbClr val="0A254E"/>
          </a:solidFill>
          <a:ln>
            <a:solidFill>
              <a:schemeClr val="bg1"/>
            </a:solidFill>
          </a:ln>
        </p:spPr>
        <p:txBody>
          <a:bodyPr wrap="square" lIns="131445" tIns="65723" rIns="131445" bIns="65723" rtlCol="0" anchor="ctr">
            <a:noAutofit/>
          </a:bodyPr>
          <a:lstStyle/>
          <a:p>
            <a:pPr algn="ctr"/>
            <a:r>
              <a:rPr lang="en-US" sz="4800" dirty="0">
                <a:latin typeface="Times New Roman"/>
                <a:cs typeface="Garamond"/>
              </a:rPr>
              <a:t>Public Health Implications and Future Work</a:t>
            </a:r>
            <a:endParaRPr lang="en-US" sz="6000" dirty="0">
              <a:latin typeface="Garamond"/>
              <a:cs typeface="Garamond"/>
            </a:endParaRPr>
          </a:p>
        </p:txBody>
      </p:sp>
      <p:sp>
        <p:nvSpPr>
          <p:cNvPr id="323" name="TextBox 322">
            <a:extLst>
              <a:ext uri="{FF2B5EF4-FFF2-40B4-BE49-F238E27FC236}">
                <a16:creationId xmlns:a16="http://schemas.microsoft.com/office/drawing/2014/main" id="{791F62C8-B471-7647-1C58-7FE1BB1C1D01}"/>
              </a:ext>
            </a:extLst>
          </p:cNvPr>
          <p:cNvSpPr txBox="1"/>
          <p:nvPr/>
        </p:nvSpPr>
        <p:spPr>
          <a:xfrm>
            <a:off x="34006536" y="27130248"/>
            <a:ext cx="9253728" cy="868680"/>
          </a:xfrm>
          <a:prstGeom prst="rect">
            <a:avLst/>
          </a:prstGeom>
          <a:solidFill>
            <a:srgbClr val="0A254E"/>
          </a:solidFill>
          <a:ln>
            <a:solidFill>
              <a:schemeClr val="bg1"/>
            </a:solidFill>
          </a:ln>
        </p:spPr>
        <p:txBody>
          <a:bodyPr wrap="square" lIns="131445" tIns="65723" rIns="131445" bIns="65723" rtlCol="0" anchor="ctr">
            <a:noAutofit/>
          </a:bodyPr>
          <a:lstStyle/>
          <a:p>
            <a:pPr algn="ctr"/>
            <a:r>
              <a:rPr lang="en-US" sz="4800" dirty="0">
                <a:latin typeface="Times New Roman"/>
                <a:cs typeface="Times New Roman"/>
              </a:rPr>
              <a:t>References</a:t>
            </a:r>
            <a:endParaRPr lang="en-US" sz="6000" dirty="0">
              <a:latin typeface="Times New Roman"/>
              <a:cs typeface="Times New Roman"/>
            </a:endParaRPr>
          </a:p>
        </p:txBody>
      </p:sp>
      <p:sp>
        <p:nvSpPr>
          <p:cNvPr id="325" name="TextBox 324">
            <a:extLst>
              <a:ext uri="{FF2B5EF4-FFF2-40B4-BE49-F238E27FC236}">
                <a16:creationId xmlns:a16="http://schemas.microsoft.com/office/drawing/2014/main" id="{C035F57E-62DB-372A-C78A-9EAA827DE73E}"/>
              </a:ext>
            </a:extLst>
          </p:cNvPr>
          <p:cNvSpPr txBox="1"/>
          <p:nvPr/>
        </p:nvSpPr>
        <p:spPr>
          <a:xfrm>
            <a:off x="34006536" y="5458968"/>
            <a:ext cx="9253728" cy="13624560"/>
          </a:xfrm>
          <a:prstGeom prst="rect">
            <a:avLst/>
          </a:prstGeom>
          <a:solidFill>
            <a:srgbClr val="FFFFFF"/>
          </a:solidFill>
          <a:ln cap="rnd">
            <a:solidFill>
              <a:schemeClr val="bg1"/>
            </a:solidFill>
          </a:ln>
        </p:spPr>
        <p:txBody>
          <a:bodyPr wrap="square" lIns="182880" rIns="182880" rtlCol="0" anchor="t">
            <a:noAutofit/>
          </a:bodyPr>
          <a:lstStyle/>
          <a:p>
            <a:pPr algn="just" marL="0" indent="0">
              <a:lnSpc>
                <a:spcPct val="100000"/>
              </a:lnSpc>
              <a:spcAft>
                <a:spcPts val="300"/>
              </a:spcAft>
            </a:pPr>
            <a:r>
              <a:rPr sz="2500" b="1" i="0">
                <a:solidFill>
                  <a:srgbClr val="000000"/>
                </a:solidFill>
                <a:latin typeface="Times New Roman"/>
              </a:rPr>
              <a:t>Results</a:t>
            </a:r>
            <a:endParaRPr lang="en-US" sz="1800" dirty="0">
              <a:latin typeface="Garamond"/>
              <a:cs typeface="Garamond"/>
            </a:endParaRPr>
          </a:p>
          <a:p>
            <a:pPr marL="0" indent="0" algn="just">
              <a:lnSpc>
                <a:spcPct val="100000"/>
              </a:lnSpc>
              <a:spcAft>
                <a:spcPts val="300"/>
              </a:spcAft>
            </a:pPr>
            <a:r>
              <a:rPr sz="2500" b="0" i="0">
                <a:solidFill>
                  <a:srgbClr val="000000"/>
                </a:solidFill>
                <a:latin typeface="Times New Roman"/>
              </a:rPr>
              <a:t>Of 454,324 products identified, 6,717 were excluded, leaving 447,607 eligible U.S. branded products (Figure 1). HFCS was listed in </a:t>
            </a:r>
            <a:r>
              <a:rPr sz="2500" b="1" i="0">
                <a:solidFill>
                  <a:srgbClr val="000000"/>
                </a:solidFill>
                <a:latin typeface="Times New Roman"/>
              </a:rPr>
              <a:t>29,503 products (6.6%)</a:t>
            </a:r>
            <a:r>
              <a:rPr sz="2500" b="0" i="0">
                <a:solidFill>
                  <a:srgbClr val="000000"/>
                </a:solidFill>
                <a:latin typeface="Times New Roman"/>
              </a:rPr>
              <a:t>, about 1 in every 15; 418,104 (93.4%) did not list HFCS (Figure 2). Excluded records made up 1.5% of all products identified.</a:t>
            </a:r>
          </a:p>
          <a:p>
            <a:pPr marL="0" indent="0" algn="just">
              <a:lnSpc>
                <a:spcPct val="100000"/>
              </a:lnSpc>
              <a:spcAft>
                <a:spcPts val="300"/>
              </a:spcAft>
            </a:pPr>
            <a:r>
              <a:rPr sz="2500" b="1" i="0">
                <a:solidFill>
                  <a:srgbClr val="000000"/>
                </a:solidFill>
                <a:latin typeface="Times New Roman"/>
              </a:rPr>
              <a:t>Discussion</a:t>
            </a:r>
          </a:p>
          <a:p>
            <a:pPr marL="0" indent="0" algn="just">
              <a:lnSpc>
                <a:spcPct val="100000"/>
              </a:lnSpc>
              <a:spcAft>
                <a:spcPts val="300"/>
              </a:spcAft>
            </a:pPr>
            <a:r>
              <a:rPr sz="2500" b="0" i="0">
                <a:solidFill>
                  <a:srgbClr val="000000"/>
                </a:solidFill>
                <a:latin typeface="Times New Roman"/>
              </a:rPr>
              <a:t>HFCS appeared in a minority of products, yet its presence in nearly 30,000 items shows it remains embedded in the U.S. food supply. A 6.6% product share is not low exposure: counts are not sales-weighted, and HFCS may cluster in high-consumption foods such as sweetened beverages, desserts, and condiments. HFCS use grew rapidly after the 1970s,</a:t>
            </a:r>
            <a:r>
              <a:rPr sz="2500" b="0" i="0" baseline="30000">
                <a:solidFill>
                  <a:srgbClr val="000000"/>
                </a:solidFill>
                <a:latin typeface="Times New Roman"/>
              </a:rPr>
              <a:t>4</a:t>
            </a:r>
            <a:r>
              <a:rPr sz="2500" b="0" i="0">
                <a:solidFill>
                  <a:srgbClr val="000000"/>
                </a:solidFill>
                <a:latin typeface="Times New Roman"/>
              </a:rPr>
              <a:t> and although per capita corn sweetener availability has fallen 38% since its 1999 peak (Figure 4),</a:t>
            </a:r>
            <a:r>
              <a:rPr sz="2500" b="0" i="0" baseline="30000">
                <a:solidFill>
                  <a:srgbClr val="000000"/>
                </a:solidFill>
                <a:latin typeface="Times New Roman"/>
              </a:rPr>
              <a:t>10</a:t>
            </a:r>
            <a:r>
              <a:rPr sz="2500" b="0" i="0">
                <a:solidFill>
                  <a:srgbClr val="000000"/>
                </a:solidFill>
                <a:latin typeface="Times New Roman"/>
              </a:rPr>
              <a:t> HFCS remains common. Ultra-processed foods supply 89.7% of energy from added sugars in the U.S. diet,</a:t>
            </a:r>
            <a:r>
              <a:rPr sz="2500" b="0" i="0" baseline="30000">
                <a:solidFill>
                  <a:srgbClr val="000000"/>
                </a:solidFill>
                <a:latin typeface="Times New Roman"/>
              </a:rPr>
              <a:t>11</a:t>
            </a:r>
            <a:r>
              <a:rPr sz="2500" b="0" i="0">
                <a:solidFill>
                  <a:srgbClr val="000000"/>
                </a:solidFill>
                <a:latin typeface="Times New Roman"/>
              </a:rPr>
              <a:t> and sugar-sweetened beverages are linked to weight gain in children and adults.</a:t>
            </a:r>
            <a:r>
              <a:rPr sz="2500" b="0" i="0" baseline="30000">
                <a:solidFill>
                  <a:srgbClr val="000000"/>
                </a:solidFill>
                <a:latin typeface="Times New Roman"/>
              </a:rPr>
              <a:t>12</a:t>
            </a:r>
            <a:r>
              <a:rPr sz="2500" b="0" i="0">
                <a:solidFill>
                  <a:srgbClr val="000000"/>
                </a:solidFill>
                <a:latin typeface="Times New Roman"/>
              </a:rPr>
              <a:t> HFCS and sucrose have similar metabolic effects at equal intake,</a:t>
            </a:r>
            <a:r>
              <a:rPr sz="2500" b="0" i="0" baseline="30000">
                <a:solidFill>
                  <a:srgbClr val="000000"/>
                </a:solidFill>
                <a:latin typeface="Times New Roman"/>
              </a:rPr>
              <a:t>13</a:t>
            </a:r>
            <a:r>
              <a:rPr sz="2500" b="0" i="0">
                <a:solidFill>
                  <a:srgbClr val="000000"/>
                </a:solidFill>
                <a:latin typeface="Times New Roman"/>
              </a:rPr>
              <a:t> so total added sugar is the core concern.</a:t>
            </a:r>
          </a:p>
          <a:p>
            <a:pPr marL="0" indent="0" algn="just">
              <a:lnSpc>
                <a:spcPct val="100000"/>
              </a:lnSpc>
              <a:spcAft>
                <a:spcPts val="300"/>
              </a:spcAft>
            </a:pPr>
            <a:r>
              <a:rPr sz="2500" b="1" i="0">
                <a:solidFill>
                  <a:srgbClr val="000000"/>
                </a:solidFill>
                <a:latin typeface="Times New Roman"/>
              </a:rPr>
              <a:t>Conclusion</a:t>
            </a:r>
          </a:p>
          <a:p>
            <a:pPr marL="0" indent="0" algn="just">
              <a:lnSpc>
                <a:spcPct val="100000"/>
              </a:lnSpc>
              <a:spcAft>
                <a:spcPts val="300"/>
              </a:spcAft>
            </a:pPr>
            <a:r>
              <a:rPr sz="2500" b="0" i="0">
                <a:solidFill>
                  <a:srgbClr val="000000"/>
                </a:solidFill>
                <a:latin typeface="Times New Roman"/>
              </a:rPr>
              <a:t>HFCS is listed in 6.6% of U.S. branded food products, nearly 30,000 items. This reproducible baseline supports surveillance of HFCS and added sugars, evaluation of reformulation, and policy efforts to reduce added sugar.</a:t>
            </a:r>
          </a:p>
          <a:p>
            <a:pPr marL="0" indent="0" algn="just">
              <a:lnSpc>
                <a:spcPct val="100000"/>
              </a:lnSpc>
              <a:spcAft>
                <a:spcPts val="300"/>
              </a:spcAft>
            </a:pPr>
            <a:r>
              <a:rPr sz="2500" b="1" i="0">
                <a:solidFill>
                  <a:srgbClr val="000000"/>
                </a:solidFill>
                <a:latin typeface="Times New Roman"/>
              </a:rPr>
              <a:t>Limitations</a:t>
            </a:r>
          </a:p>
          <a:p>
            <a:pPr algn="l" marL="274320" indent="-274320">
              <a:lnSpc>
                <a:spcPct val="100000"/>
              </a:lnSpc>
              <a:spcAft>
                <a:spcPts val="300"/>
              </a:spcAft>
            </a:pPr>
            <a:r>
              <a:rPr sz="2500" b="0" i="0">
                <a:solidFill>
                  <a:srgbClr val="000000"/>
                </a:solidFill>
                <a:latin typeface="Times New Roman"/>
              </a:rPr>
              <a:t>• </a:t>
            </a:r>
            <a:r>
              <a:rPr sz="2500" b="1" i="0">
                <a:solidFill>
                  <a:srgbClr val="000000"/>
                </a:solidFill>
                <a:latin typeface="Times New Roman"/>
              </a:rPr>
              <a:t>Presence only:</a:t>
            </a:r>
            <a:r>
              <a:rPr sz="2500" b="0" i="0">
                <a:solidFill>
                  <a:srgbClr val="000000"/>
                </a:solidFill>
                <a:latin typeface="Times New Roman"/>
              </a:rPr>
              <a:t> no amount per product or intake; counts are not sales-weighted</a:t>
            </a:r>
          </a:p>
          <a:p>
            <a:pPr algn="l" marL="274320" indent="-274320">
              <a:lnSpc>
                <a:spcPct val="100000"/>
              </a:lnSpc>
              <a:spcAft>
                <a:spcPts val="300"/>
              </a:spcAft>
            </a:pPr>
            <a:r>
              <a:rPr sz="2500" b="0" i="0">
                <a:solidFill>
                  <a:srgbClr val="000000"/>
                </a:solidFill>
                <a:latin typeface="Times New Roman"/>
              </a:rPr>
              <a:t>• </a:t>
            </a:r>
            <a:r>
              <a:rPr sz="2500" b="1" i="0">
                <a:solidFill>
                  <a:srgbClr val="000000"/>
                </a:solidFill>
                <a:latin typeface="Times New Roman"/>
              </a:rPr>
              <a:t>Industry-supplied data:</a:t>
            </a:r>
            <a:r>
              <a:rPr sz="2500" b="0" i="0">
                <a:solidFill>
                  <a:srgbClr val="000000"/>
                </a:solidFill>
                <a:latin typeface="Times New Roman"/>
              </a:rPr>
              <a:t> quality and completeness vary by contributor</a:t>
            </a:r>
          </a:p>
          <a:p>
            <a:pPr algn="l" marL="274320" indent="-274320">
              <a:lnSpc>
                <a:spcPct val="100000"/>
              </a:lnSpc>
              <a:spcAft>
                <a:spcPts val="300"/>
              </a:spcAft>
            </a:pPr>
            <a:r>
              <a:rPr sz="2500" b="0" i="0">
                <a:solidFill>
                  <a:srgbClr val="000000"/>
                </a:solidFill>
                <a:latin typeface="Times New Roman"/>
              </a:rPr>
              <a:t>• </a:t>
            </a:r>
            <a:r>
              <a:rPr sz="2500" b="1" i="0">
                <a:solidFill>
                  <a:srgbClr val="000000"/>
                </a:solidFill>
                <a:latin typeface="Times New Roman"/>
              </a:rPr>
              <a:t>Search terms:</a:t>
            </a:r>
            <a:r>
              <a:rPr sz="2500" b="0" i="0">
                <a:solidFill>
                  <a:srgbClr val="000000"/>
                </a:solidFill>
                <a:latin typeface="Times New Roman"/>
              </a:rPr>
              <a:t> words need not be adjacent (possible over-count); other names such as “glucose-fructose syrup” are missed (possible under-count)</a:t>
            </a:r>
          </a:p>
          <a:p>
            <a:pPr algn="l" marL="274320" indent="-274320">
              <a:lnSpc>
                <a:spcPct val="100000"/>
              </a:lnSpc>
              <a:spcAft>
                <a:spcPts val="300"/>
              </a:spcAft>
            </a:pPr>
            <a:r>
              <a:rPr sz="2500" b="0" i="0">
                <a:solidFill>
                  <a:srgbClr val="000000"/>
                </a:solidFill>
                <a:latin typeface="Times New Roman"/>
              </a:rPr>
              <a:t>• </a:t>
            </a:r>
            <a:r>
              <a:rPr sz="2500" b="1" i="0">
                <a:solidFill>
                  <a:srgbClr val="000000"/>
                </a:solidFill>
                <a:latin typeface="Times New Roman"/>
              </a:rPr>
              <a:t>Item-level records:</a:t>
            </a:r>
            <a:r>
              <a:rPr sz="2500" b="0" i="0">
                <a:solidFill>
                  <a:srgbClr val="000000"/>
                </a:solidFill>
                <a:latin typeface="Times New Roman"/>
              </a:rPr>
              <a:t> package sizes counted separately; some products may be discontinued</a:t>
            </a:r>
          </a:p>
        </p:txBody>
      </p:sp>
      <p:sp>
        <p:nvSpPr>
          <p:cNvPr id="326" name="TextBox 325">
            <a:extLst>
              <a:ext uri="{FF2B5EF4-FFF2-40B4-BE49-F238E27FC236}">
                <a16:creationId xmlns:a16="http://schemas.microsoft.com/office/drawing/2014/main" id="{2270543F-2128-4E8D-CCFD-F12E4C7A64FC}"/>
              </a:ext>
            </a:extLst>
          </p:cNvPr>
          <p:cNvSpPr txBox="1"/>
          <p:nvPr/>
        </p:nvSpPr>
        <p:spPr>
          <a:xfrm>
            <a:off x="34006536" y="4087368"/>
            <a:ext cx="9253728" cy="1371600"/>
          </a:xfrm>
          <a:prstGeom prst="rect">
            <a:avLst/>
          </a:prstGeom>
          <a:solidFill>
            <a:srgbClr val="0A254E"/>
          </a:solidFill>
          <a:ln>
            <a:solidFill>
              <a:schemeClr val="bg1"/>
            </a:solidFill>
          </a:ln>
        </p:spPr>
        <p:txBody>
          <a:bodyPr wrap="square" lIns="131445" tIns="65723" rIns="131445" bIns="65723" rtlCol="0" anchor="ctr">
            <a:noAutofit/>
          </a:bodyPr>
          <a:lstStyle/>
          <a:p>
            <a:pPr algn="ctr"/>
            <a:r>
              <a:rPr lang="en-US" sz="4800" dirty="0">
                <a:latin typeface="Times New Roman"/>
                <a:cs typeface="Times New Roman"/>
              </a:rPr>
              <a:t>Results, Discussion, Conclusion, and Limitations</a:t>
            </a:r>
            <a:endParaRPr lang="en-US" sz="6000" dirty="0">
              <a:latin typeface="Times New Roman"/>
              <a:cs typeface="Times New Roman"/>
            </a:endParaRPr>
          </a:p>
        </p:txBody>
      </p:sp>
      <p:graphicFrame>
        <p:nvGraphicFramePr>
          <p:cNvPr id="10" name="Table 9">
            <a:extLst>
              <a:ext uri="{FF2B5EF4-FFF2-40B4-BE49-F238E27FC236}">
                <a16:creationId xmlns:a16="http://schemas.microsoft.com/office/drawing/2014/main" id="{205B63F2-1A1A-2B15-C5FA-4705C2E0F0C2}"/>
              </a:ext>
            </a:extLst>
          </p:cNvPr>
          <p:cNvGraphicFramePr>
            <a:graphicFrameLocks noGrp="1"/>
          </p:cNvGraphicFramePr>
          <p:nvPr>
            <p:extLst>
              <p:ext uri="{D42A27DB-BD31-4B8C-83A1-F6EECF244321}">
                <p14:modId xmlns:p14="http://schemas.microsoft.com/office/powerpoint/2010/main" val="2301284607"/>
              </p:ext>
            </p:extLst>
          </p:nvPr>
        </p:nvGraphicFramePr>
        <p:xfrm>
          <a:off x="685800" y="22924008"/>
          <a:ext cx="9427464" cy="9473184"/>
        </p:xfrm>
        <a:graphic>
          <a:graphicData uri="http://schemas.openxmlformats.org/drawingml/2006/table">
            <a:tbl>
              <a:tblPr firstRow="1" bandRow="1">
                <a:tableStyleId>{5C22544A-7EE6-4342-B048-85BDC9FD1C3A}</a:tableStyleId>
              </a:tblPr>
              <a:tblGrid>
                <a:gridCol w="2651760">
                  <a:extLst>
                    <a:ext uri="{9D8B030D-6E8A-4147-A177-3AD203B41FA5}">
                      <a16:colId xmlns:a16="http://schemas.microsoft.com/office/drawing/2014/main" val="2846790296"/>
                    </a:ext>
                  </a:extLst>
                </a:gridCol>
                <a:gridCol w="6775704">
                  <a:extLst>
                    <a:ext uri="{9D8B030D-6E8A-4147-A177-3AD203B41FA5}">
                      <a16:colId xmlns:a16="http://schemas.microsoft.com/office/drawing/2014/main" val="1015726853"/>
                    </a:ext>
                  </a:extLst>
                </a:gridCol>
              </a:tblGrid>
              <a:tr h="603504">
                <a:tc>
                  <a:txBody>
                    <a:bodyPr wrap="square"/>
                    <a:lstStyle/>
                    <a:p>
                      <a:pPr algn="l"/>
                      <a:r>
                        <a:rPr sz="2600" b="1" i="0">
                          <a:solidFill>
                            <a:srgbClr val="FFFFFF"/>
                          </a:solidFill>
                          <a:latin typeface="Times New Roman"/>
                        </a:rPr>
                        <a:t>METHOD</a:t>
                      </a:r>
                    </a:p>
                  </a:txBody>
                  <a:tcPr/>
                </a:tc>
                <a:tc>
                  <a:txBody>
                    <a:bodyPr wrap="square"/>
                    <a:lstStyle/>
                    <a:p>
                      <a:pPr algn="l"/>
                      <a:r>
                        <a:rPr sz="2600" b="1" i="0">
                          <a:solidFill>
                            <a:srgbClr val="FFFFFF"/>
                          </a:solidFill>
                          <a:latin typeface="Times New Roman"/>
                        </a:rPr>
                        <a:t>DESCRIPTION</a:t>
                      </a:r>
                    </a:p>
                  </a:txBody>
                  <a:tcPr/>
                </a:tc>
                <a:extLst>
                  <a:ext uri="{0D108BD9-81ED-4DB2-BD59-A6C34878D82A}">
                    <a16:rowId xmlns:a16="http://schemas.microsoft.com/office/drawing/2014/main" val="3897735149"/>
                  </a:ext>
                </a:extLst>
              </a:tr>
              <a:tr h="2651760">
                <a:tc>
                  <a:txBody>
                    <a:bodyPr wrap="square"/>
                    <a:lstStyle/>
                    <a:p>
                      <a:pPr algn="l"/>
                      <a:r>
                        <a:rPr sz="2400" b="1" i="0">
                          <a:solidFill>
                            <a:srgbClr val="000000"/>
                          </a:solidFill>
                          <a:latin typeface="Times New Roman"/>
                        </a:rPr>
                        <a:t>Design &amp; Data Source</a:t>
                      </a:r>
                    </a:p>
                  </a:txBody>
                  <a:tcPr/>
                </a:tc>
                <a:tc>
                  <a:txBody>
                    <a:bodyPr wrap="square"/>
                    <a:lstStyle/>
                    <a:p>
                      <a:pPr algn="l"/>
                      <a:r>
                        <a:rPr sz="2400" b="0" i="0">
                          <a:solidFill>
                            <a:srgbClr val="000000"/>
                          </a:solidFill>
                          <a:latin typeface="Times New Roman"/>
                        </a:rPr>
                        <a:t>Retrospective, cross-sectional, descriptive analysis of the USDA FoodData Central (FDC) Global Branded Food Products Database (GBFPD): 400,000+ branded and private-label products, supplied by industry and updated monthly.</a:t>
                      </a:r>
                      <a:r>
                        <a:rPr sz="2400" b="0" i="0" baseline="30000">
                          <a:solidFill>
                            <a:srgbClr val="000000"/>
                          </a:solidFill>
                          <a:latin typeface="Times New Roman"/>
                        </a:rPr>
                        <a:t>8,9</a:t>
                      </a: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55808230"/>
                  </a:ext>
                </a:extLst>
              </a:tr>
              <a:tr h="3383280">
                <a:tc>
                  <a:txBody>
                    <a:bodyPr wrap="square"/>
                    <a:lstStyle/>
                    <a:p>
                      <a:pPr algn="l"/>
                      <a:r>
                        <a:rPr sz="2400" b="1" i="0">
                          <a:solidFill>
                            <a:srgbClr val="000000"/>
                          </a:solidFill>
                          <a:latin typeface="Times New Roman"/>
                        </a:rPr>
                        <a:t>Search &amp; Eligibility</a:t>
                      </a:r>
                    </a:p>
                  </a:txBody>
                  <a:tcPr/>
                </a:tc>
                <a:tc>
                  <a:txBody>
                    <a:bodyPr wrap="square"/>
                    <a:lstStyle/>
                    <a:p>
                      <a:pPr algn="l"/>
                      <a:r>
                        <a:rPr sz="2400" b="0" i="0">
                          <a:solidFill>
                            <a:srgbClr val="000000"/>
                          </a:solidFill>
                          <a:latin typeface="Times New Roman"/>
                        </a:rPr>
                        <a:t>FDC published date April 13, 2019 (earliest available) to December 13, 2025 (search date). Trade channels: grocery, convenience, mass merchandising, food service, vending, online, military, child nutrition programs, and none. </a:t>
                      </a:r>
                      <a:r>
                        <a:rPr sz="2400" b="1" i="0">
                          <a:solidFill>
                            <a:srgbClr val="000000"/>
                          </a:solidFill>
                          <a:latin typeface="Times New Roman"/>
                        </a:rPr>
                        <a:t>Excluded:</a:t>
                      </a:r>
                      <a:r>
                        <a:rPr sz="2400" b="0" i="0">
                          <a:solidFill>
                            <a:srgbClr val="000000"/>
                          </a:solidFill>
                          <a:latin typeface="Times New Roman"/>
                        </a:rPr>
                        <a:t> “Drug” category and New Zealand market (n = 6,717).</a:t>
                      </a: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71464298"/>
                  </a:ext>
                </a:extLst>
              </a:tr>
              <a:tr h="1463040">
                <a:tc>
                  <a:txBody>
                    <a:bodyPr wrap="square"/>
                    <a:lstStyle/>
                    <a:p>
                      <a:pPr algn="l"/>
                      <a:r>
                        <a:rPr sz="2400" b="1" i="0">
                          <a:solidFill>
                            <a:srgbClr val="000000"/>
                          </a:solidFill>
                          <a:latin typeface="Times New Roman"/>
                        </a:rPr>
                        <a:t>HFCS Identification</a:t>
                      </a:r>
                    </a:p>
                  </a:txBody>
                  <a:tcPr/>
                </a:tc>
                <a:tc>
                  <a:txBody>
                    <a:bodyPr wrap="square"/>
                    <a:lstStyle/>
                    <a:p>
                      <a:pPr algn="l"/>
                      <a:r>
                        <a:rPr sz="2400" b="0" i="0">
                          <a:solidFill>
                            <a:srgbClr val="000000"/>
                          </a:solidFill>
                          <a:latin typeface="Times New Roman"/>
                        </a:rPr>
                        <a:t>Ingredients field searched for “High” AND “Fructose” AND “Corn” AND “Syrup” (all four terms required).</a:t>
                      </a: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56894884"/>
                  </a:ext>
                </a:extLst>
              </a:tr>
              <a:tr h="1371600">
                <a:tc>
                  <a:txBody>
                    <a:bodyPr wrap="square"/>
                    <a:lstStyle/>
                    <a:p>
                      <a:pPr algn="l"/>
                      <a:r>
                        <a:rPr sz="2400" b="1" i="0">
                          <a:solidFill>
                            <a:srgbClr val="000000"/>
                          </a:solidFill>
                          <a:latin typeface="Times New Roman"/>
                        </a:rPr>
                        <a:t>Outcome &amp; Analysis</a:t>
                      </a:r>
                    </a:p>
                  </a:txBody>
                  <a:tcPr/>
                </a:tc>
                <a:tc>
                  <a:txBody>
                    <a:bodyPr wrap="square"/>
                    <a:lstStyle/>
                    <a:p>
                      <a:pPr algn="l"/>
                      <a:r>
                        <a:rPr sz="2400" b="0" i="0">
                          <a:solidFill>
                            <a:srgbClr val="000000"/>
                          </a:solidFill>
                          <a:latin typeface="Times New Roman"/>
                        </a:rPr>
                        <a:t>Proportion of eligible products listing HFCS as an ingredient; counts and percentages in Microsoft Excel.</a:t>
                      </a:r>
                      <a:endParaRPr lang="en-US"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00023977"/>
                  </a:ext>
                </a:extLst>
              </a:tr>
            </a:tbl>
          </a:graphicData>
        </a:graphic>
      </p:graphicFrame>
      <p:cxnSp>
        <p:nvCxnSpPr>
          <p:cNvPr id="6" name="Straight Connector 5">
            <a:extLst>
              <a:ext uri="{FF2B5EF4-FFF2-40B4-BE49-F238E27FC236}">
                <a16:creationId xmlns:a16="http://schemas.microsoft.com/office/drawing/2014/main" id="{27F635D7-8592-DF05-AA6D-AD2EB280C030}"/>
              </a:ext>
            </a:extLst>
          </p:cNvPr>
          <p:cNvCxnSpPr/>
          <p:nvPr/>
        </p:nvCxnSpPr>
        <p:spPr>
          <a:xfrm>
            <a:off x="0" y="-26234"/>
            <a:ext cx="43991438" cy="0"/>
          </a:xfrm>
          <a:prstGeom prst="line">
            <a:avLst/>
          </a:prstGeom>
        </p:spPr>
        <p:style>
          <a:lnRef idx="1">
            <a:schemeClr val="dk1"/>
          </a:lnRef>
          <a:fillRef idx="0">
            <a:schemeClr val="dk1"/>
          </a:fillRef>
          <a:effectRef idx="0">
            <a:schemeClr val="dk1"/>
          </a:effectRef>
          <a:fontRef idx="minor">
            <a:schemeClr val="tx1"/>
          </a:fontRef>
        </p:style>
      </p:cxnSp>
      <p:sp>
        <p:nvSpPr>
          <p:cNvPr id="327" name="QR code spot"/>
          <p:cNvSpPr/>
          <p:nvPr/>
        </p:nvSpPr>
        <p:spPr>
          <a:xfrm>
            <a:off x="36676584" y="28181808"/>
            <a:ext cx="3913631" cy="3913631"/>
          </a:xfrm>
          <a:prstGeom prst="rect">
            <a:avLst/>
          </a:prstGeom>
          <a:solidFill>
            <a:srgbClr val="FFFFFF"/>
          </a:solidFill>
          <a:ln w="19050">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0" i="0">
                <a:solidFill>
                  <a:srgbClr val="595959"/>
                </a:solidFill>
                <a:latin typeface="Times New Roman"/>
              </a:rPr>
              <a:t>Paste QR code here</a:t>
            </a:r>
          </a:p>
          <a:p>
            <a:pPr algn="ctr"/>
            <a:r>
              <a:rPr sz="1800" b="0" i="0">
                <a:solidFill>
                  <a:srgbClr val="595959"/>
                </a:solidFill>
                <a:latin typeface="Times New Roman"/>
              </a:rPr>
              <a:t>(4.3 × 4.3 in; links to the full AMA reference list)</a:t>
            </a:r>
          </a:p>
        </p:txBody>
      </p:sp>
      <p:sp>
        <p:nvSpPr>
          <p:cNvPr id="328" name="TextBox 327"/>
          <p:cNvSpPr txBox="1"/>
          <p:nvPr/>
        </p:nvSpPr>
        <p:spPr>
          <a:xfrm>
            <a:off x="11329416" y="4572000"/>
            <a:ext cx="5410962" cy="3383280"/>
          </a:xfrm>
          <a:prstGeom prst="rect">
            <a:avLst/>
          </a:prstGeom>
          <a:noFill/>
        </p:spPr>
        <p:txBody>
          <a:bodyPr wrap="square" anchor="t">
            <a:noAutofit/>
          </a:bodyPr>
          <a:lstStyle/>
          <a:p>
            <a:pPr algn="ctr"/>
            <a:r>
              <a:rPr sz="8800" b="1" i="0">
                <a:solidFill>
                  <a:srgbClr val="0A254E"/>
                </a:solidFill>
                <a:latin typeface="Times New Roman"/>
              </a:rPr>
              <a:t>454,324</a:t>
            </a:r>
          </a:p>
          <a:p>
            <a:pPr algn="ctr"/>
            <a:r>
              <a:rPr sz="2800" b="0" i="0">
                <a:solidFill>
                  <a:srgbClr val="000000"/>
                </a:solidFill>
                <a:latin typeface="Times New Roman"/>
              </a:rPr>
              <a:t>products identified</a:t>
            </a:r>
          </a:p>
          <a:p>
            <a:pPr algn="ctr"/>
            <a:r>
              <a:rPr sz="2400" b="0" i="1">
                <a:solidFill>
                  <a:srgbClr val="595959"/>
                </a:solidFill>
                <a:latin typeface="Times New Roman"/>
              </a:rPr>
              <a:t>USDA GBFPD, 2019–2025</a:t>
            </a:r>
          </a:p>
        </p:txBody>
      </p:sp>
      <p:sp>
        <p:nvSpPr>
          <p:cNvPr id="329" name="TextBox 328"/>
          <p:cNvSpPr txBox="1"/>
          <p:nvPr/>
        </p:nvSpPr>
        <p:spPr>
          <a:xfrm>
            <a:off x="16740378" y="4572000"/>
            <a:ext cx="5410962" cy="3383280"/>
          </a:xfrm>
          <a:prstGeom prst="rect">
            <a:avLst/>
          </a:prstGeom>
          <a:noFill/>
        </p:spPr>
        <p:txBody>
          <a:bodyPr wrap="square" anchor="t">
            <a:noAutofit/>
          </a:bodyPr>
          <a:lstStyle/>
          <a:p>
            <a:pPr algn="ctr"/>
            <a:r>
              <a:rPr sz="8800" b="1" i="0">
                <a:solidFill>
                  <a:srgbClr val="0A254E"/>
                </a:solidFill>
                <a:latin typeface="Times New Roman"/>
              </a:rPr>
              <a:t>447,607</a:t>
            </a:r>
          </a:p>
          <a:p>
            <a:pPr algn="ctr"/>
            <a:r>
              <a:rPr sz="2800" b="0" i="0">
                <a:solidFill>
                  <a:srgbClr val="000000"/>
                </a:solidFill>
                <a:latin typeface="Times New Roman"/>
              </a:rPr>
              <a:t>eligible U.S. products</a:t>
            </a:r>
          </a:p>
          <a:p>
            <a:pPr algn="ctr"/>
            <a:r>
              <a:rPr sz="2400" b="0" i="1">
                <a:solidFill>
                  <a:srgbClr val="595959"/>
                </a:solidFill>
                <a:latin typeface="Times New Roman"/>
              </a:rPr>
              <a:t>after 6,717 excluded</a:t>
            </a:r>
          </a:p>
        </p:txBody>
      </p:sp>
      <p:cxnSp>
        <p:nvCxnSpPr>
          <p:cNvPr id="330" name="Connector 329"/>
          <p:cNvCxnSpPr/>
          <p:nvPr/>
        </p:nvCxnSpPr>
        <p:spPr>
          <a:xfrm>
            <a:off x="16740378" y="4846320"/>
            <a:ext cx="0" cy="2834640"/>
          </a:xfrm>
          <a:prstGeom prst="line">
            <a:avLst/>
          </a:prstGeom>
          <a:ln>
            <a:solidFill>
              <a:srgbClr val="BFBFBF"/>
            </a:solidFill>
          </a:ln>
        </p:spPr>
        <p:style>
          <a:lnRef idx="2">
            <a:schemeClr val="accent1"/>
          </a:lnRef>
          <a:fillRef idx="0">
            <a:schemeClr val="accent1"/>
          </a:fillRef>
          <a:effectRef idx="1">
            <a:schemeClr val="accent1"/>
          </a:effectRef>
          <a:fontRef idx="minor">
            <a:schemeClr val="tx1"/>
          </a:fontRef>
        </p:style>
      </p:cxnSp>
      <p:sp>
        <p:nvSpPr>
          <p:cNvPr id="331" name="TextBox 330"/>
          <p:cNvSpPr txBox="1"/>
          <p:nvPr/>
        </p:nvSpPr>
        <p:spPr>
          <a:xfrm>
            <a:off x="22151340" y="4572000"/>
            <a:ext cx="5410962" cy="3383280"/>
          </a:xfrm>
          <a:prstGeom prst="rect">
            <a:avLst/>
          </a:prstGeom>
          <a:noFill/>
        </p:spPr>
        <p:txBody>
          <a:bodyPr wrap="square" anchor="t">
            <a:noAutofit/>
          </a:bodyPr>
          <a:lstStyle/>
          <a:p>
            <a:pPr algn="ctr"/>
            <a:r>
              <a:rPr sz="8800" b="1" i="0">
                <a:solidFill>
                  <a:srgbClr val="D55E00"/>
                </a:solidFill>
                <a:latin typeface="Times New Roman"/>
              </a:rPr>
              <a:t>29,503</a:t>
            </a:r>
          </a:p>
          <a:p>
            <a:pPr algn="ctr"/>
            <a:r>
              <a:rPr sz="2800" b="0" i="0">
                <a:solidFill>
                  <a:srgbClr val="000000"/>
                </a:solidFill>
                <a:latin typeface="Times New Roman"/>
              </a:rPr>
              <a:t>list HFCS</a:t>
            </a:r>
          </a:p>
          <a:p>
            <a:pPr algn="ctr"/>
            <a:r>
              <a:rPr sz="2400" b="0" i="1">
                <a:solidFill>
                  <a:srgbClr val="595959"/>
                </a:solidFill>
                <a:latin typeface="Times New Roman"/>
              </a:rPr>
              <a:t>as an ingredient</a:t>
            </a:r>
          </a:p>
        </p:txBody>
      </p:sp>
      <p:cxnSp>
        <p:nvCxnSpPr>
          <p:cNvPr id="332" name="Connector 331"/>
          <p:cNvCxnSpPr/>
          <p:nvPr/>
        </p:nvCxnSpPr>
        <p:spPr>
          <a:xfrm>
            <a:off x="22151340" y="4846320"/>
            <a:ext cx="0" cy="2834640"/>
          </a:xfrm>
          <a:prstGeom prst="line">
            <a:avLst/>
          </a:prstGeom>
          <a:ln>
            <a:solidFill>
              <a:srgbClr val="BFBFBF"/>
            </a:solidFill>
          </a:ln>
        </p:spPr>
        <p:style>
          <a:lnRef idx="2">
            <a:schemeClr val="accent1"/>
          </a:lnRef>
          <a:fillRef idx="0">
            <a:schemeClr val="accent1"/>
          </a:fillRef>
          <a:effectRef idx="1">
            <a:schemeClr val="accent1"/>
          </a:effectRef>
          <a:fontRef idx="minor">
            <a:schemeClr val="tx1"/>
          </a:fontRef>
        </p:style>
      </p:cxnSp>
      <p:sp>
        <p:nvSpPr>
          <p:cNvPr id="333" name="TextBox 332"/>
          <p:cNvSpPr txBox="1"/>
          <p:nvPr/>
        </p:nvSpPr>
        <p:spPr>
          <a:xfrm>
            <a:off x="27562302" y="4572000"/>
            <a:ext cx="5410962" cy="3383280"/>
          </a:xfrm>
          <a:prstGeom prst="rect">
            <a:avLst/>
          </a:prstGeom>
          <a:noFill/>
        </p:spPr>
        <p:txBody>
          <a:bodyPr wrap="square" anchor="t">
            <a:noAutofit/>
          </a:bodyPr>
          <a:lstStyle/>
          <a:p>
            <a:pPr algn="ctr"/>
            <a:r>
              <a:rPr sz="8800" b="1" i="0">
                <a:solidFill>
                  <a:srgbClr val="D55E00"/>
                </a:solidFill>
                <a:latin typeface="Times New Roman"/>
              </a:rPr>
              <a:t>6.6%</a:t>
            </a:r>
          </a:p>
          <a:p>
            <a:pPr algn="ctr"/>
            <a:r>
              <a:rPr sz="2800" b="0" i="0">
                <a:solidFill>
                  <a:srgbClr val="000000"/>
                </a:solidFill>
                <a:latin typeface="Times New Roman"/>
              </a:rPr>
              <a:t>of branded products</a:t>
            </a:r>
          </a:p>
          <a:p>
            <a:pPr algn="ctr"/>
            <a:r>
              <a:rPr sz="2400" b="0" i="1">
                <a:solidFill>
                  <a:srgbClr val="595959"/>
                </a:solidFill>
                <a:latin typeface="Times New Roman"/>
              </a:rPr>
              <a:t>about 1 in 15</a:t>
            </a:r>
          </a:p>
        </p:txBody>
      </p:sp>
      <p:cxnSp>
        <p:nvCxnSpPr>
          <p:cNvPr id="334" name="Connector 333"/>
          <p:cNvCxnSpPr/>
          <p:nvPr/>
        </p:nvCxnSpPr>
        <p:spPr>
          <a:xfrm>
            <a:off x="27562302" y="4846320"/>
            <a:ext cx="0" cy="2834640"/>
          </a:xfrm>
          <a:prstGeom prst="line">
            <a:avLst/>
          </a:prstGeom>
          <a:ln>
            <a:solidFill>
              <a:srgbClr val="BFBFBF"/>
            </a:solidFill>
          </a:ln>
        </p:spPr>
        <p:style>
          <a:lnRef idx="2">
            <a:schemeClr val="accent1"/>
          </a:lnRef>
          <a:fillRef idx="0">
            <a:schemeClr val="accent1"/>
          </a:fillRef>
          <a:effectRef idx="1">
            <a:schemeClr val="accent1"/>
          </a:effectRef>
          <a:fontRef idx="minor">
            <a:schemeClr val="tx1"/>
          </a:fontRef>
        </p:style>
      </p:cxnSp>
      <p:pic>
        <p:nvPicPr>
          <p:cNvPr id="335" name="Picture 334" descr="flow_new.png"/>
          <p:cNvPicPr>
            <a:picLocks noChangeAspect="1"/>
          </p:cNvPicPr>
          <p:nvPr/>
        </p:nvPicPr>
        <p:blipFill>
          <a:blip r:embed="rId4"/>
          <a:stretch>
            <a:fillRect/>
          </a:stretch>
        </p:blipFill>
        <p:spPr>
          <a:xfrm>
            <a:off x="11237976" y="8145586"/>
            <a:ext cx="10776204" cy="8397627"/>
          </a:xfrm>
          <a:prstGeom prst="rect">
            <a:avLst/>
          </a:prstGeom>
        </p:spPr>
      </p:pic>
      <p:sp>
        <p:nvSpPr>
          <p:cNvPr id="336" name="TextBox 335"/>
          <p:cNvSpPr txBox="1"/>
          <p:nvPr/>
        </p:nvSpPr>
        <p:spPr>
          <a:xfrm>
            <a:off x="11237976" y="16596359"/>
            <a:ext cx="10776204" cy="1097280"/>
          </a:xfrm>
          <a:prstGeom prst="rect">
            <a:avLst/>
          </a:prstGeom>
          <a:noFill/>
        </p:spPr>
        <p:txBody>
          <a:bodyPr wrap="square" anchor="t">
            <a:noAutofit/>
          </a:bodyPr>
          <a:lstStyle/>
          <a:p>
            <a:pPr algn="l"/>
            <a:r>
              <a:rPr sz="2200" b="1" i="0">
                <a:solidFill>
                  <a:srgbClr val="000000"/>
                </a:solidFill>
                <a:latin typeface="Times New Roman"/>
              </a:rPr>
              <a:t>Figure 1. Product Selection Flow.</a:t>
            </a:r>
            <a:r>
              <a:rPr sz="2200" b="0" i="0">
                <a:solidFill>
                  <a:srgbClr val="000000"/>
                </a:solidFill>
                <a:latin typeface="Times New Roman"/>
              </a:rPr>
              <a:t> Products published in the USDA Global Branded Food Products Database, April 13, 2019–December 13, 2025.</a:t>
            </a:r>
          </a:p>
        </p:txBody>
      </p:sp>
      <p:pic>
        <p:nvPicPr>
          <p:cNvPr id="337" name="Picture 336" descr="poster_Picture5.png"/>
          <p:cNvPicPr>
            <a:picLocks noChangeAspect="1"/>
          </p:cNvPicPr>
          <p:nvPr/>
        </p:nvPicPr>
        <p:blipFill>
          <a:blip r:embed="rId5"/>
          <a:stretch>
            <a:fillRect/>
          </a:stretch>
        </p:blipFill>
        <p:spPr>
          <a:xfrm>
            <a:off x="22442646" y="8138160"/>
            <a:ext cx="10467910" cy="8412480"/>
          </a:xfrm>
          <a:prstGeom prst="rect">
            <a:avLst/>
          </a:prstGeom>
        </p:spPr>
      </p:pic>
      <p:sp>
        <p:nvSpPr>
          <p:cNvPr id="338" name="TextBox 337"/>
          <p:cNvSpPr txBox="1"/>
          <p:nvPr/>
        </p:nvSpPr>
        <p:spPr>
          <a:xfrm>
            <a:off x="22288500" y="16596359"/>
            <a:ext cx="10776204" cy="1097280"/>
          </a:xfrm>
          <a:prstGeom prst="rect">
            <a:avLst/>
          </a:prstGeom>
          <a:noFill/>
        </p:spPr>
        <p:txBody>
          <a:bodyPr wrap="square" anchor="t">
            <a:noAutofit/>
          </a:bodyPr>
          <a:lstStyle/>
          <a:p>
            <a:pPr algn="l"/>
            <a:r>
              <a:rPr sz="2200" b="1" i="0">
                <a:solidFill>
                  <a:srgbClr val="000000"/>
                </a:solidFill>
                <a:latin typeface="Times New Roman"/>
              </a:rPr>
              <a:t>Figure 2. U.S. Branded Food Products With and Without HFCS (N = 447,607).</a:t>
            </a:r>
            <a:r>
              <a:rPr sz="2200" b="0" i="0">
                <a:solidFill>
                  <a:srgbClr val="000000"/>
                </a:solidFill>
                <a:latin typeface="Times New Roman"/>
              </a:rPr>
              <a:t> HFCS was listed in 29,503 products (6.6%).</a:t>
            </a:r>
          </a:p>
        </p:txBody>
      </p:sp>
      <p:pic>
        <p:nvPicPr>
          <p:cNvPr id="339" name="Picture 338" descr="fig4_fructose.png"/>
          <p:cNvPicPr>
            <a:picLocks noChangeAspect="1"/>
          </p:cNvPicPr>
          <p:nvPr/>
        </p:nvPicPr>
        <p:blipFill>
          <a:blip r:embed="rId6"/>
          <a:stretch>
            <a:fillRect/>
          </a:stretch>
        </p:blipFill>
        <p:spPr>
          <a:xfrm>
            <a:off x="11507070" y="18059400"/>
            <a:ext cx="10238014" cy="5212080"/>
          </a:xfrm>
          <a:prstGeom prst="rect">
            <a:avLst/>
          </a:prstGeom>
        </p:spPr>
      </p:pic>
      <p:sp>
        <p:nvSpPr>
          <p:cNvPr id="340" name="TextBox 339"/>
          <p:cNvSpPr txBox="1"/>
          <p:nvPr/>
        </p:nvSpPr>
        <p:spPr>
          <a:xfrm>
            <a:off x="11237976" y="23317200"/>
            <a:ext cx="10776204" cy="1097280"/>
          </a:xfrm>
          <a:prstGeom prst="rect">
            <a:avLst/>
          </a:prstGeom>
          <a:noFill/>
        </p:spPr>
        <p:txBody>
          <a:bodyPr wrap="square" anchor="t">
            <a:noAutofit/>
          </a:bodyPr>
          <a:lstStyle/>
          <a:p>
            <a:pPr algn="l"/>
            <a:r>
              <a:rPr sz="2200" b="1" i="0">
                <a:solidFill>
                  <a:srgbClr val="000000"/>
                </a:solidFill>
                <a:latin typeface="Times New Roman"/>
              </a:rPr>
              <a:t>Figure 3. Fructose Content of HFCS and Sucrose.</a:t>
            </a:r>
            <a:r>
              <a:rPr sz="2200" b="0" i="0">
                <a:solidFill>
                  <a:srgbClr val="000000"/>
                </a:solidFill>
                <a:latin typeface="Times New Roman"/>
              </a:rPr>
              <a:t> HFCS-42 and HFCS-55 bracket the 50% fructose of table sugar.</a:t>
            </a:r>
            <a:r>
              <a:rPr sz="2200" b="0" i="0" baseline="30000">
                <a:solidFill>
                  <a:srgbClr val="000000"/>
                </a:solidFill>
                <a:latin typeface="Times New Roman"/>
              </a:rPr>
              <a:t>3</a:t>
            </a:r>
          </a:p>
        </p:txBody>
      </p:sp>
      <p:pic>
        <p:nvPicPr>
          <p:cNvPr id="341" name="Picture 340" descr="fig5_ers.png"/>
          <p:cNvPicPr>
            <a:picLocks noChangeAspect="1"/>
          </p:cNvPicPr>
          <p:nvPr/>
        </p:nvPicPr>
        <p:blipFill>
          <a:blip r:embed="rId7"/>
          <a:stretch>
            <a:fillRect/>
          </a:stretch>
        </p:blipFill>
        <p:spPr>
          <a:xfrm>
            <a:off x="22557594" y="18059400"/>
            <a:ext cx="10238014" cy="5212080"/>
          </a:xfrm>
          <a:prstGeom prst="rect">
            <a:avLst/>
          </a:prstGeom>
        </p:spPr>
      </p:pic>
      <p:sp>
        <p:nvSpPr>
          <p:cNvPr id="342" name="TextBox 341"/>
          <p:cNvSpPr txBox="1"/>
          <p:nvPr/>
        </p:nvSpPr>
        <p:spPr>
          <a:xfrm>
            <a:off x="22288500" y="23317200"/>
            <a:ext cx="10776204" cy="1097280"/>
          </a:xfrm>
          <a:prstGeom prst="rect">
            <a:avLst/>
          </a:prstGeom>
          <a:noFill/>
        </p:spPr>
        <p:txBody>
          <a:bodyPr wrap="square" anchor="t">
            <a:noAutofit/>
          </a:bodyPr>
          <a:lstStyle/>
          <a:p>
            <a:pPr algn="l"/>
            <a:r>
              <a:rPr sz="2200" b="1" i="0">
                <a:solidFill>
                  <a:srgbClr val="000000"/>
                </a:solidFill>
                <a:latin typeface="Times New Roman"/>
              </a:rPr>
              <a:t>Figure 4. U.S. Per Capita Sweetener Availability, 1999 vs 2023.</a:t>
            </a:r>
            <a:r>
              <a:rPr sz="2200" b="0" i="0">
                <a:solidFill>
                  <a:srgbClr val="000000"/>
                </a:solidFill>
                <a:latin typeface="Times New Roman"/>
              </a:rPr>
              <a:t> USDA Economic Research Service data; corn sweeteners include HFCS, glucose syrup, and dextrose.</a:t>
            </a:r>
            <a:r>
              <a:rPr sz="2200" b="0" i="0" baseline="30000">
                <a:solidFill>
                  <a:srgbClr val="000000"/>
                </a:solidFill>
                <a:latin typeface="Times New Roman"/>
              </a:rPr>
              <a:t>10</a:t>
            </a:r>
          </a:p>
        </p:txBody>
      </p:sp>
      <p:sp>
        <p:nvSpPr>
          <p:cNvPr id="343" name="TextBox 342"/>
          <p:cNvSpPr txBox="1"/>
          <p:nvPr/>
        </p:nvSpPr>
        <p:spPr>
          <a:xfrm>
            <a:off x="11237976" y="24643080"/>
            <a:ext cx="21826728" cy="640080"/>
          </a:xfrm>
          <a:prstGeom prst="rect">
            <a:avLst/>
          </a:prstGeom>
          <a:noFill/>
        </p:spPr>
        <p:txBody>
          <a:bodyPr wrap="square" anchor="t">
            <a:noAutofit/>
          </a:bodyPr>
          <a:lstStyle/>
          <a:p>
            <a:pPr algn="ctr"/>
            <a:r>
              <a:rPr sz="3200" b="1" i="0">
                <a:solidFill>
                  <a:srgbClr val="0A254E"/>
                </a:solidFill>
                <a:latin typeface="Times New Roman"/>
              </a:rPr>
              <a:t>Public Health Context</a:t>
            </a:r>
          </a:p>
        </p:txBody>
      </p:sp>
      <p:sp>
        <p:nvSpPr>
          <p:cNvPr id="344" name="Rounded Rectangle 343"/>
          <p:cNvSpPr/>
          <p:nvPr/>
        </p:nvSpPr>
        <p:spPr>
          <a:xfrm>
            <a:off x="11237976" y="25374600"/>
            <a:ext cx="5250942" cy="3246120"/>
          </a:xfrm>
          <a:prstGeom prst="roundRect">
            <a:avLst>
              <a:gd name="adj" fmla="val 8000"/>
            </a:avLst>
          </a:prstGeom>
          <a:solidFill>
            <a:srgbClr val="F2F4F8"/>
          </a:solidFill>
          <a:ln>
            <a:solidFill>
              <a:srgbClr val="D0D6E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6000" b="1" i="0">
                <a:solidFill>
                  <a:srgbClr val="0A254E"/>
                </a:solidFill>
                <a:latin typeface="Times New Roman"/>
              </a:rPr>
              <a:t>57.9%</a:t>
            </a:r>
          </a:p>
          <a:p>
            <a:pPr algn="ctr"/>
            <a:r>
              <a:rPr sz="2400" b="0" i="0">
                <a:solidFill>
                  <a:srgbClr val="000000"/>
                </a:solidFill>
                <a:latin typeface="Times New Roman"/>
              </a:rPr>
              <a:t>of U.S. energy intake comes from ultra-processed foods</a:t>
            </a:r>
            <a:r>
              <a:rPr sz="2400" b="0" i="0" baseline="30000">
                <a:solidFill>
                  <a:srgbClr val="000000"/>
                </a:solidFill>
                <a:latin typeface="Times New Roman"/>
              </a:rPr>
              <a:t>11</a:t>
            </a:r>
          </a:p>
        </p:txBody>
      </p:sp>
      <p:sp>
        <p:nvSpPr>
          <p:cNvPr id="345" name="Rounded Rectangle 344"/>
          <p:cNvSpPr/>
          <p:nvPr/>
        </p:nvSpPr>
        <p:spPr>
          <a:xfrm>
            <a:off x="16763238" y="25374600"/>
            <a:ext cx="5250942" cy="3246120"/>
          </a:xfrm>
          <a:prstGeom prst="roundRect">
            <a:avLst>
              <a:gd name="adj" fmla="val 8000"/>
            </a:avLst>
          </a:prstGeom>
          <a:solidFill>
            <a:srgbClr val="F2F4F8"/>
          </a:solidFill>
          <a:ln>
            <a:solidFill>
              <a:srgbClr val="D0D6E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6000" b="1" i="0">
                <a:solidFill>
                  <a:srgbClr val="D55E00"/>
                </a:solidFill>
                <a:latin typeface="Times New Roman"/>
              </a:rPr>
              <a:t>89.7%</a:t>
            </a:r>
          </a:p>
          <a:p>
            <a:pPr algn="ctr"/>
            <a:r>
              <a:rPr sz="2400" b="0" i="0">
                <a:solidFill>
                  <a:srgbClr val="000000"/>
                </a:solidFill>
                <a:latin typeface="Times New Roman"/>
              </a:rPr>
              <a:t>of energy from added sugars comes from ultra-processed foods</a:t>
            </a:r>
            <a:r>
              <a:rPr sz="2400" b="0" i="0" baseline="30000">
                <a:solidFill>
                  <a:srgbClr val="000000"/>
                </a:solidFill>
                <a:latin typeface="Times New Roman"/>
              </a:rPr>
              <a:t>11</a:t>
            </a:r>
          </a:p>
        </p:txBody>
      </p:sp>
      <p:sp>
        <p:nvSpPr>
          <p:cNvPr id="346" name="Rounded Rectangle 345"/>
          <p:cNvSpPr/>
          <p:nvPr/>
        </p:nvSpPr>
        <p:spPr>
          <a:xfrm>
            <a:off x="22288500" y="25374600"/>
            <a:ext cx="5250942" cy="3246120"/>
          </a:xfrm>
          <a:prstGeom prst="roundRect">
            <a:avLst>
              <a:gd name="adj" fmla="val 8000"/>
            </a:avLst>
          </a:prstGeom>
          <a:solidFill>
            <a:srgbClr val="F2F4F8"/>
          </a:solidFill>
          <a:ln>
            <a:solidFill>
              <a:srgbClr val="D0D6E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6000" b="1" i="0">
                <a:solidFill>
                  <a:srgbClr val="0A254E"/>
                </a:solidFill>
                <a:latin typeface="Times New Roman"/>
              </a:rPr>
              <a:t>21.1%</a:t>
            </a:r>
          </a:p>
          <a:p>
            <a:pPr algn="ctr"/>
            <a:r>
              <a:rPr sz="2400" b="0" i="0">
                <a:solidFill>
                  <a:srgbClr val="000000"/>
                </a:solidFill>
                <a:latin typeface="Times New Roman"/>
              </a:rPr>
              <a:t>of calories in ultra-processed foods come from added sugars, vs 2.4% in processed foods</a:t>
            </a:r>
            <a:r>
              <a:rPr sz="2400" b="0" i="0" baseline="30000">
                <a:solidFill>
                  <a:srgbClr val="000000"/>
                </a:solidFill>
                <a:latin typeface="Times New Roman"/>
              </a:rPr>
              <a:t>11</a:t>
            </a:r>
          </a:p>
        </p:txBody>
      </p:sp>
      <p:sp>
        <p:nvSpPr>
          <p:cNvPr id="347" name="Rounded Rectangle 346"/>
          <p:cNvSpPr/>
          <p:nvPr/>
        </p:nvSpPr>
        <p:spPr>
          <a:xfrm>
            <a:off x="27813762" y="25374600"/>
            <a:ext cx="5250942" cy="3246120"/>
          </a:xfrm>
          <a:prstGeom prst="roundRect">
            <a:avLst>
              <a:gd name="adj" fmla="val 8000"/>
            </a:avLst>
          </a:prstGeom>
          <a:solidFill>
            <a:srgbClr val="F2F4F8"/>
          </a:solidFill>
          <a:ln>
            <a:solidFill>
              <a:srgbClr val="D0D6E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6000" b="1" i="0">
                <a:solidFill>
                  <a:srgbClr val="D55E00"/>
                </a:solidFill>
                <a:latin typeface="Times New Roman"/>
              </a:rPr>
              <a:t>≤10 g</a:t>
            </a:r>
          </a:p>
          <a:p>
            <a:pPr algn="ctr"/>
            <a:r>
              <a:rPr sz="2400" b="0" i="0">
                <a:solidFill>
                  <a:srgbClr val="000000"/>
                </a:solidFill>
                <a:latin typeface="Times New Roman"/>
              </a:rPr>
              <a:t>added sugars per meal under the 2025–2030 Dietary Guidelines</a:t>
            </a:r>
            <a:r>
              <a:rPr sz="2400" b="0" i="0" baseline="30000">
                <a:solidFill>
                  <a:srgbClr val="000000"/>
                </a:solidFill>
                <a:latin typeface="Times New Roman"/>
              </a:rPr>
              <a:t>7</a:t>
            </a:r>
          </a:p>
        </p:txBody>
      </p:sp>
      <p:sp>
        <p:nvSpPr>
          <p:cNvPr id="348" name="TextBox 347"/>
          <p:cNvSpPr txBox="1"/>
          <p:nvPr/>
        </p:nvSpPr>
        <p:spPr>
          <a:xfrm>
            <a:off x="11237976" y="28666440"/>
            <a:ext cx="21826728" cy="457200"/>
          </a:xfrm>
          <a:prstGeom prst="rect">
            <a:avLst/>
          </a:prstGeom>
          <a:noFill/>
        </p:spPr>
        <p:txBody>
          <a:bodyPr wrap="square" anchor="t">
            <a:noAutofit/>
          </a:bodyPr>
          <a:lstStyle/>
          <a:p>
            <a:pPr algn="ctr"/>
            <a:r>
              <a:rPr sz="1800" b="0" i="1">
                <a:solidFill>
                  <a:srgbClr val="595959"/>
                </a:solidFill>
                <a:latin typeface="Times New Roman"/>
              </a:rPr>
              <a:t>Ultra-processed food data: NHANES 2009–2010</a:t>
            </a:r>
          </a:p>
        </p:txBody>
      </p:sp>
      <p:sp>
        <p:nvSpPr>
          <p:cNvPr id="349" name="Rounded Rectangle 348"/>
          <p:cNvSpPr/>
          <p:nvPr/>
        </p:nvSpPr>
        <p:spPr>
          <a:xfrm>
            <a:off x="11603736" y="30083760"/>
            <a:ext cx="21095208" cy="1828800"/>
          </a:xfrm>
          <a:prstGeom prst="roundRect">
            <a:avLst>
              <a:gd name="adj" fmla="val 12000"/>
            </a:avLst>
          </a:prstGeom>
          <a:solidFill>
            <a:srgbClr val="0A254E"/>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r>
              <a:rPr sz="3000" b="1" i="0">
                <a:solidFill>
                  <a:srgbClr val="F2C14E"/>
                </a:solidFill>
                <a:latin typeface="Times New Roman"/>
              </a:rPr>
              <a:t>KEY TAKEAWAY  </a:t>
            </a:r>
            <a:r>
              <a:rPr sz="3000" b="0" i="0">
                <a:solidFill>
                  <a:srgbClr val="FFFFFF"/>
                </a:solidFill>
                <a:latin typeface="Times New Roman"/>
              </a:rPr>
              <a:t>About 1 in 15 U.S. branded food products still lists high-fructose corn syrup, a reproducible baseline for tracking added sugar in the food supply.</a:t>
            </a:r>
          </a:p>
        </p:txBody>
      </p:sp>
    </p:spTree>
    <p:extLst>
      <p:ext uri="{BB962C8B-B14F-4D97-AF65-F5344CB8AC3E}">
        <p14:creationId xmlns:p14="http://schemas.microsoft.com/office/powerpoint/2010/main" val="111338440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TM04033929[[fn=Slate]]</Template>
  <TotalTime>25711</TotalTime>
  <Words>901</Words>
  <Application>Microsoft Office PowerPoint</Application>
  <PresentationFormat>Custom</PresentationFormat>
  <Paragraphs>65</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Calisto MT</vt:lpstr>
      <vt:lpstr>Garamond</vt:lpstr>
      <vt:lpstr>Lucida Grande</vt:lpstr>
      <vt:lpstr>Times New Roman</vt:lpstr>
      <vt:lpstr>Wingdings 2</vt:lpstr>
      <vt:lpstr>Slate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Ryan Montalvo</dc:creator>
  <cp:lastModifiedBy>Shobayo, Ifeoluwanimi</cp:lastModifiedBy>
  <cp:revision>321</cp:revision>
  <dcterms:created xsi:type="dcterms:W3CDTF">2013-10-19T16:33:22Z</dcterms:created>
  <dcterms:modified xsi:type="dcterms:W3CDTF">2026-09-03T22:07:59Z</dcterms:modified>
</cp:coreProperties>
</file>