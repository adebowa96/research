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629ca89-bed9-06b9-d8bb-f6b6f237272e}">
          <p14:sldIdLst>
            <p14:sldId id="256"/>
          </p14:sldIdLst>
        </p14:section>
        <p14:section name="1 · What happened, and what caused it?" id="{4dea324c-3cb0-faf0-cada-50b7ac5e2f11}">
          <p14:sldIdLst>
            <p14:sldId id="257"/>
            <p14:sldId id="258"/>
            <p14:sldId id="259"/>
            <p14:sldId id="260"/>
            <p14:sldId id="261"/>
          </p14:sldIdLst>
        </p14:section>
        <p14:section name="2 · How did investigators find the cases?" id="{ebcedd55-635e-b74f-6224-b6cd88029c2e}">
          <p14:sldIdLst>
            <p14:sldId id="262"/>
            <p14:sldId id="263"/>
            <p14:sldId id="264"/>
          </p14:sldIdLst>
        </p14:section>
        <p14:section name="3 · Who, where and when?" id="{cbc0234b-c7a2-e48a-be8c-17a11e19b9c1}">
          <p14:sldIdLst>
            <p14:sldId id="265"/>
            <p14:sldId id="266"/>
            <p14:sldId id="267"/>
            <p14:sldId id="268"/>
          </p14:sldIdLst>
        </p14:section>
        <p14:section name="4 · How did it spread, and how sure are we?" id="{08923808-93b7-4184-bd7d-7b7b75872983}">
          <p14:sldIdLst>
            <p14:sldId id="269"/>
            <p14:sldId id="270"/>
            <p14:sldId id="271"/>
          </p14:sldIdLst>
        </p14:section>
        <p14:section name="5 · What was done, and what next?" id="{d61265aa-818f-9242-493b-150d74906bc4}">
          <p14:sldIdLst>
            <p14:sldId id="272"/>
            <p14:sldId id="273"/>
          </p14:sldIdLst>
        </p14:section>
        <p14:section name="Conclusion" id="{68872fd6-ee0f-1fad-a7ac-f9984e340248}">
          <p14:sldIdLst>
            <p14:sldId id="274"/>
          </p14:sldIdLst>
        </p14:section>
        <p14:section name="References" id="{f7f7430a-11af-b3f0-81f5-aad4d19b5d90}">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Selected symptoms ever reported, % of symptomatic cases (n = 759)¹</a:t>
            </a:r>
          </a:p>
        </c:rich>
      </c:tx>
      <c:layout/>
      <c:overlay val="0"/>
    </c:title>
    <c:autoTitleDeleted val="0"/>
    <c:plotArea>
      <c:layout/>
      <c:barChart>
        <c:barDir val="bar"/>
        <c:grouping val="clustered"/>
        <c:varyColors val="0"/>
        <c:ser>
          <c:idx val="0"/>
          <c:order val="0"/>
          <c:tx>
            <c:strRef>
              <c:f>Sheet1!$B$1</c:f>
              <c:strCache>
                <c:ptCount val="1"/>
                <c:pt idx="0">
                  <c:v>Ever reported (%)</c:v>
                </c:pt>
              </c:strCache>
            </c:strRef>
          </c:tx>
          <c:spPr>
            <a:solidFill>
              <a:srgbClr val="0B2545"/>
            </a:solidFill>
            <a:effectLst/>
          </c:spPr>
          <c:invertIfNegative val="0"/>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cat>
            <c:multiLvlStrRef>
              <c:f>Sheet1!$A$2:$A$8</c:f>
              <c:multiLvlStrCache>
                <c:ptCount val="7"/>
                <c:lvl>
                  <c:pt idx="0">
                    <c:v>Fever</c:v>
                  </c:pt>
                  <c:pt idx="1">
                    <c:v>Shortness of breath</c:v>
                  </c:pt>
                  <c:pt idx="2">
                    <c:v>Chest pain/pressure</c:v>
                  </c:pt>
                  <c:pt idx="3">
                    <c:v>Altered taste or smell</c:v>
                  </c:pt>
                  <c:pt idx="4">
                    <c:v>Nasal/sinus congestion</c:v>
                  </c:pt>
                  <c:pt idx="5">
                    <c:v>Cough</c:v>
                  </c:pt>
                  <c:pt idx="6">
                    <c:v>Headache</c:v>
                  </c:pt>
                </c:lvl>
              </c:multiLvlStrCache>
            </c:multiLvlStrRef>
          </c:cat>
          <c:val>
            <c:numRef>
              <c:f>Sheet1!$B$2:$B$8</c:f>
              <c:numCache>
                <c:formatCode>General</c:formatCode>
                <c:ptCount val="7"/>
                <c:pt idx="0">
                  <c:v>13.2</c:v>
                </c:pt>
                <c:pt idx="1">
                  <c:v>20.3</c:v>
                </c:pt>
                <c:pt idx="2">
                  <c:v>26.2</c:v>
                </c:pt>
                <c:pt idx="3">
                  <c:v>42.3</c:v>
                </c:pt>
                <c:pt idx="4">
                  <c:v>43.8</c:v>
                </c:pt>
                <c:pt idx="5">
                  <c:v>59.5</c:v>
                </c:pt>
                <c:pt idx="6">
                  <c:v>68</c:v>
                </c:pt>
              </c:numCache>
            </c:numRef>
          </c:val>
        </c:ser>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symptomatic cases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Out of every 100 sailors in each group, how many got infected¹</a:t>
            </a:r>
          </a:p>
        </c:rich>
      </c:tx>
      <c:layout/>
      <c:overlay val="0"/>
    </c:title>
    <c:autoTitleDeleted val="0"/>
    <c:plotArea>
      <c:layout/>
      <c:barChart>
        <c:barDir val="bar"/>
        <c:grouping val="stacked"/>
        <c:varyColors val="0"/>
        <c:ser>
          <c:idx val="0"/>
          <c:order val="0"/>
          <c:tx>
            <c:strRef>
              <c:f>Sheet1!$B$1</c:f>
              <c:strCache>
                <c:ptCount val="1"/>
                <c:pt idx="0">
                  <c:v>Comparison groups</c:v>
                </c:pt>
              </c:strCache>
            </c:strRef>
          </c:tx>
          <c:spPr>
            <a:solidFill>
              <a:srgbClr val="0B2545"/>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BMI under 25 (389 of 1,524)</c:v>
                  </c:pt>
                  <c:pt idx="1">
                    <c:v>Obese (267 of 851)</c:v>
                  </c:pt>
                  <c:pt idx="2">
                    <c:v>Officers (98 of 461)</c:v>
                  </c:pt>
                  <c:pt idx="3">
                    <c:v>Enlisted (1,231 of 4,311)</c:v>
                  </c:pt>
                  <c:pt idx="4">
                    <c:v>Men (1,042 of 3,733)</c:v>
                  </c:pt>
                  <c:pt idx="5">
                    <c:v>Women (289 of 1,046)</c:v>
                  </c:pt>
                </c:lvl>
              </c:multiLvlStrCache>
            </c:multiLvlStrRef>
          </c:cat>
          <c:val>
            <c:numRef>
              <c:f>Sheet1!$B$2:$B$7</c:f>
              <c:numCache>
                <c:formatCode>General</c:formatCode>
                <c:ptCount val="6"/>
                <c:pt idx="0">
                  <c:v>25.5</c:v>
                </c:pt>
                <c:pt idx="1">
                  <c:v>0</c:v>
                </c:pt>
                <c:pt idx="2">
                  <c:v>21.3</c:v>
                </c:pt>
                <c:pt idx="3">
                  <c:v>0</c:v>
                </c:pt>
                <c:pt idx="4">
                  <c:v>27.9</c:v>
                </c:pt>
                <c:pt idx="5">
                  <c:v>27.6</c:v>
                </c:pt>
              </c:numCache>
            </c:numRef>
          </c:val>
        </c:ser>
        <c:ser>
          <c:idx val="1"/>
          <c:order val="1"/>
          <c:tx>
            <c:strRef>
              <c:f>Sheet1!$C$1</c:f>
              <c:strCache>
                <c:ptCount val="1"/>
                <c:pt idx="0">
                  <c:v>Higher-risk groups</c:v>
                </c:pt>
              </c:strCache>
            </c:strRef>
          </c:tx>
          <c:spPr>
            <a:solidFill>
              <a:srgbClr val="D1495B"/>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BMI under 25 (389 of 1,524)</c:v>
                  </c:pt>
                  <c:pt idx="1">
                    <c:v>Obese (267 of 851)</c:v>
                  </c:pt>
                  <c:pt idx="2">
                    <c:v>Officers (98 of 461)</c:v>
                  </c:pt>
                  <c:pt idx="3">
                    <c:v>Enlisted (1,231 of 4,311)</c:v>
                  </c:pt>
                  <c:pt idx="4">
                    <c:v>Men (1,042 of 3,733)</c:v>
                  </c:pt>
                  <c:pt idx="5">
                    <c:v>Women (289 of 1,046)</c:v>
                  </c:pt>
                </c:lvl>
              </c:multiLvlStrCache>
            </c:multiLvlStrRef>
          </c:cat>
          <c:val>
            <c:numRef>
              <c:f>Sheet1!$C$2:$C$7</c:f>
              <c:numCache>
                <c:formatCode>General</c:formatCode>
                <c:ptCount val="6"/>
                <c:pt idx="0">
                  <c:v>0</c:v>
                </c:pt>
                <c:pt idx="1">
                  <c:v>31.4</c:v>
                </c:pt>
                <c:pt idx="2">
                  <c:v>0</c:v>
                </c:pt>
                <c:pt idx="3">
                  <c:v>28.6</c:v>
                </c:pt>
                <c:pt idx="4">
                  <c:v>0</c:v>
                </c:pt>
                <c:pt idx="5">
                  <c:v>0</c:v>
                </c:pt>
              </c:numCache>
            </c:numRef>
          </c:val>
        </c:ser>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Infected per 100 sailors (attack rate)</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today I will tell the story of one Covid-19 outbreak on a U.S. Navy aircraft carrier. The Navy tested and followed every sailor, so we can see the whole outbreak. I will tell it in five parts, shown by the small label at the top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in spring 2020, Covid-19 spread through a U.S. Navy aircraft carrier. Of 4,779 sailors, 1,271 tested positive, about 1 in 4. Very few got seriously ill and one died. Because the Navy tested everyone, we can see the whole outbreak. Look at the 100 little people: 27 are red. That is the share of the crew that got infected.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a carrier is like a small crowded town at sea. Sailors sleep in rows of bunks and eat and work close together. That makes it easy for a virus that spreads through the air to move between people. The outbreak was noticed on day 13 at sea, when three sailors felt sick and tested positive. The two photos come from the article's own supplementary appendix: an empty sleeping area with bunks packed along narrow aisles, and the main mess deck where the crew eats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looking back, the first sailor got sick on March 11, but nobody knew there was an outbreak until March 23, twelve days later. By then the virus had been spreading quietly. The ship reached Guam on March 27 and sailors were separated, but new cases kept appearing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Covid-19 is caused by the SARS-CoV-2 virus. It spreads through tiny particles that people breathe out. The tricky part is that people can pass it on before they feel sick, so they do not know they are contagious. That helps explain a silent start on a crowded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most sailors had mild illness. Headache and cough were most common. Only about 1 in 8 had a fever, so checking temperatures would have missed most infected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investigators needed a rule for who counts as a case. A confirmed case has a positive lab test. A suspected case has Covid-like symptoms but no positive test. Among confirmed cases, some never felt sick, some felt fine at first and got sick later, and some were already sick when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was this a good rule? Mostly yes, because everyone was tested and the lab test is reliable. Only 60 of 1,331 cases were suspected rather than confirmed. One caution is that a single swab can miss a very early infection, and the official definition changed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Navy did not wait for people to report symptoms. They traced close contacts, tested every sailor, linked the results to each person's records, and compared sailors who were infected with those who were not. No air or surface testing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this chart shows new sick sailors each day. One long hill means the virus kept passing from person to person. A single event, like a bad meal, would make one short spike. The first sick sailors appeared a few days after the port visit, and cases kept appearing after the ship docked. The curve only shows sailors who got symptoms, and many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of the sailors who tested positive, more than 3 in 4 felt fine on the day of the test, and nearly half never got sick at all. These silent carriers can still spread the virus. That is why checking only for symptoms could not stop this outbreak. The 100 little people show it: 45 never got sick, 32 felt fine at the test and got sick later, and 23 were already sick.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men and women, and different racial groups, were infected at about the same rate. Enlisted sailors had a higher rate than officers, probably because they sleep in crowded open bays. Obese sailors had a slightly higher rate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where sailors worked mattered. Weapons, supply, engineering and reactor crews, who work in small enclosed spaces, had the highest infection rates. They were about 2.6 times as likely to be infected as air and deck crews, who spend time in open air. Relative risk means how many times as likely. The ship picture is a simplified drawing: the darker the red box, the more of that department got infected.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here are the key numbers in one place. About 1 in 4 sailors were infected, very few were seriously ill, and one died. More than 3 in 4 infected sailors felt fine when tested. Sailors in enclosed workplaces were about 2.6 times as likely to be infected. The last column shows which numbers the authors reported and which I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link between close quarters and infection is strong and it makes sense, because the virus spreads through the air. But a link is not proof of cause. Other things, like rank and where people sleep, may be mixed in. The best explanation is person-to-person spread in close quarters, helped by sailors who felt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big strength is that everyone was tested and followed, so we are not missing the people who felt fine. The limits are that early records were incomplete, the case definition changed, and the comparisons were simple. Nobody measured air flow or sequenced the virus, so we cannot say exactly who infected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once the outbreak was found, the Navy separated the sick sailors, put everyone else in single hotel rooms, and tested again before anyone was released. A small healthy crew stayed on the ship. It was a fast response, but new cases still appeared for at least six weeks after the ship docked.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because sailors can spread the virus without feeling sick, the answer is to test everyone early and reduce crowding, not to wait for symptoms. Do not rely on temperature checks, tell crews that feeling fine does not mean they are not infected, and study the virus's genes to trace who infected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what happened is that Covid-19 infected about 1 in 4 sailors on a carrier in eight weeks. It was caused by a virus that can spread before people feel sick. Enlisted crews and small, enclosed workplaces had the highest rates. The lesson: in any crowded place, assume the virus may already be there, test early, and do not wait for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rtlCol="0"/>
          <a:lstStyle>
            <a:lvl1pPr algn="ctr" indent="0" marL="0">
              <a:buNone/>
              <a:defRPr lang="en-US" sz="1100" b="1" dirty="0">
                <a:solidFill>
                  <a:schemeClr val="accent6"/>
                </a:solidFill>
              </a:defRPr>
            </a:lvl1pPr>
          </a:lstStyle>
          <a:p>
            <a:pPr algn="ctr" indent="0" marL="0">
              <a:buNone/>
            </a:pP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Happened: The Outbreak in Numbers</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pictograph card"/>
          <p:cNvSpPr/>
          <p:nvPr/>
        </p:nvSpPr>
        <p:spPr>
          <a:xfrm>
            <a:off x="548640" y="1325880"/>
            <a:ext cx="4846320" cy="4846320"/>
          </a:xfrm>
          <a:prstGeom prst="roundRect">
            <a:avLst>
              <a:gd name="adj" fmla="val 2264"/>
            </a:avLst>
          </a:prstGeom>
          <a:solidFill>
            <a:schemeClr val="bg2"/>
          </a:solidFill>
          <a:ln/>
        </p:spPr>
      </p:sp>
      <p:sp>
        <p:nvSpPr>
          <p:cNvPr id="6" name="Text 4"/>
          <p:cNvSpPr txBox="1"/>
          <p:nvPr/>
        </p:nvSpPr>
        <p:spPr>
          <a:xfrm>
            <a:off x="777240" y="1417320"/>
            <a:ext cx="4389120" cy="457200"/>
          </a:xfrm>
          <a:prstGeom prst="rect">
            <a:avLst/>
          </a:prstGeom>
          <a:noFill/>
          <a:ln/>
        </p:spPr>
        <p:txBody>
          <a:bodyPr wrap="square" lIns="635" tIns="635" rIns="635" bIns="635" rtlCol="0" anchor="t"/>
          <a:lstStyle/>
          <a:p>
            <a:pPr indent="0" marL="0">
              <a:buNone/>
            </a:pPr>
            <a:r>
              <a:rPr lang="en-US" sz="1900" b="1" dirty="0">
                <a:solidFill>
                  <a:schemeClr val="tx2"/>
                </a:solidFill>
                <a:latin typeface="Cambria" pitchFamily="34" charset="0"/>
                <a:ea typeface="Cambria" pitchFamily="34" charset="-122"/>
                <a:cs typeface="Cambria" pitchFamily="34" charset="-120"/>
              </a:rPr>
              <a:t>If the crew were 100 sailors...</a:t>
            </a:r>
            <a:endParaRPr lang="en-US" sz="1900" dirty="0"/>
          </a:p>
        </p:txBody>
      </p:sp>
      <p:pic>
        <p:nvPicPr>
          <p:cNvPr id="7" name="100 sailors pictograph" descr="Ten by ten grid of 100 people: 27 in red are infected and 73 in blue are not">    </p:cNvPr>
          <p:cNvPicPr>
            <a:picLocks noChangeAspect="1"/>
          </p:cNvPicPr>
          <p:nvPr/>
        </p:nvPicPr>
        <p:blipFill>
          <a:blip r:embed="rId1"/>
          <a:stretch>
            <a:fillRect/>
          </a:stretch>
        </p:blipFill>
        <p:spPr>
          <a:xfrm>
            <a:off x="1051560" y="1920240"/>
            <a:ext cx="3291840" cy="3621024"/>
          </a:xfrm>
          <a:prstGeom prst="rect">
            <a:avLst/>
          </a:prstGeom>
        </p:spPr>
      </p:pic>
      <p:sp>
        <p:nvSpPr>
          <p:cNvPr id="8" name="legend swatch 27 infected (1,271 of 4,779)"/>
          <p:cNvSpPr/>
          <p:nvPr/>
        </p:nvSpPr>
        <p:spPr>
          <a:xfrm>
            <a:off x="868680" y="5669280"/>
            <a:ext cx="182880" cy="182880"/>
          </a:xfrm>
          <a:prstGeom prst="rect">
            <a:avLst/>
          </a:prstGeom>
          <a:solidFill>
            <a:srgbClr val="D1495B"/>
          </a:solidFill>
          <a:ln/>
        </p:spPr>
      </p:sp>
      <p:sp>
        <p:nvSpPr>
          <p:cNvPr id="9" name="Text 6"/>
          <p:cNvSpPr txBox="1"/>
          <p:nvPr/>
        </p:nvSpPr>
        <p:spPr>
          <a:xfrm>
            <a:off x="1115568" y="5577840"/>
            <a:ext cx="2286000" cy="365760"/>
          </a:xfrm>
          <a:prstGeom prst="rect">
            <a:avLst/>
          </a:prstGeom>
          <a:noFill/>
          <a:ln/>
        </p:spPr>
        <p:txBody>
          <a:bodyPr wrap="square" lIns="0" tIns="0" rIns="0" bIns="0" rtlCol="0" anchor="ctr"/>
          <a:lstStyle/>
          <a:p>
            <a:pPr indent="0" marL="0">
              <a:buNone/>
            </a:pPr>
            <a:r>
              <a:rPr lang="en-US" sz="1300" dirty="0">
                <a:solidFill>
                  <a:schemeClr val="tx1"/>
                </a:solidFill>
              </a:rPr>
              <a:t>27 infected (1,271 of 4,779)</a:t>
            </a:r>
            <a:endParaRPr lang="en-US" sz="1300" dirty="0"/>
          </a:p>
        </p:txBody>
      </p:sp>
      <p:sp>
        <p:nvSpPr>
          <p:cNvPr id="10" name="legend swatch 73 not infected"/>
          <p:cNvSpPr/>
          <p:nvPr/>
        </p:nvSpPr>
        <p:spPr>
          <a:xfrm>
            <a:off x="3429000" y="5669280"/>
            <a:ext cx="182880" cy="182880"/>
          </a:xfrm>
          <a:prstGeom prst="rect">
            <a:avLst/>
          </a:prstGeom>
          <a:solidFill>
            <a:srgbClr val="8DA9C4"/>
          </a:solidFill>
          <a:ln/>
        </p:spPr>
      </p:sp>
      <p:sp>
        <p:nvSpPr>
          <p:cNvPr id="11" name="Text 8"/>
          <p:cNvSpPr txBox="1"/>
          <p:nvPr/>
        </p:nvSpPr>
        <p:spPr>
          <a:xfrm>
            <a:off x="3675888" y="5577840"/>
            <a:ext cx="1737360" cy="365760"/>
          </a:xfrm>
          <a:prstGeom prst="rect">
            <a:avLst/>
          </a:prstGeom>
          <a:noFill/>
          <a:ln/>
        </p:spPr>
        <p:txBody>
          <a:bodyPr wrap="square" lIns="0" tIns="0" rIns="0" bIns="0" rtlCol="0" anchor="ctr"/>
          <a:lstStyle/>
          <a:p>
            <a:pPr indent="0" marL="0">
              <a:buNone/>
            </a:pPr>
            <a:r>
              <a:rPr lang="en-US" sz="1300" dirty="0">
                <a:solidFill>
                  <a:schemeClr val="tx1"/>
                </a:solidFill>
              </a:rPr>
              <a:t>73 not infected</a:t>
            </a:r>
            <a:endParaRPr lang="en-US" sz="1300" dirty="0"/>
          </a:p>
        </p:txBody>
      </p:sp>
      <p:sp>
        <p:nvSpPr>
          <p:cNvPr id="12" name="stat card 1"/>
          <p:cNvSpPr/>
          <p:nvPr/>
        </p:nvSpPr>
        <p:spPr>
          <a:xfrm>
            <a:off x="5623560" y="1325880"/>
            <a:ext cx="2880360" cy="2331720"/>
          </a:xfrm>
          <a:prstGeom prst="roundRect">
            <a:avLst>
              <a:gd name="adj" fmla="val 4706"/>
            </a:avLst>
          </a:prstGeom>
          <a:solidFill>
            <a:schemeClr val="bg2"/>
          </a:solidFill>
          <a:ln/>
        </p:spPr>
      </p:sp>
      <p:sp>
        <p:nvSpPr>
          <p:cNvPr id="13" name="stat icon 1 circle"/>
          <p:cNvSpPr/>
          <p:nvPr/>
        </p:nvSpPr>
        <p:spPr>
          <a:xfrm>
            <a:off x="5852160" y="1554480"/>
            <a:ext cx="566928" cy="566928"/>
          </a:xfrm>
          <a:prstGeom prst="ellipse">
            <a:avLst/>
          </a:prstGeom>
          <a:solidFill>
            <a:schemeClr val="accent1"/>
          </a:solidFill>
          <a:ln/>
        </p:spPr>
      </p:sp>
      <p:pic>
        <p:nvPicPr>
          <p:cNvPr id="14" name="stat icon 1" descr="stat icon 1">    </p:cNvPr>
          <p:cNvPicPr>
            <a:picLocks noChangeAspect="1"/>
          </p:cNvPicPr>
          <p:nvPr/>
        </p:nvPicPr>
        <p:blipFill>
          <a:blip r:embed="rId2"/>
          <a:stretch>
            <a:fillRect/>
          </a:stretch>
        </p:blipFill>
        <p:spPr>
          <a:xfrm>
            <a:off x="5988223" y="1690543"/>
            <a:ext cx="294803" cy="294803"/>
          </a:xfrm>
          <a:prstGeom prst="rect">
            <a:avLst/>
          </a:prstGeom>
        </p:spPr>
      </p:pic>
      <p:sp>
        <p:nvSpPr>
          <p:cNvPr id="15" name="Text 11"/>
          <p:cNvSpPr txBox="1"/>
          <p:nvPr/>
        </p:nvSpPr>
        <p:spPr>
          <a:xfrm>
            <a:off x="6492240" y="1463040"/>
            <a:ext cx="1920240" cy="777240"/>
          </a:xfrm>
          <a:prstGeom prst="rect">
            <a:avLst/>
          </a:prstGeom>
          <a:noFill/>
          <a:ln/>
        </p:spPr>
        <p:txBody>
          <a:bodyPr wrap="square" lIns="635" tIns="635" rIns="635" bIns="635"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4,779</a:t>
            </a:r>
            <a:endParaRPr lang="en-US" sz="4000" dirty="0"/>
          </a:p>
        </p:txBody>
      </p:sp>
      <p:sp>
        <p:nvSpPr>
          <p:cNvPr id="16" name="Text 12"/>
          <p:cNvSpPr txBox="1"/>
          <p:nvPr/>
        </p:nvSpPr>
        <p:spPr>
          <a:xfrm>
            <a:off x="5852160" y="2331720"/>
            <a:ext cx="2468880" cy="1280160"/>
          </a:xfrm>
          <a:prstGeom prst="rect">
            <a:avLst/>
          </a:prstGeom>
          <a:noFill/>
          <a:ln/>
        </p:spPr>
        <p:txBody>
          <a:bodyPr wrap="square" lIns="635" tIns="635" rIns="635" bIns="635" rtlCol="0" anchor="t"/>
          <a:lstStyle/>
          <a:p>
            <a:pPr indent="0" marL="0">
              <a:buNone/>
            </a:pPr>
            <a:r>
              <a:rPr lang="en-US" sz="1400" dirty="0">
                <a:solidFill>
                  <a:schemeClr val="tx1"/>
                </a:solidFill>
              </a:rPr>
              <a:t>sailors on board the U.S.S. Theodore Roosevelt</a:t>
            </a:r>
            <a:r>
              <a:rPr lang="en-US" sz="1400" baseline="30000" dirty="0">
                <a:solidFill>
                  <a:schemeClr val="tx1"/>
                </a:solidFill>
              </a:rPr>
              <a:t>1</a:t>
            </a:r>
            <a:endParaRPr lang="en-US" sz="1400" dirty="0"/>
          </a:p>
        </p:txBody>
      </p:sp>
      <p:sp>
        <p:nvSpPr>
          <p:cNvPr id="17" name="stat card 2"/>
          <p:cNvSpPr/>
          <p:nvPr/>
        </p:nvSpPr>
        <p:spPr>
          <a:xfrm>
            <a:off x="8732520" y="1325880"/>
            <a:ext cx="2880360" cy="2331720"/>
          </a:xfrm>
          <a:prstGeom prst="roundRect">
            <a:avLst>
              <a:gd name="adj" fmla="val 4706"/>
            </a:avLst>
          </a:prstGeom>
          <a:solidFill>
            <a:schemeClr val="bg2"/>
          </a:solidFill>
          <a:ln/>
        </p:spPr>
      </p:sp>
      <p:sp>
        <p:nvSpPr>
          <p:cNvPr id="18" name="stat icon 2 circle"/>
          <p:cNvSpPr/>
          <p:nvPr/>
        </p:nvSpPr>
        <p:spPr>
          <a:xfrm>
            <a:off x="8961120" y="1554480"/>
            <a:ext cx="566928" cy="566928"/>
          </a:xfrm>
          <a:prstGeom prst="ellipse">
            <a:avLst/>
          </a:prstGeom>
          <a:solidFill>
            <a:schemeClr val="accent2"/>
          </a:solidFill>
          <a:ln/>
        </p:spPr>
      </p:sp>
      <p:pic>
        <p:nvPicPr>
          <p:cNvPr id="19" name="stat icon 2" descr="stat icon 2">    </p:cNvPr>
          <p:cNvPicPr>
            <a:picLocks noChangeAspect="1"/>
          </p:cNvPicPr>
          <p:nvPr/>
        </p:nvPicPr>
        <p:blipFill>
          <a:blip r:embed="rId3"/>
          <a:stretch>
            <a:fillRect/>
          </a:stretch>
        </p:blipFill>
        <p:spPr>
          <a:xfrm>
            <a:off x="9097183" y="1690543"/>
            <a:ext cx="294803" cy="294803"/>
          </a:xfrm>
          <a:prstGeom prst="rect">
            <a:avLst/>
          </a:prstGeom>
        </p:spPr>
      </p:pic>
      <p:sp>
        <p:nvSpPr>
          <p:cNvPr id="20" name="Text 15"/>
          <p:cNvSpPr txBox="1"/>
          <p:nvPr/>
        </p:nvSpPr>
        <p:spPr>
          <a:xfrm>
            <a:off x="9601200" y="1463040"/>
            <a:ext cx="1920240" cy="777240"/>
          </a:xfrm>
          <a:prstGeom prst="rect">
            <a:avLst/>
          </a:prstGeom>
          <a:noFill/>
          <a:ln/>
        </p:spPr>
        <p:txBody>
          <a:bodyPr wrap="square" lIns="635" tIns="635" rIns="635" bIns="635"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1,271</a:t>
            </a:r>
            <a:endParaRPr lang="en-US" sz="4000" dirty="0"/>
          </a:p>
        </p:txBody>
      </p:sp>
      <p:sp>
        <p:nvSpPr>
          <p:cNvPr id="21" name="Text 16"/>
          <p:cNvSpPr txBox="1"/>
          <p:nvPr/>
        </p:nvSpPr>
        <p:spPr>
          <a:xfrm>
            <a:off x="8961120" y="2331720"/>
            <a:ext cx="2468880" cy="1280160"/>
          </a:xfrm>
          <a:prstGeom prst="rect">
            <a:avLst/>
          </a:prstGeom>
          <a:noFill/>
          <a:ln/>
        </p:spPr>
        <p:txBody>
          <a:bodyPr wrap="square" lIns="635" tIns="635" rIns="635" bIns="635" rtlCol="0" anchor="t"/>
          <a:lstStyle/>
          <a:p>
            <a:pPr indent="0" marL="0">
              <a:buNone/>
            </a:pPr>
            <a:r>
              <a:rPr lang="en-US" sz="1400" dirty="0">
                <a:solidFill>
                  <a:schemeClr val="tx1"/>
                </a:solidFill>
              </a:rPr>
              <a:t>tested positive: about 1 in 4 sailors. 60 more had Covid-like symptoms but no positive test</a:t>
            </a:r>
            <a:r>
              <a:rPr lang="en-US" sz="1400" baseline="30000" dirty="0">
                <a:solidFill>
                  <a:schemeClr val="tx1"/>
                </a:solidFill>
              </a:rPr>
              <a:t>1</a:t>
            </a:r>
            <a:endParaRPr lang="en-US" sz="1400" dirty="0"/>
          </a:p>
        </p:txBody>
      </p:sp>
      <p:sp>
        <p:nvSpPr>
          <p:cNvPr id="22" name="stat card 3"/>
          <p:cNvSpPr/>
          <p:nvPr/>
        </p:nvSpPr>
        <p:spPr>
          <a:xfrm>
            <a:off x="5623560" y="3794760"/>
            <a:ext cx="2880360" cy="2331720"/>
          </a:xfrm>
          <a:prstGeom prst="roundRect">
            <a:avLst>
              <a:gd name="adj" fmla="val 4706"/>
            </a:avLst>
          </a:prstGeom>
          <a:solidFill>
            <a:schemeClr val="bg2"/>
          </a:solidFill>
          <a:ln/>
        </p:spPr>
      </p:sp>
      <p:sp>
        <p:nvSpPr>
          <p:cNvPr id="23" name="stat icon 3 circle"/>
          <p:cNvSpPr/>
          <p:nvPr/>
        </p:nvSpPr>
        <p:spPr>
          <a:xfrm>
            <a:off x="5852160" y="4023360"/>
            <a:ext cx="566928" cy="566928"/>
          </a:xfrm>
          <a:prstGeom prst="ellipse">
            <a:avLst/>
          </a:prstGeom>
          <a:solidFill>
            <a:schemeClr val="accent5"/>
          </a:solidFill>
          <a:ln/>
        </p:spPr>
      </p:sp>
      <p:pic>
        <p:nvPicPr>
          <p:cNvPr id="24" name="stat icon 3" descr="stat icon 3">    </p:cNvPr>
          <p:cNvPicPr>
            <a:picLocks noChangeAspect="1"/>
          </p:cNvPicPr>
          <p:nvPr/>
        </p:nvPicPr>
        <p:blipFill>
          <a:blip r:embed="rId4"/>
          <a:stretch>
            <a:fillRect/>
          </a:stretch>
        </p:blipFill>
        <p:spPr>
          <a:xfrm>
            <a:off x="5988223" y="4159423"/>
            <a:ext cx="294803" cy="294803"/>
          </a:xfrm>
          <a:prstGeom prst="rect">
            <a:avLst/>
          </a:prstGeom>
        </p:spPr>
      </p:pic>
      <p:sp>
        <p:nvSpPr>
          <p:cNvPr id="25" name="Text 19"/>
          <p:cNvSpPr txBox="1"/>
          <p:nvPr/>
        </p:nvSpPr>
        <p:spPr>
          <a:xfrm>
            <a:off x="6492240" y="3931920"/>
            <a:ext cx="1920240" cy="777240"/>
          </a:xfrm>
          <a:prstGeom prst="rect">
            <a:avLst/>
          </a:prstGeom>
          <a:noFill/>
          <a:ln/>
        </p:spPr>
        <p:txBody>
          <a:bodyPr wrap="square" lIns="635" tIns="635" rIns="635" bIns="635" rtlCol="0" anchor="ctr"/>
          <a:lstStyle/>
          <a:p>
            <a:pPr indent="0" marL="0">
              <a:buNone/>
            </a:pPr>
            <a:r>
              <a:rPr lang="en-US" sz="4000" b="1" dirty="0">
                <a:solidFill>
                  <a:schemeClr val="accent5"/>
                </a:solidFill>
                <a:latin typeface="Cambria" pitchFamily="34" charset="0"/>
                <a:ea typeface="Cambria" pitchFamily="34" charset="-122"/>
                <a:cs typeface="Cambria" pitchFamily="34" charset="-120"/>
              </a:rPr>
              <a:t>23</a:t>
            </a:r>
            <a:endParaRPr lang="en-US" sz="4000" dirty="0"/>
          </a:p>
        </p:txBody>
      </p:sp>
      <p:sp>
        <p:nvSpPr>
          <p:cNvPr id="26" name="Text 20"/>
          <p:cNvSpPr txBox="1"/>
          <p:nvPr/>
        </p:nvSpPr>
        <p:spPr>
          <a:xfrm>
            <a:off x="5852160" y="4800600"/>
            <a:ext cx="2468880" cy="1280160"/>
          </a:xfrm>
          <a:prstGeom prst="rect">
            <a:avLst/>
          </a:prstGeom>
          <a:noFill/>
          <a:ln/>
        </p:spPr>
        <p:txBody>
          <a:bodyPr wrap="square" lIns="635" tIns="635" rIns="635" bIns="635" rtlCol="0" anchor="t"/>
          <a:lstStyle/>
          <a:p>
            <a:pPr indent="0" marL="0">
              <a:buNone/>
            </a:pPr>
            <a:r>
              <a:rPr lang="en-US" sz="1400" dirty="0">
                <a:solidFill>
                  <a:schemeClr val="tx1"/>
                </a:solidFill>
              </a:rPr>
              <a:t>were hospitalized, about 2 of every 100 infected sailors. 4 needed intensive care</a:t>
            </a:r>
            <a:r>
              <a:rPr lang="en-US" sz="1400" baseline="30000" dirty="0">
                <a:solidFill>
                  <a:schemeClr val="tx1"/>
                </a:solidFill>
              </a:rPr>
              <a:t>1</a:t>
            </a:r>
            <a:endParaRPr lang="en-US" sz="1400" dirty="0"/>
          </a:p>
        </p:txBody>
      </p:sp>
      <p:sp>
        <p:nvSpPr>
          <p:cNvPr id="27" name="stat card 4"/>
          <p:cNvSpPr/>
          <p:nvPr/>
        </p:nvSpPr>
        <p:spPr>
          <a:xfrm>
            <a:off x="8732520" y="3794760"/>
            <a:ext cx="2880360" cy="2331720"/>
          </a:xfrm>
          <a:prstGeom prst="roundRect">
            <a:avLst>
              <a:gd name="adj" fmla="val 4706"/>
            </a:avLst>
          </a:prstGeom>
          <a:solidFill>
            <a:schemeClr val="bg2"/>
          </a:solidFill>
          <a:ln/>
        </p:spPr>
      </p:sp>
      <p:sp>
        <p:nvSpPr>
          <p:cNvPr id="28" name="stat icon 4 circle"/>
          <p:cNvSpPr/>
          <p:nvPr/>
        </p:nvSpPr>
        <p:spPr>
          <a:xfrm>
            <a:off x="8961120" y="4023360"/>
            <a:ext cx="566928" cy="566928"/>
          </a:xfrm>
          <a:prstGeom prst="ellipse">
            <a:avLst/>
          </a:prstGeom>
          <a:solidFill>
            <a:schemeClr val="accent2"/>
          </a:solidFill>
          <a:ln/>
        </p:spPr>
      </p:sp>
      <p:pic>
        <p:nvPicPr>
          <p:cNvPr id="29" name="stat icon 4" descr="stat icon 4">    </p:cNvPr>
          <p:cNvPicPr>
            <a:picLocks noChangeAspect="1"/>
          </p:cNvPicPr>
          <p:nvPr/>
        </p:nvPicPr>
        <p:blipFill>
          <a:blip r:embed="rId5"/>
          <a:stretch>
            <a:fillRect/>
          </a:stretch>
        </p:blipFill>
        <p:spPr>
          <a:xfrm>
            <a:off x="9097183" y="4159423"/>
            <a:ext cx="294803" cy="294803"/>
          </a:xfrm>
          <a:prstGeom prst="rect">
            <a:avLst/>
          </a:prstGeom>
        </p:spPr>
      </p:pic>
      <p:sp>
        <p:nvSpPr>
          <p:cNvPr id="30" name="Text 23"/>
          <p:cNvSpPr txBox="1"/>
          <p:nvPr/>
        </p:nvSpPr>
        <p:spPr>
          <a:xfrm>
            <a:off x="9601200" y="3931920"/>
            <a:ext cx="1920240" cy="777240"/>
          </a:xfrm>
          <a:prstGeom prst="rect">
            <a:avLst/>
          </a:prstGeom>
          <a:noFill/>
          <a:ln/>
        </p:spPr>
        <p:txBody>
          <a:bodyPr wrap="square" lIns="635" tIns="635" rIns="635" bIns="635"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a:t>
            </a:r>
            <a:endParaRPr lang="en-US" sz="4000" dirty="0"/>
          </a:p>
        </p:txBody>
      </p:sp>
      <p:sp>
        <p:nvSpPr>
          <p:cNvPr id="31" name="Text 24"/>
          <p:cNvSpPr txBox="1"/>
          <p:nvPr/>
        </p:nvSpPr>
        <p:spPr>
          <a:xfrm>
            <a:off x="8961120" y="4800600"/>
            <a:ext cx="2468880" cy="1280160"/>
          </a:xfrm>
          <a:prstGeom prst="rect">
            <a:avLst/>
          </a:prstGeom>
          <a:noFill/>
          <a:ln/>
        </p:spPr>
        <p:txBody>
          <a:bodyPr wrap="square" lIns="635" tIns="635" rIns="635" bIns="635" rtlCol="0" anchor="t"/>
          <a:lstStyle/>
          <a:p>
            <a:pPr indent="0" marL="0">
              <a:buNone/>
            </a:pPr>
            <a:r>
              <a:rPr lang="en-US" sz="1400" dirty="0">
                <a:solidFill>
                  <a:schemeClr val="tx1"/>
                </a:solidFill>
              </a:rPr>
              <a:t>sailor died, from heart-related complications of Covid-19</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Setting: Close Quarters at Sea</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including Figures S1 and S2 of the Supplementary Appendix (photos).</a:t>
            </a:r>
            <a:endParaRPr lang="en-US" sz="1000" dirty="0"/>
          </a:p>
        </p:txBody>
      </p:sp>
      <p:sp>
        <p:nvSpPr>
          <p:cNvPr id="5" name="Setting icon circle"/>
          <p:cNvSpPr/>
          <p:nvPr/>
        </p:nvSpPr>
        <p:spPr>
          <a:xfrm>
            <a:off x="548640" y="1463040"/>
            <a:ext cx="685800" cy="685800"/>
          </a:xfrm>
          <a:prstGeom prst="ellipse">
            <a:avLst/>
          </a:prstGeom>
          <a:solidFill>
            <a:schemeClr val="accent1"/>
          </a:solidFill>
          <a:ln/>
        </p:spPr>
      </p:sp>
      <p:pic>
        <p:nvPicPr>
          <p:cNvPr id="6" name="Setting icon" descr="Setting icon">    </p:cNvPr>
          <p:cNvPicPr>
            <a:picLocks noChangeAspect="1"/>
          </p:cNvPicPr>
          <p:nvPr/>
        </p:nvPicPr>
        <p:blipFill>
          <a:blip r:embed="rId1"/>
          <a:stretch>
            <a:fillRect/>
          </a:stretch>
        </p:blipFill>
        <p:spPr>
          <a:xfrm>
            <a:off x="713232" y="1627632"/>
            <a:ext cx="356616" cy="356616"/>
          </a:xfrm>
          <a:prstGeom prst="rect">
            <a:avLst/>
          </a:prstGeom>
        </p:spPr>
      </p:pic>
      <p:sp>
        <p:nvSpPr>
          <p:cNvPr id="7" name="Text 4"/>
          <p:cNvSpPr txBox="1"/>
          <p:nvPr/>
        </p:nvSpPr>
        <p:spPr>
          <a:xfrm>
            <a:off x="1371600" y="1371600"/>
            <a:ext cx="3749040" cy="1097280"/>
          </a:xfrm>
          <a:prstGeom prst="rect">
            <a:avLst/>
          </a:prstGeom>
          <a:noFill/>
          <a:ln/>
        </p:spPr>
        <p:txBody>
          <a:bodyPr wrap="square" lIns="635" tIns="635" rIns="635" bIns="635" rtlCol="0" anchor="ctr"/>
          <a:lstStyle/>
          <a:p>
            <a:pPr indent="0" marL="0">
              <a:buNone/>
            </a:pPr>
            <a:r>
              <a:rPr lang="en-US" sz="1700" b="1" dirty="0">
                <a:solidFill>
                  <a:schemeClr val="tx2"/>
                </a:solidFill>
              </a:rPr>
              <a:t>Setting</a:t>
            </a:r>
            <a:endParaRPr lang="en-US" sz="1450" dirty="0"/>
          </a:p>
          <a:p>
            <a:pPr indent="0" marL="0">
              <a:buNone/>
            </a:pPr>
            <a:r>
              <a:rPr lang="en-US" sz="1450" dirty="0">
                <a:solidFill>
                  <a:schemeClr val="tx1"/>
                </a:solidFill>
              </a:rPr>
              <a:t>A nuclear-powered carrier at sea in the Western Pacific. Later it docked at U.S. Naval Base Guam</a:t>
            </a:r>
            <a:r>
              <a:rPr lang="en-US" sz="1450" baseline="30000" dirty="0">
                <a:solidFill>
                  <a:schemeClr val="tx1"/>
                </a:solidFill>
              </a:rPr>
              <a:t>1</a:t>
            </a:r>
            <a:endParaRPr lang="en-US" sz="1450" dirty="0"/>
          </a:p>
        </p:txBody>
      </p:sp>
      <p:sp>
        <p:nvSpPr>
          <p:cNvPr id="8" name="Living conditions icon circle"/>
          <p:cNvSpPr/>
          <p:nvPr/>
        </p:nvSpPr>
        <p:spPr>
          <a:xfrm>
            <a:off x="548640" y="2651760"/>
            <a:ext cx="685800" cy="685800"/>
          </a:xfrm>
          <a:prstGeom prst="ellipse">
            <a:avLst/>
          </a:prstGeom>
          <a:solidFill>
            <a:schemeClr val="accent1"/>
          </a:solidFill>
          <a:ln/>
        </p:spPr>
      </p:sp>
      <p:pic>
        <p:nvPicPr>
          <p:cNvPr id="9" name="Living conditions icon" descr="Living conditions icon">    </p:cNvPr>
          <p:cNvPicPr>
            <a:picLocks noChangeAspect="1"/>
          </p:cNvPicPr>
          <p:nvPr/>
        </p:nvPicPr>
        <p:blipFill>
          <a:blip r:embed="rId2"/>
          <a:stretch>
            <a:fillRect/>
          </a:stretch>
        </p:blipFill>
        <p:spPr>
          <a:xfrm>
            <a:off x="713232" y="2816352"/>
            <a:ext cx="356616" cy="356616"/>
          </a:xfrm>
          <a:prstGeom prst="rect">
            <a:avLst/>
          </a:prstGeom>
        </p:spPr>
      </p:pic>
      <p:sp>
        <p:nvSpPr>
          <p:cNvPr id="10" name="Text 6"/>
          <p:cNvSpPr txBox="1"/>
          <p:nvPr/>
        </p:nvSpPr>
        <p:spPr>
          <a:xfrm>
            <a:off x="1371600" y="2560320"/>
            <a:ext cx="3749040" cy="1097280"/>
          </a:xfrm>
          <a:prstGeom prst="rect">
            <a:avLst/>
          </a:prstGeom>
          <a:noFill/>
          <a:ln/>
        </p:spPr>
        <p:txBody>
          <a:bodyPr wrap="square" lIns="635" tIns="635" rIns="635" bIns="635" rtlCol="0" anchor="ctr"/>
          <a:lstStyle/>
          <a:p>
            <a:pPr indent="0" marL="0">
              <a:buNone/>
            </a:pPr>
            <a:r>
              <a:rPr lang="en-US" sz="1700" b="1" dirty="0">
                <a:solidFill>
                  <a:schemeClr val="tx2"/>
                </a:solidFill>
              </a:rPr>
              <a:t>Living conditions</a:t>
            </a:r>
            <a:endParaRPr lang="en-US" sz="1450" dirty="0"/>
          </a:p>
          <a:p>
            <a:pPr indent="0" marL="0">
              <a:buNone/>
            </a:pPr>
            <a:r>
              <a:rPr lang="en-US" sz="1450" dirty="0">
                <a:solidFill>
                  <a:schemeClr val="tx1"/>
                </a:solidFill>
              </a:rPr>
              <a:t>Enlisted sailors sleep in open bays of tightly spaced bunks and eat in crowded galleys</a:t>
            </a:r>
            <a:r>
              <a:rPr lang="en-US" sz="1450" baseline="30000" dirty="0">
                <a:solidFill>
                  <a:schemeClr val="tx1"/>
                </a:solidFill>
              </a:rPr>
              <a:t>1</a:t>
            </a:r>
            <a:endParaRPr lang="en-US" sz="1450" dirty="0"/>
          </a:p>
        </p:txBody>
      </p:sp>
      <p:sp>
        <p:nvSpPr>
          <p:cNvPr id="11" name="Population icon circle"/>
          <p:cNvSpPr/>
          <p:nvPr/>
        </p:nvSpPr>
        <p:spPr>
          <a:xfrm>
            <a:off x="548640" y="3840480"/>
            <a:ext cx="685800" cy="685800"/>
          </a:xfrm>
          <a:prstGeom prst="ellipse">
            <a:avLst/>
          </a:prstGeom>
          <a:solidFill>
            <a:schemeClr val="accent1"/>
          </a:solidFill>
          <a:ln/>
        </p:spPr>
      </p:sp>
      <p:pic>
        <p:nvPicPr>
          <p:cNvPr id="12" name="Population icon" descr="Population icon">    </p:cNvPr>
          <p:cNvPicPr>
            <a:picLocks noChangeAspect="1"/>
          </p:cNvPicPr>
          <p:nvPr/>
        </p:nvPicPr>
        <p:blipFill>
          <a:blip r:embed="rId3"/>
          <a:stretch>
            <a:fillRect/>
          </a:stretch>
        </p:blipFill>
        <p:spPr>
          <a:xfrm>
            <a:off x="713232" y="4005072"/>
            <a:ext cx="356616" cy="356616"/>
          </a:xfrm>
          <a:prstGeom prst="rect">
            <a:avLst/>
          </a:prstGeom>
        </p:spPr>
      </p:pic>
      <p:sp>
        <p:nvSpPr>
          <p:cNvPr id="13" name="Text 8"/>
          <p:cNvSpPr txBox="1"/>
          <p:nvPr/>
        </p:nvSpPr>
        <p:spPr>
          <a:xfrm>
            <a:off x="1371600" y="3749040"/>
            <a:ext cx="3749040" cy="1097280"/>
          </a:xfrm>
          <a:prstGeom prst="rect">
            <a:avLst/>
          </a:prstGeom>
          <a:noFill/>
          <a:ln/>
        </p:spPr>
        <p:txBody>
          <a:bodyPr wrap="square" lIns="635" tIns="635" rIns="635" bIns="635" rtlCol="0" anchor="ctr"/>
          <a:lstStyle/>
          <a:p>
            <a:pPr indent="0" marL="0">
              <a:buNone/>
            </a:pPr>
            <a:r>
              <a:rPr lang="en-US" sz="1700" b="1" dirty="0">
                <a:solidFill>
                  <a:schemeClr val="tx2"/>
                </a:solidFill>
              </a:rPr>
              <a:t>Population</a:t>
            </a:r>
            <a:endParaRPr lang="en-US" sz="1450" dirty="0"/>
          </a:p>
          <a:p>
            <a:pPr indent="0" marL="0">
              <a:buNone/>
            </a:pPr>
            <a:r>
              <a:rPr lang="en-US" sz="1450" dirty="0">
                <a:solidFill>
                  <a:schemeClr val="tx1"/>
                </a:solidFill>
              </a:rPr>
              <a:t>4,779 crew, average age 27, about 8 in 10 men, all fit for sea duty</a:t>
            </a:r>
            <a:r>
              <a:rPr lang="en-US" sz="1450" baseline="30000" dirty="0">
                <a:solidFill>
                  <a:schemeClr val="tx1"/>
                </a:solidFill>
              </a:rPr>
              <a:t>1</a:t>
            </a:r>
            <a:endParaRPr lang="en-US" sz="1450" dirty="0"/>
          </a:p>
        </p:txBody>
      </p:sp>
      <p:sp>
        <p:nvSpPr>
          <p:cNvPr id="14" name="Detection icon circle"/>
          <p:cNvSpPr/>
          <p:nvPr/>
        </p:nvSpPr>
        <p:spPr>
          <a:xfrm>
            <a:off x="548640" y="5029200"/>
            <a:ext cx="685800" cy="685800"/>
          </a:xfrm>
          <a:prstGeom prst="ellipse">
            <a:avLst/>
          </a:prstGeom>
          <a:solidFill>
            <a:schemeClr val="accent1"/>
          </a:solidFill>
          <a:ln/>
        </p:spPr>
      </p:sp>
      <p:pic>
        <p:nvPicPr>
          <p:cNvPr id="15" name="Detection icon" descr="Detection icon">    </p:cNvPr>
          <p:cNvPicPr>
            <a:picLocks noChangeAspect="1"/>
          </p:cNvPicPr>
          <p:nvPr/>
        </p:nvPicPr>
        <p:blipFill>
          <a:blip r:embed="rId4"/>
          <a:stretch>
            <a:fillRect/>
          </a:stretch>
        </p:blipFill>
        <p:spPr>
          <a:xfrm>
            <a:off x="713232" y="5193792"/>
            <a:ext cx="356616" cy="356616"/>
          </a:xfrm>
          <a:prstGeom prst="rect">
            <a:avLst/>
          </a:prstGeom>
        </p:spPr>
      </p:pic>
      <p:sp>
        <p:nvSpPr>
          <p:cNvPr id="16" name="Text 10"/>
          <p:cNvSpPr txBox="1"/>
          <p:nvPr/>
        </p:nvSpPr>
        <p:spPr>
          <a:xfrm>
            <a:off x="1371600" y="4937760"/>
            <a:ext cx="3749040" cy="1097280"/>
          </a:xfrm>
          <a:prstGeom prst="rect">
            <a:avLst/>
          </a:prstGeom>
          <a:noFill/>
          <a:ln/>
        </p:spPr>
        <p:txBody>
          <a:bodyPr wrap="square" lIns="635" tIns="635" rIns="635" bIns="635" rtlCol="0" anchor="ctr"/>
          <a:lstStyle/>
          <a:p>
            <a:pPr indent="0" marL="0">
              <a:buNone/>
            </a:pPr>
            <a:r>
              <a:rPr lang="en-US" sz="1700" b="1" dirty="0">
                <a:solidFill>
                  <a:schemeClr val="tx2"/>
                </a:solidFill>
              </a:rPr>
              <a:t>Detection</a:t>
            </a:r>
            <a:endParaRPr lang="en-US" sz="1450" dirty="0"/>
          </a:p>
          <a:p>
            <a:pPr indent="0" marL="0">
              <a:buNone/>
            </a:pPr>
            <a:r>
              <a:rPr lang="en-US" sz="1450" dirty="0">
                <a:solidFill>
                  <a:schemeClr val="tx1"/>
                </a:solidFill>
              </a:rPr>
              <a:t>After 13 days at sea, 3 sailors felt sick and tested positive (March 23, 2020)</a:t>
            </a:r>
            <a:r>
              <a:rPr lang="en-US" sz="1450" baseline="30000" dirty="0">
                <a:solidFill>
                  <a:schemeClr val="tx1"/>
                </a:solidFill>
              </a:rPr>
              <a:t>1</a:t>
            </a:r>
            <a:endParaRPr lang="en-US" sz="1450" dirty="0"/>
          </a:p>
        </p:txBody>
      </p:sp>
      <p:pic>
        <p:nvPicPr>
          <p:cNvPr id="17" name="photo of enlisted berthing" descr="photo of enlisted berthing">    </p:cNvPr>
          <p:cNvPicPr>
            <a:picLocks noChangeAspect="1"/>
          </p:cNvPicPr>
          <p:nvPr/>
        </p:nvPicPr>
        <p:blipFill>
          <a:blip r:embed="rId5"/>
          <a:stretch>
            <a:fillRect/>
          </a:stretch>
        </p:blipFill>
        <p:spPr>
          <a:xfrm>
            <a:off x="5349240" y="1325880"/>
            <a:ext cx="3063240" cy="2039112"/>
          </a:xfrm>
          <a:prstGeom prst="rect">
            <a:avLst/>
          </a:prstGeom>
        </p:spPr>
      </p:pic>
      <p:sp>
        <p:nvSpPr>
          <p:cNvPr id="18" name="photo of enlisted berthing caption band"/>
          <p:cNvSpPr/>
          <p:nvPr/>
        </p:nvSpPr>
        <p:spPr>
          <a:xfrm>
            <a:off x="5349240" y="2862072"/>
            <a:ext cx="3063240" cy="502920"/>
          </a:xfrm>
          <a:prstGeom prst="rect">
            <a:avLst/>
          </a:prstGeom>
          <a:solidFill>
            <a:srgbClr val="0B2545">
              <a:alpha val="80000"/>
            </a:srgbClr>
          </a:solidFill>
          <a:ln/>
        </p:spPr>
      </p:sp>
      <p:sp>
        <p:nvSpPr>
          <p:cNvPr id="19" name="Text 12"/>
          <p:cNvSpPr txBox="1"/>
          <p:nvPr/>
        </p:nvSpPr>
        <p:spPr>
          <a:xfrm>
            <a:off x="5422392" y="2862072"/>
            <a:ext cx="2916936" cy="502920"/>
          </a:xfrm>
          <a:prstGeom prst="rect">
            <a:avLst/>
          </a:prstGeom>
          <a:noFill/>
          <a:ln/>
        </p:spPr>
        <p:txBody>
          <a:bodyPr wrap="square" lIns="254" tIns="254" rIns="254" bIns="254" rtlCol="0" anchor="ctr"/>
          <a:lstStyle/>
          <a:p>
            <a:pPr indent="0" marL="0">
              <a:buNone/>
            </a:pPr>
            <a:r>
              <a:rPr lang="en-US" sz="1200" dirty="0">
                <a:solidFill>
                  <a:srgbClr val="FFFFFF"/>
                </a:solidFill>
              </a:rPr>
              <a:t>An empty berthing area: narrow aisles between stacked bunks and lockers</a:t>
            </a:r>
            <a:r>
              <a:rPr lang="en-US" sz="1200" baseline="30000" dirty="0">
                <a:solidFill>
                  <a:srgbClr val="FFFFFF"/>
                </a:solidFill>
              </a:rPr>
              <a:t>1</a:t>
            </a:r>
            <a:endParaRPr lang="en-US" sz="1200" dirty="0"/>
          </a:p>
        </p:txBody>
      </p:sp>
      <p:pic>
        <p:nvPicPr>
          <p:cNvPr id="20" name="photo of the main mess deck" descr="photo of the main mess deck">    </p:cNvPr>
          <p:cNvPicPr>
            <a:picLocks noChangeAspect="1"/>
          </p:cNvPicPr>
          <p:nvPr/>
        </p:nvPicPr>
        <p:blipFill>
          <a:blip r:embed="rId6"/>
          <a:stretch>
            <a:fillRect/>
          </a:stretch>
        </p:blipFill>
        <p:spPr>
          <a:xfrm>
            <a:off x="8549640" y="1325880"/>
            <a:ext cx="3063240" cy="2039112"/>
          </a:xfrm>
          <a:prstGeom prst="rect">
            <a:avLst/>
          </a:prstGeom>
        </p:spPr>
      </p:pic>
      <p:sp>
        <p:nvSpPr>
          <p:cNvPr id="21" name="photo of the main mess deck caption band"/>
          <p:cNvSpPr/>
          <p:nvPr/>
        </p:nvSpPr>
        <p:spPr>
          <a:xfrm>
            <a:off x="8549640" y="2862072"/>
            <a:ext cx="3063240" cy="502920"/>
          </a:xfrm>
          <a:prstGeom prst="rect">
            <a:avLst/>
          </a:prstGeom>
          <a:solidFill>
            <a:srgbClr val="0B2545">
              <a:alpha val="80000"/>
            </a:srgbClr>
          </a:solidFill>
          <a:ln/>
        </p:spPr>
      </p:sp>
      <p:sp>
        <p:nvSpPr>
          <p:cNvPr id="22" name="Text 14"/>
          <p:cNvSpPr txBox="1"/>
          <p:nvPr/>
        </p:nvSpPr>
        <p:spPr>
          <a:xfrm>
            <a:off x="8622792" y="2862072"/>
            <a:ext cx="2916936" cy="502920"/>
          </a:xfrm>
          <a:prstGeom prst="rect">
            <a:avLst/>
          </a:prstGeom>
          <a:noFill/>
          <a:ln/>
        </p:spPr>
        <p:txBody>
          <a:bodyPr wrap="square" lIns="254" tIns="254" rIns="254" bIns="254" rtlCol="0" anchor="ctr"/>
          <a:lstStyle/>
          <a:p>
            <a:pPr indent="0" marL="0">
              <a:buNone/>
            </a:pPr>
            <a:r>
              <a:rPr lang="en-US" sz="1200" dirty="0">
                <a:solidFill>
                  <a:srgbClr val="FFFFFF"/>
                </a:solidFill>
              </a:rPr>
              <a:t>The main mess deck, where the crew eats</a:t>
            </a:r>
            <a:r>
              <a:rPr lang="en-US" sz="1200" baseline="30000" dirty="0">
                <a:solidFill>
                  <a:srgbClr val="FFFFFF"/>
                </a:solidFill>
              </a:rPr>
              <a:t>1</a:t>
            </a:r>
            <a:endParaRPr lang="en-US" sz="1200" dirty="0"/>
          </a:p>
        </p:txBody>
      </p:sp>
      <p:sp>
        <p:nvSpPr>
          <p:cNvPr id="23" name="significance panel"/>
          <p:cNvSpPr/>
          <p:nvPr/>
        </p:nvSpPr>
        <p:spPr>
          <a:xfrm>
            <a:off x="5349240" y="3566160"/>
            <a:ext cx="6263640" cy="2606040"/>
          </a:xfrm>
          <a:prstGeom prst="roundRect">
            <a:avLst>
              <a:gd name="adj" fmla="val 4211"/>
            </a:avLst>
          </a:prstGeom>
          <a:solidFill>
            <a:schemeClr val="tx2"/>
          </a:solidFill>
          <a:ln/>
        </p:spPr>
      </p:sp>
      <p:sp>
        <p:nvSpPr>
          <p:cNvPr id="24" name="Text 16"/>
          <p:cNvSpPr txBox="1"/>
          <p:nvPr/>
        </p:nvSpPr>
        <p:spPr>
          <a:xfrm>
            <a:off x="5577840" y="3657600"/>
            <a:ext cx="5852160" cy="457200"/>
          </a:xfrm>
          <a:prstGeom prst="rect">
            <a:avLst/>
          </a:prstGeom>
          <a:noFill/>
          <a:ln/>
        </p:spPr>
        <p:txBody>
          <a:bodyPr wrap="square" lIns="635" tIns="635" rIns="635" bIns="635"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Why it matters epidemiologically</a:t>
            </a:r>
            <a:endParaRPr lang="en-US" sz="1900" dirty="0"/>
          </a:p>
        </p:txBody>
      </p:sp>
      <p:sp>
        <p:nvSpPr>
          <p:cNvPr id="25" name="Text 17"/>
          <p:cNvSpPr txBox="1"/>
          <p:nvPr/>
        </p:nvSpPr>
        <p:spPr>
          <a:xfrm>
            <a:off x="5577840" y="4160520"/>
            <a:ext cx="5852160" cy="192024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chemeClr val="bg1"/>
                </a:solidFill>
              </a:rPr>
              <a:t>Every crew member was tested and followed for at least 10 weeks: a rare, complete picture</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Young, healthy adults in close quarters: how does the virus behave?</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The outbreak pulled a deployed carrier off its mission and into port in Guam</a:t>
            </a:r>
            <a:r>
              <a:rPr lang="en-US" sz="1500" baseline="30000" dirty="0">
                <a:solidFill>
                  <a:schemeClr val="bg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 Silent Start: 12 Days Before Detection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timeline axis"/>
          <p:cNvSpPr/>
          <p:nvPr/>
        </p:nvSpPr>
        <p:spPr>
          <a:xfrm>
            <a:off x="1280160" y="3063240"/>
            <a:ext cx="9601200" cy="0"/>
          </a:xfrm>
          <a:prstGeom prst="line">
            <a:avLst/>
          </a:prstGeom>
          <a:noFill/>
          <a:ln w="38100">
            <a:solidFill>
              <a:srgbClr val="8DA9C4"/>
            </a:solidFill>
            <a:prstDash val="solid"/>
          </a:ln>
        </p:spPr>
      </p:sp>
      <p:sp>
        <p:nvSpPr>
          <p:cNvPr id="6" name="milestone 1"/>
          <p:cNvSpPr/>
          <p:nvPr/>
        </p:nvSpPr>
        <p:spPr>
          <a:xfrm>
            <a:off x="1124712" y="2907792"/>
            <a:ext cx="310896" cy="310896"/>
          </a:xfrm>
          <a:prstGeom prst="ellipse">
            <a:avLst/>
          </a:prstGeom>
          <a:solidFill>
            <a:schemeClr val="accent5"/>
          </a:solidFill>
          <a:ln w="25400">
            <a:solidFill>
              <a:srgbClr val="FFFFFF"/>
            </a:solidFill>
            <a:prstDash val="solid"/>
          </a:ln>
        </p:spPr>
      </p:sp>
      <p:sp>
        <p:nvSpPr>
          <p:cNvPr id="7" name="Text 5"/>
          <p:cNvSpPr txBox="1"/>
          <p:nvPr/>
        </p:nvSpPr>
        <p:spPr>
          <a:xfrm>
            <a:off x="41148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5–9</a:t>
            </a:r>
            <a:endParaRPr lang="en-US" sz="1800" dirty="0"/>
          </a:p>
        </p:txBody>
      </p:sp>
      <p:sp>
        <p:nvSpPr>
          <p:cNvPr id="8" name="Text 6"/>
          <p:cNvSpPr txBox="1"/>
          <p:nvPr/>
        </p:nvSpPr>
        <p:spPr>
          <a:xfrm>
            <a:off x="41148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Port visit during deployment</a:t>
            </a:r>
            <a:r>
              <a:rPr lang="en-US" sz="1350" baseline="30000" dirty="0">
                <a:solidFill>
                  <a:schemeClr val="tx1"/>
                </a:solidFill>
              </a:rPr>
              <a:t>1</a:t>
            </a:r>
            <a:endParaRPr lang="en-US" sz="1350" dirty="0"/>
          </a:p>
        </p:txBody>
      </p:sp>
      <p:sp>
        <p:nvSpPr>
          <p:cNvPr id="9" name="milestone 2"/>
          <p:cNvSpPr/>
          <p:nvPr/>
        </p:nvSpPr>
        <p:spPr>
          <a:xfrm>
            <a:off x="3044952" y="2907792"/>
            <a:ext cx="310896" cy="310896"/>
          </a:xfrm>
          <a:prstGeom prst="ellipse">
            <a:avLst/>
          </a:prstGeom>
          <a:solidFill>
            <a:schemeClr val="accent5"/>
          </a:solidFill>
          <a:ln w="25400">
            <a:solidFill>
              <a:srgbClr val="FFFFFF"/>
            </a:solidFill>
            <a:prstDash val="solid"/>
          </a:ln>
        </p:spPr>
      </p:sp>
      <p:sp>
        <p:nvSpPr>
          <p:cNvPr id="10" name="Text 8"/>
          <p:cNvSpPr txBox="1"/>
          <p:nvPr/>
        </p:nvSpPr>
        <p:spPr>
          <a:xfrm>
            <a:off x="233172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11</a:t>
            </a:r>
            <a:endParaRPr lang="en-US" sz="1800" dirty="0"/>
          </a:p>
        </p:txBody>
      </p:sp>
      <p:sp>
        <p:nvSpPr>
          <p:cNvPr id="11" name="Text 9"/>
          <p:cNvSpPr txBox="1"/>
          <p:nvPr/>
        </p:nvSpPr>
        <p:spPr>
          <a:xfrm>
            <a:off x="233172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sailor with symptoms (found later). Supply flights (COD) arrive Mar 11–16</a:t>
            </a:r>
            <a:r>
              <a:rPr lang="en-US" sz="1350" baseline="30000" dirty="0">
                <a:solidFill>
                  <a:schemeClr val="tx1"/>
                </a:solidFill>
              </a:rPr>
              <a:t>1</a:t>
            </a:r>
            <a:endParaRPr lang="en-US" sz="1350" dirty="0"/>
          </a:p>
        </p:txBody>
      </p:sp>
      <p:sp>
        <p:nvSpPr>
          <p:cNvPr id="12" name="milestone 3"/>
          <p:cNvSpPr/>
          <p:nvPr/>
        </p:nvSpPr>
        <p:spPr>
          <a:xfrm>
            <a:off x="4965192" y="2907792"/>
            <a:ext cx="310896" cy="310896"/>
          </a:xfrm>
          <a:prstGeom prst="ellipse">
            <a:avLst/>
          </a:prstGeom>
          <a:solidFill>
            <a:schemeClr val="accent2"/>
          </a:solidFill>
          <a:ln w="25400">
            <a:solidFill>
              <a:srgbClr val="FFFFFF"/>
            </a:solidFill>
            <a:prstDash val="solid"/>
          </a:ln>
        </p:spPr>
      </p:sp>
      <p:sp>
        <p:nvSpPr>
          <p:cNvPr id="13" name="Text 11"/>
          <p:cNvSpPr txBox="1"/>
          <p:nvPr/>
        </p:nvSpPr>
        <p:spPr>
          <a:xfrm>
            <a:off x="425196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2"/>
                </a:solidFill>
                <a:latin typeface="Cambria" pitchFamily="34" charset="0"/>
                <a:ea typeface="Cambria" pitchFamily="34" charset="-122"/>
                <a:cs typeface="Cambria" pitchFamily="34" charset="-120"/>
              </a:rPr>
              <a:t>Mar 23</a:t>
            </a:r>
            <a:endParaRPr lang="en-US" sz="1800" dirty="0"/>
          </a:p>
        </p:txBody>
      </p:sp>
      <p:sp>
        <p:nvSpPr>
          <p:cNvPr id="14" name="Text 12"/>
          <p:cNvSpPr txBox="1"/>
          <p:nvPr/>
        </p:nvSpPr>
        <p:spPr>
          <a:xfrm>
            <a:off x="425196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3 positive tests; ~400 close contacts traced within 24 h</a:t>
            </a:r>
            <a:r>
              <a:rPr lang="en-US" sz="1350" baseline="30000" dirty="0">
                <a:solidFill>
                  <a:schemeClr val="tx1"/>
                </a:solidFill>
              </a:rPr>
              <a:t>1</a:t>
            </a:r>
            <a:endParaRPr lang="en-US" sz="1350" dirty="0"/>
          </a:p>
        </p:txBody>
      </p:sp>
      <p:sp>
        <p:nvSpPr>
          <p:cNvPr id="15" name="milestone 4"/>
          <p:cNvSpPr/>
          <p:nvPr/>
        </p:nvSpPr>
        <p:spPr>
          <a:xfrm>
            <a:off x="6885432" y="2907792"/>
            <a:ext cx="310896" cy="310896"/>
          </a:xfrm>
          <a:prstGeom prst="ellipse">
            <a:avLst/>
          </a:prstGeom>
          <a:solidFill>
            <a:schemeClr val="accent1"/>
          </a:solidFill>
          <a:ln w="25400">
            <a:solidFill>
              <a:srgbClr val="FFFFFF"/>
            </a:solidFill>
            <a:prstDash val="solid"/>
          </a:ln>
        </p:spPr>
      </p:sp>
      <p:sp>
        <p:nvSpPr>
          <p:cNvPr id="16" name="Text 14"/>
          <p:cNvSpPr txBox="1"/>
          <p:nvPr/>
        </p:nvSpPr>
        <p:spPr>
          <a:xfrm>
            <a:off x="617220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Mar 27</a:t>
            </a:r>
            <a:endParaRPr lang="en-US" sz="1800" dirty="0"/>
          </a:p>
        </p:txBody>
      </p:sp>
      <p:sp>
        <p:nvSpPr>
          <p:cNvPr id="17" name="Text 15"/>
          <p:cNvSpPr txBox="1"/>
          <p:nvPr/>
        </p:nvSpPr>
        <p:spPr>
          <a:xfrm>
            <a:off x="617220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Ship docks in Guam; isolation and quarantine ashore begin</a:t>
            </a:r>
            <a:r>
              <a:rPr lang="en-US" sz="1350" baseline="30000" dirty="0">
                <a:solidFill>
                  <a:schemeClr val="tx1"/>
                </a:solidFill>
              </a:rPr>
              <a:t>1</a:t>
            </a:r>
            <a:endParaRPr lang="en-US" sz="1350" dirty="0"/>
          </a:p>
        </p:txBody>
      </p:sp>
      <p:sp>
        <p:nvSpPr>
          <p:cNvPr id="18" name="milestone 5"/>
          <p:cNvSpPr/>
          <p:nvPr/>
        </p:nvSpPr>
        <p:spPr>
          <a:xfrm>
            <a:off x="8805672" y="2907792"/>
            <a:ext cx="310896" cy="310896"/>
          </a:xfrm>
          <a:prstGeom prst="ellipse">
            <a:avLst/>
          </a:prstGeom>
          <a:solidFill>
            <a:schemeClr val="accent1"/>
          </a:solidFill>
          <a:ln w="25400">
            <a:solidFill>
              <a:srgbClr val="FFFFFF"/>
            </a:solidFill>
            <a:prstDash val="solid"/>
          </a:ln>
        </p:spPr>
      </p:sp>
      <p:sp>
        <p:nvSpPr>
          <p:cNvPr id="19" name="Text 17"/>
          <p:cNvSpPr txBox="1"/>
          <p:nvPr/>
        </p:nvSpPr>
        <p:spPr>
          <a:xfrm>
            <a:off x="809244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Ashore</a:t>
            </a:r>
            <a:endParaRPr lang="en-US" sz="1800" dirty="0"/>
          </a:p>
        </p:txBody>
      </p:sp>
      <p:sp>
        <p:nvSpPr>
          <p:cNvPr id="20" name="Text 18"/>
          <p:cNvSpPr txBox="1"/>
          <p:nvPr/>
        </p:nvSpPr>
        <p:spPr>
          <a:xfrm>
            <a:off x="809244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4,079 test-negative crew quarantined in single rooms in 11 hotels</a:t>
            </a:r>
            <a:r>
              <a:rPr lang="en-US" sz="1350" baseline="30000" dirty="0">
                <a:solidFill>
                  <a:schemeClr val="tx1"/>
                </a:solidFill>
              </a:rPr>
              <a:t>1</a:t>
            </a:r>
            <a:endParaRPr lang="en-US" sz="1350" dirty="0"/>
          </a:p>
        </p:txBody>
      </p:sp>
      <p:sp>
        <p:nvSpPr>
          <p:cNvPr id="21" name="milestone 6"/>
          <p:cNvSpPr/>
          <p:nvPr/>
        </p:nvSpPr>
        <p:spPr>
          <a:xfrm>
            <a:off x="10725912" y="2907792"/>
            <a:ext cx="310896" cy="310896"/>
          </a:xfrm>
          <a:prstGeom prst="ellipse">
            <a:avLst/>
          </a:prstGeom>
          <a:solidFill>
            <a:schemeClr val="accent1"/>
          </a:solidFill>
          <a:ln w="25400">
            <a:solidFill>
              <a:srgbClr val="FFFFFF"/>
            </a:solidFill>
            <a:prstDash val="solid"/>
          </a:ln>
        </p:spPr>
      </p:sp>
      <p:sp>
        <p:nvSpPr>
          <p:cNvPr id="22" name="Text 20"/>
          <p:cNvSpPr txBox="1"/>
          <p:nvPr/>
        </p:nvSpPr>
        <p:spPr>
          <a:xfrm>
            <a:off x="1001268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May 18</a:t>
            </a:r>
            <a:endParaRPr lang="en-US" sz="1800" dirty="0"/>
          </a:p>
        </p:txBody>
      </p:sp>
      <p:sp>
        <p:nvSpPr>
          <p:cNvPr id="23" name="Text 21"/>
          <p:cNvSpPr txBox="1"/>
          <p:nvPr/>
        </p:nvSpPr>
        <p:spPr>
          <a:xfrm>
            <a:off x="1001268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End of analysis; cases continued at least 6 weeks after docking</a:t>
            </a:r>
            <a:r>
              <a:rPr lang="en-US" sz="1350" baseline="30000" dirty="0">
                <a:solidFill>
                  <a:schemeClr val="tx1"/>
                </a:solidFill>
              </a:rPr>
              <a:t>1</a:t>
            </a:r>
            <a:endParaRPr lang="en-US" sz="1350" dirty="0"/>
          </a:p>
        </p:txBody>
      </p:sp>
      <p:sp>
        <p:nvSpPr>
          <p:cNvPr id="24" name="takeaway"/>
          <p:cNvSpPr/>
          <p:nvPr/>
        </p:nvSpPr>
        <p:spPr>
          <a:xfrm>
            <a:off x="548640" y="5074920"/>
            <a:ext cx="11064240" cy="1051560"/>
          </a:xfrm>
          <a:prstGeom prst="roundRect">
            <a:avLst>
              <a:gd name="adj" fmla="val 10435"/>
            </a:avLst>
          </a:prstGeom>
          <a:solidFill>
            <a:schemeClr val="bg2"/>
          </a:solidFill>
          <a:ln/>
        </p:spPr>
      </p:sp>
      <p:sp>
        <p:nvSpPr>
          <p:cNvPr id="25" name="Text 23"/>
          <p:cNvSpPr txBox="1"/>
          <p:nvPr/>
        </p:nvSpPr>
        <p:spPr>
          <a:xfrm>
            <a:off x="777240" y="5166360"/>
            <a:ext cx="10607040" cy="868680"/>
          </a:xfrm>
          <a:prstGeom prst="rect">
            <a:avLst/>
          </a:prstGeom>
          <a:noFill/>
          <a:ln/>
        </p:spPr>
        <p:txBody>
          <a:bodyPr wrap="square" lIns="635" tIns="635" rIns="635" bIns="635" rtlCol="0" anchor="ctr"/>
          <a:lstStyle/>
          <a:p>
            <a:pPr indent="0" marL="0">
              <a:buNone/>
            </a:pPr>
            <a:r>
              <a:rPr lang="en-US" sz="1600" b="1" dirty="0">
                <a:solidFill>
                  <a:schemeClr val="accent2"/>
                </a:solidFill>
              </a:rPr>
              <a:t>Key point: </a:t>
            </a:r>
            <a:r>
              <a:rPr lang="en-US" sz="1600" dirty="0">
                <a:solidFill>
                  <a:schemeClr val="tx1"/>
                </a:solidFill>
              </a:rPr>
              <a:t>symptomatic infections were already circulating 12 days before the outbreak was recognized, and cases continued for at least 6 weeks after the ship docked in Guam.</a:t>
            </a:r>
            <a:r>
              <a:rPr lang="en-US" sz="1600" baseline="30000" dirty="0">
                <a:solidFill>
                  <a:schemeClr val="tx1"/>
                </a:solidFill>
              </a:rPr>
              <a:t>1</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Agent: A Virus That Spreads Silently</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3. Lauer SA, et al. Ann Intern Med. 2020.  4. He X, et al. Nat Med. 2020.</a:t>
            </a:r>
            <a:endParaRPr lang="en-US" sz="1000" dirty="0"/>
          </a:p>
        </p:txBody>
      </p:sp>
      <p:sp>
        <p:nvSpPr>
          <p:cNvPr id="5" name="Classification &amp; biology card"/>
          <p:cNvSpPr/>
          <p:nvPr/>
        </p:nvSpPr>
        <p:spPr>
          <a:xfrm>
            <a:off x="548640" y="1325880"/>
            <a:ext cx="3520440" cy="4023360"/>
          </a:xfrm>
          <a:prstGeom prst="roundRect">
            <a:avLst>
              <a:gd name="adj" fmla="val 3117"/>
            </a:avLst>
          </a:prstGeom>
          <a:solidFill>
            <a:schemeClr val="bg2"/>
          </a:solidFill>
          <a:ln/>
        </p:spPr>
      </p:sp>
      <p:pic>
        <p:nvPicPr>
          <p:cNvPr id="6" name="coronavirus illustration" descr="Illustration of a coronavirus particle covered in spikes">    </p:cNvPr>
          <p:cNvPicPr>
            <a:picLocks noChangeAspect="1"/>
          </p:cNvPicPr>
          <p:nvPr/>
        </p:nvPicPr>
        <p:blipFill>
          <a:blip r:embed="rId1"/>
          <a:stretch>
            <a:fillRect/>
          </a:stretch>
        </p:blipFill>
        <p:spPr>
          <a:xfrm>
            <a:off x="685800" y="1371600"/>
            <a:ext cx="1005840" cy="1005840"/>
          </a:xfrm>
          <a:prstGeom prst="rect">
            <a:avLst/>
          </a:prstGeom>
        </p:spPr>
      </p:pic>
      <p:sp>
        <p:nvSpPr>
          <p:cNvPr id="7" name="Text 4"/>
          <p:cNvSpPr txBox="1"/>
          <p:nvPr/>
        </p:nvSpPr>
        <p:spPr>
          <a:xfrm>
            <a:off x="1783080" y="1600200"/>
            <a:ext cx="21488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Classification &amp; biology</a:t>
            </a:r>
            <a:endParaRPr lang="en-US" sz="1800" dirty="0"/>
          </a:p>
        </p:txBody>
      </p:sp>
      <p:sp>
        <p:nvSpPr>
          <p:cNvPr id="8" name="Text 5"/>
          <p:cNvSpPr txBox="1"/>
          <p:nvPr/>
        </p:nvSpPr>
        <p:spPr>
          <a:xfrm>
            <a:off x="777240" y="2514600"/>
            <a:ext cx="3108960" cy="274320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SARS-CoV-2, a coronavirus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Its spike protein attaches to ACE2 receptors, docking points on human cells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Its closest known relatives are bat coronaviruses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Lab test: a PCR swab detects the virus's genes</a:t>
            </a:r>
            <a:r>
              <a:rPr lang="en-US" sz="1450" baseline="30000" dirty="0">
                <a:solidFill>
                  <a:schemeClr val="tx1"/>
                </a:solidFill>
              </a:rPr>
              <a:t>1</a:t>
            </a:r>
            <a:endParaRPr lang="en-US" sz="1500" dirty="0"/>
          </a:p>
        </p:txBody>
      </p:sp>
      <p:sp>
        <p:nvSpPr>
          <p:cNvPr id="9" name="Transmission card"/>
          <p:cNvSpPr/>
          <p:nvPr/>
        </p:nvSpPr>
        <p:spPr>
          <a:xfrm>
            <a:off x="4297680" y="1325880"/>
            <a:ext cx="3520440" cy="4023360"/>
          </a:xfrm>
          <a:prstGeom prst="roundRect">
            <a:avLst>
              <a:gd name="adj" fmla="val 3117"/>
            </a:avLst>
          </a:prstGeom>
          <a:solidFill>
            <a:schemeClr val="bg2"/>
          </a:solidFill>
          <a:ln/>
        </p:spPr>
      </p:sp>
      <p:sp>
        <p:nvSpPr>
          <p:cNvPr id="10" name="Transmission icon circle"/>
          <p:cNvSpPr/>
          <p:nvPr/>
        </p:nvSpPr>
        <p:spPr>
          <a:xfrm>
            <a:off x="4572000" y="1554480"/>
            <a:ext cx="640080" cy="640080"/>
          </a:xfrm>
          <a:prstGeom prst="ellipse">
            <a:avLst/>
          </a:prstGeom>
          <a:solidFill>
            <a:schemeClr val="accent1"/>
          </a:solidFill>
          <a:ln/>
        </p:spPr>
      </p:sp>
      <p:pic>
        <p:nvPicPr>
          <p:cNvPr id="11" name="Transmission icon" descr="Transmission icon">    </p:cNvPr>
          <p:cNvPicPr>
            <a:picLocks noChangeAspect="1"/>
          </p:cNvPicPr>
          <p:nvPr/>
        </p:nvPicPr>
        <p:blipFill>
          <a:blip r:embed="rId2"/>
          <a:stretch>
            <a:fillRect/>
          </a:stretch>
        </p:blipFill>
        <p:spPr>
          <a:xfrm>
            <a:off x="4725619" y="1708099"/>
            <a:ext cx="332842" cy="332842"/>
          </a:xfrm>
          <a:prstGeom prst="rect">
            <a:avLst/>
          </a:prstGeom>
        </p:spPr>
      </p:pic>
      <p:sp>
        <p:nvSpPr>
          <p:cNvPr id="12" name="Text 8"/>
          <p:cNvSpPr txBox="1"/>
          <p:nvPr/>
        </p:nvSpPr>
        <p:spPr>
          <a:xfrm>
            <a:off x="530352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Transmission</a:t>
            </a:r>
            <a:endParaRPr lang="en-US" sz="1800" dirty="0"/>
          </a:p>
        </p:txBody>
      </p:sp>
      <p:sp>
        <p:nvSpPr>
          <p:cNvPr id="13" name="Text 9"/>
          <p:cNvSpPr txBox="1"/>
          <p:nvPr/>
        </p:nvSpPr>
        <p:spPr>
          <a:xfrm>
            <a:off x="4526280" y="2331720"/>
            <a:ext cx="3108960" cy="274320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Droplets released when people talk</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Tiny particles can hang in the air and be breathed in</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Coronaviruses can survive on surfaces for days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People with mild or no symptoms can pass it on</a:t>
            </a:r>
            <a:r>
              <a:rPr lang="en-US" sz="1450" baseline="30000" dirty="0">
                <a:solidFill>
                  <a:schemeClr val="tx1"/>
                </a:solidFill>
              </a:rPr>
              <a:t>2</a:t>
            </a:r>
            <a:endParaRPr lang="en-US" sz="1500" dirty="0"/>
          </a:p>
        </p:txBody>
      </p:sp>
      <p:sp>
        <p:nvSpPr>
          <p:cNvPr id="14" name="Natural history card"/>
          <p:cNvSpPr/>
          <p:nvPr/>
        </p:nvSpPr>
        <p:spPr>
          <a:xfrm>
            <a:off x="8046720" y="1325880"/>
            <a:ext cx="3520440" cy="4023360"/>
          </a:xfrm>
          <a:prstGeom prst="roundRect">
            <a:avLst>
              <a:gd name="adj" fmla="val 3117"/>
            </a:avLst>
          </a:prstGeom>
          <a:solidFill>
            <a:schemeClr val="bg2"/>
          </a:solidFill>
          <a:ln/>
        </p:spPr>
      </p:sp>
      <p:sp>
        <p:nvSpPr>
          <p:cNvPr id="15" name="Natural history icon circle"/>
          <p:cNvSpPr/>
          <p:nvPr/>
        </p:nvSpPr>
        <p:spPr>
          <a:xfrm>
            <a:off x="8321040" y="1554480"/>
            <a:ext cx="640080" cy="640080"/>
          </a:xfrm>
          <a:prstGeom prst="ellipse">
            <a:avLst/>
          </a:prstGeom>
          <a:solidFill>
            <a:schemeClr val="accent1"/>
          </a:solidFill>
          <a:ln/>
        </p:spPr>
      </p:sp>
      <p:pic>
        <p:nvPicPr>
          <p:cNvPr id="16" name="Natural history icon" descr="Natural history icon">    </p:cNvPr>
          <p:cNvPicPr>
            <a:picLocks noChangeAspect="1"/>
          </p:cNvPicPr>
          <p:nvPr/>
        </p:nvPicPr>
        <p:blipFill>
          <a:blip r:embed="rId3"/>
          <a:stretch>
            <a:fillRect/>
          </a:stretch>
        </p:blipFill>
        <p:spPr>
          <a:xfrm>
            <a:off x="8474659" y="1708099"/>
            <a:ext cx="332842" cy="332842"/>
          </a:xfrm>
          <a:prstGeom prst="rect">
            <a:avLst/>
          </a:prstGeom>
        </p:spPr>
      </p:pic>
      <p:sp>
        <p:nvSpPr>
          <p:cNvPr id="17" name="Text 12"/>
          <p:cNvSpPr txBox="1"/>
          <p:nvPr/>
        </p:nvSpPr>
        <p:spPr>
          <a:xfrm>
            <a:off x="905256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Natural history</a:t>
            </a:r>
            <a:endParaRPr lang="en-US" sz="1800" dirty="0"/>
          </a:p>
        </p:txBody>
      </p:sp>
      <p:sp>
        <p:nvSpPr>
          <p:cNvPr id="18" name="Text 13"/>
          <p:cNvSpPr txBox="1"/>
          <p:nvPr/>
        </p:nvSpPr>
        <p:spPr>
          <a:xfrm>
            <a:off x="8275320" y="2331720"/>
            <a:ext cx="3108960" cy="274320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period (catching it to feeling sick): about 5 days</a:t>
            </a:r>
            <a:r>
              <a:rPr lang="en-US" sz="1450" baseline="30000" dirty="0">
                <a:solidFill>
                  <a:schemeClr val="tx1"/>
                </a:solidFill>
              </a:rPr>
              <a:t>3</a:t>
            </a:r>
            <a:r>
              <a:rPr lang="en-US" sz="1450" dirty="0">
                <a:solidFill>
                  <a:schemeClr val="tx1"/>
                </a:solidFill>
              </a:rPr>
              <a:t>, up to 2 weeks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Spread ramps up about 5–6 days before symptoms start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About 44% of spread happens before symptoms</a:t>
            </a:r>
            <a:r>
              <a:rPr lang="en-US" sz="1450" baseline="30000" dirty="0">
                <a:solidFill>
                  <a:schemeClr val="tx1"/>
                </a:solidFill>
              </a:rPr>
              <a:t>4</a:t>
            </a:r>
            <a:endParaRPr lang="en-US" sz="1500" dirty="0"/>
          </a:p>
        </p:txBody>
      </p:sp>
      <p:sp>
        <p:nvSpPr>
          <p:cNvPr id="19" name="Text 14"/>
          <p:cNvSpPr txBox="1"/>
          <p:nvPr/>
        </p:nvSpPr>
        <p:spPr>
          <a:xfrm>
            <a:off x="548640" y="5532120"/>
            <a:ext cx="11064240" cy="640080"/>
          </a:xfrm>
          <a:prstGeom prst="rect">
            <a:avLst/>
          </a:prstGeom>
          <a:noFill/>
          <a:ln/>
        </p:spPr>
        <p:txBody>
          <a:bodyPr wrap="square" lIns="635" tIns="635" rIns="635" bIns="635" rtlCol="0" anchor="ctr"/>
          <a:lstStyle/>
          <a:p>
            <a:pPr indent="0" marL="0">
              <a:buNone/>
            </a:pPr>
            <a:r>
              <a:rPr lang="en-US" sz="1600" b="1" dirty="0">
                <a:solidFill>
                  <a:schemeClr val="accent2"/>
                </a:solidFill>
              </a:rPr>
              <a:t>Relevance to this outbreak: </a:t>
            </a:r>
            <a:r>
              <a:rPr lang="en-US" sz="1600" dirty="0">
                <a:solidFill>
                  <a:schemeClr val="tx1"/>
                </a:solidFill>
              </a:rPr>
              <a:t>presymptomatic shedding plus aerosol spread in confined, shared spaces is exactly what a warship provides.</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Mild Symptoms Made Cases Hard to Spot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5" name="Chart 0" descr=""/>
          <p:cNvGraphicFramePr/>
          <p:nvPr/>
        </p:nvGraphicFramePr>
        <p:xfrm>
          <a:off x="548640" y="1280160"/>
          <a:ext cx="6675120" cy="4434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5760720"/>
            <a:ext cx="6675120" cy="411480"/>
          </a:xfrm>
          <a:prstGeom prst="rect">
            <a:avLst/>
          </a:prstGeom>
          <a:noFill/>
          <a:ln/>
        </p:spPr>
        <p:txBody>
          <a:bodyPr wrap="square" lIns="635" tIns="635" rIns="635" bIns="635" rtlCol="0" anchor="t"/>
          <a:lstStyle/>
          <a:p>
            <a:pPr indent="0" marL="0">
              <a:buNone/>
            </a:pPr>
            <a:r>
              <a:rPr lang="en-US" sz="1200" i="1" dirty="0">
                <a:solidFill>
                  <a:schemeClr val="accent6"/>
                </a:solidFill>
              </a:rPr>
              <a:t>Not shown: sore throat (~40%), body aches (~36%), fatigue (~19%) and runny nose (~17%); see Kasper et al Figure 3</a:t>
            </a:r>
            <a:r>
              <a:rPr lang="en-US" sz="1200" i="1" baseline="30000" dirty="0">
                <a:solidFill>
                  <a:schemeClr val="accent6"/>
                </a:solidFill>
              </a:rPr>
              <a:t>1</a:t>
            </a:r>
            <a:endParaRPr lang="en-US" sz="1200" dirty="0"/>
          </a:p>
        </p:txBody>
      </p:sp>
      <p:sp>
        <p:nvSpPr>
          <p:cNvPr id="7" name="fever callout"/>
          <p:cNvSpPr/>
          <p:nvPr/>
        </p:nvSpPr>
        <p:spPr>
          <a:xfrm>
            <a:off x="7589520" y="1325880"/>
            <a:ext cx="4023360" cy="2148840"/>
          </a:xfrm>
          <a:prstGeom prst="roundRect">
            <a:avLst>
              <a:gd name="adj" fmla="val 5106"/>
            </a:avLst>
          </a:prstGeom>
          <a:solidFill>
            <a:schemeClr val="bg2"/>
          </a:solidFill>
          <a:ln/>
        </p:spPr>
      </p:sp>
      <p:sp>
        <p:nvSpPr>
          <p:cNvPr id="8" name="Text 5"/>
          <p:cNvSpPr txBox="1"/>
          <p:nvPr/>
        </p:nvSpPr>
        <p:spPr>
          <a:xfrm>
            <a:off x="7818120" y="1463040"/>
            <a:ext cx="3566160" cy="822960"/>
          </a:xfrm>
          <a:prstGeom prst="rect">
            <a:avLst/>
          </a:prstGeom>
          <a:noFill/>
          <a:ln/>
        </p:spPr>
        <p:txBody>
          <a:bodyPr wrap="square" lIns="635" tIns="635" rIns="635" bIns="635"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13.2%</a:t>
            </a:r>
            <a:endParaRPr lang="en-US" sz="4800" dirty="0"/>
          </a:p>
        </p:txBody>
      </p:sp>
      <p:sp>
        <p:nvSpPr>
          <p:cNvPr id="9" name="Text 6"/>
          <p:cNvSpPr txBox="1"/>
          <p:nvPr/>
        </p:nvSpPr>
        <p:spPr>
          <a:xfrm>
            <a:off x="7818120" y="2286000"/>
            <a:ext cx="3566160" cy="1097280"/>
          </a:xfrm>
          <a:prstGeom prst="rect">
            <a:avLst/>
          </a:prstGeom>
          <a:noFill/>
          <a:ln/>
        </p:spPr>
        <p:txBody>
          <a:bodyPr wrap="square" lIns="635" tIns="635" rIns="635" bIns="635" rtlCol="0" anchor="t"/>
          <a:lstStyle/>
          <a:p>
            <a:pPr indent="0" marL="0">
              <a:buNone/>
            </a:pPr>
            <a:r>
              <a:rPr lang="en-US" sz="1450" dirty="0">
                <a:solidFill>
                  <a:schemeClr val="tx1"/>
                </a:solidFill>
              </a:rPr>
              <a:t>of sick sailors ever had a fever (about 1 in 8), and only 5.3% at the start.</a:t>
            </a:r>
            <a:r>
              <a:rPr lang="en-US" sz="1450" baseline="30000" dirty="0">
                <a:solidFill>
                  <a:schemeClr val="tx1"/>
                </a:solidFill>
              </a:rPr>
              <a:t>1</a:t>
            </a:r>
            <a:r>
              <a:rPr lang="en-US" sz="1450" dirty="0">
                <a:solidFill>
                  <a:schemeClr val="tx1"/>
                </a:solidFill>
              </a:rPr>
              <a:t> Temperature checks alone would miss most infections.</a:t>
            </a:r>
            <a:endParaRPr lang="en-US" sz="1450" dirty="0"/>
          </a:p>
        </p:txBody>
      </p:sp>
      <p:sp>
        <p:nvSpPr>
          <p:cNvPr id="10" name="severity callout"/>
          <p:cNvSpPr/>
          <p:nvPr/>
        </p:nvSpPr>
        <p:spPr>
          <a:xfrm>
            <a:off x="7589520" y="3657600"/>
            <a:ext cx="4023360" cy="2468880"/>
          </a:xfrm>
          <a:prstGeom prst="roundRect">
            <a:avLst>
              <a:gd name="adj" fmla="val 4444"/>
            </a:avLst>
          </a:prstGeom>
          <a:solidFill>
            <a:schemeClr val="bg2"/>
          </a:solidFill>
          <a:ln/>
        </p:spPr>
      </p:sp>
      <p:sp>
        <p:nvSpPr>
          <p:cNvPr id="11" name="Text 8"/>
          <p:cNvSpPr txBox="1"/>
          <p:nvPr/>
        </p:nvSpPr>
        <p:spPr>
          <a:xfrm>
            <a:off x="7772400" y="3794760"/>
            <a:ext cx="3703320" cy="22402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Cough (32.8%) and headache (31.0%) were the most common first symptoms</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Only 0.5% had oxygen saturation below 95%; none below 90%</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Hospitalized sailors more often reported fever (32% vs 12%)</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Who Counts as a Case?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1920240"/>
                <a:gridCol w="4206240"/>
                <a:gridCol w="822960"/>
              </a:tblGrid>
              <a:tr h="566928">
                <a:tc>
                  <a:txBody>
                    <a:bodyPr/>
                    <a:lstStyle/>
                    <a:p>
                      <a:pPr indent="0" marL="0">
                        <a:buNone/>
                      </a:pPr>
                      <a:r>
                        <a:rPr lang="en-US" sz="1500" b="1" dirty="0">
                          <a:solidFill>
                            <a:srgbClr val="FFFFFF"/>
                          </a:solidFill>
                        </a:rPr>
                        <a:t>Category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Definition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Count</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66928">
                <a:tc>
                  <a:txBody>
                    <a:bodyPr/>
                    <a:lstStyle/>
                    <a:p>
                      <a:pPr indent="0" marL="0">
                        <a:buNone/>
                      </a:pPr>
                      <a:r>
                        <a:rPr lang="en-US" sz="1450" b="1" dirty="0">
                          <a:solidFill>
                            <a:srgbClr val="1B1B1E"/>
                          </a:solidFill>
                        </a:rPr>
                        <a:t>Confirmed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Nasopharyngeal swab positive for SARS-CoV-2 by rRT-PCR</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1,271</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Symptom onset before first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293</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Presymptomatic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first; symptoms developed afterward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406</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Asymptomatic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clinical criteria never met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572</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Suspected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Met CSTE clinical criteria for Covid-19 without a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60</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Probable</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Not used as a separate category</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394960"/>
            <a:ext cx="694944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 definitions and case counts as reported by Kasper et al</a:t>
            </a:r>
            <a:r>
              <a:rPr lang="en-US" sz="1200" i="1" baseline="30000" dirty="0">
                <a:solidFill>
                  <a:schemeClr val="accent6"/>
                </a:solidFill>
              </a:rPr>
              <a:t>1</a:t>
            </a:r>
            <a:endParaRPr lang="en-US" sz="1200" dirty="0"/>
          </a:p>
        </p:txBody>
      </p:sp>
      <p:sp>
        <p:nvSpPr>
          <p:cNvPr id="7" name="criteria card"/>
          <p:cNvSpPr/>
          <p:nvPr/>
        </p:nvSpPr>
        <p:spPr>
          <a:xfrm>
            <a:off x="7863840" y="1325880"/>
            <a:ext cx="3749040" cy="4526280"/>
          </a:xfrm>
          <a:prstGeom prst="roundRect">
            <a:avLst>
              <a:gd name="adj" fmla="val 2927"/>
            </a:avLst>
          </a:prstGeom>
          <a:solidFill>
            <a:schemeClr val="bg2"/>
          </a:solidFill>
          <a:ln/>
        </p:spPr>
      </p:sp>
      <p:sp>
        <p:nvSpPr>
          <p:cNvPr id="8" name="Text 5"/>
          <p:cNvSpPr txBox="1"/>
          <p:nvPr/>
        </p:nvSpPr>
        <p:spPr>
          <a:xfrm>
            <a:off x="8092440" y="146304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Elements of the definition</a:t>
            </a:r>
            <a:endParaRPr lang="en-US" sz="1800" dirty="0"/>
          </a:p>
        </p:txBody>
      </p:sp>
      <p:sp>
        <p:nvSpPr>
          <p:cNvPr id="9" name="Text 6"/>
          <p:cNvSpPr txBox="1"/>
          <p:nvPr/>
        </p:nvSpPr>
        <p:spPr>
          <a:xfrm>
            <a:off x="8092440" y="1965960"/>
            <a:ext cx="3383280" cy="374904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Person: </a:t>
            </a:r>
            <a:r>
              <a:rPr lang="en-US" sz="1450" dirty="0">
                <a:solidFill>
                  <a:schemeClr val="tx1"/>
                </a:solidFill>
              </a:rPr>
              <a:t>uniformed crew with a matched personnel ID (civilians excluded)</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Place: </a:t>
            </a:r>
            <a:r>
              <a:rPr lang="en-US" sz="1450" dirty="0">
                <a:solidFill>
                  <a:schemeClr val="tx1"/>
                </a:solidFill>
              </a:rPr>
              <a:t>U.S.S. Theodore Roosevelt crew, aboard ship or ashore in Guam</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Time: </a:t>
            </a:r>
            <a:r>
              <a:rPr lang="en-US" sz="1450" dirty="0">
                <a:solidFill>
                  <a:schemeClr val="tx1"/>
                </a:solidFill>
              </a:rPr>
              <a:t>positive tests March 23 – May 18, 2020</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Clinical: </a:t>
            </a:r>
            <a:r>
              <a:rPr lang="en-US" sz="1450" dirty="0">
                <a:solidFill>
                  <a:schemeClr val="tx1"/>
                </a:solidFill>
              </a:rPr>
              <a:t>CSTE criteria; fever = subjective or ≥100.0°F</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Laboratory: </a:t>
            </a:r>
            <a:r>
              <a:rPr lang="en-US" sz="1450" dirty="0">
                <a:solidFill>
                  <a:schemeClr val="tx1"/>
                </a:solidFill>
              </a:rPr>
              <a:t>rRT-PCR on NP swab, N1/N2 gene targets</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Was the Case Definition Appropriate?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Appraisal is the student's own.</a:t>
            </a:r>
            <a:endParaRPr lang="en-US" sz="1000" dirty="0"/>
          </a:p>
        </p:txBody>
      </p:sp>
      <p:sp>
        <p:nvSpPr>
          <p:cNvPr id="5" name="Sensitivity: high card"/>
          <p:cNvSpPr/>
          <p:nvPr/>
        </p:nvSpPr>
        <p:spPr>
          <a:xfrm>
            <a:off x="548640" y="1325880"/>
            <a:ext cx="3520440" cy="3611880"/>
          </a:xfrm>
          <a:prstGeom prst="roundRect">
            <a:avLst>
              <a:gd name="adj" fmla="val 3117"/>
            </a:avLst>
          </a:prstGeom>
          <a:solidFill>
            <a:schemeClr val="bg2"/>
          </a:solidFill>
          <a:ln/>
        </p:spPr>
      </p:sp>
      <p:sp>
        <p:nvSpPr>
          <p:cNvPr id="6" name="Sensitivity: high icon circle"/>
          <p:cNvSpPr/>
          <p:nvPr/>
        </p:nvSpPr>
        <p:spPr>
          <a:xfrm>
            <a:off x="822960" y="1554480"/>
            <a:ext cx="594360" cy="594360"/>
          </a:xfrm>
          <a:prstGeom prst="ellipse">
            <a:avLst/>
          </a:prstGeom>
          <a:solidFill>
            <a:schemeClr val="accent1"/>
          </a:solidFill>
          <a:ln/>
        </p:spPr>
      </p:sp>
      <p:pic>
        <p:nvPicPr>
          <p:cNvPr id="7" name="Sensitivity: high icon" descr="Sensitivity: high icon">    </p:cNvPr>
          <p:cNvPicPr>
            <a:picLocks noChangeAspect="1"/>
          </p:cNvPicPr>
          <p:nvPr/>
        </p:nvPicPr>
        <p:blipFill>
          <a:blip r:embed="rId1"/>
          <a:stretch>
            <a:fillRect/>
          </a:stretch>
        </p:blipFill>
        <p:spPr>
          <a:xfrm>
            <a:off x="965606" y="1697126"/>
            <a:ext cx="309067" cy="309067"/>
          </a:xfrm>
          <a:prstGeom prst="rect">
            <a:avLst/>
          </a:prstGeom>
        </p:spPr>
      </p:pic>
      <p:sp>
        <p:nvSpPr>
          <p:cNvPr id="8" name="Text 5"/>
          <p:cNvSpPr txBox="1"/>
          <p:nvPr/>
        </p:nvSpPr>
        <p:spPr>
          <a:xfrm>
            <a:off x="150876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Sensitivity: high</a:t>
            </a:r>
            <a:endParaRPr lang="en-US" sz="1700" dirty="0"/>
          </a:p>
        </p:txBody>
      </p:sp>
      <p:sp>
        <p:nvSpPr>
          <p:cNvPr id="9" name="Text 6"/>
          <p:cNvSpPr txBox="1"/>
          <p:nvPr/>
        </p:nvSpPr>
        <p:spPr>
          <a:xfrm>
            <a:off x="77724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Universal testing found infections regardless of symptoms</a:t>
            </a:r>
            <a:endParaRPr lang="en-US" sz="1500" dirty="0"/>
          </a:p>
          <a:p>
            <a:pPr marL="203200" indent="-203200">
              <a:spcAft>
                <a:spcPts val="600"/>
              </a:spcAft>
              <a:buSzPct val="100000"/>
              <a:buChar char="•"/>
            </a:pPr>
            <a:r>
              <a:rPr lang="en-US" sz="1400" dirty="0">
                <a:solidFill>
                  <a:schemeClr val="tx1"/>
                </a:solidFill>
              </a:rPr>
              <a:t>Picked up 572 asymptomatic infections that symptom-based surveillance would have missed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Missed cases still possible: a single NP swab taken early or late in infection can be falsely negative</a:t>
            </a:r>
            <a:endParaRPr lang="en-US" sz="1500" dirty="0"/>
          </a:p>
        </p:txBody>
      </p:sp>
      <p:sp>
        <p:nvSpPr>
          <p:cNvPr id="10" name="Specificity: mixed card"/>
          <p:cNvSpPr/>
          <p:nvPr/>
        </p:nvSpPr>
        <p:spPr>
          <a:xfrm>
            <a:off x="4297680" y="1325880"/>
            <a:ext cx="3520440" cy="3611880"/>
          </a:xfrm>
          <a:prstGeom prst="roundRect">
            <a:avLst>
              <a:gd name="adj" fmla="val 3117"/>
            </a:avLst>
          </a:prstGeom>
          <a:solidFill>
            <a:schemeClr val="bg2"/>
          </a:solidFill>
          <a:ln/>
        </p:spPr>
      </p:sp>
      <p:sp>
        <p:nvSpPr>
          <p:cNvPr id="11" name="Specificity: mixed icon circle"/>
          <p:cNvSpPr/>
          <p:nvPr/>
        </p:nvSpPr>
        <p:spPr>
          <a:xfrm>
            <a:off x="4572000" y="1554480"/>
            <a:ext cx="594360" cy="594360"/>
          </a:xfrm>
          <a:prstGeom prst="ellipse">
            <a:avLst/>
          </a:prstGeom>
          <a:solidFill>
            <a:schemeClr val="accent4"/>
          </a:solidFill>
          <a:ln/>
        </p:spPr>
      </p:sp>
      <p:pic>
        <p:nvPicPr>
          <p:cNvPr id="12" name="Specificity: mixed icon" descr="Specificity: mixed icon">    </p:cNvPr>
          <p:cNvPicPr>
            <a:picLocks noChangeAspect="1"/>
          </p:cNvPicPr>
          <p:nvPr/>
        </p:nvPicPr>
        <p:blipFill>
          <a:blip r:embed="rId2"/>
          <a:stretch>
            <a:fillRect/>
          </a:stretch>
        </p:blipFill>
        <p:spPr>
          <a:xfrm>
            <a:off x="4714646" y="1697126"/>
            <a:ext cx="309067" cy="309067"/>
          </a:xfrm>
          <a:prstGeom prst="rect">
            <a:avLst/>
          </a:prstGeom>
        </p:spPr>
      </p:pic>
      <p:sp>
        <p:nvSpPr>
          <p:cNvPr id="13" name="Text 9"/>
          <p:cNvSpPr txBox="1"/>
          <p:nvPr/>
        </p:nvSpPr>
        <p:spPr>
          <a:xfrm>
            <a:off x="525780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Specificity: mixed</a:t>
            </a:r>
            <a:endParaRPr lang="en-US" sz="1700" dirty="0"/>
          </a:p>
        </p:txBody>
      </p:sp>
      <p:sp>
        <p:nvSpPr>
          <p:cNvPr id="14" name="Text 10"/>
          <p:cNvSpPr txBox="1"/>
          <p:nvPr/>
        </p:nvSpPr>
        <p:spPr>
          <a:xfrm>
            <a:off x="452628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Confirmed tier: highly specific (PCR)</a:t>
            </a:r>
            <a:endParaRPr lang="en-US" sz="1500" dirty="0"/>
          </a:p>
          <a:p>
            <a:pPr marL="203200" indent="-203200">
              <a:spcAft>
                <a:spcPts val="600"/>
              </a:spcAft>
              <a:buSzPct val="100000"/>
              <a:buChar char="•"/>
            </a:pPr>
            <a:r>
              <a:rPr lang="en-US" sz="1400" dirty="0">
                <a:solidFill>
                  <a:schemeClr val="tx1"/>
                </a:solidFill>
              </a:rPr>
              <a:t>Suspected tier: less specific. Rhinovirus, RSV and coronavirus OC43 were circulating aboard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Only 60 suspected cases (4.5%), so the effect is small</a:t>
            </a:r>
            <a:r>
              <a:rPr lang="en-US" sz="1400" baseline="30000" dirty="0">
                <a:solidFill>
                  <a:schemeClr val="tx1"/>
                </a:solidFill>
              </a:rPr>
              <a:t>1</a:t>
            </a:r>
            <a:endParaRPr lang="en-US" sz="1500" dirty="0"/>
          </a:p>
        </p:txBody>
      </p:sp>
      <p:sp>
        <p:nvSpPr>
          <p:cNvPr id="15" name="Changed during investigation card"/>
          <p:cNvSpPr/>
          <p:nvPr/>
        </p:nvSpPr>
        <p:spPr>
          <a:xfrm>
            <a:off x="8046720" y="1325880"/>
            <a:ext cx="3520440" cy="3611880"/>
          </a:xfrm>
          <a:prstGeom prst="roundRect">
            <a:avLst>
              <a:gd name="adj" fmla="val 3117"/>
            </a:avLst>
          </a:prstGeom>
          <a:solidFill>
            <a:schemeClr val="bg2"/>
          </a:solidFill>
          <a:ln/>
        </p:spPr>
      </p:sp>
      <p:sp>
        <p:nvSpPr>
          <p:cNvPr id="16" name="Changed during investigation icon circle"/>
          <p:cNvSpPr/>
          <p:nvPr/>
        </p:nvSpPr>
        <p:spPr>
          <a:xfrm>
            <a:off x="8321040" y="1554480"/>
            <a:ext cx="594360" cy="594360"/>
          </a:xfrm>
          <a:prstGeom prst="ellipse">
            <a:avLst/>
          </a:prstGeom>
          <a:solidFill>
            <a:schemeClr val="accent2"/>
          </a:solidFill>
          <a:ln/>
        </p:spPr>
      </p:sp>
      <p:pic>
        <p:nvPicPr>
          <p:cNvPr id="17" name="Changed during investigation icon" descr="Changed during investigation icon">    </p:cNvPr>
          <p:cNvPicPr>
            <a:picLocks noChangeAspect="1"/>
          </p:cNvPicPr>
          <p:nvPr/>
        </p:nvPicPr>
        <p:blipFill>
          <a:blip r:embed="rId3"/>
          <a:stretch>
            <a:fillRect/>
          </a:stretch>
        </p:blipFill>
        <p:spPr>
          <a:xfrm>
            <a:off x="8463686" y="1697126"/>
            <a:ext cx="309067" cy="309067"/>
          </a:xfrm>
          <a:prstGeom prst="rect">
            <a:avLst/>
          </a:prstGeom>
        </p:spPr>
      </p:pic>
      <p:sp>
        <p:nvSpPr>
          <p:cNvPr id="18" name="Text 13"/>
          <p:cNvSpPr txBox="1"/>
          <p:nvPr/>
        </p:nvSpPr>
        <p:spPr>
          <a:xfrm>
            <a:off x="900684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Changed during investigation</a:t>
            </a:r>
            <a:endParaRPr lang="en-US" sz="1700" dirty="0"/>
          </a:p>
        </p:txBody>
      </p:sp>
      <p:sp>
        <p:nvSpPr>
          <p:cNvPr id="19" name="Text 14"/>
          <p:cNvSpPr txBox="1"/>
          <p:nvPr/>
        </p:nvSpPr>
        <p:spPr>
          <a:xfrm>
            <a:off x="827532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The CDC/CSTE case definition was revised in April 2020, mid-outbreak</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Symptom subtypes relied on self-report and on records that were weaker early on,</a:t>
            </a:r>
            <a:r>
              <a:rPr lang="en-US" sz="1400" baseline="30000" dirty="0">
                <a:solidFill>
                  <a:schemeClr val="tx1"/>
                </a:solidFill>
              </a:rPr>
              <a:t>1</a:t>
            </a:r>
            <a:r>
              <a:rPr lang="en-US" sz="1400" dirty="0">
                <a:solidFill>
                  <a:schemeClr val="tx1"/>
                </a:solidFill>
              </a:rPr>
              <a:t> so misclassification is possible</a:t>
            </a:r>
            <a:endParaRPr lang="en-US" sz="1500" dirty="0"/>
          </a:p>
        </p:txBody>
      </p:sp>
      <p:sp>
        <p:nvSpPr>
          <p:cNvPr id="20" name="own analysis"/>
          <p:cNvSpPr/>
          <p:nvPr/>
        </p:nvSpPr>
        <p:spPr>
          <a:xfrm>
            <a:off x="548640" y="5120640"/>
            <a:ext cx="11064240" cy="1051560"/>
          </a:xfrm>
          <a:prstGeom prst="roundRect">
            <a:avLst>
              <a:gd name="adj" fmla="val 10435"/>
            </a:avLst>
          </a:prstGeom>
          <a:solidFill>
            <a:schemeClr val="tx2"/>
          </a:solidFill>
          <a:ln/>
        </p:spPr>
      </p:sp>
      <p:sp>
        <p:nvSpPr>
          <p:cNvPr id="21" name="Text 16"/>
          <p:cNvSpPr txBox="1"/>
          <p:nvPr/>
        </p:nvSpPr>
        <p:spPr>
          <a:xfrm>
            <a:off x="777240" y="5166360"/>
            <a:ext cx="10607040" cy="960120"/>
          </a:xfrm>
          <a:prstGeom prst="rect">
            <a:avLst/>
          </a:prstGeom>
          <a:noFill/>
          <a:ln/>
        </p:spPr>
        <p:txBody>
          <a:bodyPr wrap="square" lIns="635" tIns="635" rIns="635" bIns="635" rtlCol="0" anchor="ctr"/>
          <a:lstStyle/>
          <a:p>
            <a:pPr indent="0" marL="0">
              <a:buNone/>
            </a:pPr>
            <a:r>
              <a:rPr lang="en-US" sz="1450" b="1" dirty="0">
                <a:solidFill>
                  <a:schemeClr val="accent4"/>
                </a:solidFill>
              </a:rPr>
              <a:t>My verdict: </a:t>
            </a:r>
            <a:r>
              <a:rPr lang="en-US" sz="1450" dirty="0">
                <a:solidFill>
                  <a:schemeClr val="bg1"/>
                </a:solidFill>
              </a:rPr>
              <a:t>appropriate for this setting. Universal testing made the definition highly sensitive, PCR made the confirmed tier highly specific, and only 60 cases (4.5%) rested on clinical criteria alone.</a:t>
            </a:r>
            <a:r>
              <a:rPr lang="en-US" sz="1450" baseline="30000" dirty="0">
                <a:solidFill>
                  <a:schemeClr val="bg1"/>
                </a:solidFill>
              </a:rPr>
              <a:t>1</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Investigation: Test Everyone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Detection step"/>
          <p:cNvSpPr/>
          <p:nvPr/>
        </p:nvSpPr>
        <p:spPr>
          <a:xfrm>
            <a:off x="548640" y="1371600"/>
            <a:ext cx="2057400" cy="3291840"/>
          </a:xfrm>
          <a:prstGeom prst="roundRect">
            <a:avLst>
              <a:gd name="adj" fmla="val 5333"/>
            </a:avLst>
          </a:prstGeom>
          <a:solidFill>
            <a:schemeClr val="bg2"/>
          </a:solidFill>
          <a:ln/>
        </p:spPr>
      </p:sp>
      <p:sp>
        <p:nvSpPr>
          <p:cNvPr id="6" name="Detection icon circle"/>
          <p:cNvSpPr/>
          <p:nvPr/>
        </p:nvSpPr>
        <p:spPr>
          <a:xfrm>
            <a:off x="1211580" y="1600200"/>
            <a:ext cx="731520" cy="731520"/>
          </a:xfrm>
          <a:prstGeom prst="ellipse">
            <a:avLst/>
          </a:prstGeom>
          <a:solidFill>
            <a:schemeClr val="accent1"/>
          </a:solidFill>
          <a:ln/>
        </p:spPr>
      </p:sp>
      <p:pic>
        <p:nvPicPr>
          <p:cNvPr id="7" name="Detection icon" descr="Detection icon">    </p:cNvPr>
          <p:cNvPicPr>
            <a:picLocks noChangeAspect="1"/>
          </p:cNvPicPr>
          <p:nvPr/>
        </p:nvPicPr>
        <p:blipFill>
          <a:blip r:embed="rId1"/>
          <a:stretch>
            <a:fillRect/>
          </a:stretch>
        </p:blipFill>
        <p:spPr>
          <a:xfrm>
            <a:off x="1387145" y="1775765"/>
            <a:ext cx="380390" cy="380390"/>
          </a:xfrm>
          <a:prstGeom prst="rect">
            <a:avLst/>
          </a:prstGeom>
        </p:spPr>
      </p:pic>
      <p:sp>
        <p:nvSpPr>
          <p:cNvPr id="8" name="Text 5"/>
          <p:cNvSpPr txBox="1"/>
          <p:nvPr/>
        </p:nvSpPr>
        <p:spPr>
          <a:xfrm>
            <a:off x="640080"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Detection</a:t>
            </a:r>
            <a:endParaRPr lang="en-US" sz="1700" dirty="0"/>
          </a:p>
        </p:txBody>
      </p:sp>
      <p:sp>
        <p:nvSpPr>
          <p:cNvPr id="9" name="Text 6"/>
          <p:cNvSpPr txBox="1"/>
          <p:nvPr/>
        </p:nvSpPr>
        <p:spPr>
          <a:xfrm>
            <a:off x="685800"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3 sailors with symptoms tested positive on day 13 at sea</a:t>
            </a:r>
            <a:r>
              <a:rPr lang="en-US" sz="1350" baseline="30000" dirty="0">
                <a:solidFill>
                  <a:schemeClr val="tx1"/>
                </a:solidFill>
              </a:rPr>
              <a:t>1</a:t>
            </a:r>
            <a:endParaRPr lang="en-US" sz="1350" dirty="0"/>
          </a:p>
        </p:txBody>
      </p:sp>
      <p:sp>
        <p:nvSpPr>
          <p:cNvPr id="10" name="flow arrow 1"/>
          <p:cNvSpPr/>
          <p:nvPr/>
        </p:nvSpPr>
        <p:spPr>
          <a:xfrm>
            <a:off x="2633472" y="2880360"/>
            <a:ext cx="137160" cy="274320"/>
          </a:xfrm>
          <a:prstGeom prst="chevron">
            <a:avLst/>
          </a:prstGeom>
          <a:solidFill>
            <a:schemeClr val="accent3"/>
          </a:solidFill>
          <a:ln/>
        </p:spPr>
      </p:sp>
      <p:sp>
        <p:nvSpPr>
          <p:cNvPr id="11" name="Case finding step"/>
          <p:cNvSpPr/>
          <p:nvPr/>
        </p:nvSpPr>
        <p:spPr>
          <a:xfrm>
            <a:off x="2798064" y="1371600"/>
            <a:ext cx="2057400" cy="3291840"/>
          </a:xfrm>
          <a:prstGeom prst="roundRect">
            <a:avLst>
              <a:gd name="adj" fmla="val 5333"/>
            </a:avLst>
          </a:prstGeom>
          <a:solidFill>
            <a:schemeClr val="bg2"/>
          </a:solidFill>
          <a:ln/>
        </p:spPr>
      </p:sp>
      <p:sp>
        <p:nvSpPr>
          <p:cNvPr id="12" name="Case finding icon circle"/>
          <p:cNvSpPr/>
          <p:nvPr/>
        </p:nvSpPr>
        <p:spPr>
          <a:xfrm>
            <a:off x="3461004" y="1600200"/>
            <a:ext cx="731520" cy="731520"/>
          </a:xfrm>
          <a:prstGeom prst="ellipse">
            <a:avLst/>
          </a:prstGeom>
          <a:solidFill>
            <a:schemeClr val="accent1"/>
          </a:solidFill>
          <a:ln/>
        </p:spPr>
      </p:sp>
      <p:pic>
        <p:nvPicPr>
          <p:cNvPr id="13" name="Case finding icon" descr="Case finding icon">    </p:cNvPr>
          <p:cNvPicPr>
            <a:picLocks noChangeAspect="1"/>
          </p:cNvPicPr>
          <p:nvPr/>
        </p:nvPicPr>
        <p:blipFill>
          <a:blip r:embed="rId2"/>
          <a:stretch>
            <a:fillRect/>
          </a:stretch>
        </p:blipFill>
        <p:spPr>
          <a:xfrm>
            <a:off x="3636569" y="1775765"/>
            <a:ext cx="380390" cy="380390"/>
          </a:xfrm>
          <a:prstGeom prst="rect">
            <a:avLst/>
          </a:prstGeom>
        </p:spPr>
      </p:pic>
      <p:sp>
        <p:nvSpPr>
          <p:cNvPr id="14" name="Text 10"/>
          <p:cNvSpPr txBox="1"/>
          <p:nvPr/>
        </p:nvSpPr>
        <p:spPr>
          <a:xfrm>
            <a:off x="2889504"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Case finding</a:t>
            </a:r>
            <a:endParaRPr lang="en-US" sz="1700" dirty="0"/>
          </a:p>
        </p:txBody>
      </p:sp>
      <p:sp>
        <p:nvSpPr>
          <p:cNvPr id="15" name="Text 11"/>
          <p:cNvSpPr txBox="1"/>
          <p:nvPr/>
        </p:nvSpPr>
        <p:spPr>
          <a:xfrm>
            <a:off x="2935224"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Traced about 400 close contacts in 24 hours, then tested all 4,779 crew without waiting for symptoms</a:t>
            </a:r>
            <a:r>
              <a:rPr lang="en-US" sz="1350" baseline="30000" dirty="0">
                <a:solidFill>
                  <a:schemeClr val="tx1"/>
                </a:solidFill>
              </a:rPr>
              <a:t>1</a:t>
            </a:r>
            <a:endParaRPr lang="en-US" sz="1350" dirty="0"/>
          </a:p>
        </p:txBody>
      </p:sp>
      <p:sp>
        <p:nvSpPr>
          <p:cNvPr id="16" name="flow arrow 2"/>
          <p:cNvSpPr/>
          <p:nvPr/>
        </p:nvSpPr>
        <p:spPr>
          <a:xfrm>
            <a:off x="4882896" y="2880360"/>
            <a:ext cx="137160" cy="274320"/>
          </a:xfrm>
          <a:prstGeom prst="chevron">
            <a:avLst/>
          </a:prstGeom>
          <a:solidFill>
            <a:schemeClr val="accent3"/>
          </a:solidFill>
          <a:ln/>
        </p:spPr>
      </p:sp>
      <p:sp>
        <p:nvSpPr>
          <p:cNvPr id="17" name="Descriptive epi step"/>
          <p:cNvSpPr/>
          <p:nvPr/>
        </p:nvSpPr>
        <p:spPr>
          <a:xfrm>
            <a:off x="5047488" y="1371600"/>
            <a:ext cx="2057400" cy="3291840"/>
          </a:xfrm>
          <a:prstGeom prst="roundRect">
            <a:avLst>
              <a:gd name="adj" fmla="val 5333"/>
            </a:avLst>
          </a:prstGeom>
          <a:solidFill>
            <a:schemeClr val="bg2"/>
          </a:solidFill>
          <a:ln/>
        </p:spPr>
      </p:sp>
      <p:sp>
        <p:nvSpPr>
          <p:cNvPr id="18" name="Descriptive epi icon circle"/>
          <p:cNvSpPr/>
          <p:nvPr/>
        </p:nvSpPr>
        <p:spPr>
          <a:xfrm>
            <a:off x="5710428" y="1600200"/>
            <a:ext cx="731520" cy="731520"/>
          </a:xfrm>
          <a:prstGeom prst="ellipse">
            <a:avLst/>
          </a:prstGeom>
          <a:solidFill>
            <a:schemeClr val="accent1"/>
          </a:solidFill>
          <a:ln/>
        </p:spPr>
      </p:sp>
      <p:pic>
        <p:nvPicPr>
          <p:cNvPr id="19" name="Descriptive epi icon" descr="Descriptive epi icon">    </p:cNvPr>
          <p:cNvPicPr>
            <a:picLocks noChangeAspect="1"/>
          </p:cNvPicPr>
          <p:nvPr/>
        </p:nvPicPr>
        <p:blipFill>
          <a:blip r:embed="rId3"/>
          <a:stretch>
            <a:fillRect/>
          </a:stretch>
        </p:blipFill>
        <p:spPr>
          <a:xfrm>
            <a:off x="5885993" y="1775765"/>
            <a:ext cx="380390" cy="380390"/>
          </a:xfrm>
          <a:prstGeom prst="rect">
            <a:avLst/>
          </a:prstGeom>
        </p:spPr>
      </p:pic>
      <p:sp>
        <p:nvSpPr>
          <p:cNvPr id="20" name="Text 15"/>
          <p:cNvSpPr txBox="1"/>
          <p:nvPr/>
        </p:nvSpPr>
        <p:spPr>
          <a:xfrm>
            <a:off x="5138928"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Descriptive epi</a:t>
            </a:r>
            <a:endParaRPr lang="en-US" sz="1700" dirty="0"/>
          </a:p>
        </p:txBody>
      </p:sp>
      <p:sp>
        <p:nvSpPr>
          <p:cNvPr id="21" name="Text 16"/>
          <p:cNvSpPr txBox="1"/>
          <p:nvPr/>
        </p:nvSpPr>
        <p:spPr>
          <a:xfrm>
            <a:off x="5184648"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Linked results to age, job, health and symptoms: who, where and when</a:t>
            </a:r>
            <a:r>
              <a:rPr lang="en-US" sz="1350" baseline="30000" dirty="0">
                <a:solidFill>
                  <a:schemeClr val="tx1"/>
                </a:solidFill>
              </a:rPr>
              <a:t>1</a:t>
            </a:r>
            <a:endParaRPr lang="en-US" sz="1350" dirty="0"/>
          </a:p>
        </p:txBody>
      </p:sp>
      <p:sp>
        <p:nvSpPr>
          <p:cNvPr id="22" name="flow arrow 3"/>
          <p:cNvSpPr/>
          <p:nvPr/>
        </p:nvSpPr>
        <p:spPr>
          <a:xfrm>
            <a:off x="7132320" y="2880360"/>
            <a:ext cx="137160" cy="274320"/>
          </a:xfrm>
          <a:prstGeom prst="chevron">
            <a:avLst/>
          </a:prstGeom>
          <a:solidFill>
            <a:schemeClr val="accent3"/>
          </a:solidFill>
          <a:ln/>
        </p:spPr>
      </p:sp>
      <p:sp>
        <p:nvSpPr>
          <p:cNvPr id="23" name="Laboratory step"/>
          <p:cNvSpPr/>
          <p:nvPr/>
        </p:nvSpPr>
        <p:spPr>
          <a:xfrm>
            <a:off x="7296912" y="1371600"/>
            <a:ext cx="2057400" cy="3291840"/>
          </a:xfrm>
          <a:prstGeom prst="roundRect">
            <a:avLst>
              <a:gd name="adj" fmla="val 5333"/>
            </a:avLst>
          </a:prstGeom>
          <a:solidFill>
            <a:schemeClr val="bg2"/>
          </a:solidFill>
          <a:ln/>
        </p:spPr>
      </p:sp>
      <p:sp>
        <p:nvSpPr>
          <p:cNvPr id="24" name="Laboratory icon circle"/>
          <p:cNvSpPr/>
          <p:nvPr/>
        </p:nvSpPr>
        <p:spPr>
          <a:xfrm>
            <a:off x="7959852" y="1600200"/>
            <a:ext cx="731520" cy="731520"/>
          </a:xfrm>
          <a:prstGeom prst="ellipse">
            <a:avLst/>
          </a:prstGeom>
          <a:solidFill>
            <a:schemeClr val="accent1"/>
          </a:solidFill>
          <a:ln/>
        </p:spPr>
      </p:sp>
      <p:pic>
        <p:nvPicPr>
          <p:cNvPr id="25" name="Laboratory icon" descr="Laboratory icon">    </p:cNvPr>
          <p:cNvPicPr>
            <a:picLocks noChangeAspect="1"/>
          </p:cNvPicPr>
          <p:nvPr/>
        </p:nvPicPr>
        <p:blipFill>
          <a:blip r:embed="rId4"/>
          <a:stretch>
            <a:fillRect/>
          </a:stretch>
        </p:blipFill>
        <p:spPr>
          <a:xfrm>
            <a:off x="8135417" y="1775765"/>
            <a:ext cx="380390" cy="380390"/>
          </a:xfrm>
          <a:prstGeom prst="rect">
            <a:avLst/>
          </a:prstGeom>
        </p:spPr>
      </p:pic>
      <p:sp>
        <p:nvSpPr>
          <p:cNvPr id="26" name="Text 20"/>
          <p:cNvSpPr txBox="1"/>
          <p:nvPr/>
        </p:nvSpPr>
        <p:spPr>
          <a:xfrm>
            <a:off x="7388352"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Laboratory</a:t>
            </a:r>
            <a:endParaRPr lang="en-US" sz="1700" dirty="0"/>
          </a:p>
        </p:txBody>
      </p:sp>
      <p:sp>
        <p:nvSpPr>
          <p:cNvPr id="27" name="Text 21"/>
          <p:cNvSpPr txBox="1"/>
          <p:nvPr/>
        </p:nvSpPr>
        <p:spPr>
          <a:xfrm>
            <a:off x="7434072"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Nose-and-throat swab PCR tests, plus tests for other cold viruses</a:t>
            </a:r>
            <a:r>
              <a:rPr lang="en-US" sz="1350" baseline="30000" dirty="0">
                <a:solidFill>
                  <a:schemeClr val="tx1"/>
                </a:solidFill>
              </a:rPr>
              <a:t>1</a:t>
            </a:r>
            <a:endParaRPr lang="en-US" sz="1350" dirty="0"/>
          </a:p>
        </p:txBody>
      </p:sp>
      <p:sp>
        <p:nvSpPr>
          <p:cNvPr id="28" name="flow arrow 4"/>
          <p:cNvSpPr/>
          <p:nvPr/>
        </p:nvSpPr>
        <p:spPr>
          <a:xfrm>
            <a:off x="9381744" y="2880360"/>
            <a:ext cx="137160" cy="274320"/>
          </a:xfrm>
          <a:prstGeom prst="chevron">
            <a:avLst/>
          </a:prstGeom>
          <a:solidFill>
            <a:schemeClr val="accent3"/>
          </a:solidFill>
          <a:ln/>
        </p:spPr>
      </p:sp>
      <p:sp>
        <p:nvSpPr>
          <p:cNvPr id="29" name="Analytic epi step"/>
          <p:cNvSpPr/>
          <p:nvPr/>
        </p:nvSpPr>
        <p:spPr>
          <a:xfrm>
            <a:off x="9546336" y="1371600"/>
            <a:ext cx="2057400" cy="3291840"/>
          </a:xfrm>
          <a:prstGeom prst="roundRect">
            <a:avLst>
              <a:gd name="adj" fmla="val 5333"/>
            </a:avLst>
          </a:prstGeom>
          <a:solidFill>
            <a:schemeClr val="bg2"/>
          </a:solidFill>
          <a:ln/>
        </p:spPr>
      </p:sp>
      <p:sp>
        <p:nvSpPr>
          <p:cNvPr id="30" name="Analytic epi icon circle"/>
          <p:cNvSpPr/>
          <p:nvPr/>
        </p:nvSpPr>
        <p:spPr>
          <a:xfrm>
            <a:off x="10209276" y="1600200"/>
            <a:ext cx="731520" cy="731520"/>
          </a:xfrm>
          <a:prstGeom prst="ellipse">
            <a:avLst/>
          </a:prstGeom>
          <a:solidFill>
            <a:schemeClr val="accent1"/>
          </a:solidFill>
          <a:ln/>
        </p:spPr>
      </p:sp>
      <p:pic>
        <p:nvPicPr>
          <p:cNvPr id="31" name="Analytic epi icon" descr="Analytic epi icon">    </p:cNvPr>
          <p:cNvPicPr>
            <a:picLocks noChangeAspect="1"/>
          </p:cNvPicPr>
          <p:nvPr/>
        </p:nvPicPr>
        <p:blipFill>
          <a:blip r:embed="rId5"/>
          <a:stretch>
            <a:fillRect/>
          </a:stretch>
        </p:blipFill>
        <p:spPr>
          <a:xfrm>
            <a:off x="10384841" y="1775765"/>
            <a:ext cx="380390" cy="380390"/>
          </a:xfrm>
          <a:prstGeom prst="rect">
            <a:avLst/>
          </a:prstGeom>
        </p:spPr>
      </p:pic>
      <p:sp>
        <p:nvSpPr>
          <p:cNvPr id="32" name="Text 25"/>
          <p:cNvSpPr txBox="1"/>
          <p:nvPr/>
        </p:nvSpPr>
        <p:spPr>
          <a:xfrm>
            <a:off x="9637776"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Analytic epi</a:t>
            </a:r>
            <a:endParaRPr lang="en-US" sz="1700" dirty="0"/>
          </a:p>
        </p:txBody>
      </p:sp>
      <p:sp>
        <p:nvSpPr>
          <p:cNvPr id="33" name="Text 26"/>
          <p:cNvSpPr txBox="1"/>
          <p:nvPr/>
        </p:nvSpPr>
        <p:spPr>
          <a:xfrm>
            <a:off x="9683496"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Compared infected and uninfected sailors to see what raised the risk</a:t>
            </a:r>
            <a:r>
              <a:rPr lang="en-US" sz="1350" baseline="30000" dirty="0">
                <a:solidFill>
                  <a:schemeClr val="tx1"/>
                </a:solidFill>
              </a:rPr>
              <a:t>1</a:t>
            </a:r>
            <a:endParaRPr lang="en-US" sz="1350" dirty="0"/>
          </a:p>
        </p:txBody>
      </p:sp>
      <p:sp>
        <p:nvSpPr>
          <p:cNvPr id="34" name="surveillance note"/>
          <p:cNvSpPr/>
          <p:nvPr/>
        </p:nvSpPr>
        <p:spPr>
          <a:xfrm>
            <a:off x="548640" y="4892040"/>
            <a:ext cx="5394960" cy="1280160"/>
          </a:xfrm>
          <a:prstGeom prst="roundRect">
            <a:avLst>
              <a:gd name="adj" fmla="val 8571"/>
            </a:avLst>
          </a:prstGeom>
          <a:solidFill>
            <a:schemeClr val="bg2"/>
          </a:solidFill>
          <a:ln/>
        </p:spPr>
      </p:sp>
      <p:sp>
        <p:nvSpPr>
          <p:cNvPr id="35" name="Text 28"/>
          <p:cNvSpPr txBox="1"/>
          <p:nvPr/>
        </p:nvSpPr>
        <p:spPr>
          <a:xfrm>
            <a:off x="777240" y="4983480"/>
            <a:ext cx="4983480" cy="1097280"/>
          </a:xfrm>
          <a:prstGeom prst="rect">
            <a:avLst/>
          </a:prstGeom>
          <a:noFill/>
          <a:ln/>
        </p:spPr>
        <p:txBody>
          <a:bodyPr wrap="square" lIns="635" tIns="635" rIns="635" bIns="635" rtlCol="0" anchor="ctr"/>
          <a:lstStyle/>
          <a:p>
            <a:pPr indent="0" marL="0">
              <a:buNone/>
            </a:pPr>
            <a:r>
              <a:rPr lang="en-US" sz="1400" b="1" dirty="0">
                <a:solidFill>
                  <a:schemeClr val="tx2"/>
                </a:solidFill>
              </a:rPr>
              <a:t>Active surveillance: </a:t>
            </a:r>
            <a:r>
              <a:rPr lang="en-US" sz="1400" dirty="0">
                <a:solidFill>
                  <a:schemeClr val="tx1"/>
                </a:solidFill>
              </a:rPr>
              <a:t>in-person health screenings plus the MySymptoms self-report app, reviewed every morning and evening; isolated cases also had twice-daily temperature and pulse-oximetry checks</a:t>
            </a:r>
            <a:r>
              <a:rPr lang="en-US" sz="1400" baseline="30000" dirty="0">
                <a:solidFill>
                  <a:schemeClr val="tx1"/>
                </a:solidFill>
              </a:rPr>
              <a:t>1</a:t>
            </a:r>
            <a:endParaRPr lang="en-US" sz="1400" dirty="0"/>
          </a:p>
        </p:txBody>
      </p:sp>
      <p:sp>
        <p:nvSpPr>
          <p:cNvPr id="36" name="environmental note"/>
          <p:cNvSpPr/>
          <p:nvPr/>
        </p:nvSpPr>
        <p:spPr>
          <a:xfrm>
            <a:off x="6217920" y="4892040"/>
            <a:ext cx="5394960" cy="1280160"/>
          </a:xfrm>
          <a:prstGeom prst="roundRect">
            <a:avLst>
              <a:gd name="adj" fmla="val 8571"/>
            </a:avLst>
          </a:prstGeom>
          <a:solidFill>
            <a:schemeClr val="bg2"/>
          </a:solidFill>
          <a:ln/>
        </p:spPr>
      </p:sp>
      <p:sp>
        <p:nvSpPr>
          <p:cNvPr id="37" name="Text 30"/>
          <p:cNvSpPr txBox="1"/>
          <p:nvPr/>
        </p:nvSpPr>
        <p:spPr>
          <a:xfrm>
            <a:off x="6446520" y="4983480"/>
            <a:ext cx="4983480" cy="1097280"/>
          </a:xfrm>
          <a:prstGeom prst="rect">
            <a:avLst/>
          </a:prstGeom>
          <a:noFill/>
          <a:ln/>
        </p:spPr>
        <p:txBody>
          <a:bodyPr wrap="square" lIns="635" tIns="635" rIns="635" bIns="635" rtlCol="0" anchor="ctr"/>
          <a:lstStyle/>
          <a:p>
            <a:pPr indent="0" marL="0">
              <a:buNone/>
            </a:pPr>
            <a:r>
              <a:rPr lang="en-US" sz="1400" b="1" dirty="0">
                <a:solidFill>
                  <a:schemeClr val="accent2"/>
                </a:solidFill>
              </a:rPr>
              <a:t>Environmental investigation: </a:t>
            </a:r>
            <a:r>
              <a:rPr lang="en-US" sz="1400" dirty="0">
                <a:solidFill>
                  <a:schemeClr val="tx1"/>
                </a:solidFill>
              </a:rPr>
              <a:t>none is described in the article</a:t>
            </a:r>
            <a:r>
              <a:rPr lang="en-US" sz="1400" baseline="30000" dirty="0">
                <a:solidFill>
                  <a:schemeClr val="tx1"/>
                </a:solidFill>
              </a:rPr>
              <a:t>1</a:t>
            </a:r>
            <a:r>
              <a:rPr lang="en-US" sz="1400" dirty="0">
                <a:solidFill>
                  <a:schemeClr val="tx1"/>
                </a:solidFill>
              </a:rPr>
              <a:t>; ventilation and shared spaces were assessed only indirectly, through the department analysis.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Time: A Propagated Epidemic Curve</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The reading of the curve is mine.</a:t>
            </a:r>
            <a:endParaRPr lang="en-US" sz="1000" dirty="0"/>
          </a:p>
        </p:txBody>
      </p:sp>
      <p:pic>
        <p:nvPicPr>
          <p:cNvPr id="5" name="epidemic curve" descr="Epidemic curve of symptomatic Covid-19 cases by onset date, March 1 to May 18, 2020">    </p:cNvPr>
          <p:cNvPicPr>
            <a:picLocks noChangeAspect="1"/>
          </p:cNvPicPr>
          <p:nvPr/>
        </p:nvPicPr>
        <p:blipFill>
          <a:blip r:embed="rId1"/>
          <a:stretch>
            <a:fillRect/>
          </a:stretch>
        </p:blipFill>
        <p:spPr>
          <a:xfrm>
            <a:off x="548640" y="1280160"/>
            <a:ext cx="7086600" cy="3867912"/>
          </a:xfrm>
          <a:prstGeom prst="rect">
            <a:avLst/>
          </a:prstGeom>
        </p:spPr>
      </p:pic>
      <p:sp>
        <p:nvSpPr>
          <p:cNvPr id="6" name="Text 3"/>
          <p:cNvSpPr txBox="1"/>
          <p:nvPr/>
        </p:nvSpPr>
        <p:spPr>
          <a:xfrm>
            <a:off x="548640" y="5212080"/>
            <a:ext cx="7086600" cy="502920"/>
          </a:xfrm>
          <a:prstGeom prst="rect">
            <a:avLst/>
          </a:prstGeom>
          <a:noFill/>
          <a:ln/>
        </p:spPr>
        <p:txBody>
          <a:bodyPr wrap="square" lIns="635" tIns="635" rIns="635" bIns="635" rtlCol="0" anchor="t"/>
          <a:lstStyle/>
          <a:p>
            <a:pPr indent="0" marL="0">
              <a:buNone/>
            </a:pPr>
            <a:r>
              <a:rPr lang="en-US" sz="1200" i="1" dirty="0">
                <a:solidFill>
                  <a:schemeClr val="accent6"/>
                </a:solidFill>
              </a:rPr>
              <a:t>Figure: symptomatic confirmed or suspected cases by date of onset (n = 759); asymptomatic cases not shown. Reproduced from Kasper et al</a:t>
            </a:r>
            <a:r>
              <a:rPr lang="en-US" sz="1200" i="1" baseline="30000" dirty="0">
                <a:solidFill>
                  <a:schemeClr val="accent6"/>
                </a:solidFill>
              </a:rPr>
              <a:t>1</a:t>
            </a:r>
            <a:r>
              <a:rPr lang="en-US" sz="1200" i="1" dirty="0">
                <a:solidFill>
                  <a:schemeClr val="accent6"/>
                </a:solidFill>
              </a:rPr>
              <a:t> (Figure 2).</a:t>
            </a:r>
            <a:endParaRPr lang="en-US" sz="1200" dirty="0"/>
          </a:p>
        </p:txBody>
      </p:sp>
      <p:sp>
        <p:nvSpPr>
          <p:cNvPr id="7" name="curve interpretation"/>
          <p:cNvSpPr/>
          <p:nvPr/>
        </p:nvSpPr>
        <p:spPr>
          <a:xfrm>
            <a:off x="7955280" y="1325880"/>
            <a:ext cx="3657600" cy="4846320"/>
          </a:xfrm>
          <a:prstGeom prst="roundRect">
            <a:avLst>
              <a:gd name="adj" fmla="val 3000"/>
            </a:avLst>
          </a:prstGeom>
          <a:solidFill>
            <a:schemeClr val="bg2"/>
          </a:solidFill>
          <a:ln/>
        </p:spPr>
      </p:sp>
      <p:sp>
        <p:nvSpPr>
          <p:cNvPr id="8" name="Text 5"/>
          <p:cNvSpPr txBox="1"/>
          <p:nvPr/>
        </p:nvSpPr>
        <p:spPr>
          <a:xfrm>
            <a:off x="8183880" y="1463040"/>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Reading the curve</a:t>
            </a:r>
            <a:endParaRPr lang="en-US" sz="1800" dirty="0"/>
          </a:p>
        </p:txBody>
      </p:sp>
      <p:sp>
        <p:nvSpPr>
          <p:cNvPr id="9" name="Text 6"/>
          <p:cNvSpPr txBox="1"/>
          <p:nvPr/>
        </p:nvSpPr>
        <p:spPr>
          <a:xfrm>
            <a:off x="8183880" y="1965960"/>
            <a:ext cx="324612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Epidemic curve: </a:t>
            </a:r>
            <a:r>
              <a:rPr lang="en-US" sz="1350" dirty="0">
                <a:solidFill>
                  <a:schemeClr val="tx1"/>
                </a:solidFill>
              </a:rPr>
              <a:t>each bar is the number of sailors who got sick that day</a:t>
            </a:r>
            <a:r>
              <a:rPr lang="en-US" sz="1350" baseline="30000" dirty="0">
                <a:solidFill>
                  <a:schemeClr val="tx1"/>
                </a:solidFill>
              </a:rPr>
              <a:t>1</a:t>
            </a:r>
            <a:endParaRPr lang="en-US" sz="1500" dirty="0"/>
          </a:p>
          <a:p>
            <a:pPr marL="203200" indent="-203200">
              <a:spcAft>
                <a:spcPts val="600"/>
              </a:spcAft>
              <a:buSzPct val="100000"/>
              <a:buChar char="•"/>
            </a:pPr>
            <a:r>
              <a:rPr lang="en-US" sz="1350" b="1" dirty="0">
                <a:solidFill>
                  <a:schemeClr val="tx1"/>
                </a:solidFill>
              </a:rPr>
              <a:t>One long hill, not a short spike. </a:t>
            </a:r>
            <a:r>
              <a:rPr lang="en-US" sz="1350" dirty="0">
                <a:solidFill>
                  <a:schemeClr val="tx1"/>
                </a:solidFill>
              </a:rPr>
              <a:t>One shared event, like a bad meal, would peak fast and fade. A long hill means the virus kept passing from person to person</a:t>
            </a:r>
            <a:endParaRPr lang="en-US" sz="1500" dirty="0"/>
          </a:p>
          <a:p>
            <a:pPr marL="203200" indent="-203200">
              <a:spcAft>
                <a:spcPts val="600"/>
              </a:spcAft>
              <a:buSzPct val="100000"/>
              <a:buChar char="•"/>
            </a:pPr>
            <a:r>
              <a:rPr lang="en-US" sz="1350" dirty="0">
                <a:solidFill>
                  <a:schemeClr val="tx1"/>
                </a:solidFill>
              </a:rPr>
              <a:t>First cases (Mar 11–12) came days after the port visit</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Cases kept coming after the ship docked (Mar 27)</a:t>
            </a:r>
            <a:r>
              <a:rPr lang="en-US" sz="1350" baseline="30000" dirty="0">
                <a:solidFill>
                  <a:schemeClr val="tx1"/>
                </a:solidFill>
              </a:rPr>
              <a:t>1</a:t>
            </a:r>
            <a:endParaRPr lang="en-US" sz="1500" dirty="0"/>
          </a:p>
          <a:p>
            <a:pPr marL="203200" indent="-203200">
              <a:spcAft>
                <a:spcPts val="600"/>
              </a:spcAft>
              <a:buSzPct val="100000"/>
              <a:buChar char="•"/>
            </a:pPr>
            <a:r>
              <a:rPr lang="en-US" sz="1350" b="1" dirty="0">
                <a:solidFill>
                  <a:schemeClr val="tx1"/>
                </a:solidFill>
              </a:rPr>
              <a:t>Careful: </a:t>
            </a:r>
            <a:r>
              <a:rPr lang="en-US" sz="1350" dirty="0">
                <a:solidFill>
                  <a:schemeClr val="tx1"/>
                </a:solidFill>
              </a:rPr>
              <a:t>the jump on Mar 23 is partly when testing began</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Silent Carriers: Why It Went Unseen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Percentages are my calculation from the counts (572 ÷ 1,271 = 45%). The paper shows 43% because it divides by all 1,331 cases.</a:t>
            </a:r>
            <a:endParaRPr lang="en-US" sz="1000" dirty="0"/>
          </a:p>
        </p:txBody>
      </p:sp>
      <p:sp>
        <p:nvSpPr>
          <p:cNvPr id="5" name="pictograph card"/>
          <p:cNvSpPr/>
          <p:nvPr/>
        </p:nvSpPr>
        <p:spPr>
          <a:xfrm>
            <a:off x="548640" y="1325880"/>
            <a:ext cx="5760720" cy="4846320"/>
          </a:xfrm>
          <a:prstGeom prst="roundRect">
            <a:avLst>
              <a:gd name="adj" fmla="val 2264"/>
            </a:avLst>
          </a:prstGeom>
          <a:solidFill>
            <a:schemeClr val="bg2"/>
          </a:solidFill>
          <a:ln/>
        </p:spPr>
      </p:sp>
      <p:sp>
        <p:nvSpPr>
          <p:cNvPr id="6" name="Text 4"/>
          <p:cNvSpPr txBox="1"/>
          <p:nvPr/>
        </p:nvSpPr>
        <p:spPr>
          <a:xfrm>
            <a:off x="777240" y="1417320"/>
            <a:ext cx="5303520" cy="457200"/>
          </a:xfrm>
          <a:prstGeom prst="rect">
            <a:avLst/>
          </a:prstGeom>
          <a:noFill/>
          <a:ln/>
        </p:spPr>
        <p:txBody>
          <a:bodyPr wrap="square" lIns="635" tIns="635" rIns="635" bIns="635" rtlCol="0" anchor="t"/>
          <a:lstStyle/>
          <a:p>
            <a:pPr indent="0" marL="0">
              <a:buNone/>
            </a:pPr>
            <a:r>
              <a:rPr lang="en-US" sz="1900" b="1" dirty="0">
                <a:solidFill>
                  <a:schemeClr val="tx2"/>
                </a:solidFill>
                <a:latin typeface="Cambria" pitchFamily="34" charset="0"/>
                <a:ea typeface="Cambria" pitchFamily="34" charset="-122"/>
                <a:cs typeface="Cambria" pitchFamily="34" charset="-120"/>
              </a:rPr>
              <a:t>Of every 100 infected sailors...</a:t>
            </a:r>
            <a:endParaRPr lang="en-US" sz="1900" dirty="0"/>
          </a:p>
        </p:txBody>
      </p:sp>
      <p:pic>
        <p:nvPicPr>
          <p:cNvPr id="7" name="case status pictograph" descr="Ten by ten grid of 100 people: 45 navy never felt sick, 32 blue felt fine then got sick, 23 red were already sick when tested">    </p:cNvPr>
          <p:cNvPicPr>
            <a:picLocks noChangeAspect="1"/>
          </p:cNvPicPr>
          <p:nvPr/>
        </p:nvPicPr>
        <p:blipFill>
          <a:blip r:embed="rId1"/>
          <a:stretch>
            <a:fillRect/>
          </a:stretch>
        </p:blipFill>
        <p:spPr>
          <a:xfrm>
            <a:off x="822960" y="1920240"/>
            <a:ext cx="2743200" cy="3017520"/>
          </a:xfrm>
          <a:prstGeom prst="rect">
            <a:avLst/>
          </a:prstGeom>
        </p:spPr>
      </p:pic>
      <p:sp>
        <p:nvSpPr>
          <p:cNvPr id="8" name="legend swatch 1"/>
          <p:cNvSpPr/>
          <p:nvPr/>
        </p:nvSpPr>
        <p:spPr>
          <a:xfrm>
            <a:off x="3794760" y="2130552"/>
            <a:ext cx="219456" cy="219456"/>
          </a:xfrm>
          <a:prstGeom prst="rect">
            <a:avLst/>
          </a:prstGeom>
          <a:solidFill>
            <a:srgbClr val="0B2545"/>
          </a:solidFill>
          <a:ln/>
        </p:spPr>
      </p:sp>
      <p:sp>
        <p:nvSpPr>
          <p:cNvPr id="9" name="Text 6"/>
          <p:cNvSpPr txBox="1"/>
          <p:nvPr/>
        </p:nvSpPr>
        <p:spPr>
          <a:xfrm>
            <a:off x="4114800" y="2057400"/>
            <a:ext cx="2103120" cy="868680"/>
          </a:xfrm>
          <a:prstGeom prst="rect">
            <a:avLst/>
          </a:prstGeom>
          <a:noFill/>
          <a:ln/>
        </p:spPr>
        <p:txBody>
          <a:bodyPr wrap="square" lIns="254" tIns="254" rIns="254" bIns="254" rtlCol="0" anchor="t"/>
          <a:lstStyle/>
          <a:p>
            <a:pPr indent="0" marL="0">
              <a:buNone/>
            </a:pPr>
            <a:r>
              <a:rPr lang="en-US" sz="1400" b="1" dirty="0">
                <a:solidFill>
                  <a:schemeClr val="tx1"/>
                </a:solidFill>
              </a:rPr>
              <a:t>45 never felt sick at all</a:t>
            </a:r>
            <a:endParaRPr lang="en-US" sz="1400" dirty="0"/>
          </a:p>
          <a:p>
            <a:pPr indent="0" marL="0">
              <a:buNone/>
            </a:pPr>
            <a:r>
              <a:rPr lang="en-US" sz="1250" dirty="0">
                <a:solidFill>
                  <a:srgbClr val="5C6B7A"/>
                </a:solidFill>
              </a:rPr>
              <a:t>(asymptomatic)</a:t>
            </a:r>
            <a:endParaRPr lang="en-US" sz="1400" dirty="0"/>
          </a:p>
        </p:txBody>
      </p:sp>
      <p:sp>
        <p:nvSpPr>
          <p:cNvPr id="10" name="legend swatch 2"/>
          <p:cNvSpPr/>
          <p:nvPr/>
        </p:nvSpPr>
        <p:spPr>
          <a:xfrm>
            <a:off x="3794760" y="3090672"/>
            <a:ext cx="219456" cy="219456"/>
          </a:xfrm>
          <a:prstGeom prst="rect">
            <a:avLst/>
          </a:prstGeom>
          <a:solidFill>
            <a:srgbClr val="3B6EA5"/>
          </a:solidFill>
          <a:ln/>
        </p:spPr>
      </p:sp>
      <p:sp>
        <p:nvSpPr>
          <p:cNvPr id="11" name="Text 8"/>
          <p:cNvSpPr txBox="1"/>
          <p:nvPr/>
        </p:nvSpPr>
        <p:spPr>
          <a:xfrm>
            <a:off x="4114800" y="3017520"/>
            <a:ext cx="2103120" cy="868680"/>
          </a:xfrm>
          <a:prstGeom prst="rect">
            <a:avLst/>
          </a:prstGeom>
          <a:noFill/>
          <a:ln/>
        </p:spPr>
        <p:txBody>
          <a:bodyPr wrap="square" lIns="254" tIns="254" rIns="254" bIns="254" rtlCol="0" anchor="t"/>
          <a:lstStyle/>
          <a:p>
            <a:pPr indent="0" marL="0">
              <a:buNone/>
            </a:pPr>
            <a:r>
              <a:rPr lang="en-US" sz="1400" b="1" dirty="0">
                <a:solidFill>
                  <a:schemeClr val="tx1"/>
                </a:solidFill>
              </a:rPr>
              <a:t>32 felt fine when tested, then got sick</a:t>
            </a:r>
            <a:endParaRPr lang="en-US" sz="1400" dirty="0"/>
          </a:p>
          <a:p>
            <a:pPr indent="0" marL="0">
              <a:buNone/>
            </a:pPr>
            <a:r>
              <a:rPr lang="en-US" sz="1250" dirty="0">
                <a:solidFill>
                  <a:srgbClr val="5C6B7A"/>
                </a:solidFill>
              </a:rPr>
              <a:t>(presymptomatic)</a:t>
            </a:r>
            <a:endParaRPr lang="en-US" sz="1400" dirty="0"/>
          </a:p>
        </p:txBody>
      </p:sp>
      <p:sp>
        <p:nvSpPr>
          <p:cNvPr id="12" name="legend swatch 3"/>
          <p:cNvSpPr/>
          <p:nvPr/>
        </p:nvSpPr>
        <p:spPr>
          <a:xfrm>
            <a:off x="3794760" y="4050792"/>
            <a:ext cx="219456" cy="219456"/>
          </a:xfrm>
          <a:prstGeom prst="rect">
            <a:avLst/>
          </a:prstGeom>
          <a:solidFill>
            <a:srgbClr val="D1495B"/>
          </a:solidFill>
          <a:ln/>
        </p:spPr>
      </p:sp>
      <p:sp>
        <p:nvSpPr>
          <p:cNvPr id="13" name="Text 10"/>
          <p:cNvSpPr txBox="1"/>
          <p:nvPr/>
        </p:nvSpPr>
        <p:spPr>
          <a:xfrm>
            <a:off x="4114800" y="3977640"/>
            <a:ext cx="2103120" cy="868680"/>
          </a:xfrm>
          <a:prstGeom prst="rect">
            <a:avLst/>
          </a:prstGeom>
          <a:noFill/>
          <a:ln/>
        </p:spPr>
        <p:txBody>
          <a:bodyPr wrap="square" lIns="254" tIns="254" rIns="254" bIns="254" rtlCol="0" anchor="t"/>
          <a:lstStyle/>
          <a:p>
            <a:pPr indent="0" marL="0">
              <a:buNone/>
            </a:pPr>
            <a:r>
              <a:rPr lang="en-US" sz="1400" b="1" dirty="0">
                <a:solidFill>
                  <a:schemeClr val="tx1"/>
                </a:solidFill>
              </a:rPr>
              <a:t>23 were already sick when tested</a:t>
            </a:r>
            <a:endParaRPr lang="en-US" sz="1400" dirty="0"/>
          </a:p>
          <a:p>
            <a:pPr indent="0" marL="0">
              <a:buNone/>
            </a:pPr>
            <a:r>
              <a:rPr lang="en-US" sz="1250" dirty="0">
                <a:solidFill>
                  <a:srgbClr val="5C6B7A"/>
                </a:solidFill>
              </a:rPr>
              <a:t>(symptomatic)</a:t>
            </a:r>
            <a:endParaRPr lang="en-US" sz="1400" dirty="0"/>
          </a:p>
        </p:txBody>
      </p:sp>
      <p:sp>
        <p:nvSpPr>
          <p:cNvPr id="14" name="Text 11"/>
          <p:cNvSpPr txBox="1"/>
          <p:nvPr/>
        </p:nvSpPr>
        <p:spPr>
          <a:xfrm>
            <a:off x="777240" y="5074920"/>
            <a:ext cx="5394960" cy="1005840"/>
          </a:xfrm>
          <a:prstGeom prst="rect">
            <a:avLst/>
          </a:prstGeom>
          <a:noFill/>
          <a:ln/>
        </p:spPr>
        <p:txBody>
          <a:bodyPr wrap="square" lIns="635" tIns="635" rIns="635" bIns="635" rtlCol="0" anchor="ctr"/>
          <a:lstStyle/>
          <a:p>
            <a:pPr indent="0" marL="0">
              <a:buNone/>
            </a:pPr>
            <a:r>
              <a:rPr lang="en-US" sz="1450" b="1" dirty="0">
                <a:solidFill>
                  <a:schemeClr val="accent2"/>
                </a:solidFill>
              </a:rPr>
              <a:t>Silent carrier = </a:t>
            </a:r>
            <a:r>
              <a:rPr lang="en-US" sz="1450" dirty="0">
                <a:solidFill>
                  <a:schemeClr val="tx1"/>
                </a:solidFill>
              </a:rPr>
              <a:t>someone who is infected and can spread the virus without feeling sick.</a:t>
            </a:r>
            <a:endParaRPr lang="en-US" sz="1450" dirty="0"/>
          </a:p>
        </p:txBody>
      </p:sp>
      <p:sp>
        <p:nvSpPr>
          <p:cNvPr id="15" name="stat 77"/>
          <p:cNvSpPr/>
          <p:nvPr/>
        </p:nvSpPr>
        <p:spPr>
          <a:xfrm>
            <a:off x="6537960" y="1325880"/>
            <a:ext cx="5074920" cy="1691640"/>
          </a:xfrm>
          <a:prstGeom prst="roundRect">
            <a:avLst>
              <a:gd name="adj" fmla="val 6486"/>
            </a:avLst>
          </a:prstGeom>
          <a:solidFill>
            <a:schemeClr val="bg2"/>
          </a:solidFill>
          <a:ln/>
        </p:spPr>
      </p:sp>
      <p:sp>
        <p:nvSpPr>
          <p:cNvPr id="16" name="Text 13"/>
          <p:cNvSpPr txBox="1"/>
          <p:nvPr/>
        </p:nvSpPr>
        <p:spPr>
          <a:xfrm>
            <a:off x="6675120" y="1417320"/>
            <a:ext cx="1554480" cy="1508760"/>
          </a:xfrm>
          <a:prstGeom prst="rect">
            <a:avLst/>
          </a:prstGeom>
          <a:noFill/>
          <a:ln/>
        </p:spPr>
        <p:txBody>
          <a:bodyPr wrap="square" lIns="635" tIns="635" rIns="635" bIns="635" rtlCol="0" anchor="ctr"/>
          <a:lstStyle/>
          <a:p>
            <a:pPr algn="ctr" indent="0" marL="0">
              <a:buNone/>
            </a:pPr>
            <a:r>
              <a:rPr lang="en-US" sz="6000" b="1" dirty="0">
                <a:solidFill>
                  <a:schemeClr val="accent2"/>
                </a:solidFill>
                <a:latin typeface="Cambria" pitchFamily="34" charset="0"/>
                <a:ea typeface="Cambria" pitchFamily="34" charset="-122"/>
                <a:cs typeface="Cambria" pitchFamily="34" charset="-120"/>
              </a:rPr>
              <a:t>77</a:t>
            </a:r>
            <a:endParaRPr lang="en-US" sz="6000" dirty="0"/>
          </a:p>
        </p:txBody>
      </p:sp>
      <p:sp>
        <p:nvSpPr>
          <p:cNvPr id="17" name="Text 14"/>
          <p:cNvSpPr txBox="1"/>
          <p:nvPr/>
        </p:nvSpPr>
        <p:spPr>
          <a:xfrm>
            <a:off x="8275320" y="1417320"/>
            <a:ext cx="3200400" cy="1508760"/>
          </a:xfrm>
          <a:prstGeom prst="rect">
            <a:avLst/>
          </a:prstGeom>
          <a:noFill/>
          <a:ln/>
        </p:spPr>
        <p:txBody>
          <a:bodyPr wrap="square" lIns="635" tIns="635" rIns="635" bIns="635" rtlCol="0" anchor="ctr"/>
          <a:lstStyle/>
          <a:p>
            <a:pPr indent="0" marL="0">
              <a:buNone/>
            </a:pPr>
            <a:r>
              <a:rPr lang="en-US" sz="1500" dirty="0">
                <a:solidFill>
                  <a:schemeClr val="tx1"/>
                </a:solidFill>
              </a:rPr>
              <a:t>of every 100 infected sailors felt fine on the day they tested positive (45 + 32). That is about 3 in 4</a:t>
            </a:r>
            <a:r>
              <a:rPr lang="en-US" sz="1500" baseline="30000" dirty="0">
                <a:solidFill>
                  <a:schemeClr val="tx1"/>
                </a:solidFill>
              </a:rPr>
              <a:t>1</a:t>
            </a:r>
            <a:endParaRPr lang="en-US" sz="1500" dirty="0"/>
          </a:p>
        </p:txBody>
      </p:sp>
      <p:sp>
        <p:nvSpPr>
          <p:cNvPr id="18" name="stat 45"/>
          <p:cNvSpPr/>
          <p:nvPr/>
        </p:nvSpPr>
        <p:spPr>
          <a:xfrm>
            <a:off x="6537960" y="3154680"/>
            <a:ext cx="5074920" cy="1417320"/>
          </a:xfrm>
          <a:prstGeom prst="roundRect">
            <a:avLst>
              <a:gd name="adj" fmla="val 7742"/>
            </a:avLst>
          </a:prstGeom>
          <a:solidFill>
            <a:schemeClr val="bg2"/>
          </a:solidFill>
          <a:ln/>
        </p:spPr>
      </p:sp>
      <p:sp>
        <p:nvSpPr>
          <p:cNvPr id="19" name="Text 16"/>
          <p:cNvSpPr txBox="1"/>
          <p:nvPr/>
        </p:nvSpPr>
        <p:spPr>
          <a:xfrm>
            <a:off x="6675120" y="3200400"/>
            <a:ext cx="1554480" cy="1325880"/>
          </a:xfrm>
          <a:prstGeom prst="rect">
            <a:avLst/>
          </a:prstGeom>
          <a:noFill/>
          <a:ln/>
        </p:spPr>
        <p:txBody>
          <a:bodyPr wrap="square" lIns="635" tIns="635" rIns="635" bIns="635"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45</a:t>
            </a:r>
            <a:endParaRPr lang="en-US" sz="5400" dirty="0"/>
          </a:p>
        </p:txBody>
      </p:sp>
      <p:sp>
        <p:nvSpPr>
          <p:cNvPr id="20" name="Text 17"/>
          <p:cNvSpPr txBox="1"/>
          <p:nvPr/>
        </p:nvSpPr>
        <p:spPr>
          <a:xfrm>
            <a:off x="8275320" y="3200400"/>
            <a:ext cx="3200400" cy="1325880"/>
          </a:xfrm>
          <a:prstGeom prst="rect">
            <a:avLst/>
          </a:prstGeom>
          <a:noFill/>
          <a:ln/>
        </p:spPr>
        <p:txBody>
          <a:bodyPr wrap="square" lIns="635" tIns="635" rIns="635" bIns="635" rtlCol="0" anchor="ctr"/>
          <a:lstStyle/>
          <a:p>
            <a:pPr indent="0" marL="0">
              <a:buNone/>
            </a:pPr>
            <a:r>
              <a:rPr lang="en-US" sz="1500" dirty="0">
                <a:solidFill>
                  <a:schemeClr val="tx1"/>
                </a:solidFill>
              </a:rPr>
              <a:t>of every 100 never got sick at all: nearly half</a:t>
            </a:r>
            <a:r>
              <a:rPr lang="en-US" sz="1500" baseline="30000" dirty="0">
                <a:solidFill>
                  <a:schemeClr val="tx1"/>
                </a:solidFill>
              </a:rPr>
              <a:t>1</a:t>
            </a:r>
            <a:endParaRPr lang="en-US" sz="1500" dirty="0"/>
          </a:p>
        </p:txBody>
      </p:sp>
      <p:sp>
        <p:nvSpPr>
          <p:cNvPr id="21" name="so what"/>
          <p:cNvSpPr/>
          <p:nvPr/>
        </p:nvSpPr>
        <p:spPr>
          <a:xfrm>
            <a:off x="6537960" y="4709160"/>
            <a:ext cx="5074920" cy="1463040"/>
          </a:xfrm>
          <a:prstGeom prst="roundRect">
            <a:avLst>
              <a:gd name="adj" fmla="val 7500"/>
            </a:avLst>
          </a:prstGeom>
          <a:solidFill>
            <a:schemeClr val="tx2"/>
          </a:solidFill>
          <a:ln/>
        </p:spPr>
      </p:sp>
      <p:sp>
        <p:nvSpPr>
          <p:cNvPr id="22" name="Text 19"/>
          <p:cNvSpPr txBox="1"/>
          <p:nvPr/>
        </p:nvSpPr>
        <p:spPr>
          <a:xfrm>
            <a:off x="6720840" y="4754880"/>
            <a:ext cx="4709160" cy="1371600"/>
          </a:xfrm>
          <a:prstGeom prst="rect">
            <a:avLst/>
          </a:prstGeom>
          <a:noFill/>
          <a:ln/>
        </p:spPr>
        <p:txBody>
          <a:bodyPr wrap="square" lIns="635" tIns="635" rIns="635" bIns="635" rtlCol="0" anchor="ctr"/>
          <a:lstStyle/>
          <a:p>
            <a:pPr indent="0" marL="0">
              <a:buNone/>
            </a:pPr>
            <a:r>
              <a:rPr lang="en-US" sz="1550" b="1" dirty="0">
                <a:solidFill>
                  <a:schemeClr val="accent4"/>
                </a:solidFill>
              </a:rPr>
              <a:t>So what? </a:t>
            </a:r>
            <a:r>
              <a:rPr lang="en-US" sz="1550" dirty="0">
                <a:solidFill>
                  <a:schemeClr val="bg1"/>
                </a:solidFill>
              </a:rPr>
              <a:t>Checking only for symptoms would have missed most infected sailors, so they kept spreading the virus without knowing.</a:t>
            </a:r>
            <a:endParaRPr lang="en-US" sz="15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Person: Who Was Affected?</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Rates = my calculation from the counts in Table 1 (confirmed or suspected cases ÷ group size).</a:t>
            </a:r>
            <a:endParaRPr lang="en-US" sz="1000" dirty="0"/>
          </a:p>
        </p:txBody>
      </p:sp>
      <p:graphicFrame>
        <p:nvGraphicFramePr>
          <p:cNvPr id="5"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6" name="Sex and race card"/>
          <p:cNvSpPr/>
          <p:nvPr/>
        </p:nvSpPr>
        <p:spPr>
          <a:xfrm>
            <a:off x="7726680" y="1325880"/>
            <a:ext cx="3886200" cy="1508760"/>
          </a:xfrm>
          <a:prstGeom prst="roundRect">
            <a:avLst>
              <a:gd name="adj" fmla="val 7273"/>
            </a:avLst>
          </a:prstGeom>
          <a:solidFill>
            <a:schemeClr val="bg2"/>
          </a:solidFill>
          <a:ln/>
        </p:spPr>
      </p:sp>
      <p:sp>
        <p:nvSpPr>
          <p:cNvPr id="7" name="Sex and race icon circle"/>
          <p:cNvSpPr/>
          <p:nvPr/>
        </p:nvSpPr>
        <p:spPr>
          <a:xfrm>
            <a:off x="7955280" y="1760220"/>
            <a:ext cx="640080" cy="640080"/>
          </a:xfrm>
          <a:prstGeom prst="ellipse">
            <a:avLst/>
          </a:prstGeom>
          <a:solidFill>
            <a:schemeClr val="accent1"/>
          </a:solidFill>
          <a:ln/>
        </p:spPr>
      </p:sp>
      <p:pic>
        <p:nvPicPr>
          <p:cNvPr id="8" name="Sex and race icon" descr="Sex and race icon">    </p:cNvPr>
          <p:cNvPicPr>
            <a:picLocks noChangeAspect="1"/>
          </p:cNvPicPr>
          <p:nvPr/>
        </p:nvPicPr>
        <p:blipFill>
          <a:blip r:embed="rId2"/>
          <a:stretch>
            <a:fillRect/>
          </a:stretch>
        </p:blipFill>
        <p:spPr>
          <a:xfrm>
            <a:off x="8108899" y="1913839"/>
            <a:ext cx="332842" cy="332842"/>
          </a:xfrm>
          <a:prstGeom prst="rect">
            <a:avLst/>
          </a:prstGeom>
        </p:spPr>
      </p:pic>
      <p:sp>
        <p:nvSpPr>
          <p:cNvPr id="9" name="Text 5"/>
          <p:cNvSpPr txBox="1"/>
          <p:nvPr/>
        </p:nvSpPr>
        <p:spPr>
          <a:xfrm>
            <a:off x="8823960" y="1380744"/>
            <a:ext cx="2606040" cy="1399032"/>
          </a:xfrm>
          <a:prstGeom prst="rect">
            <a:avLst/>
          </a:prstGeom>
          <a:noFill/>
          <a:ln/>
        </p:spPr>
        <p:txBody>
          <a:bodyPr wrap="square" lIns="635" tIns="635" rIns="635" bIns="635" rtlCol="0" anchor="ctr"/>
          <a:lstStyle/>
          <a:p>
            <a:pPr indent="0" marL="0">
              <a:buNone/>
            </a:pPr>
            <a:r>
              <a:rPr lang="en-US" sz="1600" b="1" dirty="0">
                <a:solidFill>
                  <a:schemeClr val="tx2"/>
                </a:solidFill>
              </a:rPr>
              <a:t>Sex and race</a:t>
            </a:r>
            <a:endParaRPr lang="en-US" sz="1350" dirty="0"/>
          </a:p>
          <a:p>
            <a:pPr indent="0" marL="0">
              <a:buNone/>
            </a:pPr>
            <a:r>
              <a:rPr lang="en-US" sz="1350" dirty="0">
                <a:solidFill>
                  <a:schemeClr val="tx1"/>
                </a:solidFill>
              </a:rPr>
              <a:t>Little difference: about 28 of every 100 men and women, and 25 to 31 across racial and ethnic groups</a:t>
            </a:r>
            <a:r>
              <a:rPr lang="en-US" sz="1350" baseline="30000" dirty="0">
                <a:solidFill>
                  <a:schemeClr val="tx1"/>
                </a:solidFill>
              </a:rPr>
              <a:t>1</a:t>
            </a:r>
            <a:endParaRPr lang="en-US" sz="1350" dirty="0"/>
          </a:p>
        </p:txBody>
      </p:sp>
      <p:sp>
        <p:nvSpPr>
          <p:cNvPr id="10" name="Age card"/>
          <p:cNvSpPr/>
          <p:nvPr/>
        </p:nvSpPr>
        <p:spPr>
          <a:xfrm>
            <a:off x="7726680" y="2994660"/>
            <a:ext cx="3886200" cy="1508760"/>
          </a:xfrm>
          <a:prstGeom prst="roundRect">
            <a:avLst>
              <a:gd name="adj" fmla="val 7273"/>
            </a:avLst>
          </a:prstGeom>
          <a:solidFill>
            <a:schemeClr val="bg2"/>
          </a:solidFill>
          <a:ln/>
        </p:spPr>
      </p:sp>
      <p:sp>
        <p:nvSpPr>
          <p:cNvPr id="11" name="Age icon circle"/>
          <p:cNvSpPr/>
          <p:nvPr/>
        </p:nvSpPr>
        <p:spPr>
          <a:xfrm>
            <a:off x="7955280" y="3429000"/>
            <a:ext cx="640080" cy="640080"/>
          </a:xfrm>
          <a:prstGeom prst="ellipse">
            <a:avLst/>
          </a:prstGeom>
          <a:solidFill>
            <a:schemeClr val="accent1"/>
          </a:solidFill>
          <a:ln/>
        </p:spPr>
      </p:sp>
      <p:pic>
        <p:nvPicPr>
          <p:cNvPr id="12" name="Age icon" descr="Age icon">    </p:cNvPr>
          <p:cNvPicPr>
            <a:picLocks noChangeAspect="1"/>
          </p:cNvPicPr>
          <p:nvPr/>
        </p:nvPicPr>
        <p:blipFill>
          <a:blip r:embed="rId3"/>
          <a:stretch>
            <a:fillRect/>
          </a:stretch>
        </p:blipFill>
        <p:spPr>
          <a:xfrm>
            <a:off x="8108899" y="3582619"/>
            <a:ext cx="332842" cy="332842"/>
          </a:xfrm>
          <a:prstGeom prst="rect">
            <a:avLst/>
          </a:prstGeom>
        </p:spPr>
      </p:pic>
      <p:sp>
        <p:nvSpPr>
          <p:cNvPr id="13" name="Text 8"/>
          <p:cNvSpPr txBox="1"/>
          <p:nvPr/>
        </p:nvSpPr>
        <p:spPr>
          <a:xfrm>
            <a:off x="8823960" y="3049524"/>
            <a:ext cx="2606040" cy="1399032"/>
          </a:xfrm>
          <a:prstGeom prst="rect">
            <a:avLst/>
          </a:prstGeom>
          <a:noFill/>
          <a:ln/>
        </p:spPr>
        <p:txBody>
          <a:bodyPr wrap="square" lIns="635" tIns="635" rIns="635" bIns="635" rtlCol="0" anchor="ctr"/>
          <a:lstStyle/>
          <a:p>
            <a:pPr indent="0" marL="0">
              <a:buNone/>
            </a:pPr>
            <a:r>
              <a:rPr lang="en-US" sz="1600" b="1" dirty="0">
                <a:solidFill>
                  <a:schemeClr val="tx2"/>
                </a:solidFill>
              </a:rPr>
              <a:t>Age</a:t>
            </a:r>
            <a:endParaRPr lang="en-US" sz="1350" dirty="0"/>
          </a:p>
          <a:p>
            <a:pPr indent="0" marL="0">
              <a:buNone/>
            </a:pPr>
            <a:r>
              <a:rPr lang="en-US" sz="1350" dirty="0">
                <a:solidFill>
                  <a:schemeClr val="tx1"/>
                </a:solidFill>
              </a:rPr>
              <a:t>Average age was 27 for infected and uninfected sailors alike. No rates by age group were reported</a:t>
            </a:r>
            <a:r>
              <a:rPr lang="en-US" sz="1350" baseline="30000" dirty="0">
                <a:solidFill>
                  <a:schemeClr val="tx1"/>
                </a:solidFill>
              </a:rPr>
              <a:t>1</a:t>
            </a:r>
            <a:endParaRPr lang="en-US" sz="1350" dirty="0"/>
          </a:p>
        </p:txBody>
      </p:sp>
      <p:sp>
        <p:nvSpPr>
          <p:cNvPr id="14" name="rank card"/>
          <p:cNvSpPr/>
          <p:nvPr/>
        </p:nvSpPr>
        <p:spPr>
          <a:xfrm>
            <a:off x="7726680" y="4663440"/>
            <a:ext cx="3886200" cy="1508760"/>
          </a:xfrm>
          <a:prstGeom prst="roundRect">
            <a:avLst>
              <a:gd name="adj" fmla="val 7273"/>
            </a:avLst>
          </a:prstGeom>
          <a:solidFill>
            <a:schemeClr val="bg2"/>
          </a:solidFill>
          <a:ln/>
        </p:spPr>
      </p:sp>
      <p:pic>
        <p:nvPicPr>
          <p:cNvPr id="15" name="berthing thumbnail" descr="Photo of crowded enlisted berthing">    </p:cNvPr>
          <p:cNvPicPr>
            <a:picLocks noChangeAspect="1"/>
          </p:cNvPicPr>
          <p:nvPr/>
        </p:nvPicPr>
        <p:blipFill>
          <a:blip r:embed="rId4"/>
          <a:stretch>
            <a:fillRect/>
          </a:stretch>
        </p:blipFill>
        <p:spPr>
          <a:xfrm>
            <a:off x="7836408" y="4965192"/>
            <a:ext cx="1353312" cy="905256"/>
          </a:xfrm>
          <a:prstGeom prst="rect">
            <a:avLst/>
          </a:prstGeom>
        </p:spPr>
      </p:pic>
      <p:sp>
        <p:nvSpPr>
          <p:cNvPr id="16" name="Text 10"/>
          <p:cNvSpPr txBox="1"/>
          <p:nvPr/>
        </p:nvSpPr>
        <p:spPr>
          <a:xfrm>
            <a:off x="9281160" y="4718304"/>
            <a:ext cx="2194560" cy="1399032"/>
          </a:xfrm>
          <a:prstGeom prst="rect">
            <a:avLst/>
          </a:prstGeom>
          <a:noFill/>
          <a:ln/>
        </p:spPr>
        <p:txBody>
          <a:bodyPr wrap="square" lIns="635" tIns="635" rIns="635" bIns="635" rtlCol="0" anchor="ctr"/>
          <a:lstStyle/>
          <a:p>
            <a:pPr indent="0" marL="0">
              <a:buNone/>
            </a:pPr>
            <a:r>
              <a:rPr lang="en-US" sz="1600" b="1" dirty="0">
                <a:solidFill>
                  <a:schemeClr val="tx2"/>
                </a:solidFill>
              </a:rPr>
              <a:t>Rank</a:t>
            </a:r>
            <a:endParaRPr lang="en-US" sz="1300" dirty="0"/>
          </a:p>
          <a:p>
            <a:pPr indent="0" marL="0">
              <a:buNone/>
            </a:pPr>
            <a:r>
              <a:rPr lang="en-US" sz="1300" dirty="0">
                <a:solidFill>
                  <a:schemeClr val="tx1"/>
                </a:solidFill>
              </a:rPr>
              <a:t>Enlisted 29 of 100 vs officers 21 of 100</a:t>
            </a:r>
            <a:r>
              <a:rPr lang="en-US" sz="1300" baseline="30000" dirty="0">
                <a:solidFill>
                  <a:schemeClr val="tx1"/>
                </a:solidFill>
              </a:rPr>
              <a:t>1</a:t>
            </a:r>
            <a:r>
              <a:rPr lang="en-US" sz="1300" dirty="0">
                <a:solidFill>
                  <a:schemeClr val="tx1"/>
                </a:solidFill>
              </a:rPr>
              <a:t>. Enlisted sailors sleep in crowded open bays like this one (my reading)</a:t>
            </a:r>
            <a:endParaRPr lang="en-US" sz="13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Place: Confined Spaces Hit Hardest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Illustration is simplified and not to scale. Rates = my calculation from Table 1 counts.</a:t>
            </a:r>
            <a:endParaRPr lang="en-US" sz="1000" dirty="0"/>
          </a:p>
        </p:txBody>
      </p:sp>
      <p:pic>
        <p:nvPicPr>
          <p:cNvPr id="5" name="ship illustration" descr="Simplified side view of an aircraft carrier with infection rates by department">    </p:cNvPr>
          <p:cNvPicPr>
            <a:picLocks noChangeAspect="1"/>
          </p:cNvPicPr>
          <p:nvPr/>
        </p:nvPicPr>
        <p:blipFill>
          <a:blip r:embed="rId1"/>
          <a:stretch>
            <a:fillRect/>
          </a:stretch>
        </p:blipFill>
        <p:spPr>
          <a:xfrm>
            <a:off x="548640" y="1325880"/>
            <a:ext cx="11064240" cy="2926080"/>
          </a:xfrm>
          <a:prstGeom prst="rect">
            <a:avLst/>
          </a:prstGeom>
        </p:spPr>
      </p:pic>
      <p:sp>
        <p:nvSpPr>
          <p:cNvPr id="6" name="Text 3"/>
          <p:cNvSpPr txBox="1"/>
          <p:nvPr/>
        </p:nvSpPr>
        <p:spPr>
          <a:xfrm>
            <a:off x="1325880" y="2514600"/>
            <a:ext cx="5486400" cy="228600"/>
          </a:xfrm>
          <a:prstGeom prst="rect">
            <a:avLst/>
          </a:prstGeom>
          <a:noFill/>
          <a:ln/>
        </p:spPr>
        <p:txBody>
          <a:bodyPr wrap="square" lIns="0" tIns="0" rIns="0" bIns="0" rtlCol="0" anchor="t"/>
          <a:lstStyle/>
          <a:p>
            <a:pPr indent="0" marL="0">
              <a:buNone/>
            </a:pPr>
            <a:r>
              <a:rPr lang="en-US" sz="1100" b="1" spc="100" kern="0" dirty="0">
                <a:solidFill>
                  <a:srgbClr val="8DA9C4"/>
                </a:solidFill>
              </a:rPr>
              <a:t>OPEN-AIR OR MIXED WORKPLACES</a:t>
            </a:r>
            <a:endParaRPr lang="en-US" sz="1100" dirty="0"/>
          </a:p>
        </p:txBody>
      </p:sp>
      <p:sp>
        <p:nvSpPr>
          <p:cNvPr id="7" name="Text 4"/>
          <p:cNvSpPr txBox="1"/>
          <p:nvPr/>
        </p:nvSpPr>
        <p:spPr>
          <a:xfrm>
            <a:off x="2286000" y="3273552"/>
            <a:ext cx="5486400" cy="228600"/>
          </a:xfrm>
          <a:prstGeom prst="rect">
            <a:avLst/>
          </a:prstGeom>
          <a:noFill/>
          <a:ln/>
        </p:spPr>
        <p:txBody>
          <a:bodyPr wrap="square" lIns="0" tIns="0" rIns="0" bIns="0" rtlCol="0" anchor="t"/>
          <a:lstStyle/>
          <a:p>
            <a:pPr indent="0" marL="0">
              <a:buNone/>
            </a:pPr>
            <a:r>
              <a:rPr lang="en-US" sz="1100" b="1" spc="100" kern="0" dirty="0">
                <a:solidFill>
                  <a:srgbClr val="8DA9C4"/>
                </a:solidFill>
              </a:rPr>
              <a:t>SMALL, ENCLOSED WORKPLACES</a:t>
            </a:r>
            <a:endParaRPr lang="en-US" sz="1100" dirty="0"/>
          </a:p>
        </p:txBody>
      </p:sp>
      <p:sp>
        <p:nvSpPr>
          <p:cNvPr id="8" name="Air box"/>
          <p:cNvSpPr/>
          <p:nvPr/>
        </p:nvSpPr>
        <p:spPr>
          <a:xfrm>
            <a:off x="2011680" y="2743200"/>
            <a:ext cx="2011680" cy="457200"/>
          </a:xfrm>
          <a:prstGeom prst="roundRect">
            <a:avLst>
              <a:gd name="adj" fmla="val 14000"/>
            </a:avLst>
          </a:prstGeom>
          <a:solidFill>
            <a:srgbClr val="F3B7C0"/>
          </a:solidFill>
          <a:ln w="19050">
            <a:solidFill>
              <a:srgbClr val="FFFFFF"/>
            </a:solidFill>
            <a:prstDash val="solid"/>
          </a:ln>
        </p:spPr>
      </p:sp>
      <p:sp>
        <p:nvSpPr>
          <p:cNvPr id="9" name="Text 6"/>
          <p:cNvSpPr txBox="1"/>
          <p:nvPr/>
        </p:nvSpPr>
        <p:spPr>
          <a:xfrm>
            <a:off x="2011680" y="2743200"/>
            <a:ext cx="2011680" cy="457200"/>
          </a:xfrm>
          <a:prstGeom prst="rect">
            <a:avLst/>
          </a:prstGeom>
          <a:noFill/>
          <a:ln/>
        </p:spPr>
        <p:txBody>
          <a:bodyPr wrap="square" lIns="0" tIns="0" rIns="0" bIns="0" rtlCol="0" anchor="ctr"/>
          <a:lstStyle/>
          <a:p>
            <a:pPr algn="ctr" indent="0" marL="0">
              <a:buNone/>
            </a:pPr>
            <a:r>
              <a:rPr lang="en-US" sz="1150" b="1" dirty="0">
                <a:solidFill>
                  <a:srgbClr val="1B1B1E"/>
                </a:solidFill>
              </a:rPr>
              <a:t>Air</a:t>
            </a:r>
            <a:endParaRPr lang="en-US" sz="1500" dirty="0"/>
          </a:p>
          <a:p>
            <a:pPr algn="ctr" indent="0" marL="0">
              <a:buNone/>
            </a:pPr>
            <a:r>
              <a:rPr lang="en-US" sz="1600" b="1" dirty="0">
                <a:solidFill>
                  <a:srgbClr val="1B1B1E"/>
                </a:solidFill>
              </a:rPr>
              <a:t>14%</a:t>
            </a:r>
            <a:endParaRPr lang="en-US" sz="1500" dirty="0"/>
          </a:p>
        </p:txBody>
      </p:sp>
      <p:sp>
        <p:nvSpPr>
          <p:cNvPr id="10" name="Deck box"/>
          <p:cNvSpPr/>
          <p:nvPr/>
        </p:nvSpPr>
        <p:spPr>
          <a:xfrm>
            <a:off x="4206240" y="2743200"/>
            <a:ext cx="2011680" cy="457200"/>
          </a:xfrm>
          <a:prstGeom prst="roundRect">
            <a:avLst>
              <a:gd name="adj" fmla="val 14000"/>
            </a:avLst>
          </a:prstGeom>
          <a:solidFill>
            <a:srgbClr val="FBE4E8"/>
          </a:solidFill>
          <a:ln w="19050">
            <a:solidFill>
              <a:srgbClr val="FFFFFF"/>
            </a:solidFill>
            <a:prstDash val="solid"/>
          </a:ln>
        </p:spPr>
      </p:sp>
      <p:sp>
        <p:nvSpPr>
          <p:cNvPr id="11" name="Text 8"/>
          <p:cNvSpPr txBox="1"/>
          <p:nvPr/>
        </p:nvSpPr>
        <p:spPr>
          <a:xfrm>
            <a:off x="4206240" y="2743200"/>
            <a:ext cx="2011680" cy="457200"/>
          </a:xfrm>
          <a:prstGeom prst="rect">
            <a:avLst/>
          </a:prstGeom>
          <a:noFill/>
          <a:ln/>
        </p:spPr>
        <p:txBody>
          <a:bodyPr wrap="square" lIns="0" tIns="0" rIns="0" bIns="0" rtlCol="0" anchor="ctr"/>
          <a:lstStyle/>
          <a:p>
            <a:pPr algn="ctr" indent="0" marL="0">
              <a:buNone/>
            </a:pPr>
            <a:r>
              <a:rPr lang="en-US" sz="1150" b="1" dirty="0">
                <a:solidFill>
                  <a:srgbClr val="1B1B1E"/>
                </a:solidFill>
              </a:rPr>
              <a:t>Deck</a:t>
            </a:r>
            <a:endParaRPr lang="en-US" sz="1500" dirty="0"/>
          </a:p>
          <a:p>
            <a:pPr algn="ctr" indent="0" marL="0">
              <a:buNone/>
            </a:pPr>
            <a:r>
              <a:rPr lang="en-US" sz="1600" b="1" dirty="0">
                <a:solidFill>
                  <a:srgbClr val="1B1B1E"/>
                </a:solidFill>
              </a:rPr>
              <a:t>5%</a:t>
            </a:r>
            <a:endParaRPr lang="en-US" sz="1500" dirty="0"/>
          </a:p>
        </p:txBody>
      </p:sp>
      <p:sp>
        <p:nvSpPr>
          <p:cNvPr id="12" name="Weapons box"/>
          <p:cNvSpPr/>
          <p:nvPr/>
        </p:nvSpPr>
        <p:spPr>
          <a:xfrm>
            <a:off x="2286000" y="3520440"/>
            <a:ext cx="1188720" cy="521208"/>
          </a:xfrm>
          <a:prstGeom prst="roundRect">
            <a:avLst>
              <a:gd name="adj" fmla="val 12281"/>
            </a:avLst>
          </a:prstGeom>
          <a:solidFill>
            <a:srgbClr val="A02B3C"/>
          </a:solidFill>
          <a:ln w="19050">
            <a:solidFill>
              <a:srgbClr val="FFFFFF"/>
            </a:solidFill>
            <a:prstDash val="solid"/>
          </a:ln>
        </p:spPr>
      </p:sp>
      <p:sp>
        <p:nvSpPr>
          <p:cNvPr id="13" name="Text 10"/>
          <p:cNvSpPr txBox="1"/>
          <p:nvPr/>
        </p:nvSpPr>
        <p:spPr>
          <a:xfrm>
            <a:off x="2286000" y="3520440"/>
            <a:ext cx="1188720" cy="521208"/>
          </a:xfrm>
          <a:prstGeom prst="rect">
            <a:avLst/>
          </a:prstGeom>
          <a:noFill/>
          <a:ln/>
        </p:spPr>
        <p:txBody>
          <a:bodyPr wrap="square" lIns="0" tIns="0" rIns="0" bIns="0" rtlCol="0" anchor="ctr"/>
          <a:lstStyle/>
          <a:p>
            <a:pPr algn="ctr" indent="0" marL="0">
              <a:buNone/>
            </a:pPr>
            <a:r>
              <a:rPr lang="en-US" sz="1150" b="1" dirty="0">
                <a:solidFill>
                  <a:srgbClr val="FFFFFF"/>
                </a:solidFill>
              </a:rPr>
              <a:t>Weapons</a:t>
            </a:r>
            <a:endParaRPr lang="en-US" sz="1500" dirty="0"/>
          </a:p>
          <a:p>
            <a:pPr algn="ctr" indent="0" marL="0">
              <a:buNone/>
            </a:pPr>
            <a:r>
              <a:rPr lang="en-US" sz="1600" b="1" dirty="0">
                <a:solidFill>
                  <a:srgbClr val="FFFFFF"/>
                </a:solidFill>
              </a:rPr>
              <a:t>42%</a:t>
            </a:r>
            <a:endParaRPr lang="en-US" sz="1500" dirty="0"/>
          </a:p>
        </p:txBody>
      </p:sp>
      <p:sp>
        <p:nvSpPr>
          <p:cNvPr id="14" name="Supply box"/>
          <p:cNvSpPr/>
          <p:nvPr/>
        </p:nvSpPr>
        <p:spPr>
          <a:xfrm>
            <a:off x="3566160" y="3520440"/>
            <a:ext cx="1188720" cy="521208"/>
          </a:xfrm>
          <a:prstGeom prst="roundRect">
            <a:avLst>
              <a:gd name="adj" fmla="val 12281"/>
            </a:avLst>
          </a:prstGeom>
          <a:solidFill>
            <a:srgbClr val="D1495B"/>
          </a:solidFill>
          <a:ln w="19050">
            <a:solidFill>
              <a:srgbClr val="FFFFFF"/>
            </a:solidFill>
            <a:prstDash val="solid"/>
          </a:ln>
        </p:spPr>
      </p:sp>
      <p:sp>
        <p:nvSpPr>
          <p:cNvPr id="15" name="Text 12"/>
          <p:cNvSpPr txBox="1"/>
          <p:nvPr/>
        </p:nvSpPr>
        <p:spPr>
          <a:xfrm>
            <a:off x="3566160" y="3520440"/>
            <a:ext cx="1188720" cy="521208"/>
          </a:xfrm>
          <a:prstGeom prst="rect">
            <a:avLst/>
          </a:prstGeom>
          <a:noFill/>
          <a:ln/>
        </p:spPr>
        <p:txBody>
          <a:bodyPr wrap="square" lIns="0" tIns="0" rIns="0" bIns="0" rtlCol="0" anchor="ctr"/>
          <a:lstStyle/>
          <a:p>
            <a:pPr algn="ctr" indent="0" marL="0">
              <a:buNone/>
            </a:pPr>
            <a:r>
              <a:rPr lang="en-US" sz="1150" b="1" dirty="0">
                <a:solidFill>
                  <a:srgbClr val="FFFFFF"/>
                </a:solidFill>
              </a:rPr>
              <a:t>Supply</a:t>
            </a:r>
            <a:endParaRPr lang="en-US" sz="1500" dirty="0"/>
          </a:p>
          <a:p>
            <a:pPr algn="ctr" indent="0" marL="0">
              <a:buNone/>
            </a:pPr>
            <a:r>
              <a:rPr lang="en-US" sz="1600" b="1" dirty="0">
                <a:solidFill>
                  <a:srgbClr val="FFFFFF"/>
                </a:solidFill>
              </a:rPr>
              <a:t>39%</a:t>
            </a:r>
            <a:endParaRPr lang="en-US" sz="1500" dirty="0"/>
          </a:p>
        </p:txBody>
      </p:sp>
      <p:sp>
        <p:nvSpPr>
          <p:cNvPr id="16" name="Engineering box"/>
          <p:cNvSpPr/>
          <p:nvPr/>
        </p:nvSpPr>
        <p:spPr>
          <a:xfrm>
            <a:off x="4846320" y="3520440"/>
            <a:ext cx="1188720" cy="521208"/>
          </a:xfrm>
          <a:prstGeom prst="roundRect">
            <a:avLst>
              <a:gd name="adj" fmla="val 12281"/>
            </a:avLst>
          </a:prstGeom>
          <a:solidFill>
            <a:srgbClr val="D1495B"/>
          </a:solidFill>
          <a:ln w="19050">
            <a:solidFill>
              <a:srgbClr val="FFFFFF"/>
            </a:solidFill>
            <a:prstDash val="solid"/>
          </a:ln>
        </p:spPr>
      </p:sp>
      <p:sp>
        <p:nvSpPr>
          <p:cNvPr id="17" name="Text 14"/>
          <p:cNvSpPr txBox="1"/>
          <p:nvPr/>
        </p:nvSpPr>
        <p:spPr>
          <a:xfrm>
            <a:off x="4846320" y="3520440"/>
            <a:ext cx="1188720" cy="521208"/>
          </a:xfrm>
          <a:prstGeom prst="rect">
            <a:avLst/>
          </a:prstGeom>
          <a:noFill/>
          <a:ln/>
        </p:spPr>
        <p:txBody>
          <a:bodyPr wrap="square" lIns="0" tIns="0" rIns="0" bIns="0" rtlCol="0" anchor="ctr"/>
          <a:lstStyle/>
          <a:p>
            <a:pPr algn="ctr" indent="0" marL="0">
              <a:buNone/>
            </a:pPr>
            <a:r>
              <a:rPr lang="en-US" sz="1150" b="1" dirty="0">
                <a:solidFill>
                  <a:srgbClr val="FFFFFF"/>
                </a:solidFill>
              </a:rPr>
              <a:t>Engineering</a:t>
            </a:r>
            <a:endParaRPr lang="en-US" sz="1500" dirty="0"/>
          </a:p>
          <a:p>
            <a:pPr algn="ctr" indent="0" marL="0">
              <a:buNone/>
            </a:pPr>
            <a:r>
              <a:rPr lang="en-US" sz="1600" b="1" dirty="0">
                <a:solidFill>
                  <a:srgbClr val="FFFFFF"/>
                </a:solidFill>
              </a:rPr>
              <a:t>33%</a:t>
            </a:r>
            <a:endParaRPr lang="en-US" sz="1500" dirty="0"/>
          </a:p>
        </p:txBody>
      </p:sp>
      <p:sp>
        <p:nvSpPr>
          <p:cNvPr id="18" name="Reactor box"/>
          <p:cNvSpPr/>
          <p:nvPr/>
        </p:nvSpPr>
        <p:spPr>
          <a:xfrm>
            <a:off x="6126480" y="3520440"/>
            <a:ext cx="1188720" cy="521208"/>
          </a:xfrm>
          <a:prstGeom prst="roundRect">
            <a:avLst>
              <a:gd name="adj" fmla="val 12281"/>
            </a:avLst>
          </a:prstGeom>
          <a:solidFill>
            <a:srgbClr val="D1495B"/>
          </a:solidFill>
          <a:ln w="19050">
            <a:solidFill>
              <a:srgbClr val="FFFFFF"/>
            </a:solidFill>
            <a:prstDash val="solid"/>
          </a:ln>
        </p:spPr>
      </p:sp>
      <p:sp>
        <p:nvSpPr>
          <p:cNvPr id="19" name="Text 16"/>
          <p:cNvSpPr txBox="1"/>
          <p:nvPr/>
        </p:nvSpPr>
        <p:spPr>
          <a:xfrm>
            <a:off x="6126480" y="3520440"/>
            <a:ext cx="1188720" cy="521208"/>
          </a:xfrm>
          <a:prstGeom prst="rect">
            <a:avLst/>
          </a:prstGeom>
          <a:noFill/>
          <a:ln/>
        </p:spPr>
        <p:txBody>
          <a:bodyPr wrap="square" lIns="0" tIns="0" rIns="0" bIns="0" rtlCol="0" anchor="ctr"/>
          <a:lstStyle/>
          <a:p>
            <a:pPr algn="ctr" indent="0" marL="0">
              <a:buNone/>
            </a:pPr>
            <a:r>
              <a:rPr lang="en-US" sz="1150" b="1" dirty="0">
                <a:solidFill>
                  <a:srgbClr val="FFFFFF"/>
                </a:solidFill>
              </a:rPr>
              <a:t>Reactor</a:t>
            </a:r>
            <a:endParaRPr lang="en-US" sz="1500" dirty="0"/>
          </a:p>
          <a:p>
            <a:pPr algn="ctr" indent="0" marL="0">
              <a:buNone/>
            </a:pPr>
            <a:r>
              <a:rPr lang="en-US" sz="1600" b="1" dirty="0">
                <a:solidFill>
                  <a:srgbClr val="FFFFFF"/>
                </a:solidFill>
              </a:rPr>
              <a:t>31%</a:t>
            </a:r>
            <a:endParaRPr lang="en-US" sz="1500" dirty="0"/>
          </a:p>
        </p:txBody>
      </p:sp>
      <p:sp>
        <p:nvSpPr>
          <p:cNvPr id="20" name="Combat support box"/>
          <p:cNvSpPr/>
          <p:nvPr/>
        </p:nvSpPr>
        <p:spPr>
          <a:xfrm>
            <a:off x="7406640" y="3520440"/>
            <a:ext cx="1188720" cy="521208"/>
          </a:xfrm>
          <a:prstGeom prst="roundRect">
            <a:avLst>
              <a:gd name="adj" fmla="val 12281"/>
            </a:avLst>
          </a:prstGeom>
          <a:solidFill>
            <a:srgbClr val="F3B7C0"/>
          </a:solidFill>
          <a:ln w="19050">
            <a:solidFill>
              <a:srgbClr val="FFFFFF"/>
            </a:solidFill>
            <a:prstDash val="solid"/>
          </a:ln>
        </p:spPr>
      </p:sp>
      <p:sp>
        <p:nvSpPr>
          <p:cNvPr id="21" name="Text 18"/>
          <p:cNvSpPr txBox="1"/>
          <p:nvPr/>
        </p:nvSpPr>
        <p:spPr>
          <a:xfrm>
            <a:off x="7406640" y="3520440"/>
            <a:ext cx="1188720" cy="521208"/>
          </a:xfrm>
          <a:prstGeom prst="rect">
            <a:avLst/>
          </a:prstGeom>
          <a:noFill/>
          <a:ln/>
        </p:spPr>
        <p:txBody>
          <a:bodyPr wrap="square" lIns="0" tIns="0" rIns="0" bIns="0" rtlCol="0" anchor="ctr"/>
          <a:lstStyle/>
          <a:p>
            <a:pPr algn="ctr" indent="0" marL="0">
              <a:buNone/>
            </a:pPr>
            <a:r>
              <a:rPr lang="en-US" sz="1150" b="1" dirty="0">
                <a:solidFill>
                  <a:srgbClr val="1B1B1E"/>
                </a:solidFill>
              </a:rPr>
              <a:t>Combat support</a:t>
            </a:r>
            <a:endParaRPr lang="en-US" sz="1500" dirty="0"/>
          </a:p>
          <a:p>
            <a:pPr algn="ctr" indent="0" marL="0">
              <a:buNone/>
            </a:pPr>
            <a:r>
              <a:rPr lang="en-US" sz="1600" b="1" dirty="0">
                <a:solidFill>
                  <a:srgbClr val="1B1B1E"/>
                </a:solidFill>
              </a:rPr>
              <a:t>19%</a:t>
            </a:r>
            <a:endParaRPr lang="en-US" sz="1500" dirty="0"/>
          </a:p>
        </p:txBody>
      </p:sp>
      <p:sp>
        <p:nvSpPr>
          <p:cNvPr id="22" name="Medical (PPE) box"/>
          <p:cNvSpPr/>
          <p:nvPr/>
        </p:nvSpPr>
        <p:spPr>
          <a:xfrm>
            <a:off x="8686800" y="3520440"/>
            <a:ext cx="1188720" cy="521208"/>
          </a:xfrm>
          <a:prstGeom prst="roundRect">
            <a:avLst>
              <a:gd name="adj" fmla="val 12281"/>
            </a:avLst>
          </a:prstGeom>
          <a:solidFill>
            <a:srgbClr val="F3B7C0"/>
          </a:solidFill>
          <a:ln w="19050">
            <a:solidFill>
              <a:srgbClr val="FFFFFF"/>
            </a:solidFill>
            <a:prstDash val="dash"/>
          </a:ln>
        </p:spPr>
      </p:sp>
      <p:sp>
        <p:nvSpPr>
          <p:cNvPr id="23" name="Text 20"/>
          <p:cNvSpPr txBox="1"/>
          <p:nvPr/>
        </p:nvSpPr>
        <p:spPr>
          <a:xfrm>
            <a:off x="8686800" y="3520440"/>
            <a:ext cx="1188720" cy="521208"/>
          </a:xfrm>
          <a:prstGeom prst="rect">
            <a:avLst/>
          </a:prstGeom>
          <a:noFill/>
          <a:ln/>
        </p:spPr>
        <p:txBody>
          <a:bodyPr wrap="square" lIns="0" tIns="0" rIns="0" bIns="0" rtlCol="0" anchor="ctr"/>
          <a:lstStyle/>
          <a:p>
            <a:pPr algn="ctr" indent="0" marL="0">
              <a:buNone/>
            </a:pPr>
            <a:r>
              <a:rPr lang="en-US" sz="1150" b="1" dirty="0">
                <a:solidFill>
                  <a:srgbClr val="1B1B1E"/>
                </a:solidFill>
              </a:rPr>
              <a:t>Medical (PPE)</a:t>
            </a:r>
            <a:endParaRPr lang="en-US" sz="1500" dirty="0"/>
          </a:p>
          <a:p>
            <a:pPr algn="ctr" indent="0" marL="0">
              <a:buNone/>
            </a:pPr>
            <a:r>
              <a:rPr lang="en-US" sz="1600" b="1" dirty="0">
                <a:solidFill>
                  <a:srgbClr val="1B1B1E"/>
                </a:solidFill>
              </a:rPr>
              <a:t>17%</a:t>
            </a:r>
            <a:endParaRPr lang="en-US" sz="1500" dirty="0"/>
          </a:p>
        </p:txBody>
      </p:sp>
      <p:sp>
        <p:nvSpPr>
          <p:cNvPr id="24" name="relative risk card"/>
          <p:cNvSpPr/>
          <p:nvPr/>
        </p:nvSpPr>
        <p:spPr>
          <a:xfrm>
            <a:off x="548640" y="4389120"/>
            <a:ext cx="4297680" cy="1783080"/>
          </a:xfrm>
          <a:prstGeom prst="roundRect">
            <a:avLst>
              <a:gd name="adj" fmla="val 6154"/>
            </a:avLst>
          </a:prstGeom>
          <a:solidFill>
            <a:schemeClr val="tx2"/>
          </a:solidFill>
          <a:ln/>
        </p:spPr>
      </p:sp>
      <p:sp>
        <p:nvSpPr>
          <p:cNvPr id="25" name="Text 22"/>
          <p:cNvSpPr txBox="1"/>
          <p:nvPr/>
        </p:nvSpPr>
        <p:spPr>
          <a:xfrm>
            <a:off x="731520" y="4434840"/>
            <a:ext cx="1554480" cy="640080"/>
          </a:xfrm>
          <a:prstGeom prst="rect">
            <a:avLst/>
          </a:prstGeom>
          <a:noFill/>
          <a:ln/>
        </p:spPr>
        <p:txBody>
          <a:bodyPr wrap="square" lIns="635" tIns="635" rIns="635" bIns="635" rtlCol="0" anchor="t"/>
          <a:lstStyle/>
          <a:p>
            <a:pPr indent="0" marL="0">
              <a:buNone/>
            </a:pPr>
            <a:r>
              <a:rPr lang="en-US" sz="3400" b="1" dirty="0">
                <a:solidFill>
                  <a:schemeClr val="bg1"/>
                </a:solidFill>
                <a:latin typeface="Cambria" pitchFamily="34" charset="0"/>
                <a:ea typeface="Cambria" pitchFamily="34" charset="-122"/>
                <a:cs typeface="Cambria" pitchFamily="34" charset="-120"/>
              </a:rPr>
              <a:t>2.6×</a:t>
            </a:r>
            <a:endParaRPr lang="en-US" sz="3400" dirty="0"/>
          </a:p>
        </p:txBody>
      </p:sp>
      <p:sp>
        <p:nvSpPr>
          <p:cNvPr id="26" name="Text 23"/>
          <p:cNvSpPr txBox="1"/>
          <p:nvPr/>
        </p:nvSpPr>
        <p:spPr>
          <a:xfrm>
            <a:off x="731520" y="5029200"/>
            <a:ext cx="3931920" cy="640080"/>
          </a:xfrm>
          <a:prstGeom prst="rect">
            <a:avLst/>
          </a:prstGeom>
          <a:noFill/>
          <a:ln/>
        </p:spPr>
        <p:txBody>
          <a:bodyPr wrap="square" lIns="635" tIns="635" rIns="635" bIns="635" rtlCol="0" anchor="t"/>
          <a:lstStyle/>
          <a:p>
            <a:pPr indent="0" marL="0">
              <a:buNone/>
            </a:pPr>
            <a:r>
              <a:rPr lang="en-US" sz="1300" dirty="0">
                <a:solidFill>
                  <a:schemeClr val="bg1"/>
                </a:solidFill>
              </a:rPr>
              <a:t>Enclosed-space crews were about 2.6 times as likely to be infected as air and deck crews (33 vs 13 out of every 100)</a:t>
            </a:r>
            <a:r>
              <a:rPr lang="en-US" sz="1300" baseline="30000" dirty="0">
                <a:solidFill>
                  <a:schemeClr val="bg1"/>
                </a:solidFill>
              </a:rPr>
              <a:t>1</a:t>
            </a:r>
            <a:endParaRPr lang="en-US" sz="1300" dirty="0"/>
          </a:p>
        </p:txBody>
      </p:sp>
      <p:sp>
        <p:nvSpPr>
          <p:cNvPr id="27" name="Text 24"/>
          <p:cNvSpPr txBox="1"/>
          <p:nvPr/>
        </p:nvSpPr>
        <p:spPr>
          <a:xfrm>
            <a:off x="731520" y="5669280"/>
            <a:ext cx="3931920" cy="457200"/>
          </a:xfrm>
          <a:prstGeom prst="rect">
            <a:avLst/>
          </a:prstGeom>
          <a:noFill/>
          <a:ln/>
        </p:spPr>
        <p:txBody>
          <a:bodyPr wrap="square" lIns="635" tIns="635" rIns="635" bIns="635" rtlCol="0" anchor="t"/>
          <a:lstStyle/>
          <a:p>
            <a:pPr indent="0" marL="0">
              <a:buNone/>
            </a:pPr>
            <a:r>
              <a:rPr lang="en-US" sz="1200" i="1" dirty="0">
                <a:solidFill>
                  <a:srgbClr val="8DA9C4"/>
                </a:solidFill>
              </a:rPr>
              <a:t>95% confidence range: 2.1 to 3.3. Above 1 means a real difference, not luck.</a:t>
            </a:r>
            <a:endParaRPr lang="en-US" sz="1200" dirty="0"/>
          </a:p>
        </p:txBody>
      </p:sp>
      <p:sp>
        <p:nvSpPr>
          <p:cNvPr id="28" name="medical card"/>
          <p:cNvSpPr/>
          <p:nvPr/>
        </p:nvSpPr>
        <p:spPr>
          <a:xfrm>
            <a:off x="4937760" y="4389120"/>
            <a:ext cx="3200400" cy="1783080"/>
          </a:xfrm>
          <a:prstGeom prst="roundRect">
            <a:avLst>
              <a:gd name="adj" fmla="val 6154"/>
            </a:avLst>
          </a:prstGeom>
          <a:solidFill>
            <a:schemeClr val="bg2"/>
          </a:solidFill>
          <a:ln/>
        </p:spPr>
      </p:sp>
      <p:sp>
        <p:nvSpPr>
          <p:cNvPr id="29" name="Text 26"/>
          <p:cNvSpPr txBox="1"/>
          <p:nvPr/>
        </p:nvSpPr>
        <p:spPr>
          <a:xfrm>
            <a:off x="5074920" y="4434840"/>
            <a:ext cx="2926080" cy="1691640"/>
          </a:xfrm>
          <a:prstGeom prst="rect">
            <a:avLst/>
          </a:prstGeom>
          <a:noFill/>
          <a:ln/>
        </p:spPr>
        <p:txBody>
          <a:bodyPr wrap="square" lIns="635" tIns="635" rIns="635" bIns="635" rtlCol="0" anchor="ctr"/>
          <a:lstStyle/>
          <a:p>
            <a:pPr indent="0" marL="0">
              <a:buNone/>
            </a:pPr>
            <a:r>
              <a:rPr lang="en-US" sz="1350" b="1" dirty="0">
                <a:solidFill>
                  <a:schemeClr val="tx2"/>
                </a:solidFill>
              </a:rPr>
              <a:t>Medical staff wore protective gear (PPE): </a:t>
            </a:r>
            <a:r>
              <a:rPr lang="en-US" sz="1350" dirty="0">
                <a:solidFill>
                  <a:schemeClr val="tx1"/>
                </a:solidFill>
              </a:rPr>
              <a:t>17 of every 100 infected (8 of 48). A small group, so only a hint</a:t>
            </a:r>
            <a:r>
              <a:rPr lang="en-US" sz="1350" baseline="30000" dirty="0">
                <a:solidFill>
                  <a:schemeClr val="tx1"/>
                </a:solidFill>
              </a:rPr>
              <a:t>1</a:t>
            </a:r>
            <a:r>
              <a:rPr lang="en-US" sz="1350" dirty="0">
                <a:solidFill>
                  <a:schemeClr val="tx1"/>
                </a:solidFill>
              </a:rPr>
              <a:t>.</a:t>
            </a:r>
            <a:endParaRPr lang="en-US" sz="1350" dirty="0"/>
          </a:p>
        </p:txBody>
      </p:sp>
      <p:sp>
        <p:nvSpPr>
          <p:cNvPr id="30" name="how to read card"/>
          <p:cNvSpPr/>
          <p:nvPr/>
        </p:nvSpPr>
        <p:spPr>
          <a:xfrm>
            <a:off x="8229600" y="4389120"/>
            <a:ext cx="3383280" cy="1783080"/>
          </a:xfrm>
          <a:prstGeom prst="roundRect">
            <a:avLst>
              <a:gd name="adj" fmla="val 6154"/>
            </a:avLst>
          </a:prstGeom>
          <a:solidFill>
            <a:schemeClr val="bg2"/>
          </a:solidFill>
          <a:ln/>
        </p:spPr>
      </p:sp>
      <p:sp>
        <p:nvSpPr>
          <p:cNvPr id="31" name="heat legend 1"/>
          <p:cNvSpPr/>
          <p:nvPr/>
        </p:nvSpPr>
        <p:spPr>
          <a:xfrm>
            <a:off x="8412480" y="4526280"/>
            <a:ext cx="457200" cy="237744"/>
          </a:xfrm>
          <a:prstGeom prst="rect">
            <a:avLst/>
          </a:prstGeom>
          <a:solidFill>
            <a:srgbClr val="FBE4E8"/>
          </a:solidFill>
          <a:ln w="9525">
            <a:solidFill>
              <a:srgbClr val="FFFFFF"/>
            </a:solidFill>
            <a:prstDash val="solid"/>
          </a:ln>
        </p:spPr>
      </p:sp>
      <p:sp>
        <p:nvSpPr>
          <p:cNvPr id="32" name="heat legend 2"/>
          <p:cNvSpPr/>
          <p:nvPr/>
        </p:nvSpPr>
        <p:spPr>
          <a:xfrm>
            <a:off x="8869680" y="4526280"/>
            <a:ext cx="457200" cy="237744"/>
          </a:xfrm>
          <a:prstGeom prst="rect">
            <a:avLst/>
          </a:prstGeom>
          <a:solidFill>
            <a:srgbClr val="F3B7C0"/>
          </a:solidFill>
          <a:ln w="9525">
            <a:solidFill>
              <a:srgbClr val="FFFFFF"/>
            </a:solidFill>
            <a:prstDash val="solid"/>
          </a:ln>
        </p:spPr>
      </p:sp>
      <p:sp>
        <p:nvSpPr>
          <p:cNvPr id="33" name="heat legend 3"/>
          <p:cNvSpPr/>
          <p:nvPr/>
        </p:nvSpPr>
        <p:spPr>
          <a:xfrm>
            <a:off x="9326880" y="4526280"/>
            <a:ext cx="457200" cy="237744"/>
          </a:xfrm>
          <a:prstGeom prst="rect">
            <a:avLst/>
          </a:prstGeom>
          <a:solidFill>
            <a:srgbClr val="E88C9A"/>
          </a:solidFill>
          <a:ln w="9525">
            <a:solidFill>
              <a:srgbClr val="FFFFFF"/>
            </a:solidFill>
            <a:prstDash val="solid"/>
          </a:ln>
        </p:spPr>
      </p:sp>
      <p:sp>
        <p:nvSpPr>
          <p:cNvPr id="34" name="heat legend 4"/>
          <p:cNvSpPr/>
          <p:nvPr/>
        </p:nvSpPr>
        <p:spPr>
          <a:xfrm>
            <a:off x="9784080" y="4526280"/>
            <a:ext cx="457200" cy="237744"/>
          </a:xfrm>
          <a:prstGeom prst="rect">
            <a:avLst/>
          </a:prstGeom>
          <a:solidFill>
            <a:srgbClr val="D1495B"/>
          </a:solidFill>
          <a:ln w="9525">
            <a:solidFill>
              <a:srgbClr val="FFFFFF"/>
            </a:solidFill>
            <a:prstDash val="solid"/>
          </a:ln>
        </p:spPr>
      </p:sp>
      <p:sp>
        <p:nvSpPr>
          <p:cNvPr id="35" name="heat legend 5"/>
          <p:cNvSpPr/>
          <p:nvPr/>
        </p:nvSpPr>
        <p:spPr>
          <a:xfrm>
            <a:off x="10241280" y="4526280"/>
            <a:ext cx="457200" cy="237744"/>
          </a:xfrm>
          <a:prstGeom prst="rect">
            <a:avLst/>
          </a:prstGeom>
          <a:solidFill>
            <a:srgbClr val="A02B3C"/>
          </a:solidFill>
          <a:ln w="9525">
            <a:solidFill>
              <a:srgbClr val="FFFFFF"/>
            </a:solidFill>
            <a:prstDash val="solid"/>
          </a:ln>
        </p:spPr>
      </p:sp>
      <p:sp>
        <p:nvSpPr>
          <p:cNvPr id="36" name="Text 33"/>
          <p:cNvSpPr txBox="1"/>
          <p:nvPr/>
        </p:nvSpPr>
        <p:spPr>
          <a:xfrm>
            <a:off x="8366760" y="4773168"/>
            <a:ext cx="731520" cy="228600"/>
          </a:xfrm>
          <a:prstGeom prst="rect">
            <a:avLst/>
          </a:prstGeom>
          <a:noFill/>
          <a:ln/>
        </p:spPr>
        <p:txBody>
          <a:bodyPr wrap="square" lIns="0" tIns="0" rIns="0" bIns="0" rtlCol="0" anchor="t"/>
          <a:lstStyle/>
          <a:p>
            <a:pPr indent="0" marL="0">
              <a:buNone/>
            </a:pPr>
            <a:r>
              <a:rPr lang="en-US" sz="1100" dirty="0">
                <a:solidFill>
                  <a:srgbClr val="5C6B7A"/>
                </a:solidFill>
              </a:rPr>
              <a:t>fewer</a:t>
            </a:r>
            <a:endParaRPr lang="en-US" sz="1500" dirty="0"/>
          </a:p>
        </p:txBody>
      </p:sp>
      <p:sp>
        <p:nvSpPr>
          <p:cNvPr id="37" name="Text 34"/>
          <p:cNvSpPr txBox="1"/>
          <p:nvPr/>
        </p:nvSpPr>
        <p:spPr>
          <a:xfrm>
            <a:off x="10058400" y="4773168"/>
            <a:ext cx="640080" cy="228600"/>
          </a:xfrm>
          <a:prstGeom prst="rect">
            <a:avLst/>
          </a:prstGeom>
          <a:noFill/>
          <a:ln/>
        </p:spPr>
        <p:txBody>
          <a:bodyPr wrap="square" lIns="0" tIns="0" rIns="0" bIns="0" rtlCol="0" anchor="t"/>
          <a:lstStyle/>
          <a:p>
            <a:pPr algn="r" indent="0" marL="0">
              <a:buNone/>
            </a:pPr>
            <a:r>
              <a:rPr lang="en-US" sz="1100" dirty="0">
                <a:solidFill>
                  <a:srgbClr val="5C6B7A"/>
                </a:solidFill>
              </a:rPr>
              <a:t>more</a:t>
            </a:r>
            <a:endParaRPr lang="en-US" sz="1500" dirty="0"/>
          </a:p>
        </p:txBody>
      </p:sp>
      <p:sp>
        <p:nvSpPr>
          <p:cNvPr id="38" name="Text 35"/>
          <p:cNvSpPr txBox="1"/>
          <p:nvPr/>
        </p:nvSpPr>
        <p:spPr>
          <a:xfrm>
            <a:off x="8366760" y="5029200"/>
            <a:ext cx="3154680" cy="1097280"/>
          </a:xfrm>
          <a:prstGeom prst="rect">
            <a:avLst/>
          </a:prstGeom>
          <a:noFill/>
          <a:ln/>
        </p:spPr>
        <p:txBody>
          <a:bodyPr wrap="square" lIns="254" tIns="254" rIns="254" bIns="254" rtlCol="0" anchor="t"/>
          <a:lstStyle/>
          <a:p>
            <a:pPr indent="0" marL="0">
              <a:buNone/>
            </a:pPr>
            <a:r>
              <a:rPr lang="en-US" sz="1250" dirty="0">
                <a:solidFill>
                  <a:schemeClr val="tx1"/>
                </a:solidFill>
              </a:rPr>
              <a:t>Darker red = more of the department's sailors got infected. Numbers are infected per 100 sailors. A map was not needed: the whole outbreak was on one ship.</a:t>
            </a:r>
            <a:endParaRPr lang="en-US" sz="12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Scorecard: How Big Was the Risk?</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291840"/>
                <a:gridCol w="2743200"/>
                <a:gridCol w="3291840"/>
                <a:gridCol w="1737360"/>
              </a:tblGrid>
              <a:tr h="621792">
                <a:tc>
                  <a:txBody>
                    <a:bodyPr/>
                    <a:lstStyle/>
                    <a:p>
                      <a:pPr indent="0" marL="0">
                        <a:buNone/>
                      </a:pPr>
                      <a:r>
                        <a:rPr lang="en-US" sz="1500" b="1" dirty="0">
                          <a:solidFill>
                            <a:srgbClr val="FFFFFF"/>
                          </a:solidFill>
                        </a:rPr>
                        <a:t>Measure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Result</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In plain words</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Calculated by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621792">
                <a:tc>
                  <a:txBody>
                    <a:bodyPr/>
                    <a:lstStyle/>
                    <a:p>
                      <a:pPr indent="0" marL="0">
                        <a:buNone/>
                      </a:pPr>
                      <a:r>
                        <a:rPr lang="en-US" sz="1500" dirty="0">
                          <a:solidFill>
                            <a:srgbClr val="1B1B1E"/>
                          </a:solidFill>
                        </a:rPr>
                        <a:t>Attack rate (confirmed cases)</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1B1B1E"/>
                          </a:solidFill>
                        </a:rPr>
                        <a:t>26.6% (1,271 of 4,779)</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dirty="0">
                          <a:solidFill>
                            <a:srgbClr val="1B1B1E"/>
                          </a:solidFill>
                        </a:rPr>
                        <a:t>About 1 in 4 sailors got infected</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0B2545"/>
                          </a:solidFill>
                        </a:rPr>
                        <a:t>Authors¹</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621792">
                <a:tc>
                  <a:txBody>
                    <a:bodyPr/>
                    <a:lstStyle/>
                    <a:p>
                      <a:pPr indent="0" marL="0">
                        <a:buNone/>
                      </a:pPr>
                      <a:r>
                        <a:rPr lang="en-US" sz="1500" dirty="0">
                          <a:solidFill>
                            <a:srgbClr val="1B1B1E"/>
                          </a:solidFill>
                        </a:rPr>
                        <a:t>Hospitalized</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1B1B1E"/>
                          </a:solidFill>
                        </a:rPr>
                        <a:t>1.7% (23 of 1,331 cases)</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dirty="0">
                          <a:solidFill>
                            <a:srgbClr val="1B1B1E"/>
                          </a:solidFill>
                        </a:rPr>
                        <a:t>Very few needed hospital care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0B2545"/>
                          </a:solidFill>
                        </a:rPr>
                        <a:t>Authors¹</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621792">
                <a:tc>
                  <a:txBody>
                    <a:bodyPr/>
                    <a:lstStyle/>
                    <a:p>
                      <a:pPr indent="0" marL="0">
                        <a:buNone/>
                      </a:pPr>
                      <a:r>
                        <a:rPr lang="en-US" sz="1500" dirty="0">
                          <a:solidFill>
                            <a:srgbClr val="1B1B1E"/>
                          </a:solidFill>
                        </a:rPr>
                        <a:t>Died</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1B1B1E"/>
                          </a:solidFill>
                        </a:rPr>
                        <a:t>0.08% (1 of 1,331 cases)</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dirty="0">
                          <a:solidFill>
                            <a:srgbClr val="1B1B1E"/>
                          </a:solidFill>
                        </a:rPr>
                        <a:t>One death</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D1495B"/>
                          </a:solidFill>
                        </a:rPr>
                        <a:t>Me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621792">
                <a:tc>
                  <a:txBody>
                    <a:bodyPr/>
                    <a:lstStyle/>
                    <a:p>
                      <a:pPr indent="0" marL="0">
                        <a:buNone/>
                      </a:pPr>
                      <a:r>
                        <a:rPr lang="en-US" sz="1500" dirty="0">
                          <a:solidFill>
                            <a:srgbClr val="1B1B1E"/>
                          </a:solidFill>
                        </a:rPr>
                        <a:t>No symptoms when tested positive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1B1B1E"/>
                          </a:solidFill>
                        </a:rPr>
                        <a:t>77% (978 of 1,271)</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dirty="0">
                          <a:solidFill>
                            <a:srgbClr val="1B1B1E"/>
                          </a:solidFill>
                        </a:rPr>
                        <a:t>About 3 in 4 infected sailors felt fine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0B2545"/>
                          </a:solidFill>
                        </a:rPr>
                        <a:t>Authors¹</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621792">
                <a:tc>
                  <a:txBody>
                    <a:bodyPr/>
                    <a:lstStyle/>
                    <a:p>
                      <a:pPr indent="0" marL="0">
                        <a:buNone/>
                      </a:pPr>
                      <a:r>
                        <a:rPr lang="en-US" sz="1500" dirty="0">
                          <a:solidFill>
                            <a:srgbClr val="1B1B1E"/>
                          </a:solidFill>
                        </a:rPr>
                        <a:t>Relative risk: enclosed vs open-air work</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1B1B1E"/>
                          </a:solidFill>
                        </a:rPr>
                        <a:t>2.6 (95% CI 2.1–3.3)</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dirty="0">
                          <a:solidFill>
                            <a:srgbClr val="1B1B1E"/>
                          </a:solidFill>
                        </a:rPr>
                        <a:t>2.6 times as likely to be infected</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500" b="1" dirty="0">
                          <a:solidFill>
                            <a:srgbClr val="D1495B"/>
                          </a:solidFill>
                        </a:rPr>
                        <a:t>Me</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6" name="plain words box"/>
          <p:cNvSpPr/>
          <p:nvPr/>
        </p:nvSpPr>
        <p:spPr>
          <a:xfrm>
            <a:off x="548640" y="5349240"/>
            <a:ext cx="11064240" cy="777240"/>
          </a:xfrm>
          <a:prstGeom prst="roundRect">
            <a:avLst>
              <a:gd name="adj" fmla="val 14118"/>
            </a:avLst>
          </a:prstGeom>
          <a:solidFill>
            <a:srgbClr val="FFFFFF"/>
          </a:solidFill>
          <a:ln w="12700">
            <a:solidFill>
              <a:srgbClr val="8DA9C4"/>
            </a:solidFill>
            <a:prstDash val="solid"/>
          </a:ln>
        </p:spPr>
      </p:sp>
      <p:sp>
        <p:nvSpPr>
          <p:cNvPr id="7" name="plain words icon circle"/>
          <p:cNvSpPr/>
          <p:nvPr/>
        </p:nvSpPr>
        <p:spPr>
          <a:xfrm>
            <a:off x="731520" y="5486400"/>
            <a:ext cx="502920" cy="502920"/>
          </a:xfrm>
          <a:prstGeom prst="ellipse">
            <a:avLst/>
          </a:prstGeom>
          <a:solidFill>
            <a:schemeClr val="accent4"/>
          </a:solidFill>
          <a:ln/>
        </p:spPr>
      </p:sp>
      <p:pic>
        <p:nvPicPr>
          <p:cNvPr id="8" name="plain words icon" descr="plain words icon">    </p:cNvPr>
          <p:cNvPicPr>
            <a:picLocks noChangeAspect="1"/>
          </p:cNvPicPr>
          <p:nvPr/>
        </p:nvPicPr>
        <p:blipFill>
          <a:blip r:embed="rId1"/>
          <a:stretch>
            <a:fillRect/>
          </a:stretch>
        </p:blipFill>
        <p:spPr>
          <a:xfrm>
            <a:off x="852221" y="5607101"/>
            <a:ext cx="261518" cy="261518"/>
          </a:xfrm>
          <a:prstGeom prst="rect">
            <a:avLst/>
          </a:prstGeom>
        </p:spPr>
      </p:pic>
      <p:sp>
        <p:nvSpPr>
          <p:cNvPr id="9" name="Text 5"/>
          <p:cNvSpPr txBox="1"/>
          <p:nvPr/>
        </p:nvSpPr>
        <p:spPr>
          <a:xfrm>
            <a:off x="1417320" y="5349240"/>
            <a:ext cx="10012680" cy="777240"/>
          </a:xfrm>
          <a:prstGeom prst="rect">
            <a:avLst/>
          </a:prstGeom>
          <a:noFill/>
          <a:ln/>
        </p:spPr>
        <p:txBody>
          <a:bodyPr wrap="square" lIns="635" tIns="635" rIns="635" bIns="635" rtlCol="0" anchor="ctr"/>
          <a:lstStyle/>
          <a:p>
            <a:pPr indent="0" marL="0">
              <a:buNone/>
            </a:pPr>
            <a:r>
              <a:rPr lang="en-US" sz="1400" b="1" dirty="0">
                <a:solidFill>
                  <a:schemeClr val="tx2"/>
                </a:solidFill>
              </a:rPr>
              <a:t>In plain words: </a:t>
            </a:r>
            <a:r>
              <a:rPr lang="en-US" sz="1400" b="1" dirty="0">
                <a:solidFill>
                  <a:schemeClr val="tx1"/>
                </a:solidFill>
              </a:rPr>
              <a:t>Attack rate</a:t>
            </a:r>
            <a:r>
              <a:rPr lang="en-US" sz="1400" dirty="0">
                <a:solidFill>
                  <a:schemeClr val="tx1"/>
                </a:solidFill>
              </a:rPr>
              <a:t> = % who got infected.   </a:t>
            </a:r>
            <a:r>
              <a:rPr lang="en-US" sz="1400" b="1" dirty="0">
                <a:solidFill>
                  <a:schemeClr val="tx1"/>
                </a:solidFill>
              </a:rPr>
              <a:t>Relative risk</a:t>
            </a:r>
            <a:r>
              <a:rPr lang="en-US" sz="1400" dirty="0">
                <a:solidFill>
                  <a:schemeClr val="tx1"/>
                </a:solidFill>
              </a:rPr>
              <a:t> = how many times as likely.   </a:t>
            </a:r>
            <a:r>
              <a:rPr lang="en-US" sz="1400" b="1" dirty="0">
                <a:solidFill>
                  <a:schemeClr val="tx1"/>
                </a:solidFill>
              </a:rPr>
              <a:t>95% CI</a:t>
            </a:r>
            <a:r>
              <a:rPr lang="en-US" sz="1400" dirty="0">
                <a:solidFill>
                  <a:schemeClr val="tx1"/>
                </a:solidFill>
              </a:rPr>
              <a:t> = the range the true value very likely falls in.</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Interpretation: Association or Causation?</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5. Payne DC, et al. MMWR Morb Mortal Wkly Rep. 2020.</a:t>
            </a:r>
            <a:endParaRPr lang="en-US" sz="1000" dirty="0"/>
          </a:p>
        </p:txBody>
      </p:sp>
      <p:sp>
        <p:nvSpPr>
          <p:cNvPr id="5" name="main finding"/>
          <p:cNvSpPr/>
          <p:nvPr/>
        </p:nvSpPr>
        <p:spPr>
          <a:xfrm>
            <a:off x="548640" y="1325880"/>
            <a:ext cx="5394960" cy="2194560"/>
          </a:xfrm>
          <a:prstGeom prst="roundRect">
            <a:avLst>
              <a:gd name="adj" fmla="val 5000"/>
            </a:avLst>
          </a:prstGeom>
          <a:solidFill>
            <a:schemeClr val="tx2"/>
          </a:solidFill>
          <a:ln/>
        </p:spPr>
      </p:sp>
      <p:sp>
        <p:nvSpPr>
          <p:cNvPr id="6" name="Text 4"/>
          <p:cNvSpPr txBox="1"/>
          <p:nvPr/>
        </p:nvSpPr>
        <p:spPr>
          <a:xfrm>
            <a:off x="777240" y="1463040"/>
            <a:ext cx="4937760" cy="411480"/>
          </a:xfrm>
          <a:prstGeom prst="rect">
            <a:avLst/>
          </a:prstGeom>
          <a:noFill/>
          <a:ln/>
        </p:spPr>
        <p:txBody>
          <a:bodyPr wrap="square" lIns="635" tIns="635" rIns="635" bIns="635" rtlCol="0" anchor="t"/>
          <a:lstStyle/>
          <a:p>
            <a:pPr indent="0" marL="0">
              <a:buNone/>
            </a:pPr>
            <a:r>
              <a:rPr lang="en-US" sz="1700" b="1" dirty="0">
                <a:solidFill>
                  <a:schemeClr val="accent4"/>
                </a:solidFill>
                <a:latin typeface="Cambria" pitchFamily="34" charset="0"/>
                <a:ea typeface="Cambria" pitchFamily="34" charset="-122"/>
                <a:cs typeface="Cambria" pitchFamily="34" charset="-120"/>
              </a:rPr>
              <a:t>Most important finding</a:t>
            </a:r>
            <a:endParaRPr lang="en-US" sz="1700" dirty="0"/>
          </a:p>
        </p:txBody>
      </p:sp>
      <p:sp>
        <p:nvSpPr>
          <p:cNvPr id="7" name="Text 5"/>
          <p:cNvSpPr txBox="1"/>
          <p:nvPr/>
        </p:nvSpPr>
        <p:spPr>
          <a:xfrm>
            <a:off x="777240" y="1920240"/>
            <a:ext cx="4937760" cy="1508760"/>
          </a:xfrm>
          <a:prstGeom prst="rect">
            <a:avLst/>
          </a:prstGeom>
          <a:noFill/>
          <a:ln/>
        </p:spPr>
        <p:txBody>
          <a:bodyPr wrap="square" lIns="635" tIns="635" rIns="635" bIns="635" rtlCol="0" anchor="t"/>
          <a:lstStyle/>
          <a:p>
            <a:pPr indent="0" marL="0">
              <a:buNone/>
            </a:pPr>
            <a:r>
              <a:rPr lang="en-US" sz="1700" dirty="0">
                <a:solidFill>
                  <a:schemeClr val="bg1"/>
                </a:solidFill>
              </a:rPr>
              <a:t>Close quarters, and sailors who felt fine, helped the virus spread quickly from person to person.</a:t>
            </a:r>
            <a:r>
              <a:rPr lang="en-US" sz="1700" baseline="30000" dirty="0">
                <a:solidFill>
                  <a:schemeClr val="bg1"/>
                </a:solidFill>
              </a:rPr>
              <a:t>1</a:t>
            </a:r>
            <a:endParaRPr lang="en-US" sz="1700" dirty="0"/>
          </a:p>
        </p:txBody>
      </p:sp>
      <p:sp>
        <p:nvSpPr>
          <p:cNvPr id="8" name="source evidence"/>
          <p:cNvSpPr/>
          <p:nvPr/>
        </p:nvSpPr>
        <p:spPr>
          <a:xfrm>
            <a:off x="548640" y="3703320"/>
            <a:ext cx="5394960" cy="2468880"/>
          </a:xfrm>
          <a:prstGeom prst="roundRect">
            <a:avLst>
              <a:gd name="adj" fmla="val 4444"/>
            </a:avLst>
          </a:prstGeom>
          <a:solidFill>
            <a:schemeClr val="bg2"/>
          </a:solidFill>
          <a:ln/>
        </p:spPr>
      </p:sp>
      <p:sp>
        <p:nvSpPr>
          <p:cNvPr id="9" name="Text 7"/>
          <p:cNvSpPr txBox="1"/>
          <p:nvPr/>
        </p:nvSpPr>
        <p:spPr>
          <a:xfrm>
            <a:off x="777240" y="3794760"/>
            <a:ext cx="493776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Where it started, and how it spread</a:t>
            </a:r>
            <a:endParaRPr lang="en-US" sz="1700" dirty="0"/>
          </a:p>
        </p:txBody>
      </p:sp>
      <p:sp>
        <p:nvSpPr>
          <p:cNvPr id="10" name="Text 8"/>
          <p:cNvSpPr txBox="1"/>
          <p:nvPr/>
        </p:nvSpPr>
        <p:spPr>
          <a:xfrm>
            <a:off x="777240" y="4251960"/>
            <a:ext cx="4937760" cy="182880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Where it started: not known (the port visit or the supply flights)</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How it spread: the long epidemic curve and the crowding pattern point to close contact, with the virus moving through the air</a:t>
            </a:r>
            <a:endParaRPr lang="en-US" sz="1500" dirty="0"/>
          </a:p>
        </p:txBody>
      </p:sp>
      <p:sp>
        <p:nvSpPr>
          <p:cNvPr id="11" name="Text 9"/>
          <p:cNvSpPr txBox="1"/>
          <p:nvPr/>
        </p:nvSpPr>
        <p:spPr>
          <a:xfrm>
            <a:off x="6263640" y="1325880"/>
            <a:ext cx="530352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Weighing the evidence</a:t>
            </a:r>
            <a:endParaRPr lang="en-US" sz="1700" dirty="0"/>
          </a:p>
        </p:txBody>
      </p:sp>
      <p:sp>
        <p:nvSpPr>
          <p:cNvPr id="12" name="Text 10"/>
          <p:cNvSpPr txBox="1"/>
          <p:nvPr/>
        </p:nvSpPr>
        <p:spPr>
          <a:xfrm>
            <a:off x="6263640" y="1719072"/>
            <a:ext cx="5349240" cy="320040"/>
          </a:xfrm>
          <a:prstGeom prst="rect">
            <a:avLst/>
          </a:prstGeom>
          <a:noFill/>
          <a:ln/>
        </p:spPr>
        <p:txBody>
          <a:bodyPr wrap="square" lIns="635" tIns="635" rIns="635" bIns="635" rtlCol="0" anchor="t"/>
          <a:lstStyle/>
          <a:p>
            <a:pPr indent="0" marL="0">
              <a:buNone/>
            </a:pPr>
            <a:r>
              <a:rPr lang="en-US" sz="1250" i="1" dirty="0">
                <a:solidFill>
                  <a:schemeClr val="accent6"/>
                </a:solidFill>
              </a:rPr>
              <a:t>Association = two things go together. Cause = one makes the other happen.</a:t>
            </a:r>
            <a:endParaRPr lang="en-US" sz="1250" dirty="0"/>
          </a:p>
        </p:txBody>
      </p:sp>
      <p:sp>
        <p:nvSpPr>
          <p:cNvPr id="13" name="A big gap icon circle"/>
          <p:cNvSpPr/>
          <p:nvPr/>
        </p:nvSpPr>
        <p:spPr>
          <a:xfrm>
            <a:off x="6263640" y="2167128"/>
            <a:ext cx="457200" cy="457200"/>
          </a:xfrm>
          <a:prstGeom prst="ellipse">
            <a:avLst/>
          </a:prstGeom>
          <a:solidFill>
            <a:schemeClr val="accent1"/>
          </a:solidFill>
          <a:ln/>
        </p:spPr>
      </p:sp>
      <p:pic>
        <p:nvPicPr>
          <p:cNvPr id="14" name="A big gap icon" descr="A big gap icon">    </p:cNvPr>
          <p:cNvPicPr>
            <a:picLocks noChangeAspect="1"/>
          </p:cNvPicPr>
          <p:nvPr/>
        </p:nvPicPr>
        <p:blipFill>
          <a:blip r:embed="rId1"/>
          <a:stretch>
            <a:fillRect/>
          </a:stretch>
        </p:blipFill>
        <p:spPr>
          <a:xfrm>
            <a:off x="6373368" y="2276856"/>
            <a:ext cx="237744" cy="237744"/>
          </a:xfrm>
          <a:prstGeom prst="rect">
            <a:avLst/>
          </a:prstGeom>
        </p:spPr>
      </p:pic>
      <p:sp>
        <p:nvSpPr>
          <p:cNvPr id="15" name="Text 12"/>
          <p:cNvSpPr txBox="1"/>
          <p:nvPr/>
        </p:nvSpPr>
        <p:spPr>
          <a:xfrm>
            <a:off x="6858000" y="210312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A big gap: </a:t>
            </a:r>
            <a:r>
              <a:rPr lang="en-US" sz="1400" dirty="0">
                <a:solidFill>
                  <a:schemeClr val="tx1"/>
                </a:solidFill>
              </a:rPr>
              <a:t>Enclosed-space crews were about 2.6 times as likely to be infected</a:t>
            </a:r>
            <a:r>
              <a:rPr lang="en-US" sz="1400" baseline="30000" dirty="0">
                <a:solidFill>
                  <a:schemeClr val="tx1"/>
                </a:solidFill>
              </a:rPr>
              <a:t>1</a:t>
            </a:r>
            <a:endParaRPr lang="en-US" sz="1400" dirty="0"/>
          </a:p>
        </p:txBody>
      </p:sp>
      <p:sp>
        <p:nvSpPr>
          <p:cNvPr id="16" name="Another study agrees icon circle"/>
          <p:cNvSpPr/>
          <p:nvPr/>
        </p:nvSpPr>
        <p:spPr>
          <a:xfrm>
            <a:off x="6263640" y="2843784"/>
            <a:ext cx="457200" cy="457200"/>
          </a:xfrm>
          <a:prstGeom prst="ellipse">
            <a:avLst/>
          </a:prstGeom>
          <a:solidFill>
            <a:schemeClr val="accent1"/>
          </a:solidFill>
          <a:ln/>
        </p:spPr>
      </p:sp>
      <p:pic>
        <p:nvPicPr>
          <p:cNvPr id="17" name="Another study agrees icon" descr="Another study agrees icon">    </p:cNvPr>
          <p:cNvPicPr>
            <a:picLocks noChangeAspect="1"/>
          </p:cNvPicPr>
          <p:nvPr/>
        </p:nvPicPr>
        <p:blipFill>
          <a:blip r:embed="rId2"/>
          <a:stretch>
            <a:fillRect/>
          </a:stretch>
        </p:blipFill>
        <p:spPr>
          <a:xfrm>
            <a:off x="6373368" y="2953512"/>
            <a:ext cx="237744" cy="237744"/>
          </a:xfrm>
          <a:prstGeom prst="rect">
            <a:avLst/>
          </a:prstGeom>
        </p:spPr>
      </p:pic>
      <p:sp>
        <p:nvSpPr>
          <p:cNvPr id="18" name="Text 14"/>
          <p:cNvSpPr txBox="1"/>
          <p:nvPr/>
        </p:nvSpPr>
        <p:spPr>
          <a:xfrm>
            <a:off x="6858000" y="2779776"/>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Another study agrees: </a:t>
            </a:r>
            <a:r>
              <a:rPr lang="en-US" sz="1400" dirty="0">
                <a:solidFill>
                  <a:schemeClr val="tx1"/>
                </a:solidFill>
              </a:rPr>
              <a:t>A Navy–CDC study linked infection to sharing a berth with an infected sailor</a:t>
            </a:r>
            <a:r>
              <a:rPr lang="en-US" sz="1400" baseline="30000" dirty="0">
                <a:solidFill>
                  <a:schemeClr val="tx1"/>
                </a:solidFill>
              </a:rPr>
              <a:t>5</a:t>
            </a:r>
            <a:endParaRPr lang="en-US" sz="1400" dirty="0"/>
          </a:p>
        </p:txBody>
      </p:sp>
      <p:sp>
        <p:nvSpPr>
          <p:cNvPr id="19" name="It makes sense icon circle"/>
          <p:cNvSpPr/>
          <p:nvPr/>
        </p:nvSpPr>
        <p:spPr>
          <a:xfrm>
            <a:off x="6263640" y="3520440"/>
            <a:ext cx="457200" cy="457200"/>
          </a:xfrm>
          <a:prstGeom prst="ellipse">
            <a:avLst/>
          </a:prstGeom>
          <a:solidFill>
            <a:schemeClr val="accent1"/>
          </a:solidFill>
          <a:ln/>
        </p:spPr>
      </p:sp>
      <p:pic>
        <p:nvPicPr>
          <p:cNvPr id="20" name="It makes sense icon" descr="It makes sense icon">    </p:cNvPr>
          <p:cNvPicPr>
            <a:picLocks noChangeAspect="1"/>
          </p:cNvPicPr>
          <p:nvPr/>
        </p:nvPicPr>
        <p:blipFill>
          <a:blip r:embed="rId3"/>
          <a:stretch>
            <a:fillRect/>
          </a:stretch>
        </p:blipFill>
        <p:spPr>
          <a:xfrm>
            <a:off x="6373368" y="3630168"/>
            <a:ext cx="237744" cy="237744"/>
          </a:xfrm>
          <a:prstGeom prst="rect">
            <a:avLst/>
          </a:prstGeom>
        </p:spPr>
      </p:pic>
      <p:sp>
        <p:nvSpPr>
          <p:cNvPr id="21" name="Text 16"/>
          <p:cNvSpPr txBox="1"/>
          <p:nvPr/>
        </p:nvSpPr>
        <p:spPr>
          <a:xfrm>
            <a:off x="6858000" y="345643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It makes sense: </a:t>
            </a:r>
            <a:r>
              <a:rPr lang="en-US" sz="1400" dirty="0">
                <a:solidFill>
                  <a:schemeClr val="tx1"/>
                </a:solidFill>
              </a:rPr>
              <a:t>The virus spreads through the air, so close quarters raise the risk</a:t>
            </a:r>
            <a:r>
              <a:rPr lang="en-US" sz="1400" baseline="30000" dirty="0">
                <a:solidFill>
                  <a:schemeClr val="tx1"/>
                </a:solidFill>
              </a:rPr>
              <a:t>2</a:t>
            </a:r>
            <a:endParaRPr lang="en-US" sz="1400" dirty="0"/>
          </a:p>
        </p:txBody>
      </p:sp>
      <p:sp>
        <p:nvSpPr>
          <p:cNvPr id="22" name="Crowding not measured in levels icon circle"/>
          <p:cNvSpPr/>
          <p:nvPr/>
        </p:nvSpPr>
        <p:spPr>
          <a:xfrm>
            <a:off x="6263640" y="4197096"/>
            <a:ext cx="457200" cy="457200"/>
          </a:xfrm>
          <a:prstGeom prst="ellipse">
            <a:avLst/>
          </a:prstGeom>
          <a:solidFill>
            <a:schemeClr val="accent2"/>
          </a:solidFill>
          <a:ln/>
        </p:spPr>
      </p:sp>
      <p:pic>
        <p:nvPicPr>
          <p:cNvPr id="23" name="Crowding not measured in levels icon" descr="Crowding not measured in levels icon">    </p:cNvPr>
          <p:cNvPicPr>
            <a:picLocks noChangeAspect="1"/>
          </p:cNvPicPr>
          <p:nvPr/>
        </p:nvPicPr>
        <p:blipFill>
          <a:blip r:embed="rId4"/>
          <a:stretch>
            <a:fillRect/>
          </a:stretch>
        </p:blipFill>
        <p:spPr>
          <a:xfrm>
            <a:off x="6373368" y="4306824"/>
            <a:ext cx="237744" cy="237744"/>
          </a:xfrm>
          <a:prstGeom prst="rect">
            <a:avLst/>
          </a:prstGeom>
        </p:spPr>
      </p:pic>
      <p:sp>
        <p:nvSpPr>
          <p:cNvPr id="24" name="Text 18"/>
          <p:cNvSpPr txBox="1"/>
          <p:nvPr/>
        </p:nvSpPr>
        <p:spPr>
          <a:xfrm>
            <a:off x="6858000" y="4133088"/>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Crowding not measured in levels: </a:t>
            </a:r>
            <a:r>
              <a:rPr lang="en-US" sz="1400" dirty="0">
                <a:solidFill>
                  <a:schemeClr val="tx1"/>
                </a:solidFill>
              </a:rPr>
              <a:t>It was only recorded as enclosed vs open-air</a:t>
            </a:r>
            <a:endParaRPr lang="en-US" sz="1400" dirty="0"/>
          </a:p>
        </p:txBody>
      </p:sp>
      <p:sp>
        <p:nvSpPr>
          <p:cNvPr id="25" name="Other factors mixed in icon circle"/>
          <p:cNvSpPr/>
          <p:nvPr/>
        </p:nvSpPr>
        <p:spPr>
          <a:xfrm>
            <a:off x="6263640" y="4873752"/>
            <a:ext cx="457200" cy="457200"/>
          </a:xfrm>
          <a:prstGeom prst="ellipse">
            <a:avLst/>
          </a:prstGeom>
          <a:solidFill>
            <a:schemeClr val="accent2"/>
          </a:solidFill>
          <a:ln/>
        </p:spPr>
      </p:sp>
      <p:pic>
        <p:nvPicPr>
          <p:cNvPr id="26" name="Other factors mixed in icon" descr="Other factors mixed in icon">    </p:cNvPr>
          <p:cNvPicPr>
            <a:picLocks noChangeAspect="1"/>
          </p:cNvPicPr>
          <p:nvPr/>
        </p:nvPicPr>
        <p:blipFill>
          <a:blip r:embed="rId5"/>
          <a:stretch>
            <a:fillRect/>
          </a:stretch>
        </p:blipFill>
        <p:spPr>
          <a:xfrm>
            <a:off x="6373368" y="4983480"/>
            <a:ext cx="237744" cy="237744"/>
          </a:xfrm>
          <a:prstGeom prst="rect">
            <a:avLst/>
          </a:prstGeom>
        </p:spPr>
      </p:pic>
      <p:sp>
        <p:nvSpPr>
          <p:cNvPr id="27" name="Text 20"/>
          <p:cNvSpPr txBox="1"/>
          <p:nvPr/>
        </p:nvSpPr>
        <p:spPr>
          <a:xfrm>
            <a:off x="6858000" y="4809744"/>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Other factors mixed in: </a:t>
            </a:r>
            <a:r>
              <a:rPr lang="en-US" sz="1400" dirty="0">
                <a:solidFill>
                  <a:schemeClr val="tx1"/>
                </a:solidFill>
              </a:rPr>
              <a:t>Department goes with rank and where people sleep (confounding)</a:t>
            </a:r>
            <a:endParaRPr lang="en-US" sz="1400" dirty="0"/>
          </a:p>
        </p:txBody>
      </p:sp>
      <p:sp>
        <p:nvSpPr>
          <p:cNvPr id="28" name="Many comparisons icon circle"/>
          <p:cNvSpPr/>
          <p:nvPr/>
        </p:nvSpPr>
        <p:spPr>
          <a:xfrm>
            <a:off x="6263640" y="5550408"/>
            <a:ext cx="457200" cy="457200"/>
          </a:xfrm>
          <a:prstGeom prst="ellipse">
            <a:avLst/>
          </a:prstGeom>
          <a:solidFill>
            <a:schemeClr val="accent2"/>
          </a:solidFill>
          <a:ln/>
        </p:spPr>
      </p:sp>
      <p:pic>
        <p:nvPicPr>
          <p:cNvPr id="29" name="Many comparisons icon" descr="Many comparisons icon">    </p:cNvPr>
          <p:cNvPicPr>
            <a:picLocks noChangeAspect="1"/>
          </p:cNvPicPr>
          <p:nvPr/>
        </p:nvPicPr>
        <p:blipFill>
          <a:blip r:embed="rId6"/>
          <a:stretch>
            <a:fillRect/>
          </a:stretch>
        </p:blipFill>
        <p:spPr>
          <a:xfrm>
            <a:off x="6373368" y="5660136"/>
            <a:ext cx="237744" cy="237744"/>
          </a:xfrm>
          <a:prstGeom prst="rect">
            <a:avLst/>
          </a:prstGeom>
        </p:spPr>
      </p:pic>
      <p:sp>
        <p:nvSpPr>
          <p:cNvPr id="30" name="Text 22"/>
          <p:cNvSpPr txBox="1"/>
          <p:nvPr/>
        </p:nvSpPr>
        <p:spPr>
          <a:xfrm>
            <a:off x="6858000" y="548640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Many comparisons: </a:t>
            </a:r>
            <a:r>
              <a:rPr lang="en-US" sz="1400" dirty="0">
                <a:solidFill>
                  <a:schemeClr val="tx1"/>
                </a:solidFill>
              </a:rPr>
              <a:t>Making many comparisons can produce false alarms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Sure Are We? Strengths &amp; Limitations</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'My view' = my own appraisal.</a:t>
            </a:r>
            <a:endParaRPr lang="en-US" sz="1000" dirty="0"/>
          </a:p>
        </p:txBody>
      </p:sp>
      <p:sp>
        <p:nvSpPr>
          <p:cNvPr id="5" name="strengths"/>
          <p:cNvSpPr/>
          <p:nvPr/>
        </p:nvSpPr>
        <p:spPr>
          <a:xfrm>
            <a:off x="548640" y="1325880"/>
            <a:ext cx="5394960" cy="4846320"/>
          </a:xfrm>
          <a:prstGeom prst="roundRect">
            <a:avLst>
              <a:gd name="adj" fmla="val 2264"/>
            </a:avLst>
          </a:prstGeom>
          <a:solidFill>
            <a:schemeClr val="bg2"/>
          </a:solidFill>
          <a:ln/>
        </p:spPr>
      </p:sp>
      <p:sp>
        <p:nvSpPr>
          <p:cNvPr id="6" name="strengths icon circle"/>
          <p:cNvSpPr/>
          <p:nvPr/>
        </p:nvSpPr>
        <p:spPr>
          <a:xfrm>
            <a:off x="777240" y="1508760"/>
            <a:ext cx="548640" cy="548640"/>
          </a:xfrm>
          <a:prstGeom prst="ellipse">
            <a:avLst/>
          </a:prstGeom>
          <a:solidFill>
            <a:schemeClr val="accent1"/>
          </a:solidFill>
          <a:ln/>
        </p:spPr>
      </p:sp>
      <p:pic>
        <p:nvPicPr>
          <p:cNvPr id="7" name="strengths icon" descr="strengths icon">    </p:cNvPr>
          <p:cNvPicPr>
            <a:picLocks noChangeAspect="1"/>
          </p:cNvPicPr>
          <p:nvPr/>
        </p:nvPicPr>
        <p:blipFill>
          <a:blip r:embed="rId1"/>
          <a:stretch>
            <a:fillRect/>
          </a:stretch>
        </p:blipFill>
        <p:spPr>
          <a:xfrm>
            <a:off x="908914" y="1640434"/>
            <a:ext cx="285293" cy="285293"/>
          </a:xfrm>
          <a:prstGeom prst="rect">
            <a:avLst/>
          </a:prstGeom>
        </p:spPr>
      </p:pic>
      <p:sp>
        <p:nvSpPr>
          <p:cNvPr id="8" name="Text 5"/>
          <p:cNvSpPr txBox="1"/>
          <p:nvPr/>
        </p:nvSpPr>
        <p:spPr>
          <a:xfrm>
            <a:off x="146304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9" name="Text 6"/>
          <p:cNvSpPr txBox="1"/>
          <p:nvPr/>
        </p:nvSpPr>
        <p:spPr>
          <a:xfrm>
            <a:off x="777240" y="2240280"/>
            <a:ext cx="4983480" cy="384048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Everyone was tested: </a:t>
            </a:r>
            <a:r>
              <a:rPr lang="en-US" sz="1450" dirty="0">
                <a:solidFill>
                  <a:schemeClr val="tx1"/>
                </a:solidFill>
              </a:rPr>
              <a:t>people who felt fine were not missed</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Followed for 10+ weeks: </a:t>
            </a:r>
            <a:r>
              <a:rPr lang="en-US" sz="1450" dirty="0">
                <a:solidFill>
                  <a:schemeClr val="tx1"/>
                </a:solidFill>
              </a:rPr>
              <a:t>shows who truly never got sick</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Lab-confirmed: </a:t>
            </a:r>
            <a:r>
              <a:rPr lang="en-US" sz="1450" dirty="0">
                <a:solidFill>
                  <a:schemeClr val="tx1"/>
                </a:solidFill>
              </a:rPr>
              <a:t>about 95% of cases had a positive PCR test</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Official records: </a:t>
            </a:r>
            <a:r>
              <a:rPr lang="en-US" sz="1450" dirty="0">
                <a:solidFill>
                  <a:schemeClr val="tx1"/>
                </a:solidFill>
              </a:rPr>
              <a:t>age, job and health data did not rely on memory</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Quick action: </a:t>
            </a:r>
            <a:r>
              <a:rPr lang="en-US" sz="1450" dirty="0">
                <a:solidFill>
                  <a:schemeClr val="tx1"/>
                </a:solidFill>
              </a:rPr>
              <a:t>the ship reached Guam 4 days after the first positive test</a:t>
            </a:r>
            <a:r>
              <a:rPr lang="en-US" sz="1450" baseline="30000" dirty="0">
                <a:solidFill>
                  <a:schemeClr val="tx1"/>
                </a:solidFill>
              </a:rPr>
              <a:t>1</a:t>
            </a:r>
            <a:endParaRPr lang="en-US" sz="1500" dirty="0"/>
          </a:p>
        </p:txBody>
      </p:sp>
      <p:sp>
        <p:nvSpPr>
          <p:cNvPr id="10" name="limitations"/>
          <p:cNvSpPr/>
          <p:nvPr/>
        </p:nvSpPr>
        <p:spPr>
          <a:xfrm>
            <a:off x="6217920" y="1325880"/>
            <a:ext cx="5394960" cy="4846320"/>
          </a:xfrm>
          <a:prstGeom prst="roundRect">
            <a:avLst>
              <a:gd name="adj" fmla="val 2264"/>
            </a:avLst>
          </a:prstGeom>
          <a:solidFill>
            <a:schemeClr val="bg2"/>
          </a:solidFill>
          <a:ln/>
        </p:spPr>
      </p:sp>
      <p:sp>
        <p:nvSpPr>
          <p:cNvPr id="11" name="limitations icon circle"/>
          <p:cNvSpPr/>
          <p:nvPr/>
        </p:nvSpPr>
        <p:spPr>
          <a:xfrm>
            <a:off x="6446520" y="1508760"/>
            <a:ext cx="548640" cy="548640"/>
          </a:xfrm>
          <a:prstGeom prst="ellipse">
            <a:avLst/>
          </a:prstGeom>
          <a:solidFill>
            <a:schemeClr val="accent2"/>
          </a:solidFill>
          <a:ln/>
        </p:spPr>
      </p:sp>
      <p:pic>
        <p:nvPicPr>
          <p:cNvPr id="12" name="limitations icon" descr="limitations icon">    </p:cNvPr>
          <p:cNvPicPr>
            <a:picLocks noChangeAspect="1"/>
          </p:cNvPicPr>
          <p:nvPr/>
        </p:nvPicPr>
        <p:blipFill>
          <a:blip r:embed="rId2"/>
          <a:stretch>
            <a:fillRect/>
          </a:stretch>
        </p:blipFill>
        <p:spPr>
          <a:xfrm>
            <a:off x="6578194" y="1640434"/>
            <a:ext cx="285293" cy="285293"/>
          </a:xfrm>
          <a:prstGeom prst="rect">
            <a:avLst/>
          </a:prstGeom>
        </p:spPr>
      </p:pic>
      <p:sp>
        <p:nvSpPr>
          <p:cNvPr id="13" name="Text 9"/>
          <p:cNvSpPr txBox="1"/>
          <p:nvPr/>
        </p:nvSpPr>
        <p:spPr>
          <a:xfrm>
            <a:off x="713232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4" name="Text 10"/>
          <p:cNvSpPr txBox="1"/>
          <p:nvPr/>
        </p:nvSpPr>
        <p:spPr>
          <a:xfrm>
            <a:off x="6446520" y="2240280"/>
            <a:ext cx="4983480" cy="3840480"/>
          </a:xfrm>
          <a:prstGeom prst="rect">
            <a:avLst/>
          </a:prstGeom>
          <a:noFill/>
          <a:ln/>
        </p:spPr>
        <p:txBody>
          <a:bodyPr wrap="square" lIns="635" tIns="635" rIns="635" bIns="635" rtlCol="0" anchor="t"/>
          <a:lstStyle/>
          <a:p>
            <a:pPr indent="0" marL="0">
              <a:buNone/>
            </a:pPr>
            <a:r>
              <a:rPr lang="en-US" sz="1300" b="1" dirty="0">
                <a:solidFill>
                  <a:schemeClr val="accent6"/>
                </a:solidFill>
              </a:rPr>
              <a:t>The authors said</a:t>
            </a:r>
            <a:r>
              <a:rPr lang="en-US" sz="1300" b="1" baseline="30000" dirty="0">
                <a:solidFill>
                  <a:schemeClr val="accent6"/>
                </a:solidFill>
              </a:rPr>
              <a:t>1</a:t>
            </a:r>
            <a:endParaRPr lang="en-US" sz="1500" dirty="0"/>
          </a:p>
          <a:p>
            <a:pPr marL="203200" indent="-203200">
              <a:spcAft>
                <a:spcPts val="600"/>
              </a:spcAft>
              <a:buSzPct val="100000"/>
              <a:buChar char="•"/>
            </a:pPr>
            <a:r>
              <a:rPr lang="en-US" sz="1450" dirty="0">
                <a:solidFill>
                  <a:schemeClr val="tx1"/>
                </a:solidFill>
              </a:rPr>
              <a:t>Early records were incomplete</a:t>
            </a:r>
            <a:endParaRPr lang="en-US" sz="1500" dirty="0"/>
          </a:p>
          <a:p>
            <a:pPr marL="203200" indent="-203200">
              <a:spcAft>
                <a:spcPts val="600"/>
              </a:spcAft>
              <a:buSzPct val="100000"/>
              <a:buChar char="•"/>
            </a:pPr>
            <a:r>
              <a:rPr lang="en-US" sz="1450" dirty="0">
                <a:solidFill>
                  <a:schemeClr val="tx1"/>
                </a:solidFill>
              </a:rPr>
              <a:t>The case definition changed in April</a:t>
            </a:r>
            <a:endParaRPr lang="en-US" sz="1500" dirty="0"/>
          </a:p>
          <a:p>
            <a:pPr marL="203200" indent="-203200">
              <a:spcAft>
                <a:spcPts val="600"/>
              </a:spcAft>
              <a:buSzPct val="100000"/>
              <a:buChar char="•"/>
            </a:pPr>
            <a:r>
              <a:rPr lang="en-US" sz="1450" dirty="0">
                <a:solidFill>
                  <a:schemeClr val="tx1"/>
                </a:solidFill>
              </a:rPr>
              <a:t>Navy crews may differ from civilians</a:t>
            </a:r>
            <a:endParaRPr lang="en-US" sz="1500" dirty="0"/>
          </a:p>
          <a:p>
            <a:pPr indent="0" marL="0">
              <a:spcBef>
                <a:spcPts val="1000"/>
              </a:spcBef>
              <a:buNone/>
            </a:pPr>
            <a:r>
              <a:rPr lang="en-US" sz="1300" b="1" dirty="0">
                <a:solidFill>
                  <a:schemeClr val="accent2"/>
                </a:solidFill>
              </a:rPr>
              <a:t>My view</a:t>
            </a:r>
            <a:endParaRPr lang="en-US" sz="1500" dirty="0"/>
          </a:p>
          <a:p>
            <a:pPr marL="203200" indent="-203200">
              <a:spcAft>
                <a:spcPts val="600"/>
              </a:spcAft>
              <a:buSzPct val="100000"/>
              <a:buChar char="•"/>
            </a:pPr>
            <a:r>
              <a:rPr lang="en-US" sz="1450" dirty="0">
                <a:solidFill>
                  <a:schemeClr val="tx1"/>
                </a:solidFill>
              </a:rPr>
              <a:t>Simple comparisons only: other factors may be mixed in</a:t>
            </a:r>
            <a:endParaRPr lang="en-US" sz="1500" dirty="0"/>
          </a:p>
          <a:p>
            <a:pPr marL="203200" indent="-203200">
              <a:spcAft>
                <a:spcPts val="600"/>
              </a:spcAft>
              <a:buSzPct val="100000"/>
              <a:buChar char="•"/>
            </a:pPr>
            <a:r>
              <a:rPr lang="en-US" sz="1450" dirty="0">
                <a:solidFill>
                  <a:schemeClr val="tx1"/>
                </a:solidFill>
              </a:rPr>
              <a:t>No air-flow tests or gene sequencing</a:t>
            </a:r>
            <a:endParaRPr lang="en-US" sz="1500" dirty="0"/>
          </a:p>
          <a:p>
            <a:pPr marL="203200" indent="-203200">
              <a:spcAft>
                <a:spcPts val="600"/>
              </a:spcAft>
              <a:buSzPct val="100000"/>
              <a:buChar char="•"/>
            </a:pPr>
            <a:r>
              <a:rPr lang="en-US" sz="1450" dirty="0">
                <a:solidFill>
                  <a:schemeClr val="tx1"/>
                </a:solidFill>
              </a:rPr>
              <a:t>Symptoms were self-reported, so people may misremember</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The Response: Isolate, Quarantine, Test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5" name="Isolation card"/>
          <p:cNvSpPr/>
          <p:nvPr/>
        </p:nvSpPr>
        <p:spPr>
          <a:xfrm>
            <a:off x="548640" y="1325880"/>
            <a:ext cx="5394960" cy="1417320"/>
          </a:xfrm>
          <a:prstGeom prst="roundRect">
            <a:avLst>
              <a:gd name="adj" fmla="val 7742"/>
            </a:avLst>
          </a:prstGeom>
          <a:solidFill>
            <a:schemeClr val="bg2"/>
          </a:solidFill>
          <a:ln/>
        </p:spPr>
      </p:sp>
      <p:sp>
        <p:nvSpPr>
          <p:cNvPr id="6" name="Isolation icon circle"/>
          <p:cNvSpPr/>
          <p:nvPr/>
        </p:nvSpPr>
        <p:spPr>
          <a:xfrm>
            <a:off x="777240" y="1691640"/>
            <a:ext cx="685800" cy="685800"/>
          </a:xfrm>
          <a:prstGeom prst="ellipse">
            <a:avLst/>
          </a:prstGeom>
          <a:solidFill>
            <a:schemeClr val="accent1"/>
          </a:solidFill>
          <a:ln/>
        </p:spPr>
      </p:sp>
      <p:pic>
        <p:nvPicPr>
          <p:cNvPr id="7" name="Isolation icon" descr="Isolation icon">    </p:cNvPr>
          <p:cNvPicPr>
            <a:picLocks noChangeAspect="1"/>
          </p:cNvPicPr>
          <p:nvPr/>
        </p:nvPicPr>
        <p:blipFill>
          <a:blip r:embed="rId1"/>
          <a:stretch>
            <a:fillRect/>
          </a:stretch>
        </p:blipFill>
        <p:spPr>
          <a:xfrm>
            <a:off x="941832" y="1856232"/>
            <a:ext cx="356616" cy="356616"/>
          </a:xfrm>
          <a:prstGeom prst="rect">
            <a:avLst/>
          </a:prstGeom>
        </p:spPr>
      </p:pic>
      <p:sp>
        <p:nvSpPr>
          <p:cNvPr id="8" name="Text 5"/>
          <p:cNvSpPr txBox="1"/>
          <p:nvPr/>
        </p:nvSpPr>
        <p:spPr>
          <a:xfrm>
            <a:off x="164592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Isolation</a:t>
            </a:r>
            <a:endParaRPr lang="en-US" sz="1400" dirty="0"/>
          </a:p>
          <a:p>
            <a:pPr indent="0" marL="0">
              <a:buNone/>
            </a:pPr>
            <a:r>
              <a:rPr lang="en-US" sz="1400" dirty="0">
                <a:solidFill>
                  <a:schemeClr val="tx1"/>
                </a:solidFill>
              </a:rPr>
              <a:t>Confirmed cases isolated on Naval Base Guam or in the naval hospital; symptoms, temperature and SpO₂ checked twice daily</a:t>
            </a:r>
            <a:r>
              <a:rPr lang="en-US" sz="1400" baseline="30000" dirty="0">
                <a:solidFill>
                  <a:schemeClr val="tx1"/>
                </a:solidFill>
              </a:rPr>
              <a:t>1</a:t>
            </a:r>
            <a:endParaRPr lang="en-US" sz="1400" dirty="0"/>
          </a:p>
        </p:txBody>
      </p:sp>
      <p:sp>
        <p:nvSpPr>
          <p:cNvPr id="9" name="Quarantine card"/>
          <p:cNvSpPr/>
          <p:nvPr/>
        </p:nvSpPr>
        <p:spPr>
          <a:xfrm>
            <a:off x="6217920" y="1325880"/>
            <a:ext cx="5394960" cy="1417320"/>
          </a:xfrm>
          <a:prstGeom prst="roundRect">
            <a:avLst>
              <a:gd name="adj" fmla="val 7742"/>
            </a:avLst>
          </a:prstGeom>
          <a:solidFill>
            <a:schemeClr val="bg2"/>
          </a:solidFill>
          <a:ln/>
        </p:spPr>
      </p:sp>
      <p:sp>
        <p:nvSpPr>
          <p:cNvPr id="10" name="Quarantine icon circle"/>
          <p:cNvSpPr/>
          <p:nvPr/>
        </p:nvSpPr>
        <p:spPr>
          <a:xfrm>
            <a:off x="6446520" y="1691640"/>
            <a:ext cx="685800" cy="685800"/>
          </a:xfrm>
          <a:prstGeom prst="ellipse">
            <a:avLst/>
          </a:prstGeom>
          <a:solidFill>
            <a:schemeClr val="accent1"/>
          </a:solidFill>
          <a:ln/>
        </p:spPr>
      </p:sp>
      <p:pic>
        <p:nvPicPr>
          <p:cNvPr id="11" name="Quarantine icon" descr="Quarantine icon">    </p:cNvPr>
          <p:cNvPicPr>
            <a:picLocks noChangeAspect="1"/>
          </p:cNvPicPr>
          <p:nvPr/>
        </p:nvPicPr>
        <p:blipFill>
          <a:blip r:embed="rId2"/>
          <a:stretch>
            <a:fillRect/>
          </a:stretch>
        </p:blipFill>
        <p:spPr>
          <a:xfrm>
            <a:off x="6611112" y="1856232"/>
            <a:ext cx="356616" cy="356616"/>
          </a:xfrm>
          <a:prstGeom prst="rect">
            <a:avLst/>
          </a:prstGeom>
        </p:spPr>
      </p:pic>
      <p:sp>
        <p:nvSpPr>
          <p:cNvPr id="12" name="Text 8"/>
          <p:cNvSpPr txBox="1"/>
          <p:nvPr/>
        </p:nvSpPr>
        <p:spPr>
          <a:xfrm>
            <a:off x="731520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Quarantine</a:t>
            </a:r>
            <a:endParaRPr lang="en-US" sz="1400" dirty="0"/>
          </a:p>
          <a:p>
            <a:pPr indent="0" marL="0">
              <a:buNone/>
            </a:pPr>
            <a:r>
              <a:rPr lang="en-US" sz="1400" dirty="0">
                <a:solidFill>
                  <a:schemeClr val="tx1"/>
                </a:solidFill>
              </a:rPr>
              <a:t>4,079 test-negative, symptom-free crew placed in single-occupancy rooms across 11 hotels</a:t>
            </a:r>
            <a:r>
              <a:rPr lang="en-US" sz="1400" baseline="30000" dirty="0">
                <a:solidFill>
                  <a:schemeClr val="tx1"/>
                </a:solidFill>
              </a:rPr>
              <a:t>1</a:t>
            </a:r>
            <a:endParaRPr lang="en-US" sz="1400" dirty="0"/>
          </a:p>
        </p:txBody>
      </p:sp>
      <p:sp>
        <p:nvSpPr>
          <p:cNvPr id="13" name="Skeleton crew card"/>
          <p:cNvSpPr/>
          <p:nvPr/>
        </p:nvSpPr>
        <p:spPr>
          <a:xfrm>
            <a:off x="548640" y="2926080"/>
            <a:ext cx="5394960" cy="1417320"/>
          </a:xfrm>
          <a:prstGeom prst="roundRect">
            <a:avLst>
              <a:gd name="adj" fmla="val 7742"/>
            </a:avLst>
          </a:prstGeom>
          <a:solidFill>
            <a:schemeClr val="bg2"/>
          </a:solidFill>
          <a:ln/>
        </p:spPr>
      </p:sp>
      <p:sp>
        <p:nvSpPr>
          <p:cNvPr id="14" name="Skeleton crew icon circle"/>
          <p:cNvSpPr/>
          <p:nvPr/>
        </p:nvSpPr>
        <p:spPr>
          <a:xfrm>
            <a:off x="777240" y="3291840"/>
            <a:ext cx="685800" cy="685800"/>
          </a:xfrm>
          <a:prstGeom prst="ellipse">
            <a:avLst/>
          </a:prstGeom>
          <a:solidFill>
            <a:schemeClr val="accent1"/>
          </a:solidFill>
          <a:ln/>
        </p:spPr>
      </p:sp>
      <p:pic>
        <p:nvPicPr>
          <p:cNvPr id="15" name="Skeleton crew icon" descr="Skeleton crew icon">    </p:cNvPr>
          <p:cNvPicPr>
            <a:picLocks noChangeAspect="1"/>
          </p:cNvPicPr>
          <p:nvPr/>
        </p:nvPicPr>
        <p:blipFill>
          <a:blip r:embed="rId3"/>
          <a:stretch>
            <a:fillRect/>
          </a:stretch>
        </p:blipFill>
        <p:spPr>
          <a:xfrm>
            <a:off x="941832" y="3456432"/>
            <a:ext cx="356616" cy="356616"/>
          </a:xfrm>
          <a:prstGeom prst="rect">
            <a:avLst/>
          </a:prstGeom>
        </p:spPr>
      </p:pic>
      <p:sp>
        <p:nvSpPr>
          <p:cNvPr id="16" name="Text 11"/>
          <p:cNvSpPr txBox="1"/>
          <p:nvPr/>
        </p:nvSpPr>
        <p:spPr>
          <a:xfrm>
            <a:off x="164592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Skeleton crew</a:t>
            </a:r>
            <a:endParaRPr lang="en-US" sz="1400" dirty="0"/>
          </a:p>
          <a:p>
            <a:pPr indent="0" marL="0">
              <a:buNone/>
            </a:pPr>
            <a:r>
              <a:rPr lang="en-US" sz="1400" dirty="0">
                <a:solidFill>
                  <a:schemeClr val="tx1"/>
                </a:solidFill>
              </a:rPr>
              <a:t>Essential uninfected personnel stayed aboard to keep the ship running in port</a:t>
            </a:r>
            <a:r>
              <a:rPr lang="en-US" sz="1400" baseline="30000" dirty="0">
                <a:solidFill>
                  <a:schemeClr val="tx1"/>
                </a:solidFill>
              </a:rPr>
              <a:t>1</a:t>
            </a:r>
            <a:endParaRPr lang="en-US" sz="1400" dirty="0"/>
          </a:p>
        </p:txBody>
      </p:sp>
      <p:sp>
        <p:nvSpPr>
          <p:cNvPr id="17" name="Exit criteria card"/>
          <p:cNvSpPr/>
          <p:nvPr/>
        </p:nvSpPr>
        <p:spPr>
          <a:xfrm>
            <a:off x="6217920" y="2926080"/>
            <a:ext cx="5394960" cy="1417320"/>
          </a:xfrm>
          <a:prstGeom prst="roundRect">
            <a:avLst>
              <a:gd name="adj" fmla="val 7742"/>
            </a:avLst>
          </a:prstGeom>
          <a:solidFill>
            <a:schemeClr val="bg2"/>
          </a:solidFill>
          <a:ln/>
        </p:spPr>
      </p:sp>
      <p:sp>
        <p:nvSpPr>
          <p:cNvPr id="18" name="Exit criteria icon circle"/>
          <p:cNvSpPr/>
          <p:nvPr/>
        </p:nvSpPr>
        <p:spPr>
          <a:xfrm>
            <a:off x="6446520" y="3291840"/>
            <a:ext cx="685800" cy="685800"/>
          </a:xfrm>
          <a:prstGeom prst="ellipse">
            <a:avLst/>
          </a:prstGeom>
          <a:solidFill>
            <a:schemeClr val="accent1"/>
          </a:solidFill>
          <a:ln/>
        </p:spPr>
      </p:sp>
      <p:pic>
        <p:nvPicPr>
          <p:cNvPr id="19" name="Exit criteria icon" descr="Exit criteria icon">    </p:cNvPr>
          <p:cNvPicPr>
            <a:picLocks noChangeAspect="1"/>
          </p:cNvPicPr>
          <p:nvPr/>
        </p:nvPicPr>
        <p:blipFill>
          <a:blip r:embed="rId4"/>
          <a:stretch>
            <a:fillRect/>
          </a:stretch>
        </p:blipFill>
        <p:spPr>
          <a:xfrm>
            <a:off x="6611112" y="3456432"/>
            <a:ext cx="356616" cy="356616"/>
          </a:xfrm>
          <a:prstGeom prst="rect">
            <a:avLst/>
          </a:prstGeom>
        </p:spPr>
      </p:pic>
      <p:sp>
        <p:nvSpPr>
          <p:cNvPr id="20" name="Text 14"/>
          <p:cNvSpPr txBox="1"/>
          <p:nvPr/>
        </p:nvSpPr>
        <p:spPr>
          <a:xfrm>
            <a:off x="731520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Exit criteria</a:t>
            </a:r>
            <a:endParaRPr lang="en-US" sz="1400" dirty="0"/>
          </a:p>
          <a:p>
            <a:pPr indent="0" marL="0">
              <a:buNone/>
            </a:pPr>
            <a:r>
              <a:rPr lang="en-US" sz="1400" dirty="0">
                <a:solidFill>
                  <a:schemeClr val="tx1"/>
                </a:solidFill>
              </a:rPr>
              <a:t>At least 14 days in isolation or quarantine, 3 symptom-free days for cases, and a repeat rRT-PCR before release</a:t>
            </a:r>
            <a:r>
              <a:rPr lang="en-US" sz="1400" baseline="30000" dirty="0">
                <a:solidFill>
                  <a:schemeClr val="tx1"/>
                </a:solidFill>
              </a:rPr>
              <a:t>1</a:t>
            </a:r>
            <a:endParaRPr lang="en-US" sz="1400" dirty="0"/>
          </a:p>
        </p:txBody>
      </p:sp>
      <p:sp>
        <p:nvSpPr>
          <p:cNvPr id="21" name="Reclassification card"/>
          <p:cNvSpPr/>
          <p:nvPr/>
        </p:nvSpPr>
        <p:spPr>
          <a:xfrm>
            <a:off x="548640" y="4526280"/>
            <a:ext cx="5394960" cy="1417320"/>
          </a:xfrm>
          <a:prstGeom prst="roundRect">
            <a:avLst>
              <a:gd name="adj" fmla="val 7742"/>
            </a:avLst>
          </a:prstGeom>
          <a:solidFill>
            <a:schemeClr val="bg2"/>
          </a:solidFill>
          <a:ln/>
        </p:spPr>
      </p:sp>
      <p:sp>
        <p:nvSpPr>
          <p:cNvPr id="22" name="Reclassification icon circle"/>
          <p:cNvSpPr/>
          <p:nvPr/>
        </p:nvSpPr>
        <p:spPr>
          <a:xfrm>
            <a:off x="777240" y="4892040"/>
            <a:ext cx="685800" cy="685800"/>
          </a:xfrm>
          <a:prstGeom prst="ellipse">
            <a:avLst/>
          </a:prstGeom>
          <a:solidFill>
            <a:schemeClr val="accent1"/>
          </a:solidFill>
          <a:ln/>
        </p:spPr>
      </p:sp>
      <p:pic>
        <p:nvPicPr>
          <p:cNvPr id="23" name="Reclassification icon" descr="Reclassification icon">    </p:cNvPr>
          <p:cNvPicPr>
            <a:picLocks noChangeAspect="1"/>
          </p:cNvPicPr>
          <p:nvPr/>
        </p:nvPicPr>
        <p:blipFill>
          <a:blip r:embed="rId5"/>
          <a:stretch>
            <a:fillRect/>
          </a:stretch>
        </p:blipFill>
        <p:spPr>
          <a:xfrm>
            <a:off x="941832" y="5056632"/>
            <a:ext cx="356616" cy="356616"/>
          </a:xfrm>
          <a:prstGeom prst="rect">
            <a:avLst/>
          </a:prstGeom>
        </p:spPr>
      </p:pic>
      <p:sp>
        <p:nvSpPr>
          <p:cNvPr id="24" name="Text 17"/>
          <p:cNvSpPr txBox="1"/>
          <p:nvPr/>
        </p:nvSpPr>
        <p:spPr>
          <a:xfrm>
            <a:off x="164592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Reclassification</a:t>
            </a:r>
            <a:endParaRPr lang="en-US" sz="1400" dirty="0"/>
          </a:p>
          <a:p>
            <a:pPr indent="0" marL="0">
              <a:buNone/>
            </a:pPr>
            <a:r>
              <a:rPr lang="en-US" sz="1400" dirty="0">
                <a:solidFill>
                  <a:schemeClr val="tx1"/>
                </a:solidFill>
              </a:rPr>
              <a:t>Anyone who developed symptoms in quarantine was tested and moved to isolation for 14 more days</a:t>
            </a:r>
            <a:r>
              <a:rPr lang="en-US" sz="1400" baseline="30000" dirty="0">
                <a:solidFill>
                  <a:schemeClr val="tx1"/>
                </a:solidFill>
              </a:rPr>
              <a:t>1</a:t>
            </a:r>
            <a:endParaRPr lang="en-US" sz="1400" dirty="0"/>
          </a:p>
        </p:txBody>
      </p:sp>
      <p:sp>
        <p:nvSpPr>
          <p:cNvPr id="25" name="Follow-up card"/>
          <p:cNvSpPr/>
          <p:nvPr/>
        </p:nvSpPr>
        <p:spPr>
          <a:xfrm>
            <a:off x="6217920" y="4526280"/>
            <a:ext cx="5394960" cy="1417320"/>
          </a:xfrm>
          <a:prstGeom prst="roundRect">
            <a:avLst>
              <a:gd name="adj" fmla="val 7742"/>
            </a:avLst>
          </a:prstGeom>
          <a:solidFill>
            <a:schemeClr val="bg2"/>
          </a:solidFill>
          <a:ln/>
        </p:spPr>
      </p:sp>
      <p:sp>
        <p:nvSpPr>
          <p:cNvPr id="26" name="Follow-up icon circle"/>
          <p:cNvSpPr/>
          <p:nvPr/>
        </p:nvSpPr>
        <p:spPr>
          <a:xfrm>
            <a:off x="6446520" y="4892040"/>
            <a:ext cx="685800" cy="685800"/>
          </a:xfrm>
          <a:prstGeom prst="ellipse">
            <a:avLst/>
          </a:prstGeom>
          <a:solidFill>
            <a:schemeClr val="accent1"/>
          </a:solidFill>
          <a:ln/>
        </p:spPr>
      </p:sp>
      <p:pic>
        <p:nvPicPr>
          <p:cNvPr id="27" name="Follow-up icon" descr="Follow-up icon">    </p:cNvPr>
          <p:cNvPicPr>
            <a:picLocks noChangeAspect="1"/>
          </p:cNvPicPr>
          <p:nvPr/>
        </p:nvPicPr>
        <p:blipFill>
          <a:blip r:embed="rId6"/>
          <a:stretch>
            <a:fillRect/>
          </a:stretch>
        </p:blipFill>
        <p:spPr>
          <a:xfrm>
            <a:off x="6611112" y="5056632"/>
            <a:ext cx="356616" cy="356616"/>
          </a:xfrm>
          <a:prstGeom prst="rect">
            <a:avLst/>
          </a:prstGeom>
        </p:spPr>
      </p:pic>
      <p:sp>
        <p:nvSpPr>
          <p:cNvPr id="28" name="Text 20"/>
          <p:cNvSpPr txBox="1"/>
          <p:nvPr/>
        </p:nvSpPr>
        <p:spPr>
          <a:xfrm>
            <a:off x="731520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Follow-up</a:t>
            </a:r>
            <a:endParaRPr lang="en-US" sz="1400" dirty="0"/>
          </a:p>
          <a:p>
            <a:pPr indent="0" marL="0">
              <a:buNone/>
            </a:pPr>
            <a:r>
              <a:rPr lang="en-US" sz="1400" dirty="0">
                <a:solidFill>
                  <a:schemeClr val="tx1"/>
                </a:solidFill>
              </a:rPr>
              <a:t>Every crew member followed for at least 10 weeks, whatever their test result</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Recommendations: What to Do Next</a:t>
            </a:r>
            <a:endParaRPr lang="en-US" sz="34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Recommendations are the student's own.</a:t>
            </a:r>
            <a:endParaRPr lang="en-US" sz="1000" dirty="0"/>
          </a:p>
        </p:txBody>
      </p:sp>
      <p:sp>
        <p:nvSpPr>
          <p:cNvPr id="5" name="Immediate control card"/>
          <p:cNvSpPr/>
          <p:nvPr/>
        </p:nvSpPr>
        <p:spPr>
          <a:xfrm>
            <a:off x="548640" y="1325880"/>
            <a:ext cx="5394960" cy="1463040"/>
          </a:xfrm>
          <a:prstGeom prst="roundRect">
            <a:avLst>
              <a:gd name="adj" fmla="val 7500"/>
            </a:avLst>
          </a:prstGeom>
          <a:solidFill>
            <a:schemeClr val="bg2"/>
          </a:solidFill>
          <a:ln/>
        </p:spPr>
      </p:sp>
      <p:sp>
        <p:nvSpPr>
          <p:cNvPr id="6" name="Immediate control icon circle"/>
          <p:cNvSpPr/>
          <p:nvPr/>
        </p:nvSpPr>
        <p:spPr>
          <a:xfrm>
            <a:off x="777240" y="1709928"/>
            <a:ext cx="685800" cy="685800"/>
          </a:xfrm>
          <a:prstGeom prst="ellipse">
            <a:avLst/>
          </a:prstGeom>
          <a:solidFill>
            <a:schemeClr val="accent2"/>
          </a:solidFill>
          <a:ln/>
        </p:spPr>
      </p:sp>
      <p:pic>
        <p:nvPicPr>
          <p:cNvPr id="7" name="Immediate control icon" descr="Immediate control icon">    </p:cNvPr>
          <p:cNvPicPr>
            <a:picLocks noChangeAspect="1"/>
          </p:cNvPicPr>
          <p:nvPr/>
        </p:nvPicPr>
        <p:blipFill>
          <a:blip r:embed="rId1"/>
          <a:stretch>
            <a:fillRect/>
          </a:stretch>
        </p:blipFill>
        <p:spPr>
          <a:xfrm>
            <a:off x="941832" y="1874520"/>
            <a:ext cx="356616" cy="356616"/>
          </a:xfrm>
          <a:prstGeom prst="rect">
            <a:avLst/>
          </a:prstGeom>
        </p:spPr>
      </p:pic>
      <p:sp>
        <p:nvSpPr>
          <p:cNvPr id="8" name="Text 5"/>
          <p:cNvSpPr txBox="1"/>
          <p:nvPr/>
        </p:nvSpPr>
        <p:spPr>
          <a:xfrm>
            <a:off x="164592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Immediate control</a:t>
            </a:r>
            <a:endParaRPr lang="en-US" sz="1350" dirty="0"/>
          </a:p>
          <a:p>
            <a:pPr indent="0" marL="0">
              <a:buNone/>
            </a:pPr>
            <a:r>
              <a:rPr lang="en-US" sz="1350" dirty="0">
                <a:solidFill>
                  <a:schemeClr val="tx1"/>
                </a:solidFill>
              </a:rPr>
              <a:t>Test everyone, not just sick people, because 3 in 4 infected sailors had no symptoms when tested</a:t>
            </a:r>
            <a:r>
              <a:rPr lang="en-US" sz="1350" baseline="30000" dirty="0">
                <a:solidFill>
                  <a:schemeClr val="tx1"/>
                </a:solidFill>
              </a:rPr>
              <a:t>1</a:t>
            </a:r>
            <a:r>
              <a:rPr lang="en-US" sz="1350" dirty="0">
                <a:solidFill>
                  <a:schemeClr val="tx1"/>
                </a:solidFill>
              </a:rPr>
              <a:t>. Separate cases right away.</a:t>
            </a:r>
            <a:endParaRPr lang="en-US" sz="1350" dirty="0"/>
          </a:p>
        </p:txBody>
      </p:sp>
      <p:sp>
        <p:nvSpPr>
          <p:cNvPr id="9" name="Prevention card"/>
          <p:cNvSpPr/>
          <p:nvPr/>
        </p:nvSpPr>
        <p:spPr>
          <a:xfrm>
            <a:off x="548640" y="2971800"/>
            <a:ext cx="5394960" cy="1463040"/>
          </a:xfrm>
          <a:prstGeom prst="roundRect">
            <a:avLst>
              <a:gd name="adj" fmla="val 7500"/>
            </a:avLst>
          </a:prstGeom>
          <a:solidFill>
            <a:schemeClr val="bg2"/>
          </a:solidFill>
          <a:ln/>
        </p:spPr>
      </p:sp>
      <p:sp>
        <p:nvSpPr>
          <p:cNvPr id="10" name="Prevention icon circle"/>
          <p:cNvSpPr/>
          <p:nvPr/>
        </p:nvSpPr>
        <p:spPr>
          <a:xfrm>
            <a:off x="777240" y="3355848"/>
            <a:ext cx="685800" cy="685800"/>
          </a:xfrm>
          <a:prstGeom prst="ellipse">
            <a:avLst/>
          </a:prstGeom>
          <a:solidFill>
            <a:schemeClr val="accent1"/>
          </a:solidFill>
          <a:ln/>
        </p:spPr>
      </p:sp>
      <p:pic>
        <p:nvPicPr>
          <p:cNvPr id="11" name="Prevention icon" descr="Prevention icon">    </p:cNvPr>
          <p:cNvPicPr>
            <a:picLocks noChangeAspect="1"/>
          </p:cNvPicPr>
          <p:nvPr/>
        </p:nvPicPr>
        <p:blipFill>
          <a:blip r:embed="rId2"/>
          <a:stretch>
            <a:fillRect/>
          </a:stretch>
        </p:blipFill>
        <p:spPr>
          <a:xfrm>
            <a:off x="941832" y="3520440"/>
            <a:ext cx="356616" cy="356616"/>
          </a:xfrm>
          <a:prstGeom prst="rect">
            <a:avLst/>
          </a:prstGeom>
        </p:spPr>
      </p:pic>
      <p:sp>
        <p:nvSpPr>
          <p:cNvPr id="12" name="Text 8"/>
          <p:cNvSpPr txBox="1"/>
          <p:nvPr/>
        </p:nvSpPr>
        <p:spPr>
          <a:xfrm>
            <a:off x="164592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Prevention</a:t>
            </a:r>
            <a:endParaRPr lang="en-US" sz="1350" dirty="0"/>
          </a:p>
          <a:p>
            <a:pPr indent="0" marL="0">
              <a:buNone/>
            </a:pPr>
            <a:r>
              <a:rPr lang="en-US" sz="1350" dirty="0">
                <a:solidFill>
                  <a:schemeClr val="tx1"/>
                </a:solidFill>
              </a:rPr>
              <a:t>Quarantine and test before deploying</a:t>
            </a:r>
            <a:r>
              <a:rPr lang="en-US" sz="1350" baseline="30000" dirty="0">
                <a:solidFill>
                  <a:schemeClr val="tx1"/>
                </a:solidFill>
              </a:rPr>
              <a:t>1</a:t>
            </a:r>
            <a:r>
              <a:rPr lang="en-US" sz="1350" dirty="0">
                <a:solidFill>
                  <a:schemeClr val="tx1"/>
                </a:solidFill>
              </a:rPr>
              <a:t>. Masks, small groups and better air flow in enclosed spaces (about 2.6 times the risk).</a:t>
            </a:r>
            <a:endParaRPr lang="en-US" sz="1350" dirty="0"/>
          </a:p>
        </p:txBody>
      </p:sp>
      <p:sp>
        <p:nvSpPr>
          <p:cNvPr id="13" name="Surveillance card"/>
          <p:cNvSpPr/>
          <p:nvPr/>
        </p:nvSpPr>
        <p:spPr>
          <a:xfrm>
            <a:off x="548640" y="4617720"/>
            <a:ext cx="5394960" cy="1463040"/>
          </a:xfrm>
          <a:prstGeom prst="roundRect">
            <a:avLst>
              <a:gd name="adj" fmla="val 7500"/>
            </a:avLst>
          </a:prstGeom>
          <a:solidFill>
            <a:schemeClr val="bg2"/>
          </a:solidFill>
          <a:ln/>
        </p:spPr>
      </p:sp>
      <p:sp>
        <p:nvSpPr>
          <p:cNvPr id="14" name="Surveillance icon circle"/>
          <p:cNvSpPr/>
          <p:nvPr/>
        </p:nvSpPr>
        <p:spPr>
          <a:xfrm>
            <a:off x="777240" y="5001768"/>
            <a:ext cx="685800" cy="685800"/>
          </a:xfrm>
          <a:prstGeom prst="ellipse">
            <a:avLst/>
          </a:prstGeom>
          <a:solidFill>
            <a:schemeClr val="accent1"/>
          </a:solidFill>
          <a:ln/>
        </p:spPr>
      </p:sp>
      <p:pic>
        <p:nvPicPr>
          <p:cNvPr id="15" name="Surveillance icon" descr="Surveillance icon">    </p:cNvPr>
          <p:cNvPicPr>
            <a:picLocks noChangeAspect="1"/>
          </p:cNvPicPr>
          <p:nvPr/>
        </p:nvPicPr>
        <p:blipFill>
          <a:blip r:embed="rId3"/>
          <a:stretch>
            <a:fillRect/>
          </a:stretch>
        </p:blipFill>
        <p:spPr>
          <a:xfrm>
            <a:off x="941832" y="5166360"/>
            <a:ext cx="356616" cy="356616"/>
          </a:xfrm>
          <a:prstGeom prst="rect">
            <a:avLst/>
          </a:prstGeom>
        </p:spPr>
      </p:pic>
      <p:sp>
        <p:nvSpPr>
          <p:cNvPr id="16" name="Text 11"/>
          <p:cNvSpPr txBox="1"/>
          <p:nvPr/>
        </p:nvSpPr>
        <p:spPr>
          <a:xfrm>
            <a:off x="1645920" y="470916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Surveillance</a:t>
            </a:r>
            <a:endParaRPr lang="en-US" sz="1350" dirty="0"/>
          </a:p>
          <a:p>
            <a:pPr indent="0" marL="0">
              <a:buNone/>
            </a:pPr>
            <a:r>
              <a:rPr lang="en-US" sz="1350" dirty="0">
                <a:solidFill>
                  <a:schemeClr val="tx1"/>
                </a:solidFill>
              </a:rPr>
              <a:t>Test regularly at sea. Don't rely on temperature checks: only about 1 in 8 sick sailors had a fever</a:t>
            </a:r>
            <a:r>
              <a:rPr lang="en-US" sz="1350" baseline="30000" dirty="0">
                <a:solidFill>
                  <a:schemeClr val="tx1"/>
                </a:solidFill>
              </a:rPr>
              <a:t>1</a:t>
            </a:r>
            <a:r>
              <a:rPr lang="en-US" sz="1350" dirty="0">
                <a:solidFill>
                  <a:schemeClr val="tx1"/>
                </a:solidFill>
              </a:rPr>
              <a:t>.</a:t>
            </a:r>
            <a:endParaRPr lang="en-US" sz="1350" dirty="0"/>
          </a:p>
        </p:txBody>
      </p:sp>
      <p:sp>
        <p:nvSpPr>
          <p:cNvPr id="17" name="Communication card"/>
          <p:cNvSpPr/>
          <p:nvPr/>
        </p:nvSpPr>
        <p:spPr>
          <a:xfrm>
            <a:off x="6217920" y="1325880"/>
            <a:ext cx="5394960" cy="1463040"/>
          </a:xfrm>
          <a:prstGeom prst="roundRect">
            <a:avLst>
              <a:gd name="adj" fmla="val 7500"/>
            </a:avLst>
          </a:prstGeom>
          <a:solidFill>
            <a:schemeClr val="bg2"/>
          </a:solidFill>
          <a:ln/>
        </p:spPr>
      </p:sp>
      <p:sp>
        <p:nvSpPr>
          <p:cNvPr id="18" name="Communication icon circle"/>
          <p:cNvSpPr/>
          <p:nvPr/>
        </p:nvSpPr>
        <p:spPr>
          <a:xfrm>
            <a:off x="6446520" y="1709928"/>
            <a:ext cx="685800" cy="685800"/>
          </a:xfrm>
          <a:prstGeom prst="ellipse">
            <a:avLst/>
          </a:prstGeom>
          <a:solidFill>
            <a:schemeClr val="accent1"/>
          </a:solidFill>
          <a:ln/>
        </p:spPr>
      </p:sp>
      <p:pic>
        <p:nvPicPr>
          <p:cNvPr id="19" name="Communication icon" descr="Communication icon">    </p:cNvPr>
          <p:cNvPicPr>
            <a:picLocks noChangeAspect="1"/>
          </p:cNvPicPr>
          <p:nvPr/>
        </p:nvPicPr>
        <p:blipFill>
          <a:blip r:embed="rId4"/>
          <a:stretch>
            <a:fillRect/>
          </a:stretch>
        </p:blipFill>
        <p:spPr>
          <a:xfrm>
            <a:off x="6611112" y="1874520"/>
            <a:ext cx="356616" cy="356616"/>
          </a:xfrm>
          <a:prstGeom prst="rect">
            <a:avLst/>
          </a:prstGeom>
        </p:spPr>
      </p:pic>
      <p:sp>
        <p:nvSpPr>
          <p:cNvPr id="20" name="Text 14"/>
          <p:cNvSpPr txBox="1"/>
          <p:nvPr/>
        </p:nvSpPr>
        <p:spPr>
          <a:xfrm>
            <a:off x="731520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Communication</a:t>
            </a:r>
            <a:endParaRPr lang="en-US" sz="1350" dirty="0"/>
          </a:p>
          <a:p>
            <a:pPr indent="0" marL="0">
              <a:buNone/>
            </a:pPr>
            <a:r>
              <a:rPr lang="en-US" sz="1350" dirty="0">
                <a:solidFill>
                  <a:schemeClr val="tx1"/>
                </a:solidFill>
              </a:rPr>
              <a:t>Tell crews that feeling well does not mean you are not infected. Teach common symptoms: headache, cough, changed taste or smell</a:t>
            </a:r>
            <a:r>
              <a:rPr lang="en-US" sz="1350" baseline="30000" dirty="0">
                <a:solidFill>
                  <a:schemeClr val="tx1"/>
                </a:solidFill>
              </a:rPr>
              <a:t>1</a:t>
            </a:r>
            <a:r>
              <a:rPr lang="en-US" sz="1350" dirty="0">
                <a:solidFill>
                  <a:schemeClr val="tx1"/>
                </a:solidFill>
              </a:rPr>
              <a:t>.</a:t>
            </a:r>
            <a:endParaRPr lang="en-US" sz="1350" dirty="0"/>
          </a:p>
        </p:txBody>
      </p:sp>
      <p:sp>
        <p:nvSpPr>
          <p:cNvPr id="21" name="Future investigations card"/>
          <p:cNvSpPr/>
          <p:nvPr/>
        </p:nvSpPr>
        <p:spPr>
          <a:xfrm>
            <a:off x="6217920" y="2971800"/>
            <a:ext cx="5394960" cy="1463040"/>
          </a:xfrm>
          <a:prstGeom prst="roundRect">
            <a:avLst>
              <a:gd name="adj" fmla="val 7500"/>
            </a:avLst>
          </a:prstGeom>
          <a:solidFill>
            <a:schemeClr val="bg2"/>
          </a:solidFill>
          <a:ln/>
        </p:spPr>
      </p:sp>
      <p:sp>
        <p:nvSpPr>
          <p:cNvPr id="22" name="Future investigations icon circle"/>
          <p:cNvSpPr/>
          <p:nvPr/>
        </p:nvSpPr>
        <p:spPr>
          <a:xfrm>
            <a:off x="6446520" y="3355848"/>
            <a:ext cx="685800" cy="685800"/>
          </a:xfrm>
          <a:prstGeom prst="ellipse">
            <a:avLst/>
          </a:prstGeom>
          <a:solidFill>
            <a:schemeClr val="accent1"/>
          </a:solidFill>
          <a:ln/>
        </p:spPr>
      </p:sp>
      <p:pic>
        <p:nvPicPr>
          <p:cNvPr id="23" name="Future investigations icon" descr="Future investigations icon">    </p:cNvPr>
          <p:cNvPicPr>
            <a:picLocks noChangeAspect="1"/>
          </p:cNvPicPr>
          <p:nvPr/>
        </p:nvPicPr>
        <p:blipFill>
          <a:blip r:embed="rId5"/>
          <a:stretch>
            <a:fillRect/>
          </a:stretch>
        </p:blipFill>
        <p:spPr>
          <a:xfrm>
            <a:off x="6611112" y="3520440"/>
            <a:ext cx="356616" cy="356616"/>
          </a:xfrm>
          <a:prstGeom prst="rect">
            <a:avLst/>
          </a:prstGeom>
        </p:spPr>
      </p:pic>
      <p:sp>
        <p:nvSpPr>
          <p:cNvPr id="24" name="Text 17"/>
          <p:cNvSpPr txBox="1"/>
          <p:nvPr/>
        </p:nvSpPr>
        <p:spPr>
          <a:xfrm>
            <a:off x="731520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Future investigations</a:t>
            </a:r>
            <a:endParaRPr lang="en-US" sz="1350" dirty="0"/>
          </a:p>
          <a:p>
            <a:pPr indent="0" marL="0">
              <a:buNone/>
            </a:pPr>
            <a:r>
              <a:rPr lang="en-US" sz="1350" dirty="0">
                <a:solidFill>
                  <a:schemeClr val="tx1"/>
                </a:solidFill>
              </a:rPr>
              <a:t>Sequence the virus to see who infected whom, measure air flow, and adjust for other factors when comparing groups.</a:t>
            </a:r>
            <a:endParaRPr lang="en-US" sz="1350" dirty="0"/>
          </a:p>
        </p:txBody>
      </p:sp>
      <p:sp>
        <p:nvSpPr>
          <p:cNvPr id="25" name="navy outcome"/>
          <p:cNvSpPr/>
          <p:nvPr/>
        </p:nvSpPr>
        <p:spPr>
          <a:xfrm>
            <a:off x="6217920" y="4617720"/>
            <a:ext cx="5394960" cy="1463040"/>
          </a:xfrm>
          <a:prstGeom prst="roundRect">
            <a:avLst>
              <a:gd name="adj" fmla="val 7500"/>
            </a:avLst>
          </a:prstGeom>
          <a:solidFill>
            <a:schemeClr val="tx2"/>
          </a:solidFill>
          <a:ln/>
        </p:spPr>
      </p:sp>
      <p:sp>
        <p:nvSpPr>
          <p:cNvPr id="26" name="Text 19"/>
          <p:cNvSpPr txBox="1"/>
          <p:nvPr/>
        </p:nvSpPr>
        <p:spPr>
          <a:xfrm>
            <a:off x="6446520" y="4709160"/>
            <a:ext cx="4937760" cy="1280160"/>
          </a:xfrm>
          <a:prstGeom prst="rect">
            <a:avLst/>
          </a:prstGeom>
          <a:noFill/>
          <a:ln/>
        </p:spPr>
        <p:txBody>
          <a:bodyPr wrap="square" lIns="635" tIns="635" rIns="635" bIns="635" rtlCol="0" anchor="ctr"/>
          <a:lstStyle/>
          <a:p>
            <a:pPr indent="0" marL="0">
              <a:buNone/>
            </a:pPr>
            <a:r>
              <a:rPr lang="en-US" sz="1400" b="1" dirty="0">
                <a:solidFill>
                  <a:schemeClr val="accent4"/>
                </a:solidFill>
              </a:rPr>
              <a:t>Navy experience: </a:t>
            </a:r>
            <a:r>
              <a:rPr lang="en-US" sz="1400" dirty="0">
                <a:solidFill>
                  <a:schemeClr val="bg1"/>
                </a:solidFill>
              </a:rPr>
              <a:t>after adding pre-deployment restriction of movement with exit PCR, cutting shore leave at foreign ports, and enforcing masks, distancing and cohorting, the Navy deployed multiple ships without another serious outbreak.</a:t>
            </a:r>
            <a:r>
              <a:rPr lang="en-US" sz="1400" baseline="30000" dirty="0">
                <a:solidFill>
                  <a:schemeClr val="bg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Conclusion</a:t>
            </a:r>
            <a:endParaRPr lang="en-US" sz="3600" dirty="0"/>
          </a:p>
        </p:txBody>
      </p:sp>
      <p:sp>
        <p:nvSpPr>
          <p:cNvPr id="3" name="Text 1"/>
          <p:cNvSpPr txBox="1"/>
          <p:nvPr/>
        </p:nvSpPr>
        <p:spPr>
          <a:xfrm>
            <a:off x="731520" y="1417320"/>
            <a:ext cx="237744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3108960" y="1417320"/>
            <a:ext cx="8321040" cy="594360"/>
          </a:xfrm>
          <a:prstGeom prst="rect">
            <a:avLst/>
          </a:prstGeom>
          <a:noFill/>
          <a:ln/>
        </p:spPr>
        <p:txBody>
          <a:bodyPr wrap="square" lIns="635" tIns="635" rIns="635" bIns="635" rtlCol="0" anchor="ctr"/>
          <a:lstStyle/>
          <a:p>
            <a:pPr indent="0" marL="0">
              <a:buNone/>
            </a:pPr>
            <a:r>
              <a:rPr lang="en-US" sz="1700" dirty="0">
                <a:solidFill>
                  <a:schemeClr val="bg1"/>
                </a:solidFill>
              </a:rPr>
              <a:t>Covid-19 infected about 1 in 4 of the 4,779 sailors on a carrier in 8 weeks</a:t>
            </a:r>
            <a:r>
              <a:rPr lang="en-US" sz="1700" baseline="30000" dirty="0">
                <a:solidFill>
                  <a:schemeClr val="bg1"/>
                </a:solidFill>
              </a:rPr>
              <a:t>1</a:t>
            </a:r>
            <a:endParaRPr lang="en-US" sz="1700" dirty="0"/>
          </a:p>
        </p:txBody>
      </p:sp>
      <p:sp>
        <p:nvSpPr>
          <p:cNvPr id="5" name="Text 3"/>
          <p:cNvSpPr txBox="1"/>
          <p:nvPr/>
        </p:nvSpPr>
        <p:spPr>
          <a:xfrm>
            <a:off x="731520" y="2130552"/>
            <a:ext cx="237744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 and where</a:t>
            </a:r>
            <a:endParaRPr lang="en-US" sz="1700" dirty="0"/>
          </a:p>
        </p:txBody>
      </p:sp>
      <p:sp>
        <p:nvSpPr>
          <p:cNvPr id="6" name="Text 4"/>
          <p:cNvSpPr txBox="1"/>
          <p:nvPr/>
        </p:nvSpPr>
        <p:spPr>
          <a:xfrm>
            <a:off x="3108960" y="2130552"/>
            <a:ext cx="832104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crews and small, enclosed workplaces had higher rates</a:t>
            </a:r>
            <a:r>
              <a:rPr lang="en-US" sz="1700" baseline="30000" dirty="0">
                <a:solidFill>
                  <a:schemeClr val="bg1"/>
                </a:solidFill>
              </a:rPr>
              <a:t>1</a:t>
            </a:r>
            <a:endParaRPr lang="en-US" sz="1700" dirty="0"/>
          </a:p>
        </p:txBody>
      </p:sp>
      <p:sp>
        <p:nvSpPr>
          <p:cNvPr id="7" name="Text 5"/>
          <p:cNvSpPr txBox="1"/>
          <p:nvPr/>
        </p:nvSpPr>
        <p:spPr>
          <a:xfrm>
            <a:off x="731520" y="2843784"/>
            <a:ext cx="237744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 it spread</a:t>
            </a:r>
            <a:endParaRPr lang="en-US" sz="1700" dirty="0"/>
          </a:p>
        </p:txBody>
      </p:sp>
      <p:sp>
        <p:nvSpPr>
          <p:cNvPr id="8" name="Text 6"/>
          <p:cNvSpPr txBox="1"/>
          <p:nvPr/>
        </p:nvSpPr>
        <p:spPr>
          <a:xfrm>
            <a:off x="3108960" y="2843784"/>
            <a:ext cx="8321040" cy="594360"/>
          </a:xfrm>
          <a:prstGeom prst="rect">
            <a:avLst/>
          </a:prstGeom>
          <a:noFill/>
          <a:ln/>
        </p:spPr>
        <p:txBody>
          <a:bodyPr wrap="square" lIns="635" tIns="635" rIns="635" bIns="635" rtlCol="0" anchor="ctr"/>
          <a:lstStyle/>
          <a:p>
            <a:pPr indent="0" marL="0">
              <a:buNone/>
            </a:pPr>
            <a:r>
              <a:rPr lang="en-US" sz="1700" dirty="0">
                <a:solidFill>
                  <a:schemeClr val="bg1"/>
                </a:solidFill>
              </a:rPr>
              <a:t>Person to person in close quarters, helped by sailors who felt fine</a:t>
            </a:r>
            <a:r>
              <a:rPr lang="en-US" sz="1700" baseline="30000" dirty="0">
                <a:solidFill>
                  <a:schemeClr val="bg1"/>
                </a:solidFill>
              </a:rPr>
              <a:t>1</a:t>
            </a:r>
            <a:endParaRPr lang="en-US" sz="1700" dirty="0"/>
          </a:p>
        </p:txBody>
      </p:sp>
      <p:sp>
        <p:nvSpPr>
          <p:cNvPr id="9" name="Text 7"/>
          <p:cNvSpPr txBox="1"/>
          <p:nvPr/>
        </p:nvSpPr>
        <p:spPr>
          <a:xfrm>
            <a:off x="731520" y="3557016"/>
            <a:ext cx="2377440" cy="594360"/>
          </a:xfrm>
          <a:prstGeom prst="rect">
            <a:avLst/>
          </a:prstGeom>
          <a:noFill/>
          <a:ln/>
        </p:spPr>
        <p:txBody>
          <a:bodyPr wrap="square" lIns="635" tIns="635" rIns="635" bIns="635" rtlCol="0" anchor="ctr"/>
          <a:lstStyle/>
          <a:p>
            <a:pPr indent="0" marL="0">
              <a:buNone/>
            </a:pPr>
            <a:r>
              <a:rPr lang="en-US" sz="1700" b="1" dirty="0">
                <a:solidFill>
                  <a:schemeClr val="accent4"/>
                </a:solidFill>
              </a:rPr>
              <a:t>Key finding</a:t>
            </a:r>
            <a:endParaRPr lang="en-US" sz="1700" dirty="0"/>
          </a:p>
        </p:txBody>
      </p:sp>
      <p:sp>
        <p:nvSpPr>
          <p:cNvPr id="10" name="Text 8"/>
          <p:cNvSpPr txBox="1"/>
          <p:nvPr/>
        </p:nvSpPr>
        <p:spPr>
          <a:xfrm>
            <a:off x="3108960" y="3557016"/>
            <a:ext cx="8321040" cy="594360"/>
          </a:xfrm>
          <a:prstGeom prst="rect">
            <a:avLst/>
          </a:prstGeom>
          <a:noFill/>
          <a:ln/>
        </p:spPr>
        <p:txBody>
          <a:bodyPr wrap="square" lIns="635" tIns="635" rIns="635" bIns="635" rtlCol="0" anchor="ctr"/>
          <a:lstStyle/>
          <a:p>
            <a:pPr indent="0" marL="0">
              <a:buNone/>
            </a:pPr>
            <a:r>
              <a:rPr lang="en-US" sz="1700" dirty="0">
                <a:solidFill>
                  <a:schemeClr val="bg1"/>
                </a:solidFill>
              </a:rPr>
              <a:t>3 in 4 infected sailors felt fine when they tested positive</a:t>
            </a:r>
            <a:r>
              <a:rPr lang="en-US" sz="1700" baseline="30000" dirty="0">
                <a:solidFill>
                  <a:schemeClr val="bg1"/>
                </a:solidFill>
              </a:rPr>
              <a:t>1</a:t>
            </a:r>
            <a:endParaRPr lang="en-US" sz="1700" dirty="0"/>
          </a:p>
        </p:txBody>
      </p:sp>
      <p:sp>
        <p:nvSpPr>
          <p:cNvPr id="11" name="Text 9"/>
          <p:cNvSpPr txBox="1"/>
          <p:nvPr/>
        </p:nvSpPr>
        <p:spPr>
          <a:xfrm>
            <a:off x="731520" y="4270248"/>
            <a:ext cx="237744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now</a:t>
            </a:r>
            <a:endParaRPr lang="en-US" sz="1700" dirty="0"/>
          </a:p>
        </p:txBody>
      </p:sp>
      <p:sp>
        <p:nvSpPr>
          <p:cNvPr id="12" name="Text 10"/>
          <p:cNvSpPr txBox="1"/>
          <p:nvPr/>
        </p:nvSpPr>
        <p:spPr>
          <a:xfrm>
            <a:off x="3108960" y="4270248"/>
            <a:ext cx="8321040" cy="594360"/>
          </a:xfrm>
          <a:prstGeom prst="rect">
            <a:avLst/>
          </a:prstGeom>
          <a:noFill/>
          <a:ln/>
        </p:spPr>
        <p:txBody>
          <a:bodyPr wrap="square" lIns="635" tIns="635" rIns="635" bIns="635" rtlCol="0" anchor="ctr"/>
          <a:lstStyle/>
          <a:p>
            <a:pPr indent="0" marL="0">
              <a:buNone/>
            </a:pPr>
            <a:r>
              <a:rPr lang="en-US" sz="1700" dirty="0">
                <a:solidFill>
                  <a:schemeClr val="bg1"/>
                </a:solidFill>
              </a:rPr>
              <a:t>Test everyone early, reduce crowding, and don't wait for symptoms</a:t>
            </a:r>
            <a:r>
              <a:rPr lang="en-US" sz="1700" baseline="30000" dirty="0">
                <a:solidFill>
                  <a:schemeClr val="bg1"/>
                </a:solidFill>
              </a:rPr>
              <a:t>1</a:t>
            </a:r>
            <a:endParaRPr lang="en-US" sz="1700" dirty="0"/>
          </a:p>
        </p:txBody>
      </p:sp>
      <p:sp>
        <p:nvSpPr>
          <p:cNvPr id="13" name="lesson panel"/>
          <p:cNvSpPr/>
          <p:nvPr/>
        </p:nvSpPr>
        <p:spPr>
          <a:xfrm>
            <a:off x="731520" y="5120640"/>
            <a:ext cx="10698480" cy="1143000"/>
          </a:xfrm>
          <a:prstGeom prst="roundRect">
            <a:avLst>
              <a:gd name="adj" fmla="val 9600"/>
            </a:avLst>
          </a:prstGeom>
          <a:solidFill>
            <a:schemeClr val="accent5"/>
          </a:solidFill>
          <a:ln/>
        </p:spPr>
      </p:sp>
      <p:sp>
        <p:nvSpPr>
          <p:cNvPr id="14" name="Text 12"/>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800" b="1" dirty="0">
                <a:solidFill>
                  <a:schemeClr val="accent4"/>
                </a:solidFill>
              </a:rPr>
              <a:t>Lesson for public health: </a:t>
            </a:r>
            <a:r>
              <a:rPr lang="en-US" sz="1800" dirty="0">
                <a:solidFill>
                  <a:schemeClr val="bg1"/>
                </a:solidFill>
              </a:rPr>
              <a:t>in any crowded setting, assume the virus may already be there and spreading silently.</a:t>
            </a:r>
            <a:r>
              <a:rPr lang="en-US" sz="1800" baseline="30000" dirty="0">
                <a:solidFill>
                  <a:schemeClr val="bg1"/>
                </a:solidFill>
              </a:rPr>
              <a:t>1</a:t>
            </a:r>
            <a:r>
              <a:rPr lang="en-US" sz="1800" dirty="0">
                <a:solidFill>
                  <a:schemeClr val="bg1"/>
                </a:solidFill>
              </a:rPr>
              <a:t> Test early; don't wait for symptoms.</a:t>
            </a:r>
            <a:endParaRPr lang="en-US" sz="1800" dirty="0"/>
          </a:p>
        </p:txBody>
      </p:sp>
      <p:sp>
        <p:nvSpPr>
          <p:cNvPr id="15" name="Text 13"/>
          <p:cNvSpPr txBox="1"/>
          <p:nvPr/>
        </p:nvSpPr>
        <p:spPr>
          <a:xfrm>
            <a:off x="731520" y="6355080"/>
            <a:ext cx="10058400" cy="320040"/>
          </a:xfrm>
          <a:prstGeom prst="rect">
            <a:avLst/>
          </a:prstGeom>
          <a:noFill/>
          <a:ln/>
        </p:spPr>
        <p:txBody>
          <a:bodyPr wrap="square" lIns="0" tIns="0" rIns="0" bIns="0" rtlCol="0" anchor="ctr"/>
          <a:lstStyle/>
          <a:p>
            <a:pPr indent="0" marL="0">
              <a:buNone/>
            </a:pPr>
            <a:r>
              <a:rPr lang="en-US" sz="1000" i="1" dirty="0">
                <a:solidFill>
                  <a:schemeClr val="accent3"/>
                </a:solidFill>
              </a:rPr>
              <a:t>1. Kasper MR, et al. N Engl J Med. 2020.</a:t>
            </a:r>
            <a:endParaRPr lang="en-US" sz="1000" dirty="0"/>
          </a:p>
        </p:txBody>
      </p:sp>
      <p:sp>
        <p:nvSpPr>
          <p:cNvPr id="17"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8"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a:t>
            </a:r>
            <a:r>
              <a:rPr lang="en-US" sz="1500" i="1" dirty="0">
                <a:solidFill>
                  <a:schemeClr val="tx1"/>
                </a:solidFill>
              </a:rPr>
              <a:t>N Engl J Med</a:t>
            </a:r>
            <a:r>
              <a:rPr lang="en-US" sz="1500" dirty="0">
                <a:solidFill>
                  <a:schemeClr val="tx1"/>
                </a:solidFill>
              </a:rPr>
              <a:t>.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a:t>
            </a:r>
            <a:r>
              <a:rPr lang="en-US" sz="1500" i="1" dirty="0">
                <a:solidFill>
                  <a:schemeClr val="tx1"/>
                </a:solidFill>
              </a:rPr>
              <a:t>Nat Rev Microbiol</a:t>
            </a:r>
            <a:r>
              <a:rPr lang="en-US" sz="1500" dirty="0">
                <a:solidFill>
                  <a:schemeClr val="tx1"/>
                </a:solidFill>
              </a:rPr>
              <a:t>.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t>
            </a:r>
            <a:r>
              <a:rPr lang="en-US" sz="1500" i="1" dirty="0">
                <a:solidFill>
                  <a:schemeClr val="tx1"/>
                </a:solidFill>
              </a:rPr>
              <a:t>Ann Intern Med</a:t>
            </a:r>
            <a:r>
              <a:rPr lang="en-US" sz="1500" dirty="0">
                <a:solidFill>
                  <a:schemeClr val="tx1"/>
                </a:solidFill>
              </a:rPr>
              <a:t>.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a:t>
            </a:r>
            <a:r>
              <a:rPr lang="en-US" sz="1500" i="1" dirty="0">
                <a:solidFill>
                  <a:schemeClr val="tx1"/>
                </a:solidFill>
              </a:rPr>
              <a:t>Nat Med</a:t>
            </a:r>
            <a:r>
              <a:rPr lang="en-US" sz="1500" dirty="0">
                <a:solidFill>
                  <a:schemeClr val="tx1"/>
                </a:solidFill>
              </a:rPr>
              <a:t>. 2020;26(5):672-675. doi:10.1038/s41591-020-0869-5. Published correction appears in </a:t>
            </a:r>
            <a:r>
              <a:rPr lang="en-US" sz="1500" i="1" dirty="0">
                <a:solidFill>
                  <a:schemeClr val="tx1"/>
                </a:solidFill>
              </a:rPr>
              <a:t>Nat Med</a:t>
            </a:r>
            <a:r>
              <a:rPr lang="en-US" sz="1500" dirty="0">
                <a:solidFill>
                  <a:schemeClr val="tx1"/>
                </a:solidFill>
              </a:rPr>
              <a:t>. 2020;26(9):1491-1493.</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CDC COVID-19 Surge Laboratory Group. SARS-CoV-2 infections and serologic responses from a sample of U.S. Navy service members — USS Theodore Roosevelt, April 2020. </a:t>
            </a:r>
            <a:r>
              <a:rPr lang="en-US" sz="1500" i="1" dirty="0">
                <a:solidFill>
                  <a:schemeClr val="tx1"/>
                </a:solidFill>
              </a:rPr>
              <a:t>MMWR Morb Mortal Wkly Rep</a:t>
            </a:r>
            <a:r>
              <a:rPr lang="en-US" sz="1500" dirty="0">
                <a:solidFill>
                  <a:schemeClr val="tx1"/>
                </a:solidFill>
              </a:rPr>
              <a:t>. 2020;69(23):714-721. doi:10.15585/mmwr.mm6923e4</a:t>
            </a:r>
            <a:endParaRPr lang="en-US" sz="1500" dirty="0"/>
          </a:p>
        </p:txBody>
      </p:sp>
      <p:sp>
        <p:nvSpPr>
          <p:cNvPr id="4"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endParaRPr lang="en-US" sz="1100" dirty="0"/>
          </a:p>
        </p:txBody>
      </p:sp>
      <p:sp>
        <p:nvSpPr>
          <p:cNvPr id="5"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2026-10-13T05:44:07Z</dcterms:created>
  <dcterms:modified xsi:type="dcterms:W3CDTF">2026-10-13T05:44:07Z</dcterms:modified>
</cp:coreProperties>
</file>