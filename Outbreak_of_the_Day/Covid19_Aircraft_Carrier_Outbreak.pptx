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6e27bc1c-f6c7-ea93-391a-71963bcca807}">
          <p14:sldIdLst>
            <p14:sldId id="256"/>
          </p14:sldIdLst>
        </p14:section>
        <p14:section name="Roadmap" id="{fe7c2552-27d3-5364-d207-48e48f07f1f1}">
          <p14:sldIdLst>
            <p14:sldId id="257"/>
          </p14:sldIdLst>
        </p14:section>
        <p14:section name="1 · What happened, and what caused it?" id="{0b163aff-8277-0008-f36c-8f238de3072c}">
          <p14:sldIdLst>
            <p14:sldId id="258"/>
            <p14:sldId id="259"/>
            <p14:sldId id="260"/>
            <p14:sldId id="261"/>
            <p14:sldId id="262"/>
          </p14:sldIdLst>
        </p14:section>
        <p14:section name="2 · How did investigators find the cases?" id="{987c9d3f-57a7-5780-f909-6b781e063367}">
          <p14:sldIdLst>
            <p14:sldId id="263"/>
            <p14:sldId id="264"/>
            <p14:sldId id="265"/>
          </p14:sldIdLst>
        </p14:section>
        <p14:section name="3 · Who, where and when?" id="{c611d8cc-97ef-0749-684f-36bb368c00ad}">
          <p14:sldIdLst>
            <p14:sldId id="266"/>
            <p14:sldId id="267"/>
            <p14:sldId id="268"/>
            <p14:sldId id="269"/>
          </p14:sldIdLst>
        </p14:section>
        <p14:section name="4 · How did it spread, and how sure are we?" id="{cf8e21b1-e99e-654f-3263-9749f287a86b}">
          <p14:sldIdLst>
            <p14:sldId id="270"/>
            <p14:sldId id="271"/>
            <p14:sldId id="272"/>
          </p14:sldIdLst>
        </p14:section>
        <p14:section name="5 · What was done, and what next?" id="{506f31c0-ca87-f417-43de-4e0518f17a0e}">
          <p14:sldIdLst>
            <p14:sldId id="273"/>
            <p14:sldId id="274"/>
          </p14:sldIdLst>
        </p14:section>
        <p14:section name="Conclusion" id="{840b0d62-d295-c573-6266-0e9b2af97c6c}">
          <p14:sldIdLst>
            <p14:sldId id="275"/>
          </p14:sldIdLst>
        </p14:section>
        <p14:section name="References" id="{7ba5d393-21fb-5905-0de8-537333c612e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The four most common symptoms, and fever (% of 759 sailors with symptoms)¹</a:t>
            </a:r>
          </a:p>
        </c:rich>
      </c:tx>
      <c:layout/>
      <c:overlay val="0"/>
    </c:title>
    <c:autoTitleDeleted val="0"/>
    <c:plotArea>
      <c:layout/>
      <c:barChart>
        <c:barDir val="bar"/>
        <c:grouping val="stacked"/>
        <c:varyColors val="0"/>
        <c:ser>
          <c:idx val="0"/>
          <c:order val="0"/>
          <c:tx>
            <c:strRef>
              <c:f>Sheet1!$B$1</c:f>
              <c:strCache>
                <c:ptCount val="1"/>
                <c:pt idx="0">
                  <c:v>Common symptoms</c:v>
                </c:pt>
              </c:strCache>
            </c:strRef>
          </c:tx>
          <c:spPr>
            <a:solidFill>
              <a:srgbClr val="0B2545"/>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Fever</c:v>
                  </c:pt>
                  <c:pt idx="1">
                    <c:v>Changed taste or smell</c:v>
                  </c:pt>
                  <c:pt idx="2">
                    <c:v>Stuffy nose</c:v>
                  </c:pt>
                  <c:pt idx="3">
                    <c:v>Cough</c:v>
                  </c:pt>
                  <c:pt idx="4">
                    <c:v>Headache</c:v>
                  </c:pt>
                </c:lvl>
              </c:multiLvlStrCache>
            </c:multiLvlStrRef>
          </c:cat>
          <c:val>
            <c:numRef>
              <c:f>Sheet1!$B$2:$B$6</c:f>
              <c:numCache>
                <c:formatCode>General</c:formatCode>
                <c:ptCount val="5"/>
                <c:pt idx="0">
                  <c:v>0</c:v>
                </c:pt>
                <c:pt idx="1">
                  <c:v>42.3</c:v>
                </c:pt>
                <c:pt idx="2">
                  <c:v>43.8</c:v>
                </c:pt>
                <c:pt idx="3">
                  <c:v>59.5</c:v>
                </c:pt>
                <c:pt idx="4">
                  <c:v>68</c:v>
                </c:pt>
              </c:numCache>
            </c:numRef>
          </c:val>
        </c:ser>
        <c:ser>
          <c:idx val="1"/>
          <c:order val="1"/>
          <c:tx>
            <c:strRef>
              <c:f>Sheet1!$C$1</c:f>
              <c:strCache>
                <c:ptCount val="1"/>
                <c:pt idx="0">
                  <c:v>Fever</c:v>
                </c:pt>
              </c:strCache>
            </c:strRef>
          </c:tx>
          <c:spPr>
            <a:solidFill>
              <a:srgbClr val="D1495B"/>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Fever</c:v>
                  </c:pt>
                  <c:pt idx="1">
                    <c:v>Changed taste or smell</c:v>
                  </c:pt>
                  <c:pt idx="2">
                    <c:v>Stuffy nose</c:v>
                  </c:pt>
                  <c:pt idx="3">
                    <c:v>Cough</c:v>
                  </c:pt>
                  <c:pt idx="4">
                    <c:v>Headache</c:v>
                  </c:pt>
                </c:lvl>
              </c:multiLvlStrCache>
            </c:multiLvlStrRef>
          </c:cat>
          <c:val>
            <c:numRef>
              <c:f>Sheet1!$C$2:$C$6</c:f>
              <c:numCache>
                <c:formatCode>General</c:formatCode>
                <c:ptCount val="5"/>
                <c:pt idx="0">
                  <c:v>13.2</c:v>
                </c:pt>
                <c:pt idx="1">
                  <c:v>0</c:v>
                </c:pt>
                <c:pt idx="2">
                  <c:v>0</c:v>
                </c:pt>
                <c:pt idx="3">
                  <c:v>0</c:v>
                </c:pt>
                <c:pt idx="4">
                  <c:v>0</c:v>
                </c:pt>
              </c:numCache>
            </c:numRef>
          </c:val>
        </c:ser>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sailors with symptoms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All 1,331 cases, by symptom status¹</a:t>
            </a:r>
          </a:p>
        </c:rich>
      </c:tx>
      <c:layout/>
      <c:overlay val="0"/>
    </c:title>
    <c:autoTitleDeleted val="0"/>
    <c:plotArea>
      <c:layout/>
      <c:doughnutChart>
        <c:varyColors val="1"/>
        <c:ser>
          <c:idx val="0"/>
          <c:order val="0"/>
          <c:tx>
            <c:strRef>
              <c:f>Sheet1!$B$1</c:f>
              <c:strCache>
                <c:ptCount val="1"/>
                <c:pt idx="0">
                  <c:v>Case status</c:v>
                </c:pt>
              </c:strCache>
            </c:strRef>
          </c:tx>
          <c:spPr>
            <a:solidFill>
              <a:schemeClr val="accent1"/>
            </a:solidFill>
            <a:ln w="9525" cap="flat">
              <a:solidFill>
                <a:srgbClr val="F9F9F9"/>
              </a:solidFill>
              <a:prstDash val="solid"/>
              <a:round/>
            </a:ln>
            <a:effectLst/>
          </c:spPr>
          <c:dPt>
            <c:idx val="0"/>
            <c:bubble3D val="0"/>
            <c:spPr>
              <a:solidFill>
                <a:srgbClr val="0B2545"/>
              </a:solidFill>
              <a:effectLst/>
            </c:spPr>
          </c:dPt>
          <c:dPt>
            <c:idx val="1"/>
            <c:bubble3D val="0"/>
            <c:spPr>
              <a:solidFill>
                <a:srgbClr val="3B6EA5"/>
              </a:solidFill>
              <a:effectLst/>
            </c:spPr>
          </c:dPt>
          <c:dPt>
            <c:idx val="2"/>
            <c:bubble3D val="0"/>
            <c:spPr>
              <a:solidFill>
                <a:srgbClr val="D1495B"/>
              </a:solidFill>
              <a:effectLst/>
            </c:spPr>
          </c:dPt>
          <c:dPt>
            <c:idx val="3"/>
            <c:bubble3D val="0"/>
            <c:spPr>
              <a:solidFill>
                <a:srgbClr val="B7791F"/>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Never felt sick (572)</c:v>
                </c:pt>
                <c:pt idx="1">
                  <c:v>Felt fine, got sick later (406)</c:v>
                </c:pt>
                <c:pt idx="2">
                  <c:v>Already sick when tested (293)</c:v>
                </c:pt>
                <c:pt idx="3">
                  <c:v>Suspected, no positive test (60)</c:v>
                </c:pt>
              </c:strCache>
            </c:strRef>
          </c:cat>
          <c:val>
            <c:numRef>
              <c:f>Sheet1!$B$2:$B$5</c:f>
              <c:numCache>
                <c:ptCount val="4"/>
                <c:pt idx="0">
                  <c:v>572</c:v>
                </c:pt>
                <c:pt idx="1">
                  <c:v>406</c:v>
                </c:pt>
                <c:pt idx="2">
                  <c:v>293</c:v>
                </c:pt>
                <c:pt idx="3">
                  <c:v>60</c:v>
                </c:pt>
              </c:numCache>
            </c:numRef>
          </c:val>
        </c:ser>
        <c:firstSliceAng val="0"/>
        <c:holeSize val="55"/>
      </c:doughnutChart>
      <c:spPr>
        <a:noFill/>
        <a:ln>
          <a:noFill/>
        </a:ln>
        <a:effectLst/>
      </c:spPr>
    </c:plotArea>
    <c:legend>
      <c:legendPos val="b"/>
      <c:overlay val="0"/>
      <c:txPr>
        <a:bodyPr/>
        <a:lstStyle/>
        <a:p>
          <a:pPr>
            <a:defRPr sz="125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Percent of each group infected (attack rate)¹</a:t>
            </a:r>
          </a:p>
        </c:rich>
      </c:tx>
      <c:layout/>
      <c:overlay val="0"/>
    </c:title>
    <c:autoTitleDeleted val="0"/>
    <c:plotArea>
      <c:layout/>
      <c:barChart>
        <c:barDir val="bar"/>
        <c:grouping val="stacked"/>
        <c:varyColors val="0"/>
        <c:ser>
          <c:idx val="0"/>
          <c:order val="0"/>
          <c:tx>
            <c:strRef>
              <c:f>Sheet1!$B$1</c:f>
              <c:strCache>
                <c:ptCount val="1"/>
                <c:pt idx="0">
                  <c:v>Comparison groups</c:v>
                </c:pt>
              </c:strCache>
            </c:strRef>
          </c:tx>
          <c:spPr>
            <a:solidFill>
              <a:srgbClr val="0B2545"/>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BMI under 25 (389 of 1,524)</c:v>
                  </c:pt>
                  <c:pt idx="1">
                    <c:v>Obese (267 of 851)</c:v>
                  </c:pt>
                  <c:pt idx="2">
                    <c:v>Officers (98 of 461)</c:v>
                  </c:pt>
                  <c:pt idx="3">
                    <c:v>Enlisted (1,231 of 4,311)</c:v>
                  </c:pt>
                  <c:pt idx="4">
                    <c:v>Men (1,042 of 3,733)</c:v>
                  </c:pt>
                  <c:pt idx="5">
                    <c:v>Women (289 of 1,046)</c:v>
                  </c:pt>
                </c:lvl>
              </c:multiLvlStrCache>
            </c:multiLvlStrRef>
          </c:cat>
          <c:val>
            <c:numRef>
              <c:f>Sheet1!$B$2:$B$7</c:f>
              <c:numCache>
                <c:formatCode>General</c:formatCode>
                <c:ptCount val="6"/>
                <c:pt idx="0">
                  <c:v>25.5</c:v>
                </c:pt>
                <c:pt idx="1">
                  <c:v>0</c:v>
                </c:pt>
                <c:pt idx="2">
                  <c:v>21.3</c:v>
                </c:pt>
                <c:pt idx="3">
                  <c:v>0</c:v>
                </c:pt>
                <c:pt idx="4">
                  <c:v>27.9</c:v>
                </c:pt>
                <c:pt idx="5">
                  <c:v>27.6</c:v>
                </c:pt>
              </c:numCache>
            </c:numRef>
          </c:val>
        </c:ser>
        <c:ser>
          <c:idx val="1"/>
          <c:order val="1"/>
          <c:tx>
            <c:strRef>
              <c:f>Sheet1!$C$1</c:f>
              <c:strCache>
                <c:ptCount val="1"/>
                <c:pt idx="0">
                  <c:v>Higher-risk groups</c:v>
                </c:pt>
              </c:strCache>
            </c:strRef>
          </c:tx>
          <c:spPr>
            <a:solidFill>
              <a:srgbClr val="D1495B"/>
            </a:solidFill>
            <a:effectLst/>
          </c:spPr>
          <c:invertIfNegative val="0"/>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BMI under 25 (389 of 1,524)</c:v>
                  </c:pt>
                  <c:pt idx="1">
                    <c:v>Obese (267 of 851)</c:v>
                  </c:pt>
                  <c:pt idx="2">
                    <c:v>Officers (98 of 461)</c:v>
                  </c:pt>
                  <c:pt idx="3">
                    <c:v>Enlisted (1,231 of 4,311)</c:v>
                  </c:pt>
                  <c:pt idx="4">
                    <c:v>Men (1,042 of 3,733)</c:v>
                  </c:pt>
                  <c:pt idx="5">
                    <c:v>Women (289 of 1,046)</c:v>
                  </c:pt>
                </c:lvl>
              </c:multiLvlStrCache>
            </c:multiLvlStrRef>
          </c:cat>
          <c:val>
            <c:numRef>
              <c:f>Sheet1!$C$2:$C$7</c:f>
              <c:numCache>
                <c:formatCode>General</c:formatCode>
                <c:ptCount val="6"/>
                <c:pt idx="0">
                  <c:v>0</c:v>
                </c:pt>
                <c:pt idx="1">
                  <c:v>31.4</c:v>
                </c:pt>
                <c:pt idx="2">
                  <c:v>0</c:v>
                </c:pt>
                <c:pt idx="3">
                  <c:v>28.6</c:v>
                </c:pt>
                <c:pt idx="4">
                  <c:v>0</c:v>
                </c:pt>
                <c:pt idx="5">
                  <c:v>0</c:v>
                </c:pt>
              </c:numCache>
            </c:numRef>
          </c:val>
        </c:ser>
        <c:dLbls>
          <c:numFmt formatCode="0.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infected</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Percent infected, by department (attack rate)¹</a:t>
            </a:r>
          </a:p>
        </c:rich>
      </c:tx>
      <c:layout/>
      <c:overlay val="0"/>
    </c:title>
    <c:autoTitleDeleted val="0"/>
    <c:plotArea>
      <c:layout/>
      <c:barChart>
        <c:barDir val="col"/>
        <c:grouping val="clustered"/>
        <c:varyColors val="0"/>
        <c:ser>
          <c:idx val="0"/>
          <c:order val="0"/>
          <c:tx>
            <c:strRef>
              <c:f>Sheet1!$B$1</c:f>
              <c:strCache>
                <c:ptCount val="1"/>
                <c:pt idx="0">
                  <c:v>Attack rate</c:v>
                </c:pt>
              </c:strCache>
            </c:strRef>
          </c:tx>
          <c:spPr>
            <a:solidFill>
              <a:srgbClr val="0B2545"/>
            </a:solidFill>
            <a:effectLst/>
          </c:spPr>
          <c:invertIfNegative val="0"/>
          <c:dLbls>
            <c:numFmt formatCode="0.0" sourceLinked="0"/>
            <c:txPr>
              <a:bodyPr/>
              <a:lstStyle/>
              <a:p>
                <a:pPr>
                  <a:defRPr b="1" i="0" strike="noStrike" sz="1250" u="none">
                    <a:solidFill>
                      <a:srgbClr val="1B1B1E"/>
                    </a:solidFill>
                    <a:latin typeface="+mn-lt"/>
                  </a:defRPr>
                </a:pPr>
              </a:p>
            </c:txPr>
            <c:showLegendKey val="0"/>
            <c:showVal val="1"/>
            <c:showCatName val="0"/>
            <c:showSerName val="0"/>
            <c:showPercent val="0"/>
            <c:showBubbleSize val="0"/>
            <c:showLeaderLines val="0"/>
          </c:dLbls>
          <c:dPt>
            <c:idx val="0"/>
            <c:invertIfNegative val="0"/>
            <c:bubble3D val="0"/>
            <c:spPr>
              <a:solidFill>
                <a:srgbClr val="0B2545"/>
              </a:solidFill>
              <a:effectLst/>
            </c:spPr>
          </c:dPt>
          <c:dPt>
            <c:idx val="1"/>
            <c:invertIfNegative val="0"/>
            <c:bubble3D val="0"/>
            <c:spPr>
              <a:solidFill>
                <a:srgbClr val="0B2545"/>
              </a:solidFill>
              <a:effectLst/>
            </c:spPr>
          </c:dPt>
          <c:dPt>
            <c:idx val="2"/>
            <c:invertIfNegative val="0"/>
            <c:bubble3D val="0"/>
            <c:spPr>
              <a:solidFill>
                <a:srgbClr val="0B2545"/>
              </a:solidFill>
              <a:effectLst/>
            </c:spPr>
          </c:dPt>
          <c:dPt>
            <c:idx val="3"/>
            <c:invertIfNegative val="0"/>
            <c:bubble3D val="0"/>
            <c:spPr>
              <a:solidFill>
                <a:srgbClr val="0B2545"/>
              </a:solidFill>
              <a:effectLst/>
            </c:spPr>
          </c:dPt>
          <c:dPt>
            <c:idx val="4"/>
            <c:invertIfNegative val="0"/>
            <c:bubble3D val="0"/>
            <c:spPr>
              <a:solidFill>
                <a:srgbClr val="0B2545"/>
              </a:solidFill>
              <a:effectLst/>
            </c:spPr>
          </c:dPt>
          <c:dPt>
            <c:idx val="5"/>
            <c:invertIfNegative val="0"/>
            <c:bubble3D val="0"/>
            <c:spPr>
              <a:solidFill>
                <a:srgbClr val="B7791F"/>
              </a:solidFill>
              <a:effectLst/>
            </c:spPr>
          </c:dPt>
          <c:dPt>
            <c:idx val="6"/>
            <c:invertIfNegative val="0"/>
            <c:bubble3D val="0"/>
            <c:spPr>
              <a:solidFill>
                <a:srgbClr val="3B6EA5"/>
              </a:solidFill>
              <a:effectLst/>
            </c:spPr>
          </c:dPt>
          <c:dPt>
            <c:idx val="7"/>
            <c:invertIfNegative val="0"/>
            <c:bubble3D val="0"/>
            <c:spPr>
              <a:solidFill>
                <a:srgbClr val="3B6EA5"/>
              </a:solidFill>
              <a:effectLst/>
            </c:spPr>
          </c:dPt>
          <c:cat>
            <c:multiLvlStrRef>
              <c:f>Sheet1!$A$2:$A$9</c:f>
              <c:multiLvlStrCache>
                <c:ptCount val="8"/>
                <c:lvl>
                  <c:pt idx="0">
                    <c:v>Weapons</c:v>
                  </c:pt>
                  <c:pt idx="1">
                    <c:v>Supply</c:v>
                  </c:pt>
                  <c:pt idx="2">
                    <c:v>Engineering</c:v>
                  </c:pt>
                  <c:pt idx="3">
                    <c:v>Reactor</c:v>
                  </c:pt>
                  <c:pt idx="4">
                    <c:v>Combat support</c:v>
                  </c:pt>
                  <c:pt idx="5">
                    <c:v>Medical</c:v>
                  </c:pt>
                  <c:pt idx="6">
                    <c:v>Air</c:v>
                  </c:pt>
                  <c:pt idx="7">
                    <c:v>Deck</c:v>
                  </c:pt>
                </c:lvl>
              </c:multiLvlStrCache>
            </c:multiLvlStrRef>
          </c:cat>
          <c:val>
            <c:numRef>
              <c:f>Sheet1!$B$2:$B$9</c:f>
              <c:numCache>
                <c:formatCode>General</c:formatCode>
                <c:ptCount val="8"/>
                <c:pt idx="0">
                  <c:v>41.6</c:v>
                </c:pt>
                <c:pt idx="1">
                  <c:v>38.8</c:v>
                </c:pt>
                <c:pt idx="2">
                  <c:v>32.8</c:v>
                </c:pt>
                <c:pt idx="3">
                  <c:v>31.4</c:v>
                </c:pt>
                <c:pt idx="4">
                  <c:v>18.8</c:v>
                </c:pt>
                <c:pt idx="5">
                  <c:v>16.7</c:v>
                </c:pt>
                <c:pt idx="6">
                  <c:v>14.2</c:v>
                </c:pt>
                <c:pt idx="7">
                  <c:v>4.7</c:v>
                </c:pt>
              </c:numCache>
            </c:numRef>
          </c:val>
        </c:ser>
        <c:dLbls>
          <c:numFmt formatCode="0.0" sourceLinked="0"/>
          <c:txPr>
            <a:bodyPr/>
            <a:lstStyle/>
            <a:p>
              <a:pPr>
                <a:defRPr b="1" i="0" strike="noStrike" sz="1250" u="none">
                  <a:solidFill>
                    <a:srgbClr val="1B1B1E"/>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infected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today I will tell the story of one Covid-19 outbreak on a U.S. Navy aircraft carrier. The Navy tested and followed every sailor, so we can see the whole outbreak. I will tell it in five parts, and the next slide shows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I will tell the story of one Covid-19 outbreak in five parts. Each part answers one question. The number at the top of every slide shows which question we are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in spring 2020, Covid-19 spread through a U.S. Navy aircraft carrier. Of 4,779 sailors, 1,271 tested positive, about 1 in 4. Very few got seriously ill and one died. Because the Navy tested everyone, we can see the whole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a carrier is like a small crowded town at sea. Sailors sleep in rows of bunks and eat and work close together. That makes it easy for a virus that spreads through the air to move between people. The outbreak was noticed on day 13 at sea, when three sailors felt sick and tested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looking back, the first sailor got sick on March 11, but nobody knew there was an outbreak until March 23, twelve days later. By then the virus had been spreading quietly. The ship reached Guam on March 27 and sailors were separated, but new cases kept appearing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Covid-19 is caused by the SARS-CoV-2 virus. It spreads through tiny particles that people breathe out. The tricky part is that people can pass it on before they feel sick, so they do not know they are contagious. That helps explain a silent start on a crowded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most sailors had mild illness. Headache and cough were most common. Only about 1 in 8 had a fever, so checking temperatures would have missed most infected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investigators needed a rule for who counts as a case. A confirmed case has a positive lab test. A suspected case has Covid-like symptoms but no positive test. Among confirmed cases, some never felt sick, some felt fine at first and got sick later, and some were already sick when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was this a good rule? Mostly yes, because everyone was tested and the lab test is reliable. Only 60 of 1,331 cases were suspected rather than confirmed. One caution is that a single swab can miss a very early infection, and the official definition changed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Navy did not wait for people to report symptoms. They traced close contacts, tested every sailor, linked the results to each person's records, and compared sailors who were infected with those who were not. No air or surface testing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this chart shows new sick sailors each day. One long hill means the virus kept passing from person to person. A single event, like a bad meal, would make one short spike. The first sick sailors appeared a few days after the port visit, and cases kept appearing after the ship docked. The curve only shows sailors who got symptoms, and many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of the sailors who tested positive, more than 3 in 4 felt fine on the day of the test, and nearly half never got sick at all. These silent carriers can still spread the virus. That is why checking only for symptoms could not stop this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men and women, and different racial groups, were infected at about the same rate. Enlisted sailors had a higher rate than officers, probably because they sleep in crowded open bays. Obese sailors had a slightly higher rate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where sailors worked mattered. Weapons, supply, engineering and reactor crews, who work in small enclosed spaces, had the highest infection rates. They were about 2.6 times as likely to be infected as air and deck crews, who spend time in open air. Relative risk means how many times as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here are the key numbers in one place. About 1 in 4 sailors were infected, very few were seriously ill, and one died. More than 3 in 4 infected sailors felt fine when tested. Sailors in enclosed workplaces were about 2.6 times as likely to be infected. The last column shows which numbers the authors reported and which I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link between close quarters and infection is strong and it makes sense, because the virus spreads through the air. But a link is not proof of cause. Other things, like rank and where people sleep, may be mixed in. The best explanation is person-to-person spread in close quarters, helped by sailors who felt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the big strength is that everyone was tested and followed, so we are not missing the people who felt fine. The limits are that early records were incomplete, the case definition changed, and the comparisons were simple. Nobody measured air flow or sequenced the virus, so we cannot say exactly who infected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once the outbreak was found, the Navy separated the sick sailors, put everyone else in single hotel rooms, and tested again before anyone was released. A small healthy crew stayed on the ship. It was a fast response, but new cases still appeared for at least six weeks after the ship docked.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because sailors can spread the virus without feeling sick, the answer is to test everyone early and reduce crowding, not to wait for symptoms. Do not rely on temperature checks, tell crews that feeling fine does not mean they are not infected, and study the virus's genes to trace who infected whom.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words: what happened is that Covid-19 infected about 1 in 4 sailors on a carrier in eight weeks. It was caused by a virus that can spread before people feel sick. Enlisted crews and small, enclosed workplaces had the highest rates. The lesson: in any crowded place, assume the virus may already be there, test early, and do not wait for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ctr" indent="0" marL="0">
              <a:buNone/>
              <a:defRPr lang="en-US" sz="2600" b="1" dirty="0">
                <a:solidFill>
                  <a:schemeClr val="tx2"/>
                </a:solidFill>
                <a:latin typeface="Cambria" pitchFamily="34" charset="0"/>
                <a:ea typeface="Cambria" pitchFamily="34" charset="-122"/>
                <a:cs typeface="Cambria" pitchFamily="34" charset="-120"/>
              </a:defRPr>
            </a:lvl1pPr>
          </a:lstStyle>
          <a:p>
            <a:pPr algn="ctr" indent="0" marL="0">
              <a:buNone/>
            </a:pP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rtlCol="0"/>
          <a:lstStyle>
            <a:lvl1pPr algn="ctr" indent="0" marL="0">
              <a:buNone/>
              <a:defRPr lang="en-US" sz="1100" b="1" dirty="0">
                <a:solidFill>
                  <a:schemeClr val="accent6"/>
                </a:solidFill>
              </a:defRPr>
            </a:lvl1pPr>
          </a:lstStyle>
          <a:p>
            <a:pPr algn="ctr" indent="0" marL="0">
              <a:buNone/>
            </a:pP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3.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Today's story: five questions about one outbreak</a:t>
            </a:r>
            <a:endParaRPr lang="en-US" sz="2600" dirty="0"/>
          </a:p>
        </p:txBody>
      </p:sp>
      <p:sp>
        <p:nvSpPr>
          <p:cNvPr id="3" name="meaning bar"/>
          <p:cNvSpPr/>
          <p:nvPr/>
        </p:nvSpPr>
        <p:spPr>
          <a:xfrm>
            <a:off x="548640" y="5532120"/>
            <a:ext cx="11064240" cy="640080"/>
          </a:xfrm>
          <a:prstGeom prst="roundRect">
            <a:avLst>
              <a:gd name="adj" fmla="val 17143"/>
            </a:avLst>
          </a:prstGeom>
          <a:solidFill>
            <a:schemeClr val="bg2"/>
          </a:solidFill>
          <a:ln/>
        </p:spPr>
      </p:sp>
      <p:sp>
        <p:nvSpPr>
          <p:cNvPr id="4" name="Text 2"/>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Follow the number at the top of each slide to see which question we are answering.</a:t>
            </a:r>
            <a:endParaRPr lang="en-US" sz="1500" dirty="0"/>
          </a:p>
        </p:txBody>
      </p:sp>
      <p:sp>
        <p:nvSpPr>
          <p:cNvPr id="5" name="bar divider"/>
          <p:cNvSpPr/>
          <p:nvPr/>
        </p:nvSpPr>
        <p:spPr>
          <a:xfrm>
            <a:off x="8686800" y="5669280"/>
            <a:ext cx="0" cy="365760"/>
          </a:xfrm>
          <a:prstGeom prst="line">
            <a:avLst/>
          </a:prstGeom>
          <a:noFill/>
          <a:ln w="12700">
            <a:solidFill>
              <a:srgbClr val="8DA9C4"/>
            </a:solidFill>
            <a:prstDash val="solid"/>
          </a:ln>
        </p:spPr>
      </p:sp>
      <p:sp>
        <p:nvSpPr>
          <p:cNvPr id="6" name="Text 4"/>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A young, healthy crew on a ship at sea</a:t>
            </a:r>
            <a:endParaRPr lang="en-US" sz="1300" dirty="0"/>
          </a:p>
        </p:txBody>
      </p:sp>
      <p:sp>
        <p:nvSpPr>
          <p:cNvPr id="7" name="question 1 card"/>
          <p:cNvSpPr/>
          <p:nvPr/>
        </p:nvSpPr>
        <p:spPr>
          <a:xfrm>
            <a:off x="548640" y="1371600"/>
            <a:ext cx="11064240" cy="713232"/>
          </a:xfrm>
          <a:prstGeom prst="roundRect">
            <a:avLst>
              <a:gd name="adj" fmla="val 15385"/>
            </a:avLst>
          </a:prstGeom>
          <a:solidFill>
            <a:schemeClr val="bg2"/>
          </a:solidFill>
          <a:ln/>
        </p:spPr>
      </p:sp>
      <p:sp>
        <p:nvSpPr>
          <p:cNvPr id="8" name="question 1 number circle"/>
          <p:cNvSpPr/>
          <p:nvPr/>
        </p:nvSpPr>
        <p:spPr>
          <a:xfrm>
            <a:off x="777240" y="1472184"/>
            <a:ext cx="512064" cy="512064"/>
          </a:xfrm>
          <a:prstGeom prst="ellipse">
            <a:avLst/>
          </a:prstGeom>
          <a:solidFill>
            <a:schemeClr val="accent2"/>
          </a:solidFill>
          <a:ln/>
        </p:spPr>
      </p:sp>
      <p:sp>
        <p:nvSpPr>
          <p:cNvPr id="9" name="Text 7"/>
          <p:cNvSpPr txBox="1"/>
          <p:nvPr/>
        </p:nvSpPr>
        <p:spPr>
          <a:xfrm>
            <a:off x="777240" y="1472184"/>
            <a:ext cx="512064" cy="512064"/>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10" name="Text 8"/>
          <p:cNvSpPr txBox="1"/>
          <p:nvPr/>
        </p:nvSpPr>
        <p:spPr>
          <a:xfrm>
            <a:off x="1508760" y="1371600"/>
            <a:ext cx="5029200" cy="713232"/>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What happened, and what caused it?</a:t>
            </a:r>
            <a:endParaRPr lang="en-US" sz="1700" dirty="0"/>
          </a:p>
        </p:txBody>
      </p:sp>
      <p:sp>
        <p:nvSpPr>
          <p:cNvPr id="11" name="Text 9"/>
          <p:cNvSpPr txBox="1"/>
          <p:nvPr/>
        </p:nvSpPr>
        <p:spPr>
          <a:xfrm>
            <a:off x="6675120" y="1371600"/>
            <a:ext cx="4800600" cy="713232"/>
          </a:xfrm>
          <a:prstGeom prst="rect">
            <a:avLst/>
          </a:prstGeom>
          <a:noFill/>
          <a:ln/>
        </p:spPr>
        <p:txBody>
          <a:bodyPr wrap="square" lIns="635" tIns="635" rIns="635" bIns="635" rtlCol="0" anchor="ctr"/>
          <a:lstStyle/>
          <a:p>
            <a:pPr indent="0" marL="0">
              <a:buNone/>
            </a:pPr>
            <a:r>
              <a:rPr lang="en-US" sz="1450" dirty="0">
                <a:solidFill>
                  <a:schemeClr val="tx1"/>
                </a:solidFill>
              </a:rPr>
              <a:t>A young, healthy crew, a crowded ship and a virus that can spread before people feel sick</a:t>
            </a:r>
            <a:endParaRPr lang="en-US" sz="1450" dirty="0"/>
          </a:p>
        </p:txBody>
      </p:sp>
      <p:sp>
        <p:nvSpPr>
          <p:cNvPr id="12" name="question 2 card"/>
          <p:cNvSpPr/>
          <p:nvPr/>
        </p:nvSpPr>
        <p:spPr>
          <a:xfrm>
            <a:off x="548640" y="2176272"/>
            <a:ext cx="11064240" cy="713232"/>
          </a:xfrm>
          <a:prstGeom prst="roundRect">
            <a:avLst>
              <a:gd name="adj" fmla="val 15385"/>
            </a:avLst>
          </a:prstGeom>
          <a:solidFill>
            <a:schemeClr val="bg2"/>
          </a:solidFill>
          <a:ln/>
        </p:spPr>
      </p:sp>
      <p:sp>
        <p:nvSpPr>
          <p:cNvPr id="13" name="question 2 number circle"/>
          <p:cNvSpPr/>
          <p:nvPr/>
        </p:nvSpPr>
        <p:spPr>
          <a:xfrm>
            <a:off x="777240" y="2276856"/>
            <a:ext cx="512064" cy="512064"/>
          </a:xfrm>
          <a:prstGeom prst="ellipse">
            <a:avLst/>
          </a:prstGeom>
          <a:solidFill>
            <a:schemeClr val="accent2"/>
          </a:solidFill>
          <a:ln/>
        </p:spPr>
      </p:sp>
      <p:sp>
        <p:nvSpPr>
          <p:cNvPr id="14" name="Text 12"/>
          <p:cNvSpPr txBox="1"/>
          <p:nvPr/>
        </p:nvSpPr>
        <p:spPr>
          <a:xfrm>
            <a:off x="777240" y="2276856"/>
            <a:ext cx="512064" cy="512064"/>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15" name="Text 13"/>
          <p:cNvSpPr txBox="1"/>
          <p:nvPr/>
        </p:nvSpPr>
        <p:spPr>
          <a:xfrm>
            <a:off x="1508760" y="2176272"/>
            <a:ext cx="5029200" cy="713232"/>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How did investigators find the cases?</a:t>
            </a:r>
            <a:endParaRPr lang="en-US" sz="1700" dirty="0"/>
          </a:p>
        </p:txBody>
      </p:sp>
      <p:sp>
        <p:nvSpPr>
          <p:cNvPr id="16" name="Text 14"/>
          <p:cNvSpPr txBox="1"/>
          <p:nvPr/>
        </p:nvSpPr>
        <p:spPr>
          <a:xfrm>
            <a:off x="6675120" y="2176272"/>
            <a:ext cx="4800600" cy="713232"/>
          </a:xfrm>
          <a:prstGeom prst="rect">
            <a:avLst/>
          </a:prstGeom>
          <a:noFill/>
          <a:ln/>
        </p:spPr>
        <p:txBody>
          <a:bodyPr wrap="square" lIns="635" tIns="635" rIns="635" bIns="635" rtlCol="0" anchor="ctr"/>
          <a:lstStyle/>
          <a:p>
            <a:pPr indent="0" marL="0">
              <a:buNone/>
            </a:pPr>
            <a:r>
              <a:rPr lang="en-US" sz="1450" dirty="0">
                <a:solidFill>
                  <a:schemeClr val="tx1"/>
                </a:solidFill>
              </a:rPr>
              <a:t>By testing everyone, not just the people who felt sick</a:t>
            </a:r>
            <a:endParaRPr lang="en-US" sz="1450" dirty="0"/>
          </a:p>
        </p:txBody>
      </p:sp>
      <p:sp>
        <p:nvSpPr>
          <p:cNvPr id="17" name="question 3 card"/>
          <p:cNvSpPr/>
          <p:nvPr/>
        </p:nvSpPr>
        <p:spPr>
          <a:xfrm>
            <a:off x="548640" y="2980944"/>
            <a:ext cx="11064240" cy="713232"/>
          </a:xfrm>
          <a:prstGeom prst="roundRect">
            <a:avLst>
              <a:gd name="adj" fmla="val 15385"/>
            </a:avLst>
          </a:prstGeom>
          <a:solidFill>
            <a:schemeClr val="bg2"/>
          </a:solidFill>
          <a:ln/>
        </p:spPr>
      </p:sp>
      <p:sp>
        <p:nvSpPr>
          <p:cNvPr id="18" name="question 3 number circle"/>
          <p:cNvSpPr/>
          <p:nvPr/>
        </p:nvSpPr>
        <p:spPr>
          <a:xfrm>
            <a:off x="777240" y="3081528"/>
            <a:ext cx="512064" cy="512064"/>
          </a:xfrm>
          <a:prstGeom prst="ellipse">
            <a:avLst/>
          </a:prstGeom>
          <a:solidFill>
            <a:schemeClr val="accent2"/>
          </a:solidFill>
          <a:ln/>
        </p:spPr>
      </p:sp>
      <p:sp>
        <p:nvSpPr>
          <p:cNvPr id="19" name="Text 17"/>
          <p:cNvSpPr txBox="1"/>
          <p:nvPr/>
        </p:nvSpPr>
        <p:spPr>
          <a:xfrm>
            <a:off x="777240" y="3081528"/>
            <a:ext cx="512064" cy="512064"/>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20" name="Text 18"/>
          <p:cNvSpPr txBox="1"/>
          <p:nvPr/>
        </p:nvSpPr>
        <p:spPr>
          <a:xfrm>
            <a:off x="1508760" y="2980944"/>
            <a:ext cx="5029200" cy="713232"/>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Who, where and when?</a:t>
            </a:r>
            <a:endParaRPr lang="en-US" sz="1700" dirty="0"/>
          </a:p>
        </p:txBody>
      </p:sp>
      <p:sp>
        <p:nvSpPr>
          <p:cNvPr id="21" name="Text 19"/>
          <p:cNvSpPr txBox="1"/>
          <p:nvPr/>
        </p:nvSpPr>
        <p:spPr>
          <a:xfrm>
            <a:off x="6675120" y="2980944"/>
            <a:ext cx="4800600" cy="713232"/>
          </a:xfrm>
          <a:prstGeom prst="rect">
            <a:avLst/>
          </a:prstGeom>
          <a:noFill/>
          <a:ln/>
        </p:spPr>
        <p:txBody>
          <a:bodyPr wrap="square" lIns="635" tIns="635" rIns="635" bIns="635" rtlCol="0" anchor="ctr"/>
          <a:lstStyle/>
          <a:p>
            <a:pPr indent="0" marL="0">
              <a:buNone/>
            </a:pPr>
            <a:r>
              <a:rPr lang="en-US" sz="1450" dirty="0">
                <a:solidFill>
                  <a:schemeClr val="tx1"/>
                </a:solidFill>
              </a:rPr>
              <a:t>Silent carriers, enlisted crews and small, enclosed workplaces</a:t>
            </a:r>
            <a:endParaRPr lang="en-US" sz="1450" dirty="0"/>
          </a:p>
        </p:txBody>
      </p:sp>
      <p:sp>
        <p:nvSpPr>
          <p:cNvPr id="22" name="question 4 card"/>
          <p:cNvSpPr/>
          <p:nvPr/>
        </p:nvSpPr>
        <p:spPr>
          <a:xfrm>
            <a:off x="548640" y="3785616"/>
            <a:ext cx="11064240" cy="713232"/>
          </a:xfrm>
          <a:prstGeom prst="roundRect">
            <a:avLst>
              <a:gd name="adj" fmla="val 15385"/>
            </a:avLst>
          </a:prstGeom>
          <a:solidFill>
            <a:schemeClr val="bg2"/>
          </a:solidFill>
          <a:ln/>
        </p:spPr>
      </p:sp>
      <p:sp>
        <p:nvSpPr>
          <p:cNvPr id="23" name="question 4 number circle"/>
          <p:cNvSpPr/>
          <p:nvPr/>
        </p:nvSpPr>
        <p:spPr>
          <a:xfrm>
            <a:off x="777240" y="3886200"/>
            <a:ext cx="512064" cy="512064"/>
          </a:xfrm>
          <a:prstGeom prst="ellipse">
            <a:avLst/>
          </a:prstGeom>
          <a:solidFill>
            <a:schemeClr val="accent2"/>
          </a:solidFill>
          <a:ln/>
        </p:spPr>
      </p:sp>
      <p:sp>
        <p:nvSpPr>
          <p:cNvPr id="24" name="Text 22"/>
          <p:cNvSpPr txBox="1"/>
          <p:nvPr/>
        </p:nvSpPr>
        <p:spPr>
          <a:xfrm>
            <a:off x="777240" y="3886200"/>
            <a:ext cx="512064" cy="512064"/>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4</a:t>
            </a:r>
            <a:endParaRPr lang="en-US" sz="2000" dirty="0"/>
          </a:p>
        </p:txBody>
      </p:sp>
      <p:sp>
        <p:nvSpPr>
          <p:cNvPr id="25" name="Text 23"/>
          <p:cNvSpPr txBox="1"/>
          <p:nvPr/>
        </p:nvSpPr>
        <p:spPr>
          <a:xfrm>
            <a:off x="1508760" y="3785616"/>
            <a:ext cx="5029200" cy="713232"/>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How did it spread, and how sure are we?</a:t>
            </a:r>
            <a:endParaRPr lang="en-US" sz="1700" dirty="0"/>
          </a:p>
        </p:txBody>
      </p:sp>
      <p:sp>
        <p:nvSpPr>
          <p:cNvPr id="26" name="Text 24"/>
          <p:cNvSpPr txBox="1"/>
          <p:nvPr/>
        </p:nvSpPr>
        <p:spPr>
          <a:xfrm>
            <a:off x="6675120" y="3785616"/>
            <a:ext cx="4800600" cy="713232"/>
          </a:xfrm>
          <a:prstGeom prst="rect">
            <a:avLst/>
          </a:prstGeom>
          <a:noFill/>
          <a:ln/>
        </p:spPr>
        <p:txBody>
          <a:bodyPr wrap="square" lIns="635" tIns="635" rIns="635" bIns="635" rtlCol="0" anchor="ctr"/>
          <a:lstStyle/>
          <a:p>
            <a:pPr indent="0" marL="0">
              <a:buNone/>
            </a:pPr>
            <a:r>
              <a:rPr lang="en-US" sz="1450" dirty="0">
                <a:solidFill>
                  <a:schemeClr val="tx1"/>
                </a:solidFill>
              </a:rPr>
              <a:t>Person to person in close quarters, with some uncertainty</a:t>
            </a:r>
            <a:endParaRPr lang="en-US" sz="1450" dirty="0"/>
          </a:p>
        </p:txBody>
      </p:sp>
      <p:sp>
        <p:nvSpPr>
          <p:cNvPr id="27" name="question 5 card"/>
          <p:cNvSpPr/>
          <p:nvPr/>
        </p:nvSpPr>
        <p:spPr>
          <a:xfrm>
            <a:off x="548640" y="4590288"/>
            <a:ext cx="11064240" cy="713232"/>
          </a:xfrm>
          <a:prstGeom prst="roundRect">
            <a:avLst>
              <a:gd name="adj" fmla="val 15385"/>
            </a:avLst>
          </a:prstGeom>
          <a:solidFill>
            <a:schemeClr val="bg2"/>
          </a:solidFill>
          <a:ln/>
        </p:spPr>
      </p:sp>
      <p:sp>
        <p:nvSpPr>
          <p:cNvPr id="28" name="question 5 number circle"/>
          <p:cNvSpPr/>
          <p:nvPr/>
        </p:nvSpPr>
        <p:spPr>
          <a:xfrm>
            <a:off x="777240" y="4690872"/>
            <a:ext cx="512064" cy="512064"/>
          </a:xfrm>
          <a:prstGeom prst="ellipse">
            <a:avLst/>
          </a:prstGeom>
          <a:solidFill>
            <a:schemeClr val="accent2"/>
          </a:solidFill>
          <a:ln/>
        </p:spPr>
      </p:sp>
      <p:sp>
        <p:nvSpPr>
          <p:cNvPr id="29" name="Text 27"/>
          <p:cNvSpPr txBox="1"/>
          <p:nvPr/>
        </p:nvSpPr>
        <p:spPr>
          <a:xfrm>
            <a:off x="777240" y="4690872"/>
            <a:ext cx="512064" cy="512064"/>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5</a:t>
            </a:r>
            <a:endParaRPr lang="en-US" sz="2000" dirty="0"/>
          </a:p>
        </p:txBody>
      </p:sp>
      <p:sp>
        <p:nvSpPr>
          <p:cNvPr id="30" name="Text 28"/>
          <p:cNvSpPr txBox="1"/>
          <p:nvPr/>
        </p:nvSpPr>
        <p:spPr>
          <a:xfrm>
            <a:off x="1508760" y="4590288"/>
            <a:ext cx="5029200" cy="713232"/>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What was done, and what next?</a:t>
            </a:r>
            <a:endParaRPr lang="en-US" sz="1700" dirty="0"/>
          </a:p>
        </p:txBody>
      </p:sp>
      <p:sp>
        <p:nvSpPr>
          <p:cNvPr id="31" name="Text 29"/>
          <p:cNvSpPr txBox="1"/>
          <p:nvPr/>
        </p:nvSpPr>
        <p:spPr>
          <a:xfrm>
            <a:off x="6675120" y="4590288"/>
            <a:ext cx="4800600" cy="713232"/>
          </a:xfrm>
          <a:prstGeom prst="rect">
            <a:avLst/>
          </a:prstGeom>
          <a:noFill/>
          <a:ln/>
        </p:spPr>
        <p:txBody>
          <a:bodyPr wrap="square" lIns="635" tIns="635" rIns="635" bIns="635" rtlCol="0" anchor="ctr"/>
          <a:lstStyle/>
          <a:p>
            <a:pPr indent="0" marL="0">
              <a:buNone/>
            </a:pPr>
            <a:r>
              <a:rPr lang="en-US" sz="1450" dirty="0">
                <a:solidFill>
                  <a:schemeClr val="tx1"/>
                </a:solidFill>
              </a:rPr>
              <a:t>Separate the sick, test everyone, and plan better for next time</a:t>
            </a:r>
            <a:endParaRPr lang="en-US" sz="1450" dirty="0"/>
          </a:p>
        </p:txBody>
      </p:sp>
      <p:sp>
        <p:nvSpPr>
          <p:cNvPr id="3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endParaRPr lang="en-US" sz="1100" dirty="0"/>
          </a:p>
        </p:txBody>
      </p:sp>
      <p:sp>
        <p:nvSpPr>
          <p:cNvPr id="3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In 2020, about 1 in 4 sailors on a U.S. aircraft carrier caught Covid-19</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Covid-19 spread widely through a young, healthy crew, but very few people got seriously ill.</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Why did it spread so easily?</a:t>
            </a:r>
            <a:endParaRPr lang="en-US" sz="1300" dirty="0"/>
          </a:p>
        </p:txBody>
      </p:sp>
      <p:sp>
        <p:nvSpPr>
          <p:cNvPr id="9" name="stat card 1"/>
          <p:cNvSpPr/>
          <p:nvPr/>
        </p:nvSpPr>
        <p:spPr>
          <a:xfrm>
            <a:off x="548640" y="1371600"/>
            <a:ext cx="2606040" cy="2514600"/>
          </a:xfrm>
          <a:prstGeom prst="roundRect">
            <a:avLst>
              <a:gd name="adj" fmla="val 4364"/>
            </a:avLst>
          </a:prstGeom>
          <a:solidFill>
            <a:schemeClr val="bg2"/>
          </a:solidFill>
          <a:ln/>
        </p:spPr>
      </p:sp>
      <p:sp>
        <p:nvSpPr>
          <p:cNvPr id="10" name="stat icon 1 circle"/>
          <p:cNvSpPr/>
          <p:nvPr/>
        </p:nvSpPr>
        <p:spPr>
          <a:xfrm>
            <a:off x="777240" y="1627632"/>
            <a:ext cx="566928" cy="566928"/>
          </a:xfrm>
          <a:prstGeom prst="ellipse">
            <a:avLst/>
          </a:prstGeom>
          <a:solidFill>
            <a:schemeClr val="accent1"/>
          </a:solidFill>
          <a:ln/>
        </p:spPr>
      </p:sp>
      <p:pic>
        <p:nvPicPr>
          <p:cNvPr id="11" name="stat icon 1" descr="stat icon 1">    </p:cNvPr>
          <p:cNvPicPr>
            <a:picLocks noChangeAspect="1"/>
          </p:cNvPicPr>
          <p:nvPr/>
        </p:nvPicPr>
        <p:blipFill>
          <a:blip r:embed="rId1"/>
          <a:stretch>
            <a:fillRect/>
          </a:stretch>
        </p:blipFill>
        <p:spPr>
          <a:xfrm>
            <a:off x="913303" y="1763695"/>
            <a:ext cx="294803" cy="294803"/>
          </a:xfrm>
          <a:prstGeom prst="rect">
            <a:avLst/>
          </a:prstGeom>
        </p:spPr>
      </p:pic>
      <p:sp>
        <p:nvSpPr>
          <p:cNvPr id="12" name="Text 9"/>
          <p:cNvSpPr txBox="1"/>
          <p:nvPr/>
        </p:nvSpPr>
        <p:spPr>
          <a:xfrm>
            <a:off x="1463040" y="1536192"/>
            <a:ext cx="1645920" cy="777240"/>
          </a:xfrm>
          <a:prstGeom prst="rect">
            <a:avLst/>
          </a:prstGeom>
          <a:noFill/>
          <a:ln/>
        </p:spPr>
        <p:txBody>
          <a:bodyPr wrap="square" lIns="635" tIns="635" rIns="635" bIns="635" rtlCol="0" anchor="ctr"/>
          <a:lstStyle/>
          <a:p>
            <a:pPr indent="0" marL="0">
              <a:buNone/>
            </a:pPr>
            <a:r>
              <a:rPr lang="en-US" sz="3800" b="1" dirty="0">
                <a:solidFill>
                  <a:schemeClr val="accent1"/>
                </a:solidFill>
                <a:latin typeface="Cambria" pitchFamily="34" charset="0"/>
                <a:ea typeface="Cambria" pitchFamily="34" charset="-122"/>
                <a:cs typeface="Cambria" pitchFamily="34" charset="-120"/>
              </a:rPr>
              <a:t>4,779</a:t>
            </a:r>
            <a:endParaRPr lang="en-US" sz="3800" dirty="0"/>
          </a:p>
        </p:txBody>
      </p:sp>
      <p:sp>
        <p:nvSpPr>
          <p:cNvPr id="13" name="Text 10"/>
          <p:cNvSpPr txBox="1"/>
          <p:nvPr/>
        </p:nvSpPr>
        <p:spPr>
          <a:xfrm>
            <a:off x="777240" y="2468880"/>
            <a:ext cx="2148840" cy="1325880"/>
          </a:xfrm>
          <a:prstGeom prst="rect">
            <a:avLst/>
          </a:prstGeom>
          <a:noFill/>
          <a:ln/>
        </p:spPr>
        <p:txBody>
          <a:bodyPr wrap="square" lIns="635" tIns="635" rIns="635" bIns="635" rtlCol="0" anchor="t"/>
          <a:lstStyle/>
          <a:p>
            <a:pPr indent="0" marL="0">
              <a:buNone/>
            </a:pPr>
            <a:r>
              <a:rPr lang="en-US" sz="1450" dirty="0">
                <a:solidFill>
                  <a:schemeClr val="tx1"/>
                </a:solidFill>
              </a:rPr>
              <a:t>sailors on board the U.S.S. Theodore Roosevelt</a:t>
            </a:r>
            <a:r>
              <a:rPr lang="en-US" sz="1450" baseline="30000" dirty="0">
                <a:solidFill>
                  <a:schemeClr val="tx1"/>
                </a:solidFill>
              </a:rPr>
              <a:t>1</a:t>
            </a:r>
            <a:endParaRPr lang="en-US" sz="1450" dirty="0"/>
          </a:p>
        </p:txBody>
      </p:sp>
      <p:sp>
        <p:nvSpPr>
          <p:cNvPr id="14" name="stat card 2"/>
          <p:cNvSpPr/>
          <p:nvPr/>
        </p:nvSpPr>
        <p:spPr>
          <a:xfrm>
            <a:off x="3368040" y="1371600"/>
            <a:ext cx="2606040" cy="2514600"/>
          </a:xfrm>
          <a:prstGeom prst="roundRect">
            <a:avLst>
              <a:gd name="adj" fmla="val 4364"/>
            </a:avLst>
          </a:prstGeom>
          <a:solidFill>
            <a:schemeClr val="bg2"/>
          </a:solidFill>
          <a:ln/>
        </p:spPr>
      </p:sp>
      <p:sp>
        <p:nvSpPr>
          <p:cNvPr id="15" name="stat icon 2 circle"/>
          <p:cNvSpPr/>
          <p:nvPr/>
        </p:nvSpPr>
        <p:spPr>
          <a:xfrm>
            <a:off x="3596640" y="1627632"/>
            <a:ext cx="566928" cy="566928"/>
          </a:xfrm>
          <a:prstGeom prst="ellipse">
            <a:avLst/>
          </a:prstGeom>
          <a:solidFill>
            <a:schemeClr val="accent2"/>
          </a:solidFill>
          <a:ln/>
        </p:spPr>
      </p:sp>
      <p:pic>
        <p:nvPicPr>
          <p:cNvPr id="16" name="stat icon 2" descr="stat icon 2">    </p:cNvPr>
          <p:cNvPicPr>
            <a:picLocks noChangeAspect="1"/>
          </p:cNvPicPr>
          <p:nvPr/>
        </p:nvPicPr>
        <p:blipFill>
          <a:blip r:embed="rId2"/>
          <a:stretch>
            <a:fillRect/>
          </a:stretch>
        </p:blipFill>
        <p:spPr>
          <a:xfrm>
            <a:off x="3732703" y="1763695"/>
            <a:ext cx="294803" cy="294803"/>
          </a:xfrm>
          <a:prstGeom prst="rect">
            <a:avLst/>
          </a:prstGeom>
        </p:spPr>
      </p:pic>
      <p:sp>
        <p:nvSpPr>
          <p:cNvPr id="17" name="Text 13"/>
          <p:cNvSpPr txBox="1"/>
          <p:nvPr/>
        </p:nvSpPr>
        <p:spPr>
          <a:xfrm>
            <a:off x="4282440" y="1536192"/>
            <a:ext cx="1645920" cy="777240"/>
          </a:xfrm>
          <a:prstGeom prst="rect">
            <a:avLst/>
          </a:prstGeom>
          <a:noFill/>
          <a:ln/>
        </p:spPr>
        <p:txBody>
          <a:bodyPr wrap="square" lIns="635" tIns="635" rIns="635" bIns="635"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1,271</a:t>
            </a:r>
            <a:endParaRPr lang="en-US" sz="3800" dirty="0"/>
          </a:p>
        </p:txBody>
      </p:sp>
      <p:sp>
        <p:nvSpPr>
          <p:cNvPr id="18" name="Text 14"/>
          <p:cNvSpPr txBox="1"/>
          <p:nvPr/>
        </p:nvSpPr>
        <p:spPr>
          <a:xfrm>
            <a:off x="3596640" y="2468880"/>
            <a:ext cx="2148840" cy="1325880"/>
          </a:xfrm>
          <a:prstGeom prst="rect">
            <a:avLst/>
          </a:prstGeom>
          <a:noFill/>
          <a:ln/>
        </p:spPr>
        <p:txBody>
          <a:bodyPr wrap="square" lIns="635" tIns="635" rIns="635" bIns="635" rtlCol="0" anchor="t"/>
          <a:lstStyle/>
          <a:p>
            <a:pPr indent="0" marL="0">
              <a:buNone/>
            </a:pPr>
            <a:r>
              <a:rPr lang="en-US" sz="1450" dirty="0">
                <a:solidFill>
                  <a:schemeClr val="tx1"/>
                </a:solidFill>
              </a:rPr>
              <a:t>tested positive: about 1 in 4 sailors (26.6%). Another 60 had Covid-like symptoms but no positive test</a:t>
            </a:r>
            <a:r>
              <a:rPr lang="en-US" sz="1450" baseline="30000" dirty="0">
                <a:solidFill>
                  <a:schemeClr val="tx1"/>
                </a:solidFill>
              </a:rPr>
              <a:t>1</a:t>
            </a:r>
            <a:endParaRPr lang="en-US" sz="1450" dirty="0"/>
          </a:p>
        </p:txBody>
      </p:sp>
      <p:sp>
        <p:nvSpPr>
          <p:cNvPr id="19" name="stat card 3"/>
          <p:cNvSpPr/>
          <p:nvPr/>
        </p:nvSpPr>
        <p:spPr>
          <a:xfrm>
            <a:off x="6187440" y="1371600"/>
            <a:ext cx="2606040" cy="2514600"/>
          </a:xfrm>
          <a:prstGeom prst="roundRect">
            <a:avLst>
              <a:gd name="adj" fmla="val 4364"/>
            </a:avLst>
          </a:prstGeom>
          <a:solidFill>
            <a:schemeClr val="bg2"/>
          </a:solidFill>
          <a:ln/>
        </p:spPr>
      </p:sp>
      <p:sp>
        <p:nvSpPr>
          <p:cNvPr id="20" name="stat icon 3 circle"/>
          <p:cNvSpPr/>
          <p:nvPr/>
        </p:nvSpPr>
        <p:spPr>
          <a:xfrm>
            <a:off x="6416040" y="1627632"/>
            <a:ext cx="566928" cy="566928"/>
          </a:xfrm>
          <a:prstGeom prst="ellipse">
            <a:avLst/>
          </a:prstGeom>
          <a:solidFill>
            <a:schemeClr val="accent5"/>
          </a:solidFill>
          <a:ln/>
        </p:spPr>
      </p:sp>
      <p:pic>
        <p:nvPicPr>
          <p:cNvPr id="21" name="stat icon 3" descr="stat icon 3">    </p:cNvPr>
          <p:cNvPicPr>
            <a:picLocks noChangeAspect="1"/>
          </p:cNvPicPr>
          <p:nvPr/>
        </p:nvPicPr>
        <p:blipFill>
          <a:blip r:embed="rId3"/>
          <a:stretch>
            <a:fillRect/>
          </a:stretch>
        </p:blipFill>
        <p:spPr>
          <a:xfrm>
            <a:off x="6552103" y="1763695"/>
            <a:ext cx="294803" cy="294803"/>
          </a:xfrm>
          <a:prstGeom prst="rect">
            <a:avLst/>
          </a:prstGeom>
        </p:spPr>
      </p:pic>
      <p:sp>
        <p:nvSpPr>
          <p:cNvPr id="22" name="Text 17"/>
          <p:cNvSpPr txBox="1"/>
          <p:nvPr/>
        </p:nvSpPr>
        <p:spPr>
          <a:xfrm>
            <a:off x="7101840" y="1536192"/>
            <a:ext cx="1645920" cy="777240"/>
          </a:xfrm>
          <a:prstGeom prst="rect">
            <a:avLst/>
          </a:prstGeom>
          <a:noFill/>
          <a:ln/>
        </p:spPr>
        <p:txBody>
          <a:bodyPr wrap="square" lIns="635" tIns="635" rIns="635" bIns="635" rtlCol="0" anchor="ctr"/>
          <a:lstStyle/>
          <a:p>
            <a:pPr indent="0" marL="0">
              <a:buNone/>
            </a:pPr>
            <a:r>
              <a:rPr lang="en-US" sz="3800" b="1" dirty="0">
                <a:solidFill>
                  <a:schemeClr val="accent5"/>
                </a:solidFill>
                <a:latin typeface="Cambria" pitchFamily="34" charset="0"/>
                <a:ea typeface="Cambria" pitchFamily="34" charset="-122"/>
                <a:cs typeface="Cambria" pitchFamily="34" charset="-120"/>
              </a:rPr>
              <a:t>23</a:t>
            </a:r>
            <a:endParaRPr lang="en-US" sz="3800" dirty="0"/>
          </a:p>
        </p:txBody>
      </p:sp>
      <p:sp>
        <p:nvSpPr>
          <p:cNvPr id="23" name="Text 18"/>
          <p:cNvSpPr txBox="1"/>
          <p:nvPr/>
        </p:nvSpPr>
        <p:spPr>
          <a:xfrm>
            <a:off x="6416040" y="2468880"/>
            <a:ext cx="2148840" cy="1325880"/>
          </a:xfrm>
          <a:prstGeom prst="rect">
            <a:avLst/>
          </a:prstGeom>
          <a:noFill/>
          <a:ln/>
        </p:spPr>
        <p:txBody>
          <a:bodyPr wrap="square" lIns="635" tIns="635" rIns="635" bIns="635" rtlCol="0" anchor="t"/>
          <a:lstStyle/>
          <a:p>
            <a:pPr indent="0" marL="0">
              <a:buNone/>
            </a:pPr>
            <a:r>
              <a:rPr lang="en-US" sz="1450" dirty="0">
                <a:solidFill>
                  <a:schemeClr val="tx1"/>
                </a:solidFill>
              </a:rPr>
              <a:t>were hospitalized (1.7% of cases). 4 needed intensive care</a:t>
            </a:r>
            <a:r>
              <a:rPr lang="en-US" sz="1450" baseline="30000" dirty="0">
                <a:solidFill>
                  <a:schemeClr val="tx1"/>
                </a:solidFill>
              </a:rPr>
              <a:t>1</a:t>
            </a:r>
            <a:endParaRPr lang="en-US" sz="1450" dirty="0"/>
          </a:p>
        </p:txBody>
      </p:sp>
      <p:sp>
        <p:nvSpPr>
          <p:cNvPr id="24" name="stat card 4"/>
          <p:cNvSpPr/>
          <p:nvPr/>
        </p:nvSpPr>
        <p:spPr>
          <a:xfrm>
            <a:off x="9006840" y="1371600"/>
            <a:ext cx="2606040" cy="2514600"/>
          </a:xfrm>
          <a:prstGeom prst="roundRect">
            <a:avLst>
              <a:gd name="adj" fmla="val 4364"/>
            </a:avLst>
          </a:prstGeom>
          <a:solidFill>
            <a:schemeClr val="bg2"/>
          </a:solidFill>
          <a:ln/>
        </p:spPr>
      </p:sp>
      <p:sp>
        <p:nvSpPr>
          <p:cNvPr id="25" name="stat icon 4 circle"/>
          <p:cNvSpPr/>
          <p:nvPr/>
        </p:nvSpPr>
        <p:spPr>
          <a:xfrm>
            <a:off x="9235440" y="1627632"/>
            <a:ext cx="566928" cy="566928"/>
          </a:xfrm>
          <a:prstGeom prst="ellipse">
            <a:avLst/>
          </a:prstGeom>
          <a:solidFill>
            <a:schemeClr val="accent2"/>
          </a:solidFill>
          <a:ln/>
        </p:spPr>
      </p:sp>
      <p:pic>
        <p:nvPicPr>
          <p:cNvPr id="26" name="stat icon 4" descr="stat icon 4">    </p:cNvPr>
          <p:cNvPicPr>
            <a:picLocks noChangeAspect="1"/>
          </p:cNvPicPr>
          <p:nvPr/>
        </p:nvPicPr>
        <p:blipFill>
          <a:blip r:embed="rId4"/>
          <a:stretch>
            <a:fillRect/>
          </a:stretch>
        </p:blipFill>
        <p:spPr>
          <a:xfrm>
            <a:off x="9371503" y="1763695"/>
            <a:ext cx="294803" cy="294803"/>
          </a:xfrm>
          <a:prstGeom prst="rect">
            <a:avLst/>
          </a:prstGeom>
        </p:spPr>
      </p:pic>
      <p:sp>
        <p:nvSpPr>
          <p:cNvPr id="27" name="Text 21"/>
          <p:cNvSpPr txBox="1"/>
          <p:nvPr/>
        </p:nvSpPr>
        <p:spPr>
          <a:xfrm>
            <a:off x="9921240" y="1536192"/>
            <a:ext cx="1645920" cy="777240"/>
          </a:xfrm>
          <a:prstGeom prst="rect">
            <a:avLst/>
          </a:prstGeom>
          <a:noFill/>
          <a:ln/>
        </p:spPr>
        <p:txBody>
          <a:bodyPr wrap="square" lIns="635" tIns="635" rIns="635" bIns="635"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1</a:t>
            </a:r>
            <a:endParaRPr lang="en-US" sz="3800" dirty="0"/>
          </a:p>
        </p:txBody>
      </p:sp>
      <p:sp>
        <p:nvSpPr>
          <p:cNvPr id="28" name="Text 22"/>
          <p:cNvSpPr txBox="1"/>
          <p:nvPr/>
        </p:nvSpPr>
        <p:spPr>
          <a:xfrm>
            <a:off x="9235440" y="2468880"/>
            <a:ext cx="2148840" cy="1325880"/>
          </a:xfrm>
          <a:prstGeom prst="rect">
            <a:avLst/>
          </a:prstGeom>
          <a:noFill/>
          <a:ln/>
        </p:spPr>
        <p:txBody>
          <a:bodyPr wrap="square" lIns="635" tIns="635" rIns="635" bIns="635" rtlCol="0" anchor="t"/>
          <a:lstStyle/>
          <a:p>
            <a:pPr indent="0" marL="0">
              <a:buNone/>
            </a:pPr>
            <a:r>
              <a:rPr lang="en-US" sz="1450" dirty="0">
                <a:solidFill>
                  <a:schemeClr val="tx1"/>
                </a:solidFill>
              </a:rPr>
              <a:t>sailor died, from heart-related complications of Covid-19</a:t>
            </a:r>
            <a:r>
              <a:rPr lang="en-US" sz="1450" baseline="30000" dirty="0">
                <a:solidFill>
                  <a:schemeClr val="tx1"/>
                </a:solidFill>
              </a:rPr>
              <a:t>1</a:t>
            </a:r>
            <a:endParaRPr lang="en-US" sz="1450" dirty="0"/>
          </a:p>
        </p:txBody>
      </p:sp>
      <p:sp>
        <p:nvSpPr>
          <p:cNvPr id="29" name="why study card"/>
          <p:cNvSpPr/>
          <p:nvPr/>
        </p:nvSpPr>
        <p:spPr>
          <a:xfrm>
            <a:off x="548640" y="4069080"/>
            <a:ext cx="11064240" cy="1280160"/>
          </a:xfrm>
          <a:prstGeom prst="roundRect">
            <a:avLst>
              <a:gd name="adj" fmla="val 8571"/>
            </a:avLst>
          </a:prstGeom>
          <a:solidFill>
            <a:schemeClr val="bg2"/>
          </a:solidFill>
          <a:ln/>
        </p:spPr>
      </p:sp>
      <p:sp>
        <p:nvSpPr>
          <p:cNvPr id="30" name="why study icon circle"/>
          <p:cNvSpPr/>
          <p:nvPr/>
        </p:nvSpPr>
        <p:spPr>
          <a:xfrm>
            <a:off x="777240" y="4361688"/>
            <a:ext cx="685800" cy="685800"/>
          </a:xfrm>
          <a:prstGeom prst="ellipse">
            <a:avLst/>
          </a:prstGeom>
          <a:solidFill>
            <a:schemeClr val="accent1"/>
          </a:solidFill>
          <a:ln/>
        </p:spPr>
      </p:sp>
      <p:pic>
        <p:nvPicPr>
          <p:cNvPr id="31" name="why study icon" descr="why study icon">    </p:cNvPr>
          <p:cNvPicPr>
            <a:picLocks noChangeAspect="1"/>
          </p:cNvPicPr>
          <p:nvPr/>
        </p:nvPicPr>
        <p:blipFill>
          <a:blip r:embed="rId5"/>
          <a:stretch>
            <a:fillRect/>
          </a:stretch>
        </p:blipFill>
        <p:spPr>
          <a:xfrm>
            <a:off x="941832" y="4526280"/>
            <a:ext cx="356616" cy="356616"/>
          </a:xfrm>
          <a:prstGeom prst="rect">
            <a:avLst/>
          </a:prstGeom>
        </p:spPr>
      </p:pic>
      <p:sp>
        <p:nvSpPr>
          <p:cNvPr id="32" name="Text 25"/>
          <p:cNvSpPr txBox="1"/>
          <p:nvPr/>
        </p:nvSpPr>
        <p:spPr>
          <a:xfrm>
            <a:off x="1691640" y="4160520"/>
            <a:ext cx="9692640" cy="4114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Why this outbreak is worth studying</a:t>
            </a:r>
            <a:endParaRPr lang="en-US" sz="1800" dirty="0"/>
          </a:p>
        </p:txBody>
      </p:sp>
      <p:sp>
        <p:nvSpPr>
          <p:cNvPr id="33" name="Text 26"/>
          <p:cNvSpPr txBox="1"/>
          <p:nvPr/>
        </p:nvSpPr>
        <p:spPr>
          <a:xfrm>
            <a:off x="1691640" y="4590288"/>
            <a:ext cx="9692640" cy="685800"/>
          </a:xfrm>
          <a:prstGeom prst="rect">
            <a:avLst/>
          </a:prstGeom>
          <a:noFill/>
          <a:ln/>
        </p:spPr>
        <p:txBody>
          <a:bodyPr wrap="square" lIns="635" tIns="635" rIns="635" bIns="635" rtlCol="0" anchor="t"/>
          <a:lstStyle/>
          <a:p>
            <a:pPr indent="0" marL="0">
              <a:buNone/>
            </a:pPr>
            <a:r>
              <a:rPr lang="en-US" sz="1500" dirty="0">
                <a:solidFill>
                  <a:schemeClr val="tx1"/>
                </a:solidFill>
              </a:rPr>
              <a:t>Every sailor was tested and followed for at least 10 weeks</a:t>
            </a:r>
            <a:r>
              <a:rPr lang="en-US" sz="1500" baseline="30000" dirty="0">
                <a:solidFill>
                  <a:schemeClr val="tx1"/>
                </a:solidFill>
              </a:rPr>
              <a:t>1</a:t>
            </a:r>
            <a:r>
              <a:rPr lang="en-US" sz="1500" dirty="0">
                <a:solidFill>
                  <a:schemeClr val="tx1"/>
                </a:solidFill>
              </a:rPr>
              <a:t>, so we can see the whole outbreak, including the people who never felt sick.</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A crowded ship at sea gave the virus an easy path</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Sleeping, eating and working close together makes it easy for a respiratory virus to move from person to person.</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When did the virus arrive?</a:t>
            </a:r>
            <a:endParaRPr lang="en-US" sz="1300" dirty="0"/>
          </a:p>
        </p:txBody>
      </p:sp>
      <p:sp>
        <p:nvSpPr>
          <p:cNvPr id="9" name="Where card"/>
          <p:cNvSpPr/>
          <p:nvPr/>
        </p:nvSpPr>
        <p:spPr>
          <a:xfrm>
            <a:off x="548640" y="1371600"/>
            <a:ext cx="3520440" cy="2560320"/>
          </a:xfrm>
          <a:prstGeom prst="roundRect">
            <a:avLst>
              <a:gd name="adj" fmla="val 4286"/>
            </a:avLst>
          </a:prstGeom>
          <a:solidFill>
            <a:schemeClr val="bg2"/>
          </a:solidFill>
          <a:ln/>
        </p:spPr>
      </p:sp>
      <p:sp>
        <p:nvSpPr>
          <p:cNvPr id="10" name="Where icon circle"/>
          <p:cNvSpPr/>
          <p:nvPr/>
        </p:nvSpPr>
        <p:spPr>
          <a:xfrm>
            <a:off x="777240" y="1600200"/>
            <a:ext cx="640080" cy="640080"/>
          </a:xfrm>
          <a:prstGeom prst="ellipse">
            <a:avLst/>
          </a:prstGeom>
          <a:solidFill>
            <a:schemeClr val="accent1"/>
          </a:solidFill>
          <a:ln/>
        </p:spPr>
      </p:sp>
      <p:pic>
        <p:nvPicPr>
          <p:cNvPr id="11" name="Where icon" descr="Where icon">    </p:cNvPr>
          <p:cNvPicPr>
            <a:picLocks noChangeAspect="1"/>
          </p:cNvPicPr>
          <p:nvPr/>
        </p:nvPicPr>
        <p:blipFill>
          <a:blip r:embed="rId1"/>
          <a:stretch>
            <a:fillRect/>
          </a:stretch>
        </p:blipFill>
        <p:spPr>
          <a:xfrm>
            <a:off x="930859" y="1753819"/>
            <a:ext cx="332842" cy="332842"/>
          </a:xfrm>
          <a:prstGeom prst="rect">
            <a:avLst/>
          </a:prstGeom>
        </p:spPr>
      </p:pic>
      <p:sp>
        <p:nvSpPr>
          <p:cNvPr id="12" name="Text 9"/>
          <p:cNvSpPr txBox="1"/>
          <p:nvPr/>
        </p:nvSpPr>
        <p:spPr>
          <a:xfrm>
            <a:off x="15544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Where</a:t>
            </a:r>
            <a:endParaRPr lang="en-US" sz="1800" dirty="0"/>
          </a:p>
        </p:txBody>
      </p:sp>
      <p:sp>
        <p:nvSpPr>
          <p:cNvPr id="13" name="Text 10"/>
          <p:cNvSpPr txBox="1"/>
          <p:nvPr/>
        </p:nvSpPr>
        <p:spPr>
          <a:xfrm>
            <a:off x="777240" y="2377440"/>
            <a:ext cx="3063240" cy="1417320"/>
          </a:xfrm>
          <a:prstGeom prst="rect">
            <a:avLst/>
          </a:prstGeom>
          <a:noFill/>
          <a:ln/>
        </p:spPr>
        <p:txBody>
          <a:bodyPr wrap="square" lIns="635" tIns="635" rIns="635" bIns="635" rtlCol="0" anchor="t"/>
          <a:lstStyle/>
          <a:p>
            <a:pPr indent="0" marL="0">
              <a:buNone/>
            </a:pPr>
            <a:r>
              <a:rPr lang="en-US" sz="1450" dirty="0">
                <a:solidFill>
                  <a:schemeClr val="tx1"/>
                </a:solidFill>
              </a:rPr>
              <a:t>A nuclear-powered aircraft carrier operating in the Western Pacific. Later it docked at U.S. Naval Base Guam.</a:t>
            </a:r>
            <a:r>
              <a:rPr lang="en-US" sz="1450" baseline="30000" dirty="0">
                <a:solidFill>
                  <a:schemeClr val="tx1"/>
                </a:solidFill>
              </a:rPr>
              <a:t>1</a:t>
            </a:r>
            <a:endParaRPr lang="en-US" sz="1450" dirty="0"/>
          </a:p>
        </p:txBody>
      </p:sp>
      <p:sp>
        <p:nvSpPr>
          <p:cNvPr id="14" name="Who card"/>
          <p:cNvSpPr/>
          <p:nvPr/>
        </p:nvSpPr>
        <p:spPr>
          <a:xfrm>
            <a:off x="4320540" y="1371600"/>
            <a:ext cx="3520440" cy="2560320"/>
          </a:xfrm>
          <a:prstGeom prst="roundRect">
            <a:avLst>
              <a:gd name="adj" fmla="val 4286"/>
            </a:avLst>
          </a:prstGeom>
          <a:solidFill>
            <a:schemeClr val="bg2"/>
          </a:solidFill>
          <a:ln/>
        </p:spPr>
      </p:sp>
      <p:sp>
        <p:nvSpPr>
          <p:cNvPr id="15" name="Who icon circle"/>
          <p:cNvSpPr/>
          <p:nvPr/>
        </p:nvSpPr>
        <p:spPr>
          <a:xfrm>
            <a:off x="4549140" y="1600200"/>
            <a:ext cx="640080" cy="640080"/>
          </a:xfrm>
          <a:prstGeom prst="ellipse">
            <a:avLst/>
          </a:prstGeom>
          <a:solidFill>
            <a:schemeClr val="accent1"/>
          </a:solidFill>
          <a:ln/>
        </p:spPr>
      </p:sp>
      <p:pic>
        <p:nvPicPr>
          <p:cNvPr id="16" name="Who icon" descr="Who icon">    </p:cNvPr>
          <p:cNvPicPr>
            <a:picLocks noChangeAspect="1"/>
          </p:cNvPicPr>
          <p:nvPr/>
        </p:nvPicPr>
        <p:blipFill>
          <a:blip r:embed="rId2"/>
          <a:stretch>
            <a:fillRect/>
          </a:stretch>
        </p:blipFill>
        <p:spPr>
          <a:xfrm>
            <a:off x="4702759" y="1753819"/>
            <a:ext cx="332842" cy="332842"/>
          </a:xfrm>
          <a:prstGeom prst="rect">
            <a:avLst/>
          </a:prstGeom>
        </p:spPr>
      </p:pic>
      <p:sp>
        <p:nvSpPr>
          <p:cNvPr id="17" name="Text 13"/>
          <p:cNvSpPr txBox="1"/>
          <p:nvPr/>
        </p:nvSpPr>
        <p:spPr>
          <a:xfrm>
            <a:off x="53263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Who</a:t>
            </a:r>
            <a:endParaRPr lang="en-US" sz="1800" dirty="0"/>
          </a:p>
        </p:txBody>
      </p:sp>
      <p:sp>
        <p:nvSpPr>
          <p:cNvPr id="18" name="Text 14"/>
          <p:cNvSpPr txBox="1"/>
          <p:nvPr/>
        </p:nvSpPr>
        <p:spPr>
          <a:xfrm>
            <a:off x="4549140" y="2377440"/>
            <a:ext cx="3063240" cy="1417320"/>
          </a:xfrm>
          <a:prstGeom prst="rect">
            <a:avLst/>
          </a:prstGeom>
          <a:noFill/>
          <a:ln/>
        </p:spPr>
        <p:txBody>
          <a:bodyPr wrap="square" lIns="635" tIns="635" rIns="635" bIns="635" rtlCol="0" anchor="t"/>
          <a:lstStyle/>
          <a:p>
            <a:pPr indent="0" marL="0">
              <a:buNone/>
            </a:pPr>
            <a:r>
              <a:rPr lang="en-US" sz="1450" dirty="0">
                <a:solidFill>
                  <a:schemeClr val="tx1"/>
                </a:solidFill>
              </a:rPr>
              <a:t>4,779 crew, average age 27, about 8 in 10 of them men. All were fit for sea duty.</a:t>
            </a:r>
            <a:r>
              <a:rPr lang="en-US" sz="1450" baseline="30000" dirty="0">
                <a:solidFill>
                  <a:schemeClr val="tx1"/>
                </a:solidFill>
              </a:rPr>
              <a:t>1</a:t>
            </a:r>
            <a:endParaRPr lang="en-US" sz="1450" dirty="0"/>
          </a:p>
        </p:txBody>
      </p:sp>
      <p:sp>
        <p:nvSpPr>
          <p:cNvPr id="19" name="How they live card"/>
          <p:cNvSpPr/>
          <p:nvPr/>
        </p:nvSpPr>
        <p:spPr>
          <a:xfrm>
            <a:off x="8092440" y="1371600"/>
            <a:ext cx="3520440" cy="2560320"/>
          </a:xfrm>
          <a:prstGeom prst="roundRect">
            <a:avLst>
              <a:gd name="adj" fmla="val 4286"/>
            </a:avLst>
          </a:prstGeom>
          <a:solidFill>
            <a:schemeClr val="bg2"/>
          </a:solidFill>
          <a:ln/>
        </p:spPr>
      </p:sp>
      <p:sp>
        <p:nvSpPr>
          <p:cNvPr id="20" name="How they live icon circle"/>
          <p:cNvSpPr/>
          <p:nvPr/>
        </p:nvSpPr>
        <p:spPr>
          <a:xfrm>
            <a:off x="8321040" y="1600200"/>
            <a:ext cx="640080" cy="640080"/>
          </a:xfrm>
          <a:prstGeom prst="ellipse">
            <a:avLst/>
          </a:prstGeom>
          <a:solidFill>
            <a:schemeClr val="accent1"/>
          </a:solidFill>
          <a:ln/>
        </p:spPr>
      </p:sp>
      <p:pic>
        <p:nvPicPr>
          <p:cNvPr id="21" name="How they live icon" descr="How they live icon">    </p:cNvPr>
          <p:cNvPicPr>
            <a:picLocks noChangeAspect="1"/>
          </p:cNvPicPr>
          <p:nvPr/>
        </p:nvPicPr>
        <p:blipFill>
          <a:blip r:embed="rId3"/>
          <a:stretch>
            <a:fillRect/>
          </a:stretch>
        </p:blipFill>
        <p:spPr>
          <a:xfrm>
            <a:off x="8474659" y="1753819"/>
            <a:ext cx="332842" cy="332842"/>
          </a:xfrm>
          <a:prstGeom prst="rect">
            <a:avLst/>
          </a:prstGeom>
        </p:spPr>
      </p:pic>
      <p:sp>
        <p:nvSpPr>
          <p:cNvPr id="22" name="Text 17"/>
          <p:cNvSpPr txBox="1"/>
          <p:nvPr/>
        </p:nvSpPr>
        <p:spPr>
          <a:xfrm>
            <a:off x="90982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How they live</a:t>
            </a:r>
            <a:endParaRPr lang="en-US" sz="1800" dirty="0"/>
          </a:p>
        </p:txBody>
      </p:sp>
      <p:sp>
        <p:nvSpPr>
          <p:cNvPr id="23" name="Text 18"/>
          <p:cNvSpPr txBox="1"/>
          <p:nvPr/>
        </p:nvSpPr>
        <p:spPr>
          <a:xfrm>
            <a:off x="8321040" y="2377440"/>
            <a:ext cx="3063240" cy="1417320"/>
          </a:xfrm>
          <a:prstGeom prst="rect">
            <a:avLst/>
          </a:prstGeom>
          <a:noFill/>
          <a:ln/>
        </p:spPr>
        <p:txBody>
          <a:bodyPr wrap="square" lIns="635" tIns="635" rIns="635" bIns="635" rtlCol="0" anchor="t"/>
          <a:lstStyle/>
          <a:p>
            <a:pPr indent="0" marL="0">
              <a:buNone/>
            </a:pPr>
            <a:r>
              <a:rPr lang="en-US" sz="1450" dirty="0">
                <a:solidFill>
                  <a:schemeClr val="tx1"/>
                </a:solidFill>
              </a:rPr>
              <a:t>Enlisted sailors sleep in open bays with tightly packed bunks and share galleys and gyms.</a:t>
            </a:r>
            <a:r>
              <a:rPr lang="en-US" sz="1450" baseline="30000" dirty="0">
                <a:solidFill>
                  <a:schemeClr val="tx1"/>
                </a:solidFill>
              </a:rPr>
              <a:t>1</a:t>
            </a:r>
            <a:endParaRPr lang="en-US" sz="1450" dirty="0"/>
          </a:p>
        </p:txBody>
      </p:sp>
      <p:sp>
        <p:nvSpPr>
          <p:cNvPr id="24" name="noticed card"/>
          <p:cNvSpPr/>
          <p:nvPr/>
        </p:nvSpPr>
        <p:spPr>
          <a:xfrm>
            <a:off x="548640" y="4114800"/>
            <a:ext cx="11064240" cy="1234440"/>
          </a:xfrm>
          <a:prstGeom prst="roundRect">
            <a:avLst>
              <a:gd name="adj" fmla="val 8889"/>
            </a:avLst>
          </a:prstGeom>
          <a:solidFill>
            <a:schemeClr val="bg2"/>
          </a:solidFill>
          <a:ln/>
        </p:spPr>
      </p:sp>
      <p:sp>
        <p:nvSpPr>
          <p:cNvPr id="25" name="noticed icon circle"/>
          <p:cNvSpPr/>
          <p:nvPr/>
        </p:nvSpPr>
        <p:spPr>
          <a:xfrm>
            <a:off x="777240" y="4389120"/>
            <a:ext cx="685800" cy="685800"/>
          </a:xfrm>
          <a:prstGeom prst="ellipse">
            <a:avLst/>
          </a:prstGeom>
          <a:solidFill>
            <a:schemeClr val="accent2"/>
          </a:solidFill>
          <a:ln/>
        </p:spPr>
      </p:sp>
      <p:pic>
        <p:nvPicPr>
          <p:cNvPr id="26" name="noticed icon" descr="noticed icon">    </p:cNvPr>
          <p:cNvPicPr>
            <a:picLocks noChangeAspect="1"/>
          </p:cNvPicPr>
          <p:nvPr/>
        </p:nvPicPr>
        <p:blipFill>
          <a:blip r:embed="rId4"/>
          <a:stretch>
            <a:fillRect/>
          </a:stretch>
        </p:blipFill>
        <p:spPr>
          <a:xfrm>
            <a:off x="941832" y="4553712"/>
            <a:ext cx="356616" cy="356616"/>
          </a:xfrm>
          <a:prstGeom prst="rect">
            <a:avLst/>
          </a:prstGeom>
        </p:spPr>
      </p:pic>
      <p:sp>
        <p:nvSpPr>
          <p:cNvPr id="27" name="Text 21"/>
          <p:cNvSpPr txBox="1"/>
          <p:nvPr/>
        </p:nvSpPr>
        <p:spPr>
          <a:xfrm>
            <a:off x="1691640" y="4187952"/>
            <a:ext cx="9692640" cy="4114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How it was noticed</a:t>
            </a:r>
            <a:endParaRPr lang="en-US" sz="1800" dirty="0"/>
          </a:p>
        </p:txBody>
      </p:sp>
      <p:sp>
        <p:nvSpPr>
          <p:cNvPr id="28" name="Text 22"/>
          <p:cNvSpPr txBox="1"/>
          <p:nvPr/>
        </p:nvSpPr>
        <p:spPr>
          <a:xfrm>
            <a:off x="1691640" y="4617720"/>
            <a:ext cx="9692640" cy="685800"/>
          </a:xfrm>
          <a:prstGeom prst="rect">
            <a:avLst/>
          </a:prstGeom>
          <a:noFill/>
          <a:ln/>
        </p:spPr>
        <p:txBody>
          <a:bodyPr wrap="square" lIns="635" tIns="635" rIns="635" bIns="635" rtlCol="0" anchor="t"/>
          <a:lstStyle/>
          <a:p>
            <a:pPr indent="0" marL="0">
              <a:buNone/>
            </a:pPr>
            <a:r>
              <a:rPr lang="en-US" sz="1500" dirty="0">
                <a:solidFill>
                  <a:schemeClr val="tx1"/>
                </a:solidFill>
              </a:rPr>
              <a:t>After 13 days at sea, 3 sailors felt sick and tested positive on March 23, 2020. Within 24 hours, about 400 close contacts were identified</a:t>
            </a:r>
            <a:r>
              <a:rPr lang="en-US" sz="1500" baseline="30000" dirty="0">
                <a:solidFill>
                  <a:schemeClr val="tx1"/>
                </a:solidFill>
              </a:rPr>
              <a:t>1</a:t>
            </a:r>
            <a:r>
              <a:rPr lang="en-US" sz="1500" dirty="0">
                <a:solidFill>
                  <a:schemeClr val="tx1"/>
                </a:solidFill>
              </a:rPr>
              <a:t>.</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The virus spread for 12 days before anyone noticed</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The virus spread for almost two weeks before the first positive tests, and new cases kept coming for weeks after.</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kind of virus spreads so quietly?</a:t>
            </a:r>
            <a:endParaRPr lang="en-US" sz="1300" dirty="0"/>
          </a:p>
        </p:txBody>
      </p:sp>
      <p:sp>
        <p:nvSpPr>
          <p:cNvPr id="9" name="timeline axis"/>
          <p:cNvSpPr/>
          <p:nvPr/>
        </p:nvSpPr>
        <p:spPr>
          <a:xfrm>
            <a:off x="1463040" y="2926080"/>
            <a:ext cx="9144000" cy="0"/>
          </a:xfrm>
          <a:prstGeom prst="line">
            <a:avLst/>
          </a:prstGeom>
          <a:noFill/>
          <a:ln w="38100">
            <a:solidFill>
              <a:srgbClr val="8DA9C4"/>
            </a:solidFill>
            <a:prstDash val="solid"/>
          </a:ln>
        </p:spPr>
      </p:sp>
      <p:sp>
        <p:nvSpPr>
          <p:cNvPr id="10" name="12 silent days"/>
          <p:cNvSpPr/>
          <p:nvPr/>
        </p:nvSpPr>
        <p:spPr>
          <a:xfrm>
            <a:off x="3749040" y="2926080"/>
            <a:ext cx="2286000" cy="0"/>
          </a:xfrm>
          <a:prstGeom prst="line">
            <a:avLst/>
          </a:prstGeom>
          <a:noFill/>
          <a:ln w="63500">
            <a:solidFill>
              <a:srgbClr val="D1495B"/>
            </a:solidFill>
            <a:prstDash val="solid"/>
          </a:ln>
        </p:spPr>
      </p:sp>
      <p:sp>
        <p:nvSpPr>
          <p:cNvPr id="11" name="milestone 1"/>
          <p:cNvSpPr/>
          <p:nvPr/>
        </p:nvSpPr>
        <p:spPr>
          <a:xfrm>
            <a:off x="1307592" y="2770632"/>
            <a:ext cx="310896" cy="310896"/>
          </a:xfrm>
          <a:prstGeom prst="ellipse">
            <a:avLst/>
          </a:prstGeom>
          <a:solidFill>
            <a:schemeClr val="accent5"/>
          </a:solidFill>
          <a:ln w="25400">
            <a:solidFill>
              <a:srgbClr val="FFFFFF"/>
            </a:solidFill>
            <a:prstDash val="solid"/>
          </a:ln>
        </p:spPr>
      </p:sp>
      <p:sp>
        <p:nvSpPr>
          <p:cNvPr id="12" name="Text 10"/>
          <p:cNvSpPr txBox="1"/>
          <p:nvPr/>
        </p:nvSpPr>
        <p:spPr>
          <a:xfrm>
            <a:off x="548640" y="1874520"/>
            <a:ext cx="1828800" cy="411480"/>
          </a:xfrm>
          <a:prstGeom prst="rect">
            <a:avLst/>
          </a:prstGeom>
          <a:noFill/>
          <a:ln/>
        </p:spPr>
        <p:txBody>
          <a:bodyPr wrap="square" lIns="635" tIns="635" rIns="635" bIns="635" rtlCol="0" anchor="t"/>
          <a:lstStyle/>
          <a:p>
            <a:pPr algn="ctr" indent="0" marL="0">
              <a:buNone/>
            </a:pPr>
            <a:r>
              <a:rPr lang="en-US" sz="1900" b="1" dirty="0">
                <a:solidFill>
                  <a:schemeClr val="accent5"/>
                </a:solidFill>
                <a:latin typeface="Cambria" pitchFamily="34" charset="0"/>
                <a:ea typeface="Cambria" pitchFamily="34" charset="-122"/>
                <a:cs typeface="Cambria" pitchFamily="34" charset="-120"/>
              </a:rPr>
              <a:t>Mar 5–9</a:t>
            </a:r>
            <a:endParaRPr lang="en-US" sz="1900" dirty="0"/>
          </a:p>
        </p:txBody>
      </p:sp>
      <p:sp>
        <p:nvSpPr>
          <p:cNvPr id="13" name="Text 11"/>
          <p:cNvSpPr txBox="1"/>
          <p:nvPr/>
        </p:nvSpPr>
        <p:spPr>
          <a:xfrm>
            <a:off x="457200" y="3246120"/>
            <a:ext cx="2011680" cy="1554480"/>
          </a:xfrm>
          <a:prstGeom prst="rect">
            <a:avLst/>
          </a:prstGeom>
          <a:noFill/>
          <a:ln/>
        </p:spPr>
        <p:txBody>
          <a:bodyPr wrap="square" lIns="635" tIns="635" rIns="635" bIns="635" rtlCol="0" anchor="t"/>
          <a:lstStyle/>
          <a:p>
            <a:pPr algn="ctr" indent="0" marL="0">
              <a:buNone/>
            </a:pPr>
            <a:r>
              <a:rPr lang="en-US" sz="1500" dirty="0">
                <a:solidFill>
                  <a:schemeClr val="tx1"/>
                </a:solidFill>
              </a:rPr>
              <a:t>Port visit during the deployment</a:t>
            </a:r>
            <a:r>
              <a:rPr lang="en-US" sz="1500" baseline="30000" dirty="0">
                <a:solidFill>
                  <a:schemeClr val="tx1"/>
                </a:solidFill>
              </a:rPr>
              <a:t>1</a:t>
            </a:r>
            <a:endParaRPr lang="en-US" sz="1500" dirty="0"/>
          </a:p>
        </p:txBody>
      </p:sp>
      <p:sp>
        <p:nvSpPr>
          <p:cNvPr id="14" name="milestone 2"/>
          <p:cNvSpPr/>
          <p:nvPr/>
        </p:nvSpPr>
        <p:spPr>
          <a:xfrm>
            <a:off x="3593592" y="2770632"/>
            <a:ext cx="310896" cy="310896"/>
          </a:xfrm>
          <a:prstGeom prst="ellipse">
            <a:avLst/>
          </a:prstGeom>
          <a:solidFill>
            <a:schemeClr val="accent5"/>
          </a:solidFill>
          <a:ln w="25400">
            <a:solidFill>
              <a:srgbClr val="FFFFFF"/>
            </a:solidFill>
            <a:prstDash val="solid"/>
          </a:ln>
        </p:spPr>
      </p:sp>
      <p:sp>
        <p:nvSpPr>
          <p:cNvPr id="15" name="Text 13"/>
          <p:cNvSpPr txBox="1"/>
          <p:nvPr/>
        </p:nvSpPr>
        <p:spPr>
          <a:xfrm>
            <a:off x="2834640" y="1874520"/>
            <a:ext cx="1828800" cy="411480"/>
          </a:xfrm>
          <a:prstGeom prst="rect">
            <a:avLst/>
          </a:prstGeom>
          <a:noFill/>
          <a:ln/>
        </p:spPr>
        <p:txBody>
          <a:bodyPr wrap="square" lIns="635" tIns="635" rIns="635" bIns="635" rtlCol="0" anchor="t"/>
          <a:lstStyle/>
          <a:p>
            <a:pPr algn="ctr" indent="0" marL="0">
              <a:buNone/>
            </a:pPr>
            <a:r>
              <a:rPr lang="en-US" sz="1900" b="1" dirty="0">
                <a:solidFill>
                  <a:schemeClr val="accent5"/>
                </a:solidFill>
                <a:latin typeface="Cambria" pitchFamily="34" charset="0"/>
                <a:ea typeface="Cambria" pitchFamily="34" charset="-122"/>
                <a:cs typeface="Cambria" pitchFamily="34" charset="-120"/>
              </a:rPr>
              <a:t>Mar 11</a:t>
            </a:r>
            <a:endParaRPr lang="en-US" sz="1900" dirty="0"/>
          </a:p>
        </p:txBody>
      </p:sp>
      <p:sp>
        <p:nvSpPr>
          <p:cNvPr id="16" name="Text 14"/>
          <p:cNvSpPr txBox="1"/>
          <p:nvPr/>
        </p:nvSpPr>
        <p:spPr>
          <a:xfrm>
            <a:off x="2743200" y="3246120"/>
            <a:ext cx="2011680" cy="1554480"/>
          </a:xfrm>
          <a:prstGeom prst="rect">
            <a:avLst/>
          </a:prstGeom>
          <a:noFill/>
          <a:ln/>
        </p:spPr>
        <p:txBody>
          <a:bodyPr wrap="square" lIns="635" tIns="635" rIns="635" bIns="635" rtlCol="0" anchor="t"/>
          <a:lstStyle/>
          <a:p>
            <a:pPr algn="ctr" indent="0" marL="0">
              <a:buNone/>
            </a:pPr>
            <a:r>
              <a:rPr lang="en-US" sz="1500" dirty="0">
                <a:solidFill>
                  <a:schemeClr val="tx1"/>
                </a:solidFill>
              </a:rPr>
              <a:t>First sailor with symptoms (identified later). Supply flights (COD) arrive Mar 11–16</a:t>
            </a:r>
            <a:r>
              <a:rPr lang="en-US" sz="1500" baseline="30000" dirty="0">
                <a:solidFill>
                  <a:schemeClr val="tx1"/>
                </a:solidFill>
              </a:rPr>
              <a:t>1</a:t>
            </a:r>
            <a:endParaRPr lang="en-US" sz="1500" dirty="0"/>
          </a:p>
        </p:txBody>
      </p:sp>
      <p:sp>
        <p:nvSpPr>
          <p:cNvPr id="17" name="milestone 3"/>
          <p:cNvSpPr/>
          <p:nvPr/>
        </p:nvSpPr>
        <p:spPr>
          <a:xfrm>
            <a:off x="5879592" y="2770632"/>
            <a:ext cx="310896" cy="310896"/>
          </a:xfrm>
          <a:prstGeom prst="ellipse">
            <a:avLst/>
          </a:prstGeom>
          <a:solidFill>
            <a:schemeClr val="accent2"/>
          </a:solidFill>
          <a:ln w="25400">
            <a:solidFill>
              <a:srgbClr val="FFFFFF"/>
            </a:solidFill>
            <a:prstDash val="solid"/>
          </a:ln>
        </p:spPr>
      </p:sp>
      <p:sp>
        <p:nvSpPr>
          <p:cNvPr id="18" name="Text 16"/>
          <p:cNvSpPr txBox="1"/>
          <p:nvPr/>
        </p:nvSpPr>
        <p:spPr>
          <a:xfrm>
            <a:off x="5120640" y="1874520"/>
            <a:ext cx="1828800" cy="411480"/>
          </a:xfrm>
          <a:prstGeom prst="rect">
            <a:avLst/>
          </a:prstGeom>
          <a:noFill/>
          <a:ln/>
        </p:spPr>
        <p:txBody>
          <a:bodyPr wrap="square" lIns="635" tIns="635" rIns="635" bIns="635" rtlCol="0" anchor="t"/>
          <a:lstStyle/>
          <a:p>
            <a:pPr algn="ctr" indent="0" marL="0">
              <a:buNone/>
            </a:pPr>
            <a:r>
              <a:rPr lang="en-US" sz="1900" b="1" dirty="0">
                <a:solidFill>
                  <a:schemeClr val="accent2"/>
                </a:solidFill>
                <a:latin typeface="Cambria" pitchFamily="34" charset="0"/>
                <a:ea typeface="Cambria" pitchFamily="34" charset="-122"/>
                <a:cs typeface="Cambria" pitchFamily="34" charset="-120"/>
              </a:rPr>
              <a:t>Mar 23</a:t>
            </a:r>
            <a:endParaRPr lang="en-US" sz="1900" dirty="0"/>
          </a:p>
        </p:txBody>
      </p:sp>
      <p:sp>
        <p:nvSpPr>
          <p:cNvPr id="19" name="Text 17"/>
          <p:cNvSpPr txBox="1"/>
          <p:nvPr/>
        </p:nvSpPr>
        <p:spPr>
          <a:xfrm>
            <a:off x="5029200" y="3246120"/>
            <a:ext cx="2011680" cy="1554480"/>
          </a:xfrm>
          <a:prstGeom prst="rect">
            <a:avLst/>
          </a:prstGeom>
          <a:noFill/>
          <a:ln/>
        </p:spPr>
        <p:txBody>
          <a:bodyPr wrap="square" lIns="635" tIns="635" rIns="635" bIns="635" rtlCol="0" anchor="t"/>
          <a:lstStyle/>
          <a:p>
            <a:pPr algn="ctr" indent="0" marL="0">
              <a:buNone/>
            </a:pPr>
            <a:r>
              <a:rPr lang="en-US" sz="1500" dirty="0">
                <a:solidFill>
                  <a:schemeClr val="tx1"/>
                </a:solidFill>
              </a:rPr>
              <a:t>First 3 positive tests. Outbreak recognized</a:t>
            </a:r>
            <a:r>
              <a:rPr lang="en-US" sz="1500" baseline="30000" dirty="0">
                <a:solidFill>
                  <a:schemeClr val="tx1"/>
                </a:solidFill>
              </a:rPr>
              <a:t>1</a:t>
            </a:r>
            <a:endParaRPr lang="en-US" sz="1500" dirty="0"/>
          </a:p>
        </p:txBody>
      </p:sp>
      <p:sp>
        <p:nvSpPr>
          <p:cNvPr id="20" name="milestone 4"/>
          <p:cNvSpPr/>
          <p:nvPr/>
        </p:nvSpPr>
        <p:spPr>
          <a:xfrm>
            <a:off x="8165592" y="2770632"/>
            <a:ext cx="310896" cy="310896"/>
          </a:xfrm>
          <a:prstGeom prst="ellipse">
            <a:avLst/>
          </a:prstGeom>
          <a:solidFill>
            <a:schemeClr val="accent1"/>
          </a:solidFill>
          <a:ln w="25400">
            <a:solidFill>
              <a:srgbClr val="FFFFFF"/>
            </a:solidFill>
            <a:prstDash val="solid"/>
          </a:ln>
        </p:spPr>
      </p:sp>
      <p:sp>
        <p:nvSpPr>
          <p:cNvPr id="21" name="Text 19"/>
          <p:cNvSpPr txBox="1"/>
          <p:nvPr/>
        </p:nvSpPr>
        <p:spPr>
          <a:xfrm>
            <a:off x="7406640" y="1874520"/>
            <a:ext cx="1828800" cy="411480"/>
          </a:xfrm>
          <a:prstGeom prst="rect">
            <a:avLst/>
          </a:prstGeom>
          <a:noFill/>
          <a:ln/>
        </p:spPr>
        <p:txBody>
          <a:bodyPr wrap="square" lIns="635" tIns="635" rIns="635" bIns="635"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Mar 27</a:t>
            </a:r>
            <a:endParaRPr lang="en-US" sz="1900" dirty="0"/>
          </a:p>
        </p:txBody>
      </p:sp>
      <p:sp>
        <p:nvSpPr>
          <p:cNvPr id="22" name="Text 20"/>
          <p:cNvSpPr txBox="1"/>
          <p:nvPr/>
        </p:nvSpPr>
        <p:spPr>
          <a:xfrm>
            <a:off x="7315200" y="3246120"/>
            <a:ext cx="2011680" cy="1554480"/>
          </a:xfrm>
          <a:prstGeom prst="rect">
            <a:avLst/>
          </a:prstGeom>
          <a:noFill/>
          <a:ln/>
        </p:spPr>
        <p:txBody>
          <a:bodyPr wrap="square" lIns="635" tIns="635" rIns="635" bIns="635" rtlCol="0" anchor="t"/>
          <a:lstStyle/>
          <a:p>
            <a:pPr algn="ctr" indent="0" marL="0">
              <a:buNone/>
            </a:pPr>
            <a:r>
              <a:rPr lang="en-US" sz="1500" dirty="0">
                <a:solidFill>
                  <a:schemeClr val="tx1"/>
                </a:solidFill>
              </a:rPr>
              <a:t>Ship reaches Guam. Sick sailors isolated, others quarantined</a:t>
            </a:r>
            <a:r>
              <a:rPr lang="en-US" sz="1500" baseline="30000" dirty="0">
                <a:solidFill>
                  <a:schemeClr val="tx1"/>
                </a:solidFill>
              </a:rPr>
              <a:t>1</a:t>
            </a:r>
            <a:endParaRPr lang="en-US" sz="1500" dirty="0"/>
          </a:p>
        </p:txBody>
      </p:sp>
      <p:sp>
        <p:nvSpPr>
          <p:cNvPr id="23" name="milestone 5"/>
          <p:cNvSpPr/>
          <p:nvPr/>
        </p:nvSpPr>
        <p:spPr>
          <a:xfrm>
            <a:off x="10451592" y="2770632"/>
            <a:ext cx="310896" cy="310896"/>
          </a:xfrm>
          <a:prstGeom prst="ellipse">
            <a:avLst/>
          </a:prstGeom>
          <a:solidFill>
            <a:schemeClr val="accent1"/>
          </a:solidFill>
          <a:ln w="25400">
            <a:solidFill>
              <a:srgbClr val="FFFFFF"/>
            </a:solidFill>
            <a:prstDash val="solid"/>
          </a:ln>
        </p:spPr>
      </p:sp>
      <p:sp>
        <p:nvSpPr>
          <p:cNvPr id="24" name="Text 22"/>
          <p:cNvSpPr txBox="1"/>
          <p:nvPr/>
        </p:nvSpPr>
        <p:spPr>
          <a:xfrm>
            <a:off x="9692640" y="1874520"/>
            <a:ext cx="1828800" cy="411480"/>
          </a:xfrm>
          <a:prstGeom prst="rect">
            <a:avLst/>
          </a:prstGeom>
          <a:noFill/>
          <a:ln/>
        </p:spPr>
        <p:txBody>
          <a:bodyPr wrap="square" lIns="635" tIns="635" rIns="635" bIns="635" rtlCol="0" anchor="t"/>
          <a:lstStyle/>
          <a:p>
            <a:pPr algn="ctr" indent="0" marL="0">
              <a:buNone/>
            </a:pPr>
            <a:r>
              <a:rPr lang="en-US" sz="1900" b="1" dirty="0">
                <a:solidFill>
                  <a:schemeClr val="accent1"/>
                </a:solidFill>
                <a:latin typeface="Cambria" pitchFamily="34" charset="0"/>
                <a:ea typeface="Cambria" pitchFamily="34" charset="-122"/>
                <a:cs typeface="Cambria" pitchFamily="34" charset="-120"/>
              </a:rPr>
              <a:t>May 18</a:t>
            </a:r>
            <a:endParaRPr lang="en-US" sz="1900" dirty="0"/>
          </a:p>
        </p:txBody>
      </p:sp>
      <p:sp>
        <p:nvSpPr>
          <p:cNvPr id="25" name="Text 23"/>
          <p:cNvSpPr txBox="1"/>
          <p:nvPr/>
        </p:nvSpPr>
        <p:spPr>
          <a:xfrm>
            <a:off x="9601200" y="3246120"/>
            <a:ext cx="2011680" cy="1554480"/>
          </a:xfrm>
          <a:prstGeom prst="rect">
            <a:avLst/>
          </a:prstGeom>
          <a:noFill/>
          <a:ln/>
        </p:spPr>
        <p:txBody>
          <a:bodyPr wrap="square" lIns="635" tIns="635" rIns="635" bIns="635" rtlCol="0" anchor="t"/>
          <a:lstStyle/>
          <a:p>
            <a:pPr algn="ctr" indent="0" marL="0">
              <a:buNone/>
            </a:pPr>
            <a:r>
              <a:rPr lang="en-US" sz="1500" dirty="0">
                <a:solidFill>
                  <a:schemeClr val="tx1"/>
                </a:solidFill>
              </a:rPr>
              <a:t>End of the study. New cases kept coming for 6+ weeks after docking</a:t>
            </a:r>
            <a:r>
              <a:rPr lang="en-US" sz="1500" baseline="30000" dirty="0">
                <a:solidFill>
                  <a:schemeClr val="tx1"/>
                </a:solidFill>
              </a:rPr>
              <a:t>1</a:t>
            </a:r>
            <a:endParaRPr lang="en-US" sz="1500" dirty="0"/>
          </a:p>
        </p:txBody>
      </p:sp>
      <p:sp>
        <p:nvSpPr>
          <p:cNvPr id="26" name="Text 24"/>
          <p:cNvSpPr txBox="1"/>
          <p:nvPr/>
        </p:nvSpPr>
        <p:spPr>
          <a:xfrm>
            <a:off x="3474720" y="2423160"/>
            <a:ext cx="2834640" cy="320040"/>
          </a:xfrm>
          <a:prstGeom prst="rect">
            <a:avLst/>
          </a:prstGeom>
          <a:noFill/>
          <a:ln/>
        </p:spPr>
        <p:txBody>
          <a:bodyPr wrap="square" lIns="635" tIns="635" rIns="635" bIns="635" rtlCol="0" anchor="t"/>
          <a:lstStyle/>
          <a:p>
            <a:pPr algn="ctr" indent="0" marL="0">
              <a:buNone/>
            </a:pPr>
            <a:r>
              <a:rPr lang="en-US" sz="1400" b="1" dirty="0">
                <a:solidFill>
                  <a:schemeClr val="accent2"/>
                </a:solidFill>
              </a:rPr>
              <a:t>12 days: nobody noticed</a:t>
            </a:r>
            <a:endParaRPr lang="en-US" sz="1400" dirty="0"/>
          </a:p>
        </p:txBody>
      </p:sp>
      <p:sp>
        <p:nvSpPr>
          <p:cNvPr id="27" name="Text 25"/>
          <p:cNvSpPr txBox="1"/>
          <p:nvPr/>
        </p:nvSpPr>
        <p:spPr>
          <a:xfrm>
            <a:off x="548640" y="4983480"/>
            <a:ext cx="11064240" cy="365760"/>
          </a:xfrm>
          <a:prstGeom prst="rect">
            <a:avLst/>
          </a:prstGeom>
          <a:noFill/>
          <a:ln/>
        </p:spPr>
        <p:txBody>
          <a:bodyPr wrap="square" lIns="635" tIns="635" rIns="635" bIns="635" rtlCol="0" anchor="t"/>
          <a:lstStyle/>
          <a:p>
            <a:pPr algn="ctr" indent="0" marL="0">
              <a:buNone/>
            </a:pPr>
            <a:r>
              <a:rPr lang="en-US" sz="1250" i="1" dirty="0">
                <a:solidFill>
                  <a:schemeClr val="accent6"/>
                </a:solidFill>
              </a:rPr>
              <a:t>COD = supply flights that carry people and mail to the ship</a:t>
            </a:r>
            <a:endParaRPr lang="en-US" sz="12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Covid-19 is caused by a virus that can spread before people feel sick</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3. Lauer SA, et al. Ann Intern Med. 2020.  4. He X, et al. Nat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A virus that spreads before symptoms, on a crowded ship, can move quietly from person to person.</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did the illness look like?</a:t>
            </a:r>
            <a:endParaRPr lang="en-US" sz="1300" dirty="0"/>
          </a:p>
        </p:txBody>
      </p:sp>
      <p:sp>
        <p:nvSpPr>
          <p:cNvPr id="9" name="What it is card"/>
          <p:cNvSpPr/>
          <p:nvPr/>
        </p:nvSpPr>
        <p:spPr>
          <a:xfrm>
            <a:off x="548640" y="1371600"/>
            <a:ext cx="3520440" cy="3931920"/>
          </a:xfrm>
          <a:prstGeom prst="roundRect">
            <a:avLst>
              <a:gd name="adj" fmla="val 3117"/>
            </a:avLst>
          </a:prstGeom>
          <a:solidFill>
            <a:schemeClr val="bg2"/>
          </a:solidFill>
          <a:ln/>
        </p:spPr>
      </p:sp>
      <p:sp>
        <p:nvSpPr>
          <p:cNvPr id="10" name="What it is icon circle"/>
          <p:cNvSpPr/>
          <p:nvPr/>
        </p:nvSpPr>
        <p:spPr>
          <a:xfrm>
            <a:off x="777240" y="1600200"/>
            <a:ext cx="640080" cy="640080"/>
          </a:xfrm>
          <a:prstGeom prst="ellipse">
            <a:avLst/>
          </a:prstGeom>
          <a:solidFill>
            <a:schemeClr val="accent1"/>
          </a:solidFill>
          <a:ln/>
        </p:spPr>
      </p:sp>
      <p:pic>
        <p:nvPicPr>
          <p:cNvPr id="11" name="What it is icon" descr="What it is icon">    </p:cNvPr>
          <p:cNvPicPr>
            <a:picLocks noChangeAspect="1"/>
          </p:cNvPicPr>
          <p:nvPr/>
        </p:nvPicPr>
        <p:blipFill>
          <a:blip r:embed="rId1"/>
          <a:stretch>
            <a:fillRect/>
          </a:stretch>
        </p:blipFill>
        <p:spPr>
          <a:xfrm>
            <a:off x="930859" y="1753819"/>
            <a:ext cx="332842" cy="332842"/>
          </a:xfrm>
          <a:prstGeom prst="rect">
            <a:avLst/>
          </a:prstGeom>
        </p:spPr>
      </p:pic>
      <p:sp>
        <p:nvSpPr>
          <p:cNvPr id="12" name="Text 9"/>
          <p:cNvSpPr txBox="1"/>
          <p:nvPr/>
        </p:nvSpPr>
        <p:spPr>
          <a:xfrm>
            <a:off x="15544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What it is</a:t>
            </a:r>
            <a:endParaRPr lang="en-US" sz="1800" dirty="0"/>
          </a:p>
        </p:txBody>
      </p:sp>
      <p:sp>
        <p:nvSpPr>
          <p:cNvPr id="13" name="Text 10"/>
          <p:cNvSpPr txBox="1"/>
          <p:nvPr/>
        </p:nvSpPr>
        <p:spPr>
          <a:xfrm>
            <a:off x="777240" y="2377440"/>
            <a:ext cx="3063240" cy="278892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SARS-CoV-2, a coronavirus</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Its spike protein attaches to ACE2 receptors, docking points on human cells</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Its closest known relatives are bat coronaviruses</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Lab test: a PCR swab detects the virus's genes</a:t>
            </a:r>
            <a:r>
              <a:rPr lang="en-US" sz="1450" baseline="30000" dirty="0">
                <a:solidFill>
                  <a:schemeClr val="tx1"/>
                </a:solidFill>
              </a:rPr>
              <a:t>1</a:t>
            </a:r>
            <a:endParaRPr lang="en-US" sz="1450" dirty="0"/>
          </a:p>
        </p:txBody>
      </p:sp>
      <p:sp>
        <p:nvSpPr>
          <p:cNvPr id="14" name="How it spreads card"/>
          <p:cNvSpPr/>
          <p:nvPr/>
        </p:nvSpPr>
        <p:spPr>
          <a:xfrm>
            <a:off x="4320540" y="1371600"/>
            <a:ext cx="3520440" cy="3931920"/>
          </a:xfrm>
          <a:prstGeom prst="roundRect">
            <a:avLst>
              <a:gd name="adj" fmla="val 3117"/>
            </a:avLst>
          </a:prstGeom>
          <a:solidFill>
            <a:schemeClr val="bg2"/>
          </a:solidFill>
          <a:ln/>
        </p:spPr>
      </p:sp>
      <p:sp>
        <p:nvSpPr>
          <p:cNvPr id="15" name="How it spreads icon circle"/>
          <p:cNvSpPr/>
          <p:nvPr/>
        </p:nvSpPr>
        <p:spPr>
          <a:xfrm>
            <a:off x="4549140" y="1600200"/>
            <a:ext cx="640080" cy="640080"/>
          </a:xfrm>
          <a:prstGeom prst="ellipse">
            <a:avLst/>
          </a:prstGeom>
          <a:solidFill>
            <a:schemeClr val="accent1"/>
          </a:solidFill>
          <a:ln/>
        </p:spPr>
      </p:sp>
      <p:pic>
        <p:nvPicPr>
          <p:cNvPr id="16" name="How it spreads icon" descr="How it spreads icon">    </p:cNvPr>
          <p:cNvPicPr>
            <a:picLocks noChangeAspect="1"/>
          </p:cNvPicPr>
          <p:nvPr/>
        </p:nvPicPr>
        <p:blipFill>
          <a:blip r:embed="rId2"/>
          <a:stretch>
            <a:fillRect/>
          </a:stretch>
        </p:blipFill>
        <p:spPr>
          <a:xfrm>
            <a:off x="4702759" y="1753819"/>
            <a:ext cx="332842" cy="332842"/>
          </a:xfrm>
          <a:prstGeom prst="rect">
            <a:avLst/>
          </a:prstGeom>
        </p:spPr>
      </p:pic>
      <p:sp>
        <p:nvSpPr>
          <p:cNvPr id="17" name="Text 13"/>
          <p:cNvSpPr txBox="1"/>
          <p:nvPr/>
        </p:nvSpPr>
        <p:spPr>
          <a:xfrm>
            <a:off x="53263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How it spreads</a:t>
            </a:r>
            <a:endParaRPr lang="en-US" sz="1800" dirty="0"/>
          </a:p>
        </p:txBody>
      </p:sp>
      <p:sp>
        <p:nvSpPr>
          <p:cNvPr id="18" name="Text 14"/>
          <p:cNvSpPr txBox="1"/>
          <p:nvPr/>
        </p:nvSpPr>
        <p:spPr>
          <a:xfrm>
            <a:off x="4549140" y="2377440"/>
            <a:ext cx="3063240" cy="278892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Droplets released when people talk</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Tiny particles can hang in the air and be breathed in</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Coronaviruses can survive on surfaces for days</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People with mild or no symptoms can pass it on</a:t>
            </a:r>
            <a:r>
              <a:rPr lang="en-US" sz="1450" baseline="30000" dirty="0">
                <a:solidFill>
                  <a:schemeClr val="tx1"/>
                </a:solidFill>
              </a:rPr>
              <a:t>2</a:t>
            </a:r>
            <a:endParaRPr lang="en-US" sz="1450" dirty="0"/>
          </a:p>
        </p:txBody>
      </p:sp>
      <p:sp>
        <p:nvSpPr>
          <p:cNvPr id="19" name="Why it is sneaky card"/>
          <p:cNvSpPr/>
          <p:nvPr/>
        </p:nvSpPr>
        <p:spPr>
          <a:xfrm>
            <a:off x="8092440" y="1371600"/>
            <a:ext cx="3520440" cy="3931920"/>
          </a:xfrm>
          <a:prstGeom prst="roundRect">
            <a:avLst>
              <a:gd name="adj" fmla="val 3117"/>
            </a:avLst>
          </a:prstGeom>
          <a:solidFill>
            <a:schemeClr val="bg2"/>
          </a:solidFill>
          <a:ln/>
        </p:spPr>
      </p:sp>
      <p:sp>
        <p:nvSpPr>
          <p:cNvPr id="20" name="Why it is sneaky icon circle"/>
          <p:cNvSpPr/>
          <p:nvPr/>
        </p:nvSpPr>
        <p:spPr>
          <a:xfrm>
            <a:off x="8321040" y="1600200"/>
            <a:ext cx="640080" cy="640080"/>
          </a:xfrm>
          <a:prstGeom prst="ellipse">
            <a:avLst/>
          </a:prstGeom>
          <a:solidFill>
            <a:schemeClr val="accent1"/>
          </a:solidFill>
          <a:ln/>
        </p:spPr>
      </p:sp>
      <p:pic>
        <p:nvPicPr>
          <p:cNvPr id="21" name="Why it is sneaky icon" descr="Why it is sneaky icon">    </p:cNvPr>
          <p:cNvPicPr>
            <a:picLocks noChangeAspect="1"/>
          </p:cNvPicPr>
          <p:nvPr/>
        </p:nvPicPr>
        <p:blipFill>
          <a:blip r:embed="rId3"/>
          <a:stretch>
            <a:fillRect/>
          </a:stretch>
        </p:blipFill>
        <p:spPr>
          <a:xfrm>
            <a:off x="8474659" y="1753819"/>
            <a:ext cx="332842" cy="332842"/>
          </a:xfrm>
          <a:prstGeom prst="rect">
            <a:avLst/>
          </a:prstGeom>
        </p:spPr>
      </p:pic>
      <p:sp>
        <p:nvSpPr>
          <p:cNvPr id="22" name="Text 17"/>
          <p:cNvSpPr txBox="1"/>
          <p:nvPr/>
        </p:nvSpPr>
        <p:spPr>
          <a:xfrm>
            <a:off x="9098280" y="1600200"/>
            <a:ext cx="2331720" cy="64008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Why it is sneaky</a:t>
            </a:r>
            <a:endParaRPr lang="en-US" sz="1800" dirty="0"/>
          </a:p>
        </p:txBody>
      </p:sp>
      <p:sp>
        <p:nvSpPr>
          <p:cNvPr id="23" name="Text 18"/>
          <p:cNvSpPr txBox="1"/>
          <p:nvPr/>
        </p:nvSpPr>
        <p:spPr>
          <a:xfrm>
            <a:off x="8321040" y="2377440"/>
            <a:ext cx="3063240" cy="278892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period (catching it to feeling sick): about 5 days</a:t>
            </a:r>
            <a:r>
              <a:rPr lang="en-US" sz="1450" baseline="30000" dirty="0">
                <a:solidFill>
                  <a:schemeClr val="tx1"/>
                </a:solidFill>
              </a:rPr>
              <a:t>3</a:t>
            </a:r>
            <a:r>
              <a:rPr lang="en-US" sz="1450" dirty="0">
                <a:solidFill>
                  <a:schemeClr val="tx1"/>
                </a:solidFill>
              </a:rPr>
              <a:t>, up to 2 weeks</a:t>
            </a:r>
            <a:r>
              <a:rPr lang="en-US" sz="1450" baseline="30000" dirty="0">
                <a:solidFill>
                  <a:schemeClr val="tx1"/>
                </a:solidFill>
              </a:rPr>
              <a:t>2</a:t>
            </a:r>
            <a:endParaRPr lang="en-US" sz="1450" dirty="0"/>
          </a:p>
          <a:p>
            <a:pPr marL="203200" indent="-203200">
              <a:spcAft>
                <a:spcPts val="600"/>
              </a:spcAft>
              <a:buSzPct val="100000"/>
              <a:buChar char="•"/>
            </a:pPr>
            <a:r>
              <a:rPr lang="en-US" sz="1450" dirty="0">
                <a:solidFill>
                  <a:schemeClr val="tx1"/>
                </a:solidFill>
              </a:rPr>
              <a:t>Spread ramps up about 5–6 days before symptoms start</a:t>
            </a:r>
            <a:r>
              <a:rPr lang="en-US" sz="1450" baseline="30000" dirty="0">
                <a:solidFill>
                  <a:schemeClr val="tx1"/>
                </a:solidFill>
              </a:rPr>
              <a:t>4</a:t>
            </a:r>
            <a:endParaRPr lang="en-US" sz="1450" dirty="0"/>
          </a:p>
          <a:p>
            <a:pPr marL="203200" indent="-203200">
              <a:spcAft>
                <a:spcPts val="600"/>
              </a:spcAft>
              <a:buSzPct val="100000"/>
              <a:buChar char="•"/>
            </a:pPr>
            <a:r>
              <a:rPr lang="en-US" sz="1450" dirty="0">
                <a:solidFill>
                  <a:schemeClr val="tx1"/>
                </a:solidFill>
              </a:rPr>
              <a:t>About 44% of spread happens before symptoms</a:t>
            </a:r>
            <a:r>
              <a:rPr lang="en-US" sz="1450" baseline="30000" dirty="0">
                <a:solidFill>
                  <a:schemeClr val="tx1"/>
                </a:solidFill>
              </a:rPr>
              <a:t>4</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Most sailors had mild symptoms, and few had a fever</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1   </a:t>
            </a:r>
            <a:r>
              <a:rPr lang="en-US" sz="1100" b="1" spc="100" kern="0" dirty="0">
                <a:solidFill>
                  <a:schemeClr val="accent6"/>
                </a:solidFill>
              </a:rPr>
              <a:t>WHAT HAPPENED, AND WHAT CAUSED IT?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759 = 293 + 406 + 60 sailors with symptoms (my sum of the Figure 1 groups).</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Watching for sickness or fever alone would have missed most infections.</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Who counted as a case?</a:t>
            </a:r>
            <a:endParaRPr lang="en-US" sz="1300" dirty="0"/>
          </a:p>
        </p:txBody>
      </p:sp>
      <p:graphicFrame>
        <p:nvGraphicFramePr>
          <p:cNvPr id="9" name="Chart 0" descr=""/>
          <p:cNvGraphicFramePr/>
          <p:nvPr/>
        </p:nvGraphicFramePr>
        <p:xfrm>
          <a:off x="548640" y="13716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10" name="fever card"/>
          <p:cNvSpPr/>
          <p:nvPr/>
        </p:nvSpPr>
        <p:spPr>
          <a:xfrm>
            <a:off x="7589520" y="1371600"/>
            <a:ext cx="4023360" cy="1828800"/>
          </a:xfrm>
          <a:prstGeom prst="roundRect">
            <a:avLst>
              <a:gd name="adj" fmla="val 6000"/>
            </a:avLst>
          </a:prstGeom>
          <a:solidFill>
            <a:schemeClr val="bg2"/>
          </a:solidFill>
          <a:ln/>
        </p:spPr>
      </p:sp>
      <p:sp>
        <p:nvSpPr>
          <p:cNvPr id="11" name="Text 8"/>
          <p:cNvSpPr txBox="1"/>
          <p:nvPr/>
        </p:nvSpPr>
        <p:spPr>
          <a:xfrm>
            <a:off x="7818120" y="1444752"/>
            <a:ext cx="3566160" cy="777240"/>
          </a:xfrm>
          <a:prstGeom prst="rect">
            <a:avLst/>
          </a:prstGeom>
          <a:noFill/>
          <a:ln/>
        </p:spPr>
        <p:txBody>
          <a:bodyPr wrap="square" lIns="635" tIns="635" rIns="635" bIns="635" rtlCol="0" anchor="t"/>
          <a:lstStyle/>
          <a:p>
            <a:pPr indent="0" marL="0">
              <a:buNone/>
            </a:pPr>
            <a:r>
              <a:rPr lang="en-US" sz="4600" b="1" dirty="0">
                <a:solidFill>
                  <a:schemeClr val="accent2"/>
                </a:solidFill>
                <a:latin typeface="Cambria" pitchFamily="34" charset="0"/>
                <a:ea typeface="Cambria" pitchFamily="34" charset="-122"/>
                <a:cs typeface="Cambria" pitchFamily="34" charset="-120"/>
              </a:rPr>
              <a:t>13%</a:t>
            </a:r>
            <a:endParaRPr lang="en-US" sz="4600" dirty="0"/>
          </a:p>
        </p:txBody>
      </p:sp>
      <p:sp>
        <p:nvSpPr>
          <p:cNvPr id="12" name="Text 9"/>
          <p:cNvSpPr txBox="1"/>
          <p:nvPr/>
        </p:nvSpPr>
        <p:spPr>
          <a:xfrm>
            <a:off x="7818120" y="2240280"/>
            <a:ext cx="3566160" cy="868680"/>
          </a:xfrm>
          <a:prstGeom prst="rect">
            <a:avLst/>
          </a:prstGeom>
          <a:noFill/>
          <a:ln/>
        </p:spPr>
        <p:txBody>
          <a:bodyPr wrap="square" lIns="635" tIns="635" rIns="635" bIns="635" rtlCol="0" anchor="t"/>
          <a:lstStyle/>
          <a:p>
            <a:pPr indent="0" marL="0">
              <a:buNone/>
            </a:pPr>
            <a:r>
              <a:rPr lang="en-US" sz="1500" dirty="0">
                <a:solidFill>
                  <a:schemeClr val="tx1"/>
                </a:solidFill>
              </a:rPr>
              <a:t>had a fever, about 1 in 8</a:t>
            </a:r>
            <a:r>
              <a:rPr lang="en-US" sz="1500" baseline="30000" dirty="0">
                <a:solidFill>
                  <a:schemeClr val="tx1"/>
                </a:solidFill>
              </a:rPr>
              <a:t>1</a:t>
            </a:r>
            <a:r>
              <a:rPr lang="en-US" sz="1500" dirty="0">
                <a:solidFill>
                  <a:schemeClr val="tx1"/>
                </a:solidFill>
              </a:rPr>
              <a:t>. Fever checks alone would miss most infections.</a:t>
            </a:r>
            <a:endParaRPr lang="en-US" sz="1500" dirty="0"/>
          </a:p>
        </p:txBody>
      </p:sp>
      <p:sp>
        <p:nvSpPr>
          <p:cNvPr id="13" name="severity card"/>
          <p:cNvSpPr/>
          <p:nvPr/>
        </p:nvSpPr>
        <p:spPr>
          <a:xfrm>
            <a:off x="7589520" y="3383280"/>
            <a:ext cx="4023360" cy="2011680"/>
          </a:xfrm>
          <a:prstGeom prst="roundRect">
            <a:avLst>
              <a:gd name="adj" fmla="val 5455"/>
            </a:avLst>
          </a:prstGeom>
          <a:solidFill>
            <a:schemeClr val="bg2"/>
          </a:solidFill>
          <a:ln/>
        </p:spPr>
      </p:sp>
      <p:sp>
        <p:nvSpPr>
          <p:cNvPr id="14" name="Text 11"/>
          <p:cNvSpPr txBox="1"/>
          <p:nvPr/>
        </p:nvSpPr>
        <p:spPr>
          <a:xfrm>
            <a:off x="7772400" y="3520440"/>
            <a:ext cx="3703320" cy="1783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Few got seriously ill: only 0.5% had low oxygen readings (below 95%) and none below 90%</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Sailors who ended up in hospital more often had a fever (32% vs 12%)</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A case meant a positive lab test, or Covid-like symptoms without one</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Using a lab test, not just symptoms, let investigators count sailors who never felt sick.</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Was that a good rule?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040880" cy="914400"/>
        </p:xfrm>
        <a:graphic>
          <a:graphicData uri="http://schemas.openxmlformats.org/drawingml/2006/table">
            <a:tbl>
              <a:tblPr/>
              <a:tblGrid>
                <a:gridCol w="3108960"/>
                <a:gridCol w="3108960"/>
                <a:gridCol w="822960"/>
              </a:tblGrid>
              <a:tr h="512064">
                <a:tc>
                  <a:txBody>
                    <a:bodyPr/>
                    <a:lstStyle/>
                    <a:p>
                      <a:pPr indent="0" marL="0">
                        <a:buNone/>
                      </a:pPr>
                      <a:r>
                        <a:rPr lang="en-US" sz="1400" b="1" dirty="0">
                          <a:solidFill>
                            <a:srgbClr val="FFFFFF"/>
                          </a:solidFill>
                        </a:rPr>
                        <a:t>Type of case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What it means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Count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12064">
                <a:tc>
                  <a:txBody>
                    <a:bodyPr/>
                    <a:lstStyle/>
                    <a:p>
                      <a:pPr indent="0" marL="0">
                        <a:buNone/>
                      </a:pPr>
                      <a:r>
                        <a:rPr lang="en-US" sz="1350" b="1" dirty="0">
                          <a:solidFill>
                            <a:srgbClr val="1B1B1E"/>
                          </a:solidFill>
                        </a:rPr>
                        <a:t>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Positive PCR swab test</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b="1" dirty="0">
                          <a:solidFill>
                            <a:srgbClr val="1B1B1E"/>
                          </a:solidFill>
                        </a:rPr>
                        <a:t>1,271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5C6B7A"/>
                          </a:solidFill>
                        </a:rPr>
                        <a:t>   Never felt sick (asymptomatic)</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Tested positive and never had symptoms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572</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5C6B7A"/>
                          </a:solidFill>
                        </a:rPr>
                        <a:t>   Felt fine, then got sick (presymptomatic)</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Tested positive first; symptoms came later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406</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12064">
                <a:tc>
                  <a:txBody>
                    <a:bodyPr/>
                    <a:lstStyle/>
                    <a:p>
                      <a:pPr indent="0" marL="0">
                        <a:buNone/>
                      </a:pPr>
                      <a:r>
                        <a:rPr lang="en-US" sz="1350" dirty="0">
                          <a:solidFill>
                            <a:srgbClr val="5C6B7A"/>
                          </a:solidFill>
                        </a:rPr>
                        <a:t>   Already sick (symptomatic)</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Had symptoms before the positive test</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293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12064">
                <a:tc>
                  <a:txBody>
                    <a:bodyPr/>
                    <a:lstStyle/>
                    <a:p>
                      <a:pPr indent="0" marL="0">
                        <a:buNone/>
                      </a:pPr>
                      <a:r>
                        <a:rPr lang="en-US" sz="1350" b="1" dirty="0">
                          <a:solidFill>
                            <a:srgbClr val="1B1B1E"/>
                          </a:solidFill>
                        </a:rPr>
                        <a:t>Suspected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Covid-like symptoms (CDC criteria), no positive test</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b="1" dirty="0">
                          <a:solidFill>
                            <a:srgbClr val="1B1B1E"/>
                          </a:solidFill>
                        </a:rPr>
                        <a:t>60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12064">
                <a:tc>
                  <a:txBody>
                    <a:bodyPr/>
                    <a:lstStyle/>
                    <a:p>
                      <a:pPr indent="0" marL="0">
                        <a:buNone/>
                      </a:pPr>
                      <a:r>
                        <a:rPr lang="en-US" sz="1350" b="1" dirty="0">
                          <a:solidFill>
                            <a:srgbClr val="1B1B1E"/>
                          </a:solidFill>
                        </a:rPr>
                        <a:t>Probable</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Not used in this investigation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350" dirty="0">
                          <a:solidFill>
                            <a:srgbClr val="1B1B1E"/>
                          </a:solidFill>
                        </a:rPr>
                        <a:t>–</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548640" y="5074920"/>
            <a:ext cx="7040880" cy="320040"/>
          </a:xfrm>
          <a:prstGeom prst="rect">
            <a:avLst/>
          </a:prstGeom>
          <a:noFill/>
          <a:ln/>
        </p:spPr>
        <p:txBody>
          <a:bodyPr wrap="square" lIns="635" tIns="635" rIns="635" bIns="635" rtlCol="0" anchor="t"/>
          <a:lstStyle/>
          <a:p>
            <a:pPr indent="0" marL="0">
              <a:buNone/>
            </a:pPr>
            <a:r>
              <a:rPr lang="en-US" sz="1200" i="1" dirty="0">
                <a:solidFill>
                  <a:schemeClr val="accent6"/>
                </a:solidFill>
              </a:rPr>
              <a:t>Table: types of cases and how many of each, from Kasper et al</a:t>
            </a:r>
            <a:r>
              <a:rPr lang="en-US" sz="1200" i="1" baseline="30000" dirty="0">
                <a:solidFill>
                  <a:schemeClr val="accent6"/>
                </a:solidFill>
              </a:rPr>
              <a:t>1</a:t>
            </a:r>
            <a:r>
              <a:rPr lang="en-US" sz="1200" i="1" dirty="0">
                <a:solidFill>
                  <a:schemeClr val="accent6"/>
                </a:solidFill>
              </a:rPr>
              <a:t>.</a:t>
            </a:r>
            <a:endParaRPr lang="en-US" sz="1200" dirty="0"/>
          </a:p>
        </p:txBody>
      </p:sp>
      <p:sp>
        <p:nvSpPr>
          <p:cNvPr id="11" name="who counted card"/>
          <p:cNvSpPr/>
          <p:nvPr/>
        </p:nvSpPr>
        <p:spPr>
          <a:xfrm>
            <a:off x="7863840" y="1371600"/>
            <a:ext cx="3749040" cy="4023360"/>
          </a:xfrm>
          <a:prstGeom prst="roundRect">
            <a:avLst>
              <a:gd name="adj" fmla="val 2927"/>
            </a:avLst>
          </a:prstGeom>
          <a:solidFill>
            <a:schemeClr val="bg2"/>
          </a:solidFill>
          <a:ln/>
        </p:spPr>
      </p:sp>
      <p:sp>
        <p:nvSpPr>
          <p:cNvPr id="12" name="Text 9"/>
          <p:cNvSpPr txBox="1"/>
          <p:nvPr/>
        </p:nvSpPr>
        <p:spPr>
          <a:xfrm>
            <a:off x="8092440" y="150876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Who was counted</a:t>
            </a:r>
            <a:endParaRPr lang="en-US" sz="1800" dirty="0"/>
          </a:p>
        </p:txBody>
      </p:sp>
      <p:sp>
        <p:nvSpPr>
          <p:cNvPr id="13" name="Text 10"/>
          <p:cNvSpPr txBox="1"/>
          <p:nvPr/>
        </p:nvSpPr>
        <p:spPr>
          <a:xfrm>
            <a:off x="8092440" y="2011680"/>
            <a:ext cx="3383280" cy="3291840"/>
          </a:xfrm>
          <a:prstGeom prst="rect">
            <a:avLst/>
          </a:prstGeom>
          <a:noFill/>
          <a:ln/>
        </p:spPr>
        <p:txBody>
          <a:bodyPr wrap="square" lIns="635" tIns="635" rIns="635" bIns="635" rtlCol="0" anchor="t"/>
          <a:lstStyle/>
          <a:p>
            <a:pPr marL="203200" indent="-203200">
              <a:spcAft>
                <a:spcPts val="600"/>
              </a:spcAft>
              <a:buSzPct val="100000"/>
              <a:buChar char="•"/>
            </a:pPr>
            <a:r>
              <a:rPr lang="en-US" sz="1400" b="1" dirty="0">
                <a:solidFill>
                  <a:schemeClr val="tx1"/>
                </a:solidFill>
              </a:rPr>
              <a:t>Person: </a:t>
            </a:r>
            <a:r>
              <a:rPr lang="en-US" sz="1400" dirty="0">
                <a:solidFill>
                  <a:schemeClr val="tx1"/>
                </a:solidFill>
              </a:rPr>
              <a:t>Navy crew only (civilians left out)</a:t>
            </a:r>
            <a:r>
              <a:rPr lang="en-US" sz="1400" baseline="30000" dirty="0">
                <a:solidFill>
                  <a:schemeClr val="tx1"/>
                </a:solidFill>
              </a:rPr>
              <a:t>1</a:t>
            </a:r>
            <a:endParaRPr lang="en-US" sz="1500" dirty="0"/>
          </a:p>
          <a:p>
            <a:pPr marL="203200" indent="-203200">
              <a:spcAft>
                <a:spcPts val="600"/>
              </a:spcAft>
              <a:buSzPct val="100000"/>
              <a:buChar char="•"/>
            </a:pPr>
            <a:r>
              <a:rPr lang="en-US" sz="1400" b="1" dirty="0">
                <a:solidFill>
                  <a:schemeClr val="tx1"/>
                </a:solidFill>
              </a:rPr>
              <a:t>Place: </a:t>
            </a:r>
            <a:r>
              <a:rPr lang="en-US" sz="1400" dirty="0">
                <a:solidFill>
                  <a:schemeClr val="tx1"/>
                </a:solidFill>
              </a:rPr>
              <a:t>on the ship or ashore in Guam</a:t>
            </a:r>
            <a:r>
              <a:rPr lang="en-US" sz="1400" baseline="30000" dirty="0">
                <a:solidFill>
                  <a:schemeClr val="tx1"/>
                </a:solidFill>
              </a:rPr>
              <a:t>1</a:t>
            </a:r>
            <a:endParaRPr lang="en-US" sz="1500" dirty="0"/>
          </a:p>
          <a:p>
            <a:pPr marL="203200" indent="-203200">
              <a:spcAft>
                <a:spcPts val="600"/>
              </a:spcAft>
              <a:buSzPct val="100000"/>
              <a:buChar char="•"/>
            </a:pPr>
            <a:r>
              <a:rPr lang="en-US" sz="1400" b="1" dirty="0">
                <a:solidFill>
                  <a:schemeClr val="tx1"/>
                </a:solidFill>
              </a:rPr>
              <a:t>Time: </a:t>
            </a:r>
            <a:r>
              <a:rPr lang="en-US" sz="1400" dirty="0">
                <a:solidFill>
                  <a:schemeClr val="tx1"/>
                </a:solidFill>
              </a:rPr>
              <a:t>positive tests from Mar 23 to May 18, 2020</a:t>
            </a:r>
            <a:r>
              <a:rPr lang="en-US" sz="1400" baseline="30000" dirty="0">
                <a:solidFill>
                  <a:schemeClr val="tx1"/>
                </a:solidFill>
              </a:rPr>
              <a:t>1</a:t>
            </a:r>
            <a:endParaRPr lang="en-US" sz="1500" dirty="0"/>
          </a:p>
          <a:p>
            <a:pPr marL="203200" indent="-203200">
              <a:spcAft>
                <a:spcPts val="600"/>
              </a:spcAft>
              <a:buSzPct val="100000"/>
              <a:buChar char="•"/>
            </a:pPr>
            <a:r>
              <a:rPr lang="en-US" sz="1400" b="1" dirty="0">
                <a:solidFill>
                  <a:schemeClr val="tx1"/>
                </a:solidFill>
              </a:rPr>
              <a:t>Symptoms: </a:t>
            </a:r>
            <a:r>
              <a:rPr lang="en-US" sz="1400" dirty="0">
                <a:solidFill>
                  <a:schemeClr val="tx1"/>
                </a:solidFill>
              </a:rPr>
              <a:t>CDC criteria; fever = feeling feverish or 100.0°F or higher</a:t>
            </a:r>
            <a:r>
              <a:rPr lang="en-US" sz="1400" baseline="30000" dirty="0">
                <a:solidFill>
                  <a:schemeClr val="tx1"/>
                </a:solidFill>
              </a:rPr>
              <a:t>1</a:t>
            </a:r>
            <a:endParaRPr lang="en-US" sz="1500" dirty="0"/>
          </a:p>
          <a:p>
            <a:pPr marL="203200" indent="-203200">
              <a:spcAft>
                <a:spcPts val="600"/>
              </a:spcAft>
              <a:buSzPct val="100000"/>
              <a:buChar char="•"/>
            </a:pPr>
            <a:r>
              <a:rPr lang="en-US" sz="1400" b="1" dirty="0">
                <a:solidFill>
                  <a:schemeClr val="tx1"/>
                </a:solidFill>
              </a:rPr>
              <a:t>Lab: </a:t>
            </a:r>
            <a:r>
              <a:rPr lang="en-US" sz="1400" dirty="0">
                <a:solidFill>
                  <a:schemeClr val="tx1"/>
                </a:solidFill>
              </a:rPr>
              <a:t>PCR swab test</a:t>
            </a:r>
            <a:r>
              <a:rPr lang="en-US" sz="140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Testing everyone caught cases that symptoms alone would have missed</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This appraisal is my own.</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Overall, this way of counting cases fit the situation well (my appraisal).</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How did they find every case?</a:t>
            </a:r>
            <a:endParaRPr lang="en-US" sz="1300" dirty="0"/>
          </a:p>
        </p:txBody>
      </p:sp>
      <p:sp>
        <p:nvSpPr>
          <p:cNvPr id="9" name="Did it catch everyone? card"/>
          <p:cNvSpPr/>
          <p:nvPr/>
        </p:nvSpPr>
        <p:spPr>
          <a:xfrm>
            <a:off x="548640" y="1371600"/>
            <a:ext cx="3520440" cy="2834640"/>
          </a:xfrm>
          <a:prstGeom prst="roundRect">
            <a:avLst>
              <a:gd name="adj" fmla="val 3871"/>
            </a:avLst>
          </a:prstGeom>
          <a:solidFill>
            <a:schemeClr val="bg2"/>
          </a:solidFill>
          <a:ln/>
        </p:spPr>
      </p:sp>
      <p:sp>
        <p:nvSpPr>
          <p:cNvPr id="10" name="Did it catch everyone? icon circle"/>
          <p:cNvSpPr/>
          <p:nvPr/>
        </p:nvSpPr>
        <p:spPr>
          <a:xfrm>
            <a:off x="777240" y="1600200"/>
            <a:ext cx="640080" cy="640080"/>
          </a:xfrm>
          <a:prstGeom prst="ellipse">
            <a:avLst/>
          </a:prstGeom>
          <a:solidFill>
            <a:schemeClr val="accent1"/>
          </a:solidFill>
          <a:ln/>
        </p:spPr>
      </p:sp>
      <p:pic>
        <p:nvPicPr>
          <p:cNvPr id="11" name="Did it catch everyone? icon" descr="Did it catch everyone? icon">    </p:cNvPr>
          <p:cNvPicPr>
            <a:picLocks noChangeAspect="1"/>
          </p:cNvPicPr>
          <p:nvPr/>
        </p:nvPicPr>
        <p:blipFill>
          <a:blip r:embed="rId1"/>
          <a:stretch>
            <a:fillRect/>
          </a:stretch>
        </p:blipFill>
        <p:spPr>
          <a:xfrm>
            <a:off x="930859" y="1753819"/>
            <a:ext cx="332842" cy="332842"/>
          </a:xfrm>
          <a:prstGeom prst="rect">
            <a:avLst/>
          </a:prstGeom>
        </p:spPr>
      </p:pic>
      <p:sp>
        <p:nvSpPr>
          <p:cNvPr id="12" name="Text 9"/>
          <p:cNvSpPr txBox="1"/>
          <p:nvPr/>
        </p:nvSpPr>
        <p:spPr>
          <a:xfrm>
            <a:off x="1554480" y="1600200"/>
            <a:ext cx="2331720" cy="640080"/>
          </a:xfrm>
          <a:prstGeom prst="rect">
            <a:avLst/>
          </a:prstGeom>
          <a:noFill/>
          <a:ln/>
        </p:spPr>
        <p:txBody>
          <a:bodyPr wrap="square" lIns="635" tIns="635" rIns="635" bIns="635"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Did it catch everyone?</a:t>
            </a:r>
            <a:endParaRPr lang="en-US" sz="1600" dirty="0"/>
          </a:p>
        </p:txBody>
      </p:sp>
      <p:sp>
        <p:nvSpPr>
          <p:cNvPr id="13" name="Text 10"/>
          <p:cNvSpPr txBox="1"/>
          <p:nvPr/>
        </p:nvSpPr>
        <p:spPr>
          <a:xfrm>
            <a:off x="777240" y="2377440"/>
            <a:ext cx="3063240" cy="1691640"/>
          </a:xfrm>
          <a:prstGeom prst="rect">
            <a:avLst/>
          </a:prstGeom>
          <a:noFill/>
          <a:ln/>
        </p:spPr>
        <p:txBody>
          <a:bodyPr wrap="square" lIns="635" tIns="635" rIns="635" bIns="635" rtlCol="0" anchor="t"/>
          <a:lstStyle/>
          <a:p>
            <a:pPr indent="0" marL="0">
              <a:buNone/>
            </a:pPr>
            <a:r>
              <a:rPr lang="en-US" sz="1450" dirty="0">
                <a:solidFill>
                  <a:schemeClr val="tx1"/>
                </a:solidFill>
              </a:rPr>
              <a:t>Mostly. Testing all 4,779 sailors found 572 people with no symptoms</a:t>
            </a:r>
            <a:r>
              <a:rPr lang="en-US" sz="1450" baseline="30000" dirty="0">
                <a:solidFill>
                  <a:schemeClr val="tx1"/>
                </a:solidFill>
              </a:rPr>
              <a:t>1</a:t>
            </a:r>
            <a:r>
              <a:rPr lang="en-US" sz="1450" dirty="0">
                <a:solidFill>
                  <a:schemeClr val="tx1"/>
                </a:solidFill>
              </a:rPr>
              <a:t>. One swab can still miss a very early infection.</a:t>
            </a:r>
            <a:endParaRPr lang="en-US" sz="1450" dirty="0"/>
          </a:p>
        </p:txBody>
      </p:sp>
      <p:sp>
        <p:nvSpPr>
          <p:cNvPr id="14" name="Did it count the wrong people? card"/>
          <p:cNvSpPr/>
          <p:nvPr/>
        </p:nvSpPr>
        <p:spPr>
          <a:xfrm>
            <a:off x="4320540" y="1371600"/>
            <a:ext cx="3520440" cy="2834640"/>
          </a:xfrm>
          <a:prstGeom prst="roundRect">
            <a:avLst>
              <a:gd name="adj" fmla="val 3871"/>
            </a:avLst>
          </a:prstGeom>
          <a:solidFill>
            <a:schemeClr val="bg2"/>
          </a:solidFill>
          <a:ln/>
        </p:spPr>
      </p:sp>
      <p:sp>
        <p:nvSpPr>
          <p:cNvPr id="15" name="Did it count the wrong people? icon circle"/>
          <p:cNvSpPr/>
          <p:nvPr/>
        </p:nvSpPr>
        <p:spPr>
          <a:xfrm>
            <a:off x="4549140" y="1600200"/>
            <a:ext cx="640080" cy="640080"/>
          </a:xfrm>
          <a:prstGeom prst="ellipse">
            <a:avLst/>
          </a:prstGeom>
          <a:solidFill>
            <a:schemeClr val="accent4"/>
          </a:solidFill>
          <a:ln/>
        </p:spPr>
      </p:sp>
      <p:pic>
        <p:nvPicPr>
          <p:cNvPr id="16" name="Did it count the wrong people? icon" descr="Did it count the wrong people? icon">    </p:cNvPr>
          <p:cNvPicPr>
            <a:picLocks noChangeAspect="1"/>
          </p:cNvPicPr>
          <p:nvPr/>
        </p:nvPicPr>
        <p:blipFill>
          <a:blip r:embed="rId2"/>
          <a:stretch>
            <a:fillRect/>
          </a:stretch>
        </p:blipFill>
        <p:spPr>
          <a:xfrm>
            <a:off x="4702759" y="1753819"/>
            <a:ext cx="332842" cy="332842"/>
          </a:xfrm>
          <a:prstGeom prst="rect">
            <a:avLst/>
          </a:prstGeom>
        </p:spPr>
      </p:pic>
      <p:sp>
        <p:nvSpPr>
          <p:cNvPr id="17" name="Text 13"/>
          <p:cNvSpPr txBox="1"/>
          <p:nvPr/>
        </p:nvSpPr>
        <p:spPr>
          <a:xfrm>
            <a:off x="5326380" y="1600200"/>
            <a:ext cx="2331720" cy="640080"/>
          </a:xfrm>
          <a:prstGeom prst="rect">
            <a:avLst/>
          </a:prstGeom>
          <a:noFill/>
          <a:ln/>
        </p:spPr>
        <p:txBody>
          <a:bodyPr wrap="square" lIns="635" tIns="635" rIns="635" bIns="635"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Did it count the wrong people?</a:t>
            </a:r>
            <a:endParaRPr lang="en-US" sz="1600" dirty="0"/>
          </a:p>
        </p:txBody>
      </p:sp>
      <p:sp>
        <p:nvSpPr>
          <p:cNvPr id="18" name="Text 14"/>
          <p:cNvSpPr txBox="1"/>
          <p:nvPr/>
        </p:nvSpPr>
        <p:spPr>
          <a:xfrm>
            <a:off x="4549140" y="2377440"/>
            <a:ext cx="3063240" cy="1691640"/>
          </a:xfrm>
          <a:prstGeom prst="rect">
            <a:avLst/>
          </a:prstGeom>
          <a:noFill/>
          <a:ln/>
        </p:spPr>
        <p:txBody>
          <a:bodyPr wrap="square" lIns="635" tIns="635" rIns="635" bIns="635" rtlCol="0" anchor="t"/>
          <a:lstStyle/>
          <a:p>
            <a:pPr indent="0" marL="0">
              <a:buNone/>
            </a:pPr>
            <a:r>
              <a:rPr lang="en-US" sz="1450" dirty="0">
                <a:solidFill>
                  <a:schemeClr val="tx1"/>
                </a:solidFill>
              </a:rPr>
              <a:t>Rarely. Lab-confirmed cases are very reliable. Only 60 of 1,331 cases (4.5%) were "suspected", and other colds were also going around</a:t>
            </a:r>
            <a:r>
              <a:rPr lang="en-US" sz="1450" baseline="30000" dirty="0">
                <a:solidFill>
                  <a:schemeClr val="tx1"/>
                </a:solidFill>
              </a:rPr>
              <a:t>1</a:t>
            </a:r>
            <a:r>
              <a:rPr lang="en-US" sz="1450" dirty="0">
                <a:solidFill>
                  <a:schemeClr val="tx1"/>
                </a:solidFill>
              </a:rPr>
              <a:t>.</a:t>
            </a:r>
            <a:endParaRPr lang="en-US" sz="1450" dirty="0"/>
          </a:p>
        </p:txBody>
      </p:sp>
      <p:sp>
        <p:nvSpPr>
          <p:cNvPr id="19" name="Did the rule change? card"/>
          <p:cNvSpPr/>
          <p:nvPr/>
        </p:nvSpPr>
        <p:spPr>
          <a:xfrm>
            <a:off x="8092440" y="1371600"/>
            <a:ext cx="3520440" cy="2834640"/>
          </a:xfrm>
          <a:prstGeom prst="roundRect">
            <a:avLst>
              <a:gd name="adj" fmla="val 3871"/>
            </a:avLst>
          </a:prstGeom>
          <a:solidFill>
            <a:schemeClr val="bg2"/>
          </a:solidFill>
          <a:ln/>
        </p:spPr>
      </p:sp>
      <p:sp>
        <p:nvSpPr>
          <p:cNvPr id="20" name="Did the rule change? icon circle"/>
          <p:cNvSpPr/>
          <p:nvPr/>
        </p:nvSpPr>
        <p:spPr>
          <a:xfrm>
            <a:off x="8321040" y="1600200"/>
            <a:ext cx="640080" cy="640080"/>
          </a:xfrm>
          <a:prstGeom prst="ellipse">
            <a:avLst/>
          </a:prstGeom>
          <a:solidFill>
            <a:schemeClr val="accent2"/>
          </a:solidFill>
          <a:ln/>
        </p:spPr>
      </p:sp>
      <p:pic>
        <p:nvPicPr>
          <p:cNvPr id="21" name="Did the rule change? icon" descr="Did the rule change? icon">    </p:cNvPr>
          <p:cNvPicPr>
            <a:picLocks noChangeAspect="1"/>
          </p:cNvPicPr>
          <p:nvPr/>
        </p:nvPicPr>
        <p:blipFill>
          <a:blip r:embed="rId3"/>
          <a:stretch>
            <a:fillRect/>
          </a:stretch>
        </p:blipFill>
        <p:spPr>
          <a:xfrm>
            <a:off x="8474659" y="1753819"/>
            <a:ext cx="332842" cy="332842"/>
          </a:xfrm>
          <a:prstGeom prst="rect">
            <a:avLst/>
          </a:prstGeom>
        </p:spPr>
      </p:pic>
      <p:sp>
        <p:nvSpPr>
          <p:cNvPr id="22" name="Text 17"/>
          <p:cNvSpPr txBox="1"/>
          <p:nvPr/>
        </p:nvSpPr>
        <p:spPr>
          <a:xfrm>
            <a:off x="9098280" y="1600200"/>
            <a:ext cx="2331720" cy="640080"/>
          </a:xfrm>
          <a:prstGeom prst="rect">
            <a:avLst/>
          </a:prstGeom>
          <a:noFill/>
          <a:ln/>
        </p:spPr>
        <p:txBody>
          <a:bodyPr wrap="square" lIns="635" tIns="635" rIns="635" bIns="635" rtlCol="0" anchor="ctr"/>
          <a:lstStyle/>
          <a:p>
            <a:pPr indent="0" marL="0">
              <a:buNone/>
            </a:pPr>
            <a:r>
              <a:rPr lang="en-US" sz="1600" b="1" dirty="0">
                <a:solidFill>
                  <a:schemeClr val="tx2"/>
                </a:solidFill>
                <a:latin typeface="Cambria" pitchFamily="34" charset="0"/>
                <a:ea typeface="Cambria" pitchFamily="34" charset="-122"/>
                <a:cs typeface="Cambria" pitchFamily="34" charset="-120"/>
              </a:rPr>
              <a:t>Did the rule change?</a:t>
            </a:r>
            <a:endParaRPr lang="en-US" sz="1600" dirty="0"/>
          </a:p>
        </p:txBody>
      </p:sp>
      <p:sp>
        <p:nvSpPr>
          <p:cNvPr id="23" name="Text 18"/>
          <p:cNvSpPr txBox="1"/>
          <p:nvPr/>
        </p:nvSpPr>
        <p:spPr>
          <a:xfrm>
            <a:off x="8321040" y="2377440"/>
            <a:ext cx="3063240" cy="1691640"/>
          </a:xfrm>
          <a:prstGeom prst="rect">
            <a:avLst/>
          </a:prstGeom>
          <a:noFill/>
          <a:ln/>
        </p:spPr>
        <p:txBody>
          <a:bodyPr wrap="square" lIns="635" tIns="635" rIns="635" bIns="635" rtlCol="0" anchor="t"/>
          <a:lstStyle/>
          <a:p>
            <a:pPr indent="0" marL="0">
              <a:buNone/>
            </a:pPr>
            <a:r>
              <a:rPr lang="en-US" sz="1450" dirty="0">
                <a:solidFill>
                  <a:schemeClr val="tx1"/>
                </a:solidFill>
              </a:rPr>
              <a:t>Yes. The CDC changed its Covid-19 definition in April 2020, mid-outbreak</a:t>
            </a:r>
            <a:r>
              <a:rPr lang="en-US" sz="1450" baseline="30000" dirty="0">
                <a:solidFill>
                  <a:schemeClr val="tx1"/>
                </a:solidFill>
              </a:rPr>
              <a:t>1</a:t>
            </a:r>
            <a:r>
              <a:rPr lang="en-US" sz="1450" dirty="0">
                <a:solidFill>
                  <a:schemeClr val="tx1"/>
                </a:solidFill>
              </a:rPr>
              <a:t>. Early records were also less complete</a:t>
            </a:r>
            <a:r>
              <a:rPr lang="en-US" sz="1450" baseline="30000" dirty="0">
                <a:solidFill>
                  <a:schemeClr val="tx1"/>
                </a:solidFill>
              </a:rPr>
              <a:t>1</a:t>
            </a:r>
            <a:r>
              <a:rPr lang="en-US" sz="1450" dirty="0">
                <a:solidFill>
                  <a:schemeClr val="tx1"/>
                </a:solidFill>
              </a:rPr>
              <a:t>.</a:t>
            </a:r>
            <a:endParaRPr lang="en-US" sz="1450" dirty="0"/>
          </a:p>
        </p:txBody>
      </p:sp>
      <p:sp>
        <p:nvSpPr>
          <p:cNvPr id="24" name="plain words box"/>
          <p:cNvSpPr/>
          <p:nvPr/>
        </p:nvSpPr>
        <p:spPr>
          <a:xfrm>
            <a:off x="548640" y="4389120"/>
            <a:ext cx="11064240" cy="960120"/>
          </a:xfrm>
          <a:prstGeom prst="roundRect">
            <a:avLst>
              <a:gd name="adj" fmla="val 11429"/>
            </a:avLst>
          </a:prstGeom>
          <a:solidFill>
            <a:srgbClr val="FFFFFF"/>
          </a:solidFill>
          <a:ln w="12700">
            <a:solidFill>
              <a:srgbClr val="8DA9C4"/>
            </a:solidFill>
            <a:prstDash val="solid"/>
          </a:ln>
        </p:spPr>
      </p:sp>
      <p:sp>
        <p:nvSpPr>
          <p:cNvPr id="25" name="plain words icon circle"/>
          <p:cNvSpPr/>
          <p:nvPr/>
        </p:nvSpPr>
        <p:spPr>
          <a:xfrm>
            <a:off x="731520" y="4617720"/>
            <a:ext cx="502920" cy="502920"/>
          </a:xfrm>
          <a:prstGeom prst="ellipse">
            <a:avLst/>
          </a:prstGeom>
          <a:solidFill>
            <a:schemeClr val="accent4"/>
          </a:solidFill>
          <a:ln/>
        </p:spPr>
      </p:sp>
      <p:pic>
        <p:nvPicPr>
          <p:cNvPr id="26" name="plain words icon" descr="plain words icon">    </p:cNvPr>
          <p:cNvPicPr>
            <a:picLocks noChangeAspect="1"/>
          </p:cNvPicPr>
          <p:nvPr/>
        </p:nvPicPr>
        <p:blipFill>
          <a:blip r:embed="rId4"/>
          <a:stretch>
            <a:fillRect/>
          </a:stretch>
        </p:blipFill>
        <p:spPr>
          <a:xfrm>
            <a:off x="852221" y="4738421"/>
            <a:ext cx="261518" cy="261518"/>
          </a:xfrm>
          <a:prstGeom prst="rect">
            <a:avLst/>
          </a:prstGeom>
        </p:spPr>
      </p:pic>
      <p:sp>
        <p:nvSpPr>
          <p:cNvPr id="27" name="Text 21"/>
          <p:cNvSpPr txBox="1"/>
          <p:nvPr/>
        </p:nvSpPr>
        <p:spPr>
          <a:xfrm>
            <a:off x="1417320" y="4389120"/>
            <a:ext cx="10012680" cy="960120"/>
          </a:xfrm>
          <a:prstGeom prst="rect">
            <a:avLst/>
          </a:prstGeom>
          <a:noFill/>
          <a:ln/>
        </p:spPr>
        <p:txBody>
          <a:bodyPr wrap="square" lIns="635" tIns="635" rIns="635" bIns="635" rtlCol="0" anchor="ctr"/>
          <a:lstStyle/>
          <a:p>
            <a:pPr indent="0" marL="0">
              <a:buNone/>
            </a:pPr>
            <a:r>
              <a:rPr lang="en-US" sz="1400" b="1" dirty="0">
                <a:solidFill>
                  <a:schemeClr val="tx2"/>
                </a:solidFill>
              </a:rPr>
              <a:t>In plain words: </a:t>
            </a:r>
            <a:r>
              <a:rPr lang="en-US" sz="1400" b="1" dirty="0">
                <a:solidFill>
                  <a:schemeClr val="tx1"/>
                </a:solidFill>
              </a:rPr>
              <a:t>Sensitivity</a:t>
            </a:r>
            <a:r>
              <a:rPr lang="en-US" sz="1400" dirty="0">
                <a:solidFill>
                  <a:schemeClr val="tx1"/>
                </a:solidFill>
              </a:rPr>
              <a:t> = how well the rule catches everyone who is truly infected.  </a:t>
            </a:r>
            <a:r>
              <a:rPr lang="en-US" sz="1400" b="1" dirty="0">
                <a:solidFill>
                  <a:schemeClr val="tx1"/>
                </a:solidFill>
              </a:rPr>
              <a:t>Specificity</a:t>
            </a:r>
            <a:r>
              <a:rPr lang="en-US" sz="1400" dirty="0">
                <a:solidFill>
                  <a:schemeClr val="tx1"/>
                </a:solidFill>
              </a:rPr>
              <a:t> = how well it avoids counting people who are not.</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The Navy tested all 4,779 sailors and followed them for at least 10 weeks</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2   </a:t>
            </a:r>
            <a:r>
              <a:rPr lang="en-US" sz="1100" b="1" spc="100" kern="0" dirty="0">
                <a:solidFill>
                  <a:schemeClr val="accent6"/>
                </a:solidFill>
              </a:rPr>
              <a:t>HOW DID INVESTIGATORS FIND THE CASES?</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Testing everyone, instead of waiting for symptoms, gave investigators the full picture of the outbreak.</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did they find? First: when.</a:t>
            </a:r>
            <a:endParaRPr lang="en-US" sz="1300" dirty="0"/>
          </a:p>
        </p:txBody>
      </p:sp>
      <p:sp>
        <p:nvSpPr>
          <p:cNvPr id="9" name="Noticed step"/>
          <p:cNvSpPr/>
          <p:nvPr/>
        </p:nvSpPr>
        <p:spPr>
          <a:xfrm>
            <a:off x="548640" y="1371600"/>
            <a:ext cx="2057400" cy="2788920"/>
          </a:xfrm>
          <a:prstGeom prst="roundRect">
            <a:avLst>
              <a:gd name="adj" fmla="val 5333"/>
            </a:avLst>
          </a:prstGeom>
          <a:solidFill>
            <a:schemeClr val="bg2"/>
          </a:solidFill>
          <a:ln/>
        </p:spPr>
      </p:sp>
      <p:sp>
        <p:nvSpPr>
          <p:cNvPr id="10" name="Noticed icon circle"/>
          <p:cNvSpPr/>
          <p:nvPr/>
        </p:nvSpPr>
        <p:spPr>
          <a:xfrm>
            <a:off x="1211580" y="1554480"/>
            <a:ext cx="731520" cy="731520"/>
          </a:xfrm>
          <a:prstGeom prst="ellipse">
            <a:avLst/>
          </a:prstGeom>
          <a:solidFill>
            <a:schemeClr val="accent1"/>
          </a:solidFill>
          <a:ln/>
        </p:spPr>
      </p:sp>
      <p:pic>
        <p:nvPicPr>
          <p:cNvPr id="11" name="Noticed icon" descr="Noticed icon">    </p:cNvPr>
          <p:cNvPicPr>
            <a:picLocks noChangeAspect="1"/>
          </p:cNvPicPr>
          <p:nvPr/>
        </p:nvPicPr>
        <p:blipFill>
          <a:blip r:embed="rId1"/>
          <a:stretch>
            <a:fillRect/>
          </a:stretch>
        </p:blipFill>
        <p:spPr>
          <a:xfrm>
            <a:off x="1387145" y="1730045"/>
            <a:ext cx="380390" cy="380390"/>
          </a:xfrm>
          <a:prstGeom prst="rect">
            <a:avLst/>
          </a:prstGeom>
        </p:spPr>
      </p:pic>
      <p:sp>
        <p:nvSpPr>
          <p:cNvPr id="12" name="Text 9"/>
          <p:cNvSpPr txBox="1"/>
          <p:nvPr/>
        </p:nvSpPr>
        <p:spPr>
          <a:xfrm>
            <a:off x="594360" y="2377440"/>
            <a:ext cx="1965960" cy="411480"/>
          </a:xfrm>
          <a:prstGeom prst="rect">
            <a:avLst/>
          </a:prstGeom>
          <a:noFill/>
          <a:ln/>
        </p:spPr>
        <p:txBody>
          <a:bodyPr wrap="square" lIns="635" tIns="635" rIns="635" bIns="635" rtlCol="0" anchor="t"/>
          <a:lstStyle/>
          <a:p>
            <a:pPr algn="ctr" indent="0" marL="0">
              <a:buNone/>
            </a:pPr>
            <a:r>
              <a:rPr lang="en-US" sz="1400" b="1" dirty="0">
                <a:solidFill>
                  <a:schemeClr val="tx2"/>
                </a:solidFill>
                <a:latin typeface="Cambria" pitchFamily="34" charset="0"/>
                <a:ea typeface="Cambria" pitchFamily="34" charset="-122"/>
                <a:cs typeface="Cambria" pitchFamily="34" charset="-120"/>
              </a:rPr>
              <a:t>Noticed</a:t>
            </a:r>
            <a:endParaRPr lang="en-US" sz="1400" dirty="0"/>
          </a:p>
        </p:txBody>
      </p:sp>
      <p:sp>
        <p:nvSpPr>
          <p:cNvPr id="13" name="Text 10"/>
          <p:cNvSpPr txBox="1"/>
          <p:nvPr/>
        </p:nvSpPr>
        <p:spPr>
          <a:xfrm>
            <a:off x="685800" y="2834640"/>
            <a:ext cx="1783080" cy="1280160"/>
          </a:xfrm>
          <a:prstGeom prst="rect">
            <a:avLst/>
          </a:prstGeom>
          <a:noFill/>
          <a:ln/>
        </p:spPr>
        <p:txBody>
          <a:bodyPr wrap="square" lIns="635" tIns="635" rIns="635" bIns="635" rtlCol="0" anchor="t"/>
          <a:lstStyle/>
          <a:p>
            <a:pPr algn="ctr" indent="0" marL="0">
              <a:buNone/>
            </a:pPr>
            <a:r>
              <a:rPr lang="en-US" sz="1350" dirty="0">
                <a:solidFill>
                  <a:schemeClr val="tx1"/>
                </a:solidFill>
              </a:rPr>
              <a:t>3 sailors with symptoms tested positive on day 13 at sea</a:t>
            </a:r>
            <a:r>
              <a:rPr lang="en-US" sz="1350" baseline="30000" dirty="0">
                <a:solidFill>
                  <a:schemeClr val="tx1"/>
                </a:solidFill>
              </a:rPr>
              <a:t>1</a:t>
            </a:r>
            <a:endParaRPr lang="en-US" sz="1350" dirty="0"/>
          </a:p>
        </p:txBody>
      </p:sp>
      <p:sp>
        <p:nvSpPr>
          <p:cNvPr id="14" name="flow arrow 1"/>
          <p:cNvSpPr/>
          <p:nvPr/>
        </p:nvSpPr>
        <p:spPr>
          <a:xfrm>
            <a:off x="2633472" y="2651760"/>
            <a:ext cx="137160" cy="274320"/>
          </a:xfrm>
          <a:prstGeom prst="chevron">
            <a:avLst/>
          </a:prstGeom>
          <a:solidFill>
            <a:schemeClr val="accent3"/>
          </a:solidFill>
          <a:ln/>
        </p:spPr>
      </p:sp>
      <p:sp>
        <p:nvSpPr>
          <p:cNvPr id="15" name="Traced contacts step"/>
          <p:cNvSpPr/>
          <p:nvPr/>
        </p:nvSpPr>
        <p:spPr>
          <a:xfrm>
            <a:off x="2800350" y="1371600"/>
            <a:ext cx="2057400" cy="2788920"/>
          </a:xfrm>
          <a:prstGeom prst="roundRect">
            <a:avLst>
              <a:gd name="adj" fmla="val 5333"/>
            </a:avLst>
          </a:prstGeom>
          <a:solidFill>
            <a:schemeClr val="bg2"/>
          </a:solidFill>
          <a:ln/>
        </p:spPr>
      </p:sp>
      <p:sp>
        <p:nvSpPr>
          <p:cNvPr id="16" name="Traced contacts icon circle"/>
          <p:cNvSpPr/>
          <p:nvPr/>
        </p:nvSpPr>
        <p:spPr>
          <a:xfrm>
            <a:off x="3463290" y="1554480"/>
            <a:ext cx="731520" cy="731520"/>
          </a:xfrm>
          <a:prstGeom prst="ellipse">
            <a:avLst/>
          </a:prstGeom>
          <a:solidFill>
            <a:schemeClr val="accent1"/>
          </a:solidFill>
          <a:ln/>
        </p:spPr>
      </p:sp>
      <p:pic>
        <p:nvPicPr>
          <p:cNvPr id="17" name="Traced contacts icon" descr="Traced contacts icon">    </p:cNvPr>
          <p:cNvPicPr>
            <a:picLocks noChangeAspect="1"/>
          </p:cNvPicPr>
          <p:nvPr/>
        </p:nvPicPr>
        <p:blipFill>
          <a:blip r:embed="rId2"/>
          <a:stretch>
            <a:fillRect/>
          </a:stretch>
        </p:blipFill>
        <p:spPr>
          <a:xfrm>
            <a:off x="3638855" y="1730045"/>
            <a:ext cx="380390" cy="380390"/>
          </a:xfrm>
          <a:prstGeom prst="rect">
            <a:avLst/>
          </a:prstGeom>
        </p:spPr>
      </p:pic>
      <p:sp>
        <p:nvSpPr>
          <p:cNvPr id="18" name="Text 14"/>
          <p:cNvSpPr txBox="1"/>
          <p:nvPr/>
        </p:nvSpPr>
        <p:spPr>
          <a:xfrm>
            <a:off x="2846070" y="2377440"/>
            <a:ext cx="1965960" cy="411480"/>
          </a:xfrm>
          <a:prstGeom prst="rect">
            <a:avLst/>
          </a:prstGeom>
          <a:noFill/>
          <a:ln/>
        </p:spPr>
        <p:txBody>
          <a:bodyPr wrap="square" lIns="635" tIns="635" rIns="635" bIns="635" rtlCol="0" anchor="t"/>
          <a:lstStyle/>
          <a:p>
            <a:pPr algn="ctr" indent="0" marL="0">
              <a:buNone/>
            </a:pPr>
            <a:r>
              <a:rPr lang="en-US" sz="1400" b="1" dirty="0">
                <a:solidFill>
                  <a:schemeClr val="tx2"/>
                </a:solidFill>
                <a:latin typeface="Cambria" pitchFamily="34" charset="0"/>
                <a:ea typeface="Cambria" pitchFamily="34" charset="-122"/>
                <a:cs typeface="Cambria" pitchFamily="34" charset="-120"/>
              </a:rPr>
              <a:t>Traced contacts</a:t>
            </a:r>
            <a:endParaRPr lang="en-US" sz="1400" dirty="0"/>
          </a:p>
        </p:txBody>
      </p:sp>
      <p:sp>
        <p:nvSpPr>
          <p:cNvPr id="19" name="Text 15"/>
          <p:cNvSpPr txBox="1"/>
          <p:nvPr/>
        </p:nvSpPr>
        <p:spPr>
          <a:xfrm>
            <a:off x="2937510" y="2834640"/>
            <a:ext cx="1783080" cy="1280160"/>
          </a:xfrm>
          <a:prstGeom prst="rect">
            <a:avLst/>
          </a:prstGeom>
          <a:noFill/>
          <a:ln/>
        </p:spPr>
        <p:txBody>
          <a:bodyPr wrap="square" lIns="635" tIns="635" rIns="635" bIns="635" rtlCol="0" anchor="t"/>
          <a:lstStyle/>
          <a:p>
            <a:pPr algn="ctr" indent="0" marL="0">
              <a:buNone/>
            </a:pPr>
            <a:r>
              <a:rPr lang="en-US" sz="1350" dirty="0">
                <a:solidFill>
                  <a:schemeClr val="tx1"/>
                </a:solidFill>
              </a:rPr>
              <a:t>About 400 close contacts were identified within 24 hours</a:t>
            </a:r>
            <a:r>
              <a:rPr lang="en-US" sz="1350" baseline="30000" dirty="0">
                <a:solidFill>
                  <a:schemeClr val="tx1"/>
                </a:solidFill>
              </a:rPr>
              <a:t>1</a:t>
            </a:r>
            <a:endParaRPr lang="en-US" sz="1350" dirty="0"/>
          </a:p>
        </p:txBody>
      </p:sp>
      <p:sp>
        <p:nvSpPr>
          <p:cNvPr id="20" name="flow arrow 2"/>
          <p:cNvSpPr/>
          <p:nvPr/>
        </p:nvSpPr>
        <p:spPr>
          <a:xfrm>
            <a:off x="4885182" y="2651760"/>
            <a:ext cx="137160" cy="274320"/>
          </a:xfrm>
          <a:prstGeom prst="chevron">
            <a:avLst/>
          </a:prstGeom>
          <a:solidFill>
            <a:schemeClr val="accent3"/>
          </a:solidFill>
          <a:ln/>
        </p:spPr>
      </p:sp>
      <p:sp>
        <p:nvSpPr>
          <p:cNvPr id="21" name="Tested everyone step"/>
          <p:cNvSpPr/>
          <p:nvPr/>
        </p:nvSpPr>
        <p:spPr>
          <a:xfrm>
            <a:off x="5052060" y="1371600"/>
            <a:ext cx="2057400" cy="2788920"/>
          </a:xfrm>
          <a:prstGeom prst="roundRect">
            <a:avLst>
              <a:gd name="adj" fmla="val 5333"/>
            </a:avLst>
          </a:prstGeom>
          <a:solidFill>
            <a:schemeClr val="bg2"/>
          </a:solidFill>
          <a:ln/>
        </p:spPr>
      </p:sp>
      <p:sp>
        <p:nvSpPr>
          <p:cNvPr id="22" name="Tested everyone icon circle"/>
          <p:cNvSpPr/>
          <p:nvPr/>
        </p:nvSpPr>
        <p:spPr>
          <a:xfrm>
            <a:off x="5715000" y="1554480"/>
            <a:ext cx="731520" cy="731520"/>
          </a:xfrm>
          <a:prstGeom prst="ellipse">
            <a:avLst/>
          </a:prstGeom>
          <a:solidFill>
            <a:schemeClr val="accent1"/>
          </a:solidFill>
          <a:ln/>
        </p:spPr>
      </p:sp>
      <p:pic>
        <p:nvPicPr>
          <p:cNvPr id="23" name="Tested everyone icon" descr="Tested everyone icon">    </p:cNvPr>
          <p:cNvPicPr>
            <a:picLocks noChangeAspect="1"/>
          </p:cNvPicPr>
          <p:nvPr/>
        </p:nvPicPr>
        <p:blipFill>
          <a:blip r:embed="rId3"/>
          <a:stretch>
            <a:fillRect/>
          </a:stretch>
        </p:blipFill>
        <p:spPr>
          <a:xfrm>
            <a:off x="5890565" y="1730045"/>
            <a:ext cx="380390" cy="380390"/>
          </a:xfrm>
          <a:prstGeom prst="rect">
            <a:avLst/>
          </a:prstGeom>
        </p:spPr>
      </p:pic>
      <p:sp>
        <p:nvSpPr>
          <p:cNvPr id="24" name="Text 19"/>
          <p:cNvSpPr txBox="1"/>
          <p:nvPr/>
        </p:nvSpPr>
        <p:spPr>
          <a:xfrm>
            <a:off x="5097780" y="2377440"/>
            <a:ext cx="1965960" cy="411480"/>
          </a:xfrm>
          <a:prstGeom prst="rect">
            <a:avLst/>
          </a:prstGeom>
          <a:noFill/>
          <a:ln/>
        </p:spPr>
        <p:txBody>
          <a:bodyPr wrap="square" lIns="635" tIns="635" rIns="635" bIns="635" rtlCol="0" anchor="t"/>
          <a:lstStyle/>
          <a:p>
            <a:pPr algn="ctr" indent="0" marL="0">
              <a:buNone/>
            </a:pPr>
            <a:r>
              <a:rPr lang="en-US" sz="1400" b="1" dirty="0">
                <a:solidFill>
                  <a:schemeClr val="tx2"/>
                </a:solidFill>
                <a:latin typeface="Cambria" pitchFamily="34" charset="0"/>
                <a:ea typeface="Cambria" pitchFamily="34" charset="-122"/>
                <a:cs typeface="Cambria" pitchFamily="34" charset="-120"/>
              </a:rPr>
              <a:t>Tested everyone</a:t>
            </a:r>
            <a:endParaRPr lang="en-US" sz="1400" dirty="0"/>
          </a:p>
        </p:txBody>
      </p:sp>
      <p:sp>
        <p:nvSpPr>
          <p:cNvPr id="25" name="Text 20"/>
          <p:cNvSpPr txBox="1"/>
          <p:nvPr/>
        </p:nvSpPr>
        <p:spPr>
          <a:xfrm>
            <a:off x="5189220" y="2834640"/>
            <a:ext cx="1783080" cy="1280160"/>
          </a:xfrm>
          <a:prstGeom prst="rect">
            <a:avLst/>
          </a:prstGeom>
          <a:noFill/>
          <a:ln/>
        </p:spPr>
        <p:txBody>
          <a:bodyPr wrap="square" lIns="635" tIns="635" rIns="635" bIns="635" rtlCol="0" anchor="t"/>
          <a:lstStyle/>
          <a:p>
            <a:pPr algn="ctr" indent="0" marL="0">
              <a:buNone/>
            </a:pPr>
            <a:r>
              <a:rPr lang="en-US" sz="1350" dirty="0">
                <a:solidFill>
                  <a:schemeClr val="tx1"/>
                </a:solidFill>
              </a:rPr>
              <a:t>PCR swab tests for all 4,779 crew, without waiting for symptoms (active case finding)</a:t>
            </a:r>
            <a:r>
              <a:rPr lang="en-US" sz="1350" baseline="30000" dirty="0">
                <a:solidFill>
                  <a:schemeClr val="tx1"/>
                </a:solidFill>
              </a:rPr>
              <a:t>1</a:t>
            </a:r>
            <a:endParaRPr lang="en-US" sz="1350" dirty="0"/>
          </a:p>
        </p:txBody>
      </p:sp>
      <p:sp>
        <p:nvSpPr>
          <p:cNvPr id="26" name="flow arrow 3"/>
          <p:cNvSpPr/>
          <p:nvPr/>
        </p:nvSpPr>
        <p:spPr>
          <a:xfrm>
            <a:off x="7136892" y="2651760"/>
            <a:ext cx="137160" cy="274320"/>
          </a:xfrm>
          <a:prstGeom prst="chevron">
            <a:avLst/>
          </a:prstGeom>
          <a:solidFill>
            <a:schemeClr val="accent3"/>
          </a:solidFill>
          <a:ln/>
        </p:spPr>
      </p:sp>
      <p:sp>
        <p:nvSpPr>
          <p:cNvPr id="27" name="Found patterns step"/>
          <p:cNvSpPr/>
          <p:nvPr/>
        </p:nvSpPr>
        <p:spPr>
          <a:xfrm>
            <a:off x="7303770" y="1371600"/>
            <a:ext cx="2057400" cy="2788920"/>
          </a:xfrm>
          <a:prstGeom prst="roundRect">
            <a:avLst>
              <a:gd name="adj" fmla="val 5333"/>
            </a:avLst>
          </a:prstGeom>
          <a:solidFill>
            <a:schemeClr val="bg2"/>
          </a:solidFill>
          <a:ln/>
        </p:spPr>
      </p:sp>
      <p:sp>
        <p:nvSpPr>
          <p:cNvPr id="28" name="Found patterns icon circle"/>
          <p:cNvSpPr/>
          <p:nvPr/>
        </p:nvSpPr>
        <p:spPr>
          <a:xfrm>
            <a:off x="7966710" y="1554480"/>
            <a:ext cx="731520" cy="731520"/>
          </a:xfrm>
          <a:prstGeom prst="ellipse">
            <a:avLst/>
          </a:prstGeom>
          <a:solidFill>
            <a:schemeClr val="accent1"/>
          </a:solidFill>
          <a:ln/>
        </p:spPr>
      </p:sp>
      <p:pic>
        <p:nvPicPr>
          <p:cNvPr id="29" name="Found patterns icon" descr="Found patterns icon">    </p:cNvPr>
          <p:cNvPicPr>
            <a:picLocks noChangeAspect="1"/>
          </p:cNvPicPr>
          <p:nvPr/>
        </p:nvPicPr>
        <p:blipFill>
          <a:blip r:embed="rId4"/>
          <a:stretch>
            <a:fillRect/>
          </a:stretch>
        </p:blipFill>
        <p:spPr>
          <a:xfrm>
            <a:off x="8142275" y="1730045"/>
            <a:ext cx="380390" cy="380390"/>
          </a:xfrm>
          <a:prstGeom prst="rect">
            <a:avLst/>
          </a:prstGeom>
        </p:spPr>
      </p:pic>
      <p:sp>
        <p:nvSpPr>
          <p:cNvPr id="30" name="Text 24"/>
          <p:cNvSpPr txBox="1"/>
          <p:nvPr/>
        </p:nvSpPr>
        <p:spPr>
          <a:xfrm>
            <a:off x="7349490" y="2377440"/>
            <a:ext cx="1965960" cy="411480"/>
          </a:xfrm>
          <a:prstGeom prst="rect">
            <a:avLst/>
          </a:prstGeom>
          <a:noFill/>
          <a:ln/>
        </p:spPr>
        <p:txBody>
          <a:bodyPr wrap="square" lIns="635" tIns="635" rIns="635" bIns="635" rtlCol="0" anchor="t"/>
          <a:lstStyle/>
          <a:p>
            <a:pPr algn="ctr" indent="0" marL="0">
              <a:buNone/>
            </a:pPr>
            <a:r>
              <a:rPr lang="en-US" sz="1400" b="1" dirty="0">
                <a:solidFill>
                  <a:schemeClr val="tx2"/>
                </a:solidFill>
                <a:latin typeface="Cambria" pitchFamily="34" charset="0"/>
                <a:ea typeface="Cambria" pitchFamily="34" charset="-122"/>
                <a:cs typeface="Cambria" pitchFamily="34" charset="-120"/>
              </a:rPr>
              <a:t>Found patterns</a:t>
            </a:r>
            <a:endParaRPr lang="en-US" sz="1400" dirty="0"/>
          </a:p>
        </p:txBody>
      </p:sp>
      <p:sp>
        <p:nvSpPr>
          <p:cNvPr id="31" name="Text 25"/>
          <p:cNvSpPr txBox="1"/>
          <p:nvPr/>
        </p:nvSpPr>
        <p:spPr>
          <a:xfrm>
            <a:off x="7440930" y="2834640"/>
            <a:ext cx="1783080" cy="1280160"/>
          </a:xfrm>
          <a:prstGeom prst="rect">
            <a:avLst/>
          </a:prstGeom>
          <a:noFill/>
          <a:ln/>
        </p:spPr>
        <p:txBody>
          <a:bodyPr wrap="square" lIns="635" tIns="635" rIns="635" bIns="635" rtlCol="0" anchor="t"/>
          <a:lstStyle/>
          <a:p>
            <a:pPr algn="ctr" indent="0" marL="0">
              <a:buNone/>
            </a:pPr>
            <a:r>
              <a:rPr lang="en-US" sz="1350" dirty="0">
                <a:solidFill>
                  <a:schemeClr val="tx1"/>
                </a:solidFill>
              </a:rPr>
              <a:t>Linked results to age, job, health and symptoms: who, where, when</a:t>
            </a:r>
            <a:r>
              <a:rPr lang="en-US" sz="1350" baseline="30000" dirty="0">
                <a:solidFill>
                  <a:schemeClr val="tx1"/>
                </a:solidFill>
              </a:rPr>
              <a:t>1</a:t>
            </a:r>
            <a:endParaRPr lang="en-US" sz="1350" dirty="0"/>
          </a:p>
        </p:txBody>
      </p:sp>
      <p:sp>
        <p:nvSpPr>
          <p:cNvPr id="32" name="flow arrow 4"/>
          <p:cNvSpPr/>
          <p:nvPr/>
        </p:nvSpPr>
        <p:spPr>
          <a:xfrm>
            <a:off x="9388602" y="2651760"/>
            <a:ext cx="137160" cy="274320"/>
          </a:xfrm>
          <a:prstGeom prst="chevron">
            <a:avLst/>
          </a:prstGeom>
          <a:solidFill>
            <a:schemeClr val="accent3"/>
          </a:solidFill>
          <a:ln/>
        </p:spPr>
      </p:sp>
      <p:sp>
        <p:nvSpPr>
          <p:cNvPr id="33" name="Compared groups step"/>
          <p:cNvSpPr/>
          <p:nvPr/>
        </p:nvSpPr>
        <p:spPr>
          <a:xfrm>
            <a:off x="9555480" y="1371600"/>
            <a:ext cx="2057400" cy="2788920"/>
          </a:xfrm>
          <a:prstGeom prst="roundRect">
            <a:avLst>
              <a:gd name="adj" fmla="val 5333"/>
            </a:avLst>
          </a:prstGeom>
          <a:solidFill>
            <a:schemeClr val="bg2"/>
          </a:solidFill>
          <a:ln/>
        </p:spPr>
      </p:sp>
      <p:sp>
        <p:nvSpPr>
          <p:cNvPr id="34" name="Compared groups icon circle"/>
          <p:cNvSpPr/>
          <p:nvPr/>
        </p:nvSpPr>
        <p:spPr>
          <a:xfrm>
            <a:off x="10218420" y="1554480"/>
            <a:ext cx="731520" cy="731520"/>
          </a:xfrm>
          <a:prstGeom prst="ellipse">
            <a:avLst/>
          </a:prstGeom>
          <a:solidFill>
            <a:schemeClr val="accent1"/>
          </a:solidFill>
          <a:ln/>
        </p:spPr>
      </p:sp>
      <p:pic>
        <p:nvPicPr>
          <p:cNvPr id="35" name="Compared groups icon" descr="Compared groups icon">    </p:cNvPr>
          <p:cNvPicPr>
            <a:picLocks noChangeAspect="1"/>
          </p:cNvPicPr>
          <p:nvPr/>
        </p:nvPicPr>
        <p:blipFill>
          <a:blip r:embed="rId5"/>
          <a:stretch>
            <a:fillRect/>
          </a:stretch>
        </p:blipFill>
        <p:spPr>
          <a:xfrm>
            <a:off x="10393985" y="1730045"/>
            <a:ext cx="380390" cy="380390"/>
          </a:xfrm>
          <a:prstGeom prst="rect">
            <a:avLst/>
          </a:prstGeom>
        </p:spPr>
      </p:pic>
      <p:sp>
        <p:nvSpPr>
          <p:cNvPr id="36" name="Text 29"/>
          <p:cNvSpPr txBox="1"/>
          <p:nvPr/>
        </p:nvSpPr>
        <p:spPr>
          <a:xfrm>
            <a:off x="9601200" y="2377440"/>
            <a:ext cx="1965960" cy="411480"/>
          </a:xfrm>
          <a:prstGeom prst="rect">
            <a:avLst/>
          </a:prstGeom>
          <a:noFill/>
          <a:ln/>
        </p:spPr>
        <p:txBody>
          <a:bodyPr wrap="square" lIns="635" tIns="635" rIns="635" bIns="635" rtlCol="0" anchor="t"/>
          <a:lstStyle/>
          <a:p>
            <a:pPr algn="ctr" indent="0" marL="0">
              <a:buNone/>
            </a:pPr>
            <a:r>
              <a:rPr lang="en-US" sz="1400" b="1" dirty="0">
                <a:solidFill>
                  <a:schemeClr val="tx2"/>
                </a:solidFill>
                <a:latin typeface="Cambria" pitchFamily="34" charset="0"/>
                <a:ea typeface="Cambria" pitchFamily="34" charset="-122"/>
                <a:cs typeface="Cambria" pitchFamily="34" charset="-120"/>
              </a:rPr>
              <a:t>Compared groups</a:t>
            </a:r>
            <a:endParaRPr lang="en-US" sz="1400" dirty="0"/>
          </a:p>
        </p:txBody>
      </p:sp>
      <p:sp>
        <p:nvSpPr>
          <p:cNvPr id="37" name="Text 30"/>
          <p:cNvSpPr txBox="1"/>
          <p:nvPr/>
        </p:nvSpPr>
        <p:spPr>
          <a:xfrm>
            <a:off x="9692640" y="2834640"/>
            <a:ext cx="1783080" cy="1280160"/>
          </a:xfrm>
          <a:prstGeom prst="rect">
            <a:avLst/>
          </a:prstGeom>
          <a:noFill/>
          <a:ln/>
        </p:spPr>
        <p:txBody>
          <a:bodyPr wrap="square" lIns="635" tIns="635" rIns="635" bIns="635" rtlCol="0" anchor="t"/>
          <a:lstStyle/>
          <a:p>
            <a:pPr algn="ctr" indent="0" marL="0">
              <a:buNone/>
            </a:pPr>
            <a:r>
              <a:rPr lang="en-US" sz="1350" dirty="0">
                <a:solidFill>
                  <a:schemeClr val="tx1"/>
                </a:solidFill>
              </a:rPr>
              <a:t>Compared infected and uninfected sailors to see what raised the risk</a:t>
            </a:r>
            <a:r>
              <a:rPr lang="en-US" sz="1350" baseline="30000" dirty="0">
                <a:solidFill>
                  <a:schemeClr val="tx1"/>
                </a:solidFill>
              </a:rPr>
              <a:t>1</a:t>
            </a:r>
            <a:endParaRPr lang="en-US" sz="1350" dirty="0"/>
          </a:p>
        </p:txBody>
      </p:sp>
      <p:sp>
        <p:nvSpPr>
          <p:cNvPr id="38" name="daily checks card"/>
          <p:cNvSpPr/>
          <p:nvPr/>
        </p:nvSpPr>
        <p:spPr>
          <a:xfrm>
            <a:off x="548640" y="4343400"/>
            <a:ext cx="5440680" cy="1005840"/>
          </a:xfrm>
          <a:prstGeom prst="roundRect">
            <a:avLst>
              <a:gd name="adj" fmla="val 10909"/>
            </a:avLst>
          </a:prstGeom>
          <a:solidFill>
            <a:schemeClr val="bg2"/>
          </a:solidFill>
          <a:ln/>
        </p:spPr>
      </p:sp>
      <p:sp>
        <p:nvSpPr>
          <p:cNvPr id="39" name="Text 32"/>
          <p:cNvSpPr txBox="1"/>
          <p:nvPr/>
        </p:nvSpPr>
        <p:spPr>
          <a:xfrm>
            <a:off x="777240" y="4389120"/>
            <a:ext cx="5029200" cy="914400"/>
          </a:xfrm>
          <a:prstGeom prst="rect">
            <a:avLst/>
          </a:prstGeom>
          <a:noFill/>
          <a:ln/>
        </p:spPr>
        <p:txBody>
          <a:bodyPr wrap="square" lIns="635" tIns="635" rIns="635" bIns="635" rtlCol="0" anchor="ctr"/>
          <a:lstStyle/>
          <a:p>
            <a:pPr indent="0" marL="0">
              <a:buNone/>
            </a:pPr>
            <a:r>
              <a:rPr lang="en-US" sz="1400" b="1" dirty="0">
                <a:solidFill>
                  <a:schemeClr val="tx2"/>
                </a:solidFill>
              </a:rPr>
              <a:t>Daily checks: </a:t>
            </a:r>
            <a:r>
              <a:rPr lang="en-US" sz="1400" dirty="0">
                <a:solidFill>
                  <a:schemeClr val="tx1"/>
                </a:solidFill>
              </a:rPr>
              <a:t>symptom and temperature checks, plus a phone app for self-reporting</a:t>
            </a:r>
            <a:r>
              <a:rPr lang="en-US" sz="1400" baseline="30000" dirty="0">
                <a:solidFill>
                  <a:schemeClr val="tx1"/>
                </a:solidFill>
              </a:rPr>
              <a:t>1</a:t>
            </a:r>
            <a:endParaRPr lang="en-US" sz="1400" dirty="0"/>
          </a:p>
        </p:txBody>
      </p:sp>
      <p:sp>
        <p:nvSpPr>
          <p:cNvPr id="40" name="not reported card"/>
          <p:cNvSpPr/>
          <p:nvPr/>
        </p:nvSpPr>
        <p:spPr>
          <a:xfrm>
            <a:off x="6172200" y="4343400"/>
            <a:ext cx="5440680" cy="1005840"/>
          </a:xfrm>
          <a:prstGeom prst="roundRect">
            <a:avLst>
              <a:gd name="adj" fmla="val 10909"/>
            </a:avLst>
          </a:prstGeom>
          <a:solidFill>
            <a:schemeClr val="bg2"/>
          </a:solidFill>
          <a:ln/>
        </p:spPr>
      </p:sp>
      <p:sp>
        <p:nvSpPr>
          <p:cNvPr id="41" name="Text 34"/>
          <p:cNvSpPr txBox="1"/>
          <p:nvPr/>
        </p:nvSpPr>
        <p:spPr>
          <a:xfrm>
            <a:off x="6400800" y="4389120"/>
            <a:ext cx="5029200" cy="914400"/>
          </a:xfrm>
          <a:prstGeom prst="rect">
            <a:avLst/>
          </a:prstGeom>
          <a:noFill/>
          <a:ln/>
        </p:spPr>
        <p:txBody>
          <a:bodyPr wrap="square" lIns="635" tIns="635" rIns="635" bIns="635" rtlCol="0" anchor="ctr"/>
          <a:lstStyle/>
          <a:p>
            <a:pPr indent="0" marL="0">
              <a:buNone/>
            </a:pPr>
            <a:r>
              <a:rPr lang="en-US" sz="1400" b="1" dirty="0">
                <a:solidFill>
                  <a:schemeClr val="accent2"/>
                </a:solidFill>
              </a:rPr>
              <a:t>Not reported: </a:t>
            </a:r>
            <a:r>
              <a:rPr lang="en-US" sz="1400" dirty="0">
                <a:solidFill>
                  <a:schemeClr val="tx1"/>
                </a:solidFill>
              </a:rPr>
              <a:t>air or surface testing on the ship</a:t>
            </a:r>
            <a:r>
              <a:rPr lang="en-US" sz="1400" baseline="30000" dirty="0">
                <a:solidFill>
                  <a:schemeClr val="tx1"/>
                </a:solidFill>
              </a:rPr>
              <a:t>1</a:t>
            </a:r>
            <a:r>
              <a:rPr lang="en-US" sz="1400" dirty="0">
                <a:solidFill>
                  <a:schemeClr val="tx1"/>
                </a:solidFill>
              </a:rPr>
              <a:t>, so ventilation could not be measured</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Cases kept appearing for weeks: the virus passed from person to person</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Epidemic curve (n = 759): Kasper et al, Figure 2. The reading of the curve is mine.</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A long, rolling curve points to person-to-person spread, not one single exposure like a bad meal.</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about sailors with no symptoms?</a:t>
            </a:r>
            <a:endParaRPr lang="en-US" sz="1300" dirty="0"/>
          </a:p>
        </p:txBody>
      </p:sp>
      <p:pic>
        <p:nvPicPr>
          <p:cNvPr id="9" name="epidemic curve" descr="Epidemic curve of new symptomatic Covid-19 cases by day, March 1 to May 18, 2020">    </p:cNvPr>
          <p:cNvPicPr>
            <a:picLocks noChangeAspect="1"/>
          </p:cNvPicPr>
          <p:nvPr/>
        </p:nvPicPr>
        <p:blipFill>
          <a:blip r:embed="rId1"/>
          <a:stretch>
            <a:fillRect/>
          </a:stretch>
        </p:blipFill>
        <p:spPr>
          <a:xfrm>
            <a:off x="548640" y="1371600"/>
            <a:ext cx="7223760" cy="3941064"/>
          </a:xfrm>
          <a:prstGeom prst="rect">
            <a:avLst/>
          </a:prstGeom>
        </p:spPr>
      </p:pic>
      <p:sp>
        <p:nvSpPr>
          <p:cNvPr id="10" name="how to read card"/>
          <p:cNvSpPr/>
          <p:nvPr/>
        </p:nvSpPr>
        <p:spPr>
          <a:xfrm>
            <a:off x="8001000" y="1371600"/>
            <a:ext cx="3611880" cy="4023360"/>
          </a:xfrm>
          <a:prstGeom prst="roundRect">
            <a:avLst>
              <a:gd name="adj" fmla="val 3038"/>
            </a:avLst>
          </a:prstGeom>
          <a:solidFill>
            <a:schemeClr val="bg2"/>
          </a:solidFill>
          <a:ln/>
        </p:spPr>
      </p:sp>
      <p:sp>
        <p:nvSpPr>
          <p:cNvPr id="11" name="Text 8"/>
          <p:cNvSpPr txBox="1"/>
          <p:nvPr/>
        </p:nvSpPr>
        <p:spPr>
          <a:xfrm>
            <a:off x="8229600" y="1481328"/>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How to read it</a:t>
            </a:r>
            <a:endParaRPr lang="en-US" sz="1800" dirty="0"/>
          </a:p>
        </p:txBody>
      </p:sp>
      <p:sp>
        <p:nvSpPr>
          <p:cNvPr id="12" name="Text 9"/>
          <p:cNvSpPr txBox="1"/>
          <p:nvPr/>
        </p:nvSpPr>
        <p:spPr>
          <a:xfrm>
            <a:off x="8229600" y="1965960"/>
            <a:ext cx="3200400" cy="3383280"/>
          </a:xfrm>
          <a:prstGeom prst="rect">
            <a:avLst/>
          </a:prstGeom>
          <a:noFill/>
          <a:ln/>
        </p:spPr>
        <p:txBody>
          <a:bodyPr wrap="square" lIns="635" tIns="635" rIns="635" bIns="635" rtlCol="0" anchor="t"/>
          <a:lstStyle/>
          <a:p>
            <a:pPr marL="203200" indent="-203200">
              <a:spcAft>
                <a:spcPts val="600"/>
              </a:spcAft>
              <a:buSzPct val="100000"/>
              <a:buChar char="•"/>
            </a:pPr>
            <a:r>
              <a:rPr lang="en-US" sz="1400" b="1" dirty="0">
                <a:solidFill>
                  <a:schemeClr val="tx1"/>
                </a:solidFill>
              </a:rPr>
              <a:t>Epidemic curve: </a:t>
            </a:r>
            <a:r>
              <a:rPr lang="en-US" sz="1400" dirty="0">
                <a:solidFill>
                  <a:schemeClr val="tx1"/>
                </a:solidFill>
              </a:rPr>
              <a:t>each bar is the sailors who got sick that day</a:t>
            </a:r>
            <a:r>
              <a:rPr lang="en-US" sz="1400" baseline="30000" dirty="0">
                <a:solidFill>
                  <a:schemeClr val="tx1"/>
                </a:solidFill>
              </a:rPr>
              <a:t>1</a:t>
            </a:r>
            <a:endParaRPr lang="en-US" sz="1500" dirty="0"/>
          </a:p>
          <a:p>
            <a:pPr marL="203200" indent="-203200">
              <a:spcAft>
                <a:spcPts val="600"/>
              </a:spcAft>
              <a:buSzPct val="100000"/>
              <a:buChar char="•"/>
            </a:pPr>
            <a:r>
              <a:rPr lang="en-US" sz="1400" b="1" dirty="0">
                <a:solidFill>
                  <a:schemeClr val="tx1"/>
                </a:solidFill>
              </a:rPr>
              <a:t>One long hill, not a short spike. </a:t>
            </a:r>
            <a:r>
              <a:rPr lang="en-US" sz="1400" dirty="0">
                <a:solidFill>
                  <a:schemeClr val="tx1"/>
                </a:solidFill>
              </a:rPr>
              <a:t>A single event, like one bad meal, would peak fast and fade</a:t>
            </a:r>
            <a:endParaRPr lang="en-US" sz="1500" dirty="0"/>
          </a:p>
          <a:p>
            <a:pPr marL="203200" indent="-203200">
              <a:spcAft>
                <a:spcPts val="600"/>
              </a:spcAft>
              <a:buSzPct val="100000"/>
              <a:buChar char="•"/>
            </a:pPr>
            <a:r>
              <a:rPr lang="en-US" sz="1400" dirty="0">
                <a:solidFill>
                  <a:schemeClr val="tx1"/>
                </a:solidFill>
              </a:rPr>
              <a:t>First cases (Mar 11–12) came days after the port visit</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Cases kept coming after the ship docked (Mar 27)</a:t>
            </a:r>
            <a:r>
              <a:rPr lang="en-US" sz="140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Most infected sailors felt fine when they tested positive</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45% = 572 ÷ 1,271 (my calculation); the paper shows 43% because it divides by all 1,331 cases.</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Checking only for symptoms would have missed most infected sailors, so silent carriers kept the virus moving.</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Who were these sailors?</a:t>
            </a:r>
            <a:endParaRPr lang="en-US" sz="1300" dirty="0"/>
          </a:p>
        </p:txBody>
      </p:sp>
      <p:graphicFrame>
        <p:nvGraphicFramePr>
          <p:cNvPr id="9" name="Chart 0" descr=""/>
          <p:cNvGraphicFramePr/>
          <p:nvPr/>
        </p:nvGraphicFramePr>
        <p:xfrm>
          <a:off x="548640" y="1371600"/>
          <a:ext cx="5852160" cy="4023360"/>
        </p:xfrm>
        <a:graphic xmlns:a="http://schemas.openxmlformats.org/drawingml/2006/main">
          <a:graphicData uri="http://schemas.openxmlformats.org/drawingml/2006/chart">
            <c:chart xmlns:c="http://schemas.openxmlformats.org/drawingml/2006/chart" r:id="rId1"/>
          </a:graphicData>
        </a:graphic>
      </p:graphicFrame>
      <p:sp>
        <p:nvSpPr>
          <p:cNvPr id="10" name="stat 1"/>
          <p:cNvSpPr/>
          <p:nvPr/>
        </p:nvSpPr>
        <p:spPr>
          <a:xfrm>
            <a:off x="6766560" y="1371600"/>
            <a:ext cx="4846320" cy="1325880"/>
          </a:xfrm>
          <a:prstGeom prst="roundRect">
            <a:avLst>
              <a:gd name="adj" fmla="val 8276"/>
            </a:avLst>
          </a:prstGeom>
          <a:solidFill>
            <a:schemeClr val="bg2"/>
          </a:solidFill>
          <a:ln/>
        </p:spPr>
      </p:sp>
      <p:sp>
        <p:nvSpPr>
          <p:cNvPr id="11" name="Text 8"/>
          <p:cNvSpPr txBox="1"/>
          <p:nvPr/>
        </p:nvSpPr>
        <p:spPr>
          <a:xfrm>
            <a:off x="6903720" y="1463040"/>
            <a:ext cx="1783080" cy="1143000"/>
          </a:xfrm>
          <a:prstGeom prst="rect">
            <a:avLst/>
          </a:prstGeom>
          <a:noFill/>
          <a:ln/>
        </p:spPr>
        <p:txBody>
          <a:bodyPr wrap="square" lIns="635" tIns="635" rIns="635" bIns="635"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77%</a:t>
            </a:r>
            <a:endParaRPr lang="en-US" sz="3600" dirty="0"/>
          </a:p>
        </p:txBody>
      </p:sp>
      <p:sp>
        <p:nvSpPr>
          <p:cNvPr id="12" name="Text 9"/>
          <p:cNvSpPr txBox="1"/>
          <p:nvPr/>
        </p:nvSpPr>
        <p:spPr>
          <a:xfrm>
            <a:off x="8686800" y="1463040"/>
            <a:ext cx="2834640" cy="1143000"/>
          </a:xfrm>
          <a:prstGeom prst="rect">
            <a:avLst/>
          </a:prstGeom>
          <a:noFill/>
          <a:ln/>
        </p:spPr>
        <p:txBody>
          <a:bodyPr wrap="square" lIns="635" tIns="635" rIns="635" bIns="635" rtlCol="0" anchor="ctr"/>
          <a:lstStyle/>
          <a:p>
            <a:pPr indent="0" marL="0">
              <a:buNone/>
            </a:pPr>
            <a:r>
              <a:rPr lang="en-US" sz="1450" dirty="0">
                <a:solidFill>
                  <a:schemeClr val="tx1"/>
                </a:solidFill>
              </a:rPr>
              <a:t>felt fine on the day they tested positive (978 of 1,271): about 3 in 4</a:t>
            </a:r>
            <a:r>
              <a:rPr lang="en-US" sz="1450" baseline="30000" dirty="0">
                <a:solidFill>
                  <a:schemeClr val="tx1"/>
                </a:solidFill>
              </a:rPr>
              <a:t>1</a:t>
            </a:r>
            <a:endParaRPr lang="en-US" sz="1450" dirty="0"/>
          </a:p>
        </p:txBody>
      </p:sp>
      <p:sp>
        <p:nvSpPr>
          <p:cNvPr id="13" name="stat 2"/>
          <p:cNvSpPr/>
          <p:nvPr/>
        </p:nvSpPr>
        <p:spPr>
          <a:xfrm>
            <a:off x="6766560" y="2834640"/>
            <a:ext cx="4846320" cy="1325880"/>
          </a:xfrm>
          <a:prstGeom prst="roundRect">
            <a:avLst>
              <a:gd name="adj" fmla="val 8276"/>
            </a:avLst>
          </a:prstGeom>
          <a:solidFill>
            <a:schemeClr val="bg2"/>
          </a:solidFill>
          <a:ln/>
        </p:spPr>
      </p:sp>
      <p:sp>
        <p:nvSpPr>
          <p:cNvPr id="14" name="Text 11"/>
          <p:cNvSpPr txBox="1"/>
          <p:nvPr/>
        </p:nvSpPr>
        <p:spPr>
          <a:xfrm>
            <a:off x="6903720" y="2926080"/>
            <a:ext cx="1783080" cy="1143000"/>
          </a:xfrm>
          <a:prstGeom prst="rect">
            <a:avLst/>
          </a:prstGeom>
          <a:noFill/>
          <a:ln/>
        </p:spPr>
        <p:txBody>
          <a:bodyPr wrap="square" lIns="635" tIns="635" rIns="635" bIns="635"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45%</a:t>
            </a:r>
            <a:endParaRPr lang="en-US" sz="3600" dirty="0"/>
          </a:p>
        </p:txBody>
      </p:sp>
      <p:sp>
        <p:nvSpPr>
          <p:cNvPr id="15" name="Text 12"/>
          <p:cNvSpPr txBox="1"/>
          <p:nvPr/>
        </p:nvSpPr>
        <p:spPr>
          <a:xfrm>
            <a:off x="8686800" y="2926080"/>
            <a:ext cx="2834640" cy="1143000"/>
          </a:xfrm>
          <a:prstGeom prst="rect">
            <a:avLst/>
          </a:prstGeom>
          <a:noFill/>
          <a:ln/>
        </p:spPr>
        <p:txBody>
          <a:bodyPr wrap="square" lIns="635" tIns="635" rIns="635" bIns="635" rtlCol="0" anchor="ctr"/>
          <a:lstStyle/>
          <a:p>
            <a:pPr indent="0" marL="0">
              <a:buNone/>
            </a:pPr>
            <a:r>
              <a:rPr lang="en-US" sz="1450" dirty="0">
                <a:solidFill>
                  <a:schemeClr val="tx1"/>
                </a:solidFill>
              </a:rPr>
              <a:t>never got sick at all (572 of 1,271): nearly half</a:t>
            </a:r>
            <a:r>
              <a:rPr lang="en-US" sz="1450" baseline="30000" dirty="0">
                <a:solidFill>
                  <a:schemeClr val="tx1"/>
                </a:solidFill>
              </a:rPr>
              <a:t>1</a:t>
            </a:r>
            <a:r>
              <a:rPr lang="en-US" sz="1450" dirty="0">
                <a:solidFill>
                  <a:schemeClr val="tx1"/>
                </a:solidFill>
              </a:rPr>
              <a:t> (my calculation)</a:t>
            </a:r>
            <a:endParaRPr lang="en-US" sz="1450" dirty="0"/>
          </a:p>
        </p:txBody>
      </p:sp>
      <p:sp>
        <p:nvSpPr>
          <p:cNvPr id="16" name="definition card"/>
          <p:cNvSpPr/>
          <p:nvPr/>
        </p:nvSpPr>
        <p:spPr>
          <a:xfrm>
            <a:off x="6766560" y="4297680"/>
            <a:ext cx="4846320" cy="1097280"/>
          </a:xfrm>
          <a:prstGeom prst="roundRect">
            <a:avLst>
              <a:gd name="adj" fmla="val 10000"/>
            </a:avLst>
          </a:prstGeom>
          <a:solidFill>
            <a:schemeClr val="bg2"/>
          </a:solidFill>
          <a:ln/>
        </p:spPr>
      </p:sp>
      <p:sp>
        <p:nvSpPr>
          <p:cNvPr id="17" name="Text 14"/>
          <p:cNvSpPr txBox="1"/>
          <p:nvPr/>
        </p:nvSpPr>
        <p:spPr>
          <a:xfrm>
            <a:off x="6949440" y="4343400"/>
            <a:ext cx="4526280" cy="1005840"/>
          </a:xfrm>
          <a:prstGeom prst="rect">
            <a:avLst/>
          </a:prstGeom>
          <a:noFill/>
          <a:ln/>
        </p:spPr>
        <p:txBody>
          <a:bodyPr wrap="square" lIns="635" tIns="635" rIns="635" bIns="635" rtlCol="0" anchor="ctr"/>
          <a:lstStyle/>
          <a:p>
            <a:pPr indent="0" marL="0">
              <a:buNone/>
            </a:pPr>
            <a:r>
              <a:rPr lang="en-US" sz="1450" b="1" dirty="0">
                <a:solidFill>
                  <a:schemeClr val="accent2"/>
                </a:solidFill>
              </a:rPr>
              <a:t>Silent carrier = </a:t>
            </a:r>
            <a:r>
              <a:rPr lang="en-US" sz="1450" dirty="0">
                <a:solidFill>
                  <a:schemeClr val="tx1"/>
                </a:solidFill>
              </a:rPr>
              <a:t>someone who is infected and can spread the virus without feeling sick.</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Sex and race made little difference, but enlisted sailors were hit harder</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Attack rate = % of a group infected (confirmed or suspected), my calculation from reference 1 counts.</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Risk followed how sailors lived and worked, not who they were (my reading).</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Where on the ship was risk highest?</a:t>
            </a:r>
            <a:endParaRPr lang="en-US" sz="1300" dirty="0"/>
          </a:p>
        </p:txBody>
      </p:sp>
      <p:graphicFrame>
        <p:nvGraphicFramePr>
          <p:cNvPr id="9" name="Chart 0" descr=""/>
          <p:cNvGraphicFramePr/>
          <p:nvPr/>
        </p:nvGraphicFramePr>
        <p:xfrm>
          <a:off x="548640" y="137160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10" name="Sex and race card"/>
          <p:cNvSpPr/>
          <p:nvPr/>
        </p:nvSpPr>
        <p:spPr>
          <a:xfrm>
            <a:off x="7726680" y="1371600"/>
            <a:ext cx="3886200" cy="1280160"/>
          </a:xfrm>
          <a:prstGeom prst="roundRect">
            <a:avLst>
              <a:gd name="adj" fmla="val 8571"/>
            </a:avLst>
          </a:prstGeom>
          <a:solidFill>
            <a:schemeClr val="bg2"/>
          </a:solidFill>
          <a:ln/>
        </p:spPr>
      </p:sp>
      <p:sp>
        <p:nvSpPr>
          <p:cNvPr id="11" name="Sex and race icon circle"/>
          <p:cNvSpPr/>
          <p:nvPr/>
        </p:nvSpPr>
        <p:spPr>
          <a:xfrm>
            <a:off x="7955280" y="1691640"/>
            <a:ext cx="640080" cy="640080"/>
          </a:xfrm>
          <a:prstGeom prst="ellipse">
            <a:avLst/>
          </a:prstGeom>
          <a:solidFill>
            <a:schemeClr val="accent1"/>
          </a:solidFill>
          <a:ln/>
        </p:spPr>
      </p:sp>
      <p:pic>
        <p:nvPicPr>
          <p:cNvPr id="12" name="Sex and race icon" descr="Sex and race icon">    </p:cNvPr>
          <p:cNvPicPr>
            <a:picLocks noChangeAspect="1"/>
          </p:cNvPicPr>
          <p:nvPr/>
        </p:nvPicPr>
        <p:blipFill>
          <a:blip r:embed="rId2"/>
          <a:stretch>
            <a:fillRect/>
          </a:stretch>
        </p:blipFill>
        <p:spPr>
          <a:xfrm>
            <a:off x="8108899" y="1845259"/>
            <a:ext cx="332842" cy="332842"/>
          </a:xfrm>
          <a:prstGeom prst="rect">
            <a:avLst/>
          </a:prstGeom>
        </p:spPr>
      </p:pic>
      <p:sp>
        <p:nvSpPr>
          <p:cNvPr id="13" name="Text 9"/>
          <p:cNvSpPr txBox="1"/>
          <p:nvPr/>
        </p:nvSpPr>
        <p:spPr>
          <a:xfrm>
            <a:off x="8823960" y="1426464"/>
            <a:ext cx="2606040" cy="1170432"/>
          </a:xfrm>
          <a:prstGeom prst="rect">
            <a:avLst/>
          </a:prstGeom>
          <a:noFill/>
          <a:ln/>
        </p:spPr>
        <p:txBody>
          <a:bodyPr wrap="square" lIns="635" tIns="635" rIns="635" bIns="635" rtlCol="0" anchor="ctr"/>
          <a:lstStyle/>
          <a:p>
            <a:pPr indent="0" marL="0">
              <a:buNone/>
            </a:pPr>
            <a:r>
              <a:rPr lang="en-US" sz="1550" b="1" dirty="0">
                <a:solidFill>
                  <a:schemeClr val="tx2"/>
                </a:solidFill>
              </a:rPr>
              <a:t>Sex and race</a:t>
            </a:r>
            <a:endParaRPr lang="en-US" sz="1350" dirty="0"/>
          </a:p>
          <a:p>
            <a:pPr indent="0" marL="0">
              <a:buNone/>
            </a:pPr>
            <a:r>
              <a:rPr lang="en-US" sz="1350" dirty="0">
                <a:solidFill>
                  <a:schemeClr val="tx1"/>
                </a:solidFill>
              </a:rPr>
              <a:t>Little difference: about 28% of men and of women, and 25–31% across racial and ethnic groups</a:t>
            </a:r>
            <a:r>
              <a:rPr lang="en-US" sz="1350" baseline="30000" dirty="0">
                <a:solidFill>
                  <a:schemeClr val="tx1"/>
                </a:solidFill>
              </a:rPr>
              <a:t>1</a:t>
            </a:r>
            <a:endParaRPr lang="en-US" sz="1350" dirty="0"/>
          </a:p>
        </p:txBody>
      </p:sp>
      <p:sp>
        <p:nvSpPr>
          <p:cNvPr id="14" name="Age card"/>
          <p:cNvSpPr/>
          <p:nvPr/>
        </p:nvSpPr>
        <p:spPr>
          <a:xfrm>
            <a:off x="7726680" y="2743200"/>
            <a:ext cx="3886200" cy="1280160"/>
          </a:xfrm>
          <a:prstGeom prst="roundRect">
            <a:avLst>
              <a:gd name="adj" fmla="val 8571"/>
            </a:avLst>
          </a:prstGeom>
          <a:solidFill>
            <a:schemeClr val="bg2"/>
          </a:solidFill>
          <a:ln/>
        </p:spPr>
      </p:sp>
      <p:sp>
        <p:nvSpPr>
          <p:cNvPr id="15" name="Age icon circle"/>
          <p:cNvSpPr/>
          <p:nvPr/>
        </p:nvSpPr>
        <p:spPr>
          <a:xfrm>
            <a:off x="7955280" y="3063240"/>
            <a:ext cx="640080" cy="640080"/>
          </a:xfrm>
          <a:prstGeom prst="ellipse">
            <a:avLst/>
          </a:prstGeom>
          <a:solidFill>
            <a:schemeClr val="accent1"/>
          </a:solidFill>
          <a:ln/>
        </p:spPr>
      </p:sp>
      <p:pic>
        <p:nvPicPr>
          <p:cNvPr id="16" name="Age icon" descr="Age icon">    </p:cNvPr>
          <p:cNvPicPr>
            <a:picLocks noChangeAspect="1"/>
          </p:cNvPicPr>
          <p:nvPr/>
        </p:nvPicPr>
        <p:blipFill>
          <a:blip r:embed="rId3"/>
          <a:stretch>
            <a:fillRect/>
          </a:stretch>
        </p:blipFill>
        <p:spPr>
          <a:xfrm>
            <a:off x="8108899" y="3216859"/>
            <a:ext cx="332842" cy="332842"/>
          </a:xfrm>
          <a:prstGeom prst="rect">
            <a:avLst/>
          </a:prstGeom>
        </p:spPr>
      </p:pic>
      <p:sp>
        <p:nvSpPr>
          <p:cNvPr id="17" name="Text 12"/>
          <p:cNvSpPr txBox="1"/>
          <p:nvPr/>
        </p:nvSpPr>
        <p:spPr>
          <a:xfrm>
            <a:off x="8823960" y="2798064"/>
            <a:ext cx="2606040" cy="1170432"/>
          </a:xfrm>
          <a:prstGeom prst="rect">
            <a:avLst/>
          </a:prstGeom>
          <a:noFill/>
          <a:ln/>
        </p:spPr>
        <p:txBody>
          <a:bodyPr wrap="square" lIns="635" tIns="635" rIns="635" bIns="635" rtlCol="0" anchor="ctr"/>
          <a:lstStyle/>
          <a:p>
            <a:pPr indent="0" marL="0">
              <a:buNone/>
            </a:pPr>
            <a:r>
              <a:rPr lang="en-US" sz="1550" b="1" dirty="0">
                <a:solidFill>
                  <a:schemeClr val="tx2"/>
                </a:solidFill>
              </a:rPr>
              <a:t>Age</a:t>
            </a:r>
            <a:endParaRPr lang="en-US" sz="1350" dirty="0"/>
          </a:p>
          <a:p>
            <a:pPr indent="0" marL="0">
              <a:buNone/>
            </a:pPr>
            <a:r>
              <a:rPr lang="en-US" sz="1350" dirty="0">
                <a:solidFill>
                  <a:schemeClr val="tx1"/>
                </a:solidFill>
              </a:rPr>
              <a:t>The average age was 27 for infected and uninfected sailors alike. No rates by age group were reported</a:t>
            </a:r>
            <a:r>
              <a:rPr lang="en-US" sz="1350" baseline="30000" dirty="0">
                <a:solidFill>
                  <a:schemeClr val="tx1"/>
                </a:solidFill>
              </a:rPr>
              <a:t>1</a:t>
            </a:r>
            <a:endParaRPr lang="en-US" sz="1350" dirty="0"/>
          </a:p>
        </p:txBody>
      </p:sp>
      <p:sp>
        <p:nvSpPr>
          <p:cNvPr id="18" name="Rank card"/>
          <p:cNvSpPr/>
          <p:nvPr/>
        </p:nvSpPr>
        <p:spPr>
          <a:xfrm>
            <a:off x="7726680" y="4114800"/>
            <a:ext cx="3886200" cy="1280160"/>
          </a:xfrm>
          <a:prstGeom prst="roundRect">
            <a:avLst>
              <a:gd name="adj" fmla="val 8571"/>
            </a:avLst>
          </a:prstGeom>
          <a:solidFill>
            <a:schemeClr val="bg2"/>
          </a:solidFill>
          <a:ln/>
        </p:spPr>
      </p:sp>
      <p:sp>
        <p:nvSpPr>
          <p:cNvPr id="19" name="Rank icon circle"/>
          <p:cNvSpPr/>
          <p:nvPr/>
        </p:nvSpPr>
        <p:spPr>
          <a:xfrm>
            <a:off x="7955280" y="4434840"/>
            <a:ext cx="640080" cy="640080"/>
          </a:xfrm>
          <a:prstGeom prst="ellipse">
            <a:avLst/>
          </a:prstGeom>
          <a:solidFill>
            <a:schemeClr val="accent2"/>
          </a:solidFill>
          <a:ln/>
        </p:spPr>
      </p:sp>
      <p:pic>
        <p:nvPicPr>
          <p:cNvPr id="20" name="Rank icon" descr="Rank icon">    </p:cNvPr>
          <p:cNvPicPr>
            <a:picLocks noChangeAspect="1"/>
          </p:cNvPicPr>
          <p:nvPr/>
        </p:nvPicPr>
        <p:blipFill>
          <a:blip r:embed="rId4"/>
          <a:stretch>
            <a:fillRect/>
          </a:stretch>
        </p:blipFill>
        <p:spPr>
          <a:xfrm>
            <a:off x="8108899" y="4588459"/>
            <a:ext cx="332842" cy="332842"/>
          </a:xfrm>
          <a:prstGeom prst="rect">
            <a:avLst/>
          </a:prstGeom>
        </p:spPr>
      </p:pic>
      <p:sp>
        <p:nvSpPr>
          <p:cNvPr id="21" name="Text 15"/>
          <p:cNvSpPr txBox="1"/>
          <p:nvPr/>
        </p:nvSpPr>
        <p:spPr>
          <a:xfrm>
            <a:off x="8823960" y="4169664"/>
            <a:ext cx="2606040" cy="1170432"/>
          </a:xfrm>
          <a:prstGeom prst="rect">
            <a:avLst/>
          </a:prstGeom>
          <a:noFill/>
          <a:ln/>
        </p:spPr>
        <p:txBody>
          <a:bodyPr wrap="square" lIns="635" tIns="635" rIns="635" bIns="635" rtlCol="0" anchor="ctr"/>
          <a:lstStyle/>
          <a:p>
            <a:pPr indent="0" marL="0">
              <a:buNone/>
            </a:pPr>
            <a:r>
              <a:rPr lang="en-US" sz="1550" b="1" dirty="0">
                <a:solidFill>
                  <a:schemeClr val="tx2"/>
                </a:solidFill>
              </a:rPr>
              <a:t>Rank</a:t>
            </a:r>
            <a:endParaRPr lang="en-US" sz="1350" dirty="0"/>
          </a:p>
          <a:p>
            <a:pPr indent="0" marL="0">
              <a:buNone/>
            </a:pPr>
            <a:r>
              <a:rPr lang="en-US" sz="1350" dirty="0">
                <a:solidFill>
                  <a:schemeClr val="tx1"/>
                </a:solidFill>
              </a:rPr>
              <a:t>Enlisted 29% vs officers 21%. Enlisted sailors sleep in crowded open bays (my reading)</a:t>
            </a:r>
            <a:r>
              <a:rPr lang="en-US" sz="1350" baseline="30000" dirty="0">
                <a:solidFill>
                  <a:schemeClr val="tx1"/>
                </a:solidFill>
              </a:rPr>
              <a:t>1</a:t>
            </a:r>
            <a:endParaRPr lang="en-US" sz="13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Sailors working in small, enclosed spaces had the highest infection rates</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3   </a:t>
            </a:r>
            <a:r>
              <a:rPr lang="en-US" sz="1100" b="1" spc="100" kern="0" dirty="0">
                <a:solidFill>
                  <a:schemeClr val="accent6"/>
                </a:solidFill>
              </a:rPr>
              <a:t>WHO, WHERE AND WHEN?</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Enclosed = reactor, engineering, supply, weapons, combat support (the paper's grouping). Rates and risk ratio: my calculation.</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Where sailors worked changed their risk: small, enclosed workplaces had far more infections.</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How big was the risk?</a:t>
            </a:r>
            <a:endParaRPr lang="en-US" sz="1300" dirty="0"/>
          </a:p>
        </p:txBody>
      </p:sp>
      <p:sp>
        <p:nvSpPr>
          <p:cNvPr id="9" name="legend swatch Small, enclosed workplaces"/>
          <p:cNvSpPr/>
          <p:nvPr/>
        </p:nvSpPr>
        <p:spPr>
          <a:xfrm>
            <a:off x="640080" y="1463040"/>
            <a:ext cx="155448" cy="155448"/>
          </a:xfrm>
          <a:prstGeom prst="rect">
            <a:avLst/>
          </a:prstGeom>
          <a:solidFill>
            <a:srgbClr val="0B2545"/>
          </a:solidFill>
          <a:ln/>
        </p:spPr>
      </p:sp>
      <p:sp>
        <p:nvSpPr>
          <p:cNvPr id="10" name="Text 8"/>
          <p:cNvSpPr txBox="1"/>
          <p:nvPr/>
        </p:nvSpPr>
        <p:spPr>
          <a:xfrm>
            <a:off x="841248" y="1371600"/>
            <a:ext cx="2194560" cy="338328"/>
          </a:xfrm>
          <a:prstGeom prst="rect">
            <a:avLst/>
          </a:prstGeom>
          <a:noFill/>
          <a:ln/>
        </p:spPr>
        <p:txBody>
          <a:bodyPr wrap="square" lIns="0" tIns="0" rIns="0" bIns="0" rtlCol="0" anchor="ctr"/>
          <a:lstStyle/>
          <a:p>
            <a:pPr indent="0" marL="0">
              <a:buNone/>
            </a:pPr>
            <a:r>
              <a:rPr lang="en-US" sz="1200" dirty="0">
                <a:solidFill>
                  <a:schemeClr val="tx1"/>
                </a:solidFill>
              </a:rPr>
              <a:t>Small, enclosed workplaces</a:t>
            </a:r>
            <a:endParaRPr lang="en-US" sz="1200" dirty="0"/>
          </a:p>
        </p:txBody>
      </p:sp>
      <p:sp>
        <p:nvSpPr>
          <p:cNvPr id="11" name="legend swatch Medical (wore protective gear)"/>
          <p:cNvSpPr/>
          <p:nvPr/>
        </p:nvSpPr>
        <p:spPr>
          <a:xfrm>
            <a:off x="3017520" y="1463040"/>
            <a:ext cx="155448" cy="155448"/>
          </a:xfrm>
          <a:prstGeom prst="rect">
            <a:avLst/>
          </a:prstGeom>
          <a:solidFill>
            <a:srgbClr val="B7791F"/>
          </a:solidFill>
          <a:ln/>
        </p:spPr>
      </p:sp>
      <p:sp>
        <p:nvSpPr>
          <p:cNvPr id="12" name="Text 10"/>
          <p:cNvSpPr txBox="1"/>
          <p:nvPr/>
        </p:nvSpPr>
        <p:spPr>
          <a:xfrm>
            <a:off x="3218688" y="1371600"/>
            <a:ext cx="2560320" cy="338328"/>
          </a:xfrm>
          <a:prstGeom prst="rect">
            <a:avLst/>
          </a:prstGeom>
          <a:noFill/>
          <a:ln/>
        </p:spPr>
        <p:txBody>
          <a:bodyPr wrap="square" lIns="0" tIns="0" rIns="0" bIns="0" rtlCol="0" anchor="ctr"/>
          <a:lstStyle/>
          <a:p>
            <a:pPr indent="0" marL="0">
              <a:buNone/>
            </a:pPr>
            <a:r>
              <a:rPr lang="en-US" sz="1200" dirty="0">
                <a:solidFill>
                  <a:schemeClr val="tx1"/>
                </a:solidFill>
              </a:rPr>
              <a:t>Medical (wore protective gear)</a:t>
            </a:r>
            <a:endParaRPr lang="en-US" sz="1200" dirty="0"/>
          </a:p>
        </p:txBody>
      </p:sp>
      <p:sp>
        <p:nvSpPr>
          <p:cNvPr id="13" name="legend swatch Open-air or mixed"/>
          <p:cNvSpPr/>
          <p:nvPr/>
        </p:nvSpPr>
        <p:spPr>
          <a:xfrm>
            <a:off x="5715000" y="1463040"/>
            <a:ext cx="155448" cy="155448"/>
          </a:xfrm>
          <a:prstGeom prst="rect">
            <a:avLst/>
          </a:prstGeom>
          <a:solidFill>
            <a:srgbClr val="3B6EA5"/>
          </a:solidFill>
          <a:ln/>
        </p:spPr>
      </p:sp>
      <p:sp>
        <p:nvSpPr>
          <p:cNvPr id="14" name="Text 12"/>
          <p:cNvSpPr txBox="1"/>
          <p:nvPr/>
        </p:nvSpPr>
        <p:spPr>
          <a:xfrm>
            <a:off x="5916168" y="1371600"/>
            <a:ext cx="1645920" cy="338328"/>
          </a:xfrm>
          <a:prstGeom prst="rect">
            <a:avLst/>
          </a:prstGeom>
          <a:noFill/>
          <a:ln/>
        </p:spPr>
        <p:txBody>
          <a:bodyPr wrap="square" lIns="0" tIns="0" rIns="0" bIns="0" rtlCol="0" anchor="ctr"/>
          <a:lstStyle/>
          <a:p>
            <a:pPr indent="0" marL="0">
              <a:buNone/>
            </a:pPr>
            <a:r>
              <a:rPr lang="en-US" sz="1200" dirty="0">
                <a:solidFill>
                  <a:schemeClr val="tx1"/>
                </a:solidFill>
              </a:rPr>
              <a:t>Open-air or mixed</a:t>
            </a:r>
            <a:endParaRPr lang="en-US" sz="1200" dirty="0"/>
          </a:p>
        </p:txBody>
      </p:sp>
      <p:graphicFrame>
        <p:nvGraphicFramePr>
          <p:cNvPr id="15" name="Chart 0" descr=""/>
          <p:cNvGraphicFramePr/>
          <p:nvPr/>
        </p:nvGraphicFramePr>
        <p:xfrm>
          <a:off x="548640" y="1737360"/>
          <a:ext cx="6949440" cy="324612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48640" y="5029200"/>
            <a:ext cx="6949440" cy="365760"/>
          </a:xfrm>
          <a:prstGeom prst="rect">
            <a:avLst/>
          </a:prstGeom>
          <a:noFill/>
          <a:ln/>
        </p:spPr>
        <p:txBody>
          <a:bodyPr wrap="square" lIns="635" tIns="635" rIns="635" bIns="635" rtlCol="0" anchor="t"/>
          <a:lstStyle/>
          <a:p>
            <a:pPr indent="0" marL="0">
              <a:buNone/>
            </a:pPr>
            <a:r>
              <a:rPr lang="en-US" sz="1250" i="1" dirty="0">
                <a:solidFill>
                  <a:schemeClr val="accent6"/>
                </a:solidFill>
              </a:rPr>
              <a:t>No map needed: the whole outbreak happened on one ship, so departments show where.</a:t>
            </a:r>
            <a:endParaRPr lang="en-US" sz="1250" dirty="0"/>
          </a:p>
        </p:txBody>
      </p:sp>
      <p:sp>
        <p:nvSpPr>
          <p:cNvPr id="17" name="relative risk card"/>
          <p:cNvSpPr/>
          <p:nvPr/>
        </p:nvSpPr>
        <p:spPr>
          <a:xfrm>
            <a:off x="7818120" y="1371600"/>
            <a:ext cx="3794760" cy="2514600"/>
          </a:xfrm>
          <a:prstGeom prst="roundRect">
            <a:avLst>
              <a:gd name="adj" fmla="val 4364"/>
            </a:avLst>
          </a:prstGeom>
          <a:solidFill>
            <a:schemeClr val="tx2"/>
          </a:solidFill>
          <a:ln/>
        </p:spPr>
      </p:sp>
      <p:sp>
        <p:nvSpPr>
          <p:cNvPr id="18" name="Text 15"/>
          <p:cNvSpPr txBox="1"/>
          <p:nvPr/>
        </p:nvSpPr>
        <p:spPr>
          <a:xfrm>
            <a:off x="8046720" y="1417320"/>
            <a:ext cx="3383280" cy="777240"/>
          </a:xfrm>
          <a:prstGeom prst="rect">
            <a:avLst/>
          </a:prstGeom>
          <a:noFill/>
          <a:ln/>
        </p:spPr>
        <p:txBody>
          <a:bodyPr wrap="square" lIns="635" tIns="635" rIns="635" bIns="635"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2.6×</a:t>
            </a:r>
            <a:endParaRPr lang="en-US" sz="4000" dirty="0"/>
          </a:p>
        </p:txBody>
      </p:sp>
      <p:sp>
        <p:nvSpPr>
          <p:cNvPr id="19" name="Text 16"/>
          <p:cNvSpPr txBox="1"/>
          <p:nvPr/>
        </p:nvSpPr>
        <p:spPr>
          <a:xfrm>
            <a:off x="8046720" y="2194560"/>
            <a:ext cx="3383280" cy="868680"/>
          </a:xfrm>
          <a:prstGeom prst="rect">
            <a:avLst/>
          </a:prstGeom>
          <a:noFill/>
          <a:ln/>
        </p:spPr>
        <p:txBody>
          <a:bodyPr wrap="square" lIns="635" tIns="635" rIns="635" bIns="635" rtlCol="0" anchor="t"/>
          <a:lstStyle/>
          <a:p>
            <a:pPr indent="0" marL="0">
              <a:buNone/>
            </a:pPr>
            <a:r>
              <a:rPr lang="en-US" sz="1400" dirty="0">
                <a:solidFill>
                  <a:schemeClr val="bg1"/>
                </a:solidFill>
              </a:rPr>
              <a:t>Enclosed-space crews were about 2.6 times as likely to be infected as air and deck crews (33% vs 13%)</a:t>
            </a:r>
            <a:r>
              <a:rPr lang="en-US" sz="1400" baseline="30000" dirty="0">
                <a:solidFill>
                  <a:schemeClr val="bg1"/>
                </a:solidFill>
              </a:rPr>
              <a:t>1</a:t>
            </a:r>
            <a:endParaRPr lang="en-US" sz="1400" dirty="0"/>
          </a:p>
        </p:txBody>
      </p:sp>
      <p:sp>
        <p:nvSpPr>
          <p:cNvPr id="20" name="Text 17"/>
          <p:cNvSpPr txBox="1"/>
          <p:nvPr/>
        </p:nvSpPr>
        <p:spPr>
          <a:xfrm>
            <a:off x="8046720" y="3108960"/>
            <a:ext cx="3383280" cy="731520"/>
          </a:xfrm>
          <a:prstGeom prst="rect">
            <a:avLst/>
          </a:prstGeom>
          <a:noFill/>
          <a:ln/>
        </p:spPr>
        <p:txBody>
          <a:bodyPr wrap="square" lIns="635" tIns="635" rIns="635" bIns="635" rtlCol="0" anchor="t"/>
          <a:lstStyle/>
          <a:p>
            <a:pPr indent="0" marL="0">
              <a:buNone/>
            </a:pPr>
            <a:r>
              <a:rPr lang="en-US" sz="1300" i="1" dirty="0">
                <a:solidFill>
                  <a:srgbClr val="8DA9C4"/>
                </a:solidFill>
              </a:rPr>
              <a:t>95% confidence range: 2.1 to 3.3. A range that stays above 1 means the difference is real, not luck.</a:t>
            </a:r>
            <a:endParaRPr lang="en-US" sz="1300" dirty="0"/>
          </a:p>
        </p:txBody>
      </p:sp>
      <p:sp>
        <p:nvSpPr>
          <p:cNvPr id="21" name="medical card"/>
          <p:cNvSpPr/>
          <p:nvPr/>
        </p:nvSpPr>
        <p:spPr>
          <a:xfrm>
            <a:off x="7818120" y="4023360"/>
            <a:ext cx="3794760" cy="1371600"/>
          </a:xfrm>
          <a:prstGeom prst="roundRect">
            <a:avLst>
              <a:gd name="adj" fmla="val 8000"/>
            </a:avLst>
          </a:prstGeom>
          <a:solidFill>
            <a:schemeClr val="bg2"/>
          </a:solidFill>
          <a:ln/>
        </p:spPr>
      </p:sp>
      <p:sp>
        <p:nvSpPr>
          <p:cNvPr id="22" name="Text 19"/>
          <p:cNvSpPr txBox="1"/>
          <p:nvPr/>
        </p:nvSpPr>
        <p:spPr>
          <a:xfrm>
            <a:off x="8001000" y="4069080"/>
            <a:ext cx="3474720" cy="1280160"/>
          </a:xfrm>
          <a:prstGeom prst="rect">
            <a:avLst/>
          </a:prstGeom>
          <a:noFill/>
          <a:ln/>
        </p:spPr>
        <p:txBody>
          <a:bodyPr wrap="square" lIns="635" tIns="635" rIns="635" bIns="635" rtlCol="0" anchor="ctr"/>
          <a:lstStyle/>
          <a:p>
            <a:pPr indent="0" marL="0">
              <a:buNone/>
            </a:pPr>
            <a:r>
              <a:rPr lang="en-US" sz="1400" b="1" dirty="0">
                <a:solidFill>
                  <a:schemeClr val="tx2"/>
                </a:solidFill>
              </a:rPr>
              <a:t>Medical staff wore protective gear: </a:t>
            </a:r>
            <a:r>
              <a:rPr lang="en-US" sz="1400" dirty="0">
                <a:solidFill>
                  <a:schemeClr val="tx1"/>
                </a:solidFill>
              </a:rPr>
              <a:t>17% infected (8 of 48). A small group, so only a hint</a:t>
            </a:r>
            <a:r>
              <a:rPr lang="en-US" sz="1400" baseline="30000" dirty="0">
                <a:solidFill>
                  <a:schemeClr val="tx1"/>
                </a:solidFill>
              </a:rPr>
              <a:t>1</a:t>
            </a:r>
            <a:r>
              <a:rPr lang="en-US" sz="1400" dirty="0">
                <a:solidFill>
                  <a:schemeClr val="tx1"/>
                </a:solidFill>
              </a:rPr>
              <a:t>.</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By the numbers: 1 in 4 infected, few seriously ill, enclosed spaces 2.6× the risk</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Covid-19 spread widely but was mostly mild, and enclosed workplaces made infection about 2.6 times as likely.</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Does crowding really cause infection?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00400"/>
                <a:gridCol w="2743200"/>
                <a:gridCol w="3291840"/>
                <a:gridCol w="1828800"/>
              </a:tblGrid>
              <a:tr h="530352">
                <a:tc>
                  <a:txBody>
                    <a:bodyPr/>
                    <a:lstStyle/>
                    <a:p>
                      <a:pPr indent="0" marL="0">
                        <a:buNone/>
                      </a:pPr>
                      <a:r>
                        <a:rPr lang="en-US" sz="1400" b="1" dirty="0">
                          <a:solidFill>
                            <a:srgbClr val="FFFFFF"/>
                          </a:solidFill>
                        </a:rPr>
                        <a:t>Measure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Result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In plain words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Calculated by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30352">
                <a:tc>
                  <a:txBody>
                    <a:bodyPr/>
                    <a:lstStyle/>
                    <a:p>
                      <a:pPr indent="0" marL="0">
                        <a:buNone/>
                      </a:pPr>
                      <a:r>
                        <a:rPr lang="en-US" sz="1400" dirty="0">
                          <a:solidFill>
                            <a:srgbClr val="1B1B1E"/>
                          </a:solidFill>
                        </a:rPr>
                        <a:t>Attack rate (confirmed cases)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1B1B1E"/>
                          </a:solidFill>
                        </a:rPr>
                        <a:t>26.6% (1,271 of 4,779)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dirty="0">
                          <a:solidFill>
                            <a:srgbClr val="1B1B1E"/>
                          </a:solidFill>
                        </a:rPr>
                        <a:t>About 1 in 4 sailors got infected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0B2545"/>
                          </a:solidFill>
                        </a:rPr>
                        <a:t>Authors¹</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B1B1E"/>
                          </a:solidFill>
                        </a:rPr>
                        <a:t>Hospitalized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1B1B1E"/>
                          </a:solidFill>
                        </a:rPr>
                        <a:t>1.7% (23 of 1,331 cases)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dirty="0">
                          <a:solidFill>
                            <a:srgbClr val="1B1B1E"/>
                          </a:solidFill>
                        </a:rPr>
                        <a:t>Very few needed hospital care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0B2545"/>
                          </a:solidFill>
                        </a:rPr>
                        <a:t>Authors¹</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B1B1E"/>
                          </a:solidFill>
                        </a:rPr>
                        <a:t>Died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1B1B1E"/>
                          </a:solidFill>
                        </a:rPr>
                        <a:t>0.08% (1 of 1,331 cases)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dirty="0">
                          <a:solidFill>
                            <a:srgbClr val="1B1B1E"/>
                          </a:solidFill>
                        </a:rPr>
                        <a:t>One death</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D1495B"/>
                          </a:solidFill>
                        </a:rPr>
                        <a:t>Me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B1B1E"/>
                          </a:solidFill>
                        </a:rPr>
                        <a:t>No symptoms when tested positive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1B1B1E"/>
                          </a:solidFill>
                        </a:rPr>
                        <a:t>77% (978 of 1,271)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dirty="0">
                          <a:solidFill>
                            <a:srgbClr val="1B1B1E"/>
                          </a:solidFill>
                        </a:rPr>
                        <a:t>About 3 in 4 infected sailors felt fine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0B2545"/>
                          </a:solidFill>
                        </a:rPr>
                        <a:t>Authors¹</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30352">
                <a:tc>
                  <a:txBody>
                    <a:bodyPr/>
                    <a:lstStyle/>
                    <a:p>
                      <a:pPr indent="0" marL="0">
                        <a:buNone/>
                      </a:pPr>
                      <a:r>
                        <a:rPr lang="en-US" sz="1400" dirty="0">
                          <a:solidFill>
                            <a:srgbClr val="1B1B1E"/>
                          </a:solidFill>
                        </a:rPr>
                        <a:t>Relative risk: enclosed vs open-air work</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1B1B1E"/>
                          </a:solidFill>
                        </a:rPr>
                        <a:t>2.6 (95% CI 2.1–3.3)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dirty="0">
                          <a:solidFill>
                            <a:srgbClr val="1B1B1E"/>
                          </a:solidFill>
                        </a:rPr>
                        <a:t>2.6 times as likely to be infected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00" b="1" dirty="0">
                          <a:solidFill>
                            <a:srgbClr val="D1495B"/>
                          </a:solidFill>
                        </a:rPr>
                        <a:t>Me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10" name="plain words box"/>
          <p:cNvSpPr/>
          <p:nvPr/>
        </p:nvSpPr>
        <p:spPr>
          <a:xfrm>
            <a:off x="548640" y="4754880"/>
            <a:ext cx="11064240" cy="640080"/>
          </a:xfrm>
          <a:prstGeom prst="roundRect">
            <a:avLst>
              <a:gd name="adj" fmla="val 17143"/>
            </a:avLst>
          </a:prstGeom>
          <a:solidFill>
            <a:srgbClr val="FFFFFF"/>
          </a:solidFill>
          <a:ln w="12700">
            <a:solidFill>
              <a:srgbClr val="8DA9C4"/>
            </a:solidFill>
            <a:prstDash val="solid"/>
          </a:ln>
        </p:spPr>
      </p:sp>
      <p:sp>
        <p:nvSpPr>
          <p:cNvPr id="11" name="plain words icon circle"/>
          <p:cNvSpPr/>
          <p:nvPr/>
        </p:nvSpPr>
        <p:spPr>
          <a:xfrm>
            <a:off x="731520" y="4823460"/>
            <a:ext cx="502920" cy="502920"/>
          </a:xfrm>
          <a:prstGeom prst="ellipse">
            <a:avLst/>
          </a:prstGeom>
          <a:solidFill>
            <a:schemeClr val="accent4"/>
          </a:solidFill>
          <a:ln/>
        </p:spPr>
      </p:sp>
      <p:pic>
        <p:nvPicPr>
          <p:cNvPr id="12" name="plain words icon" descr="plain words icon">    </p:cNvPr>
          <p:cNvPicPr>
            <a:picLocks noChangeAspect="1"/>
          </p:cNvPicPr>
          <p:nvPr/>
        </p:nvPicPr>
        <p:blipFill>
          <a:blip r:embed="rId1"/>
          <a:stretch>
            <a:fillRect/>
          </a:stretch>
        </p:blipFill>
        <p:spPr>
          <a:xfrm>
            <a:off x="852221" y="4944161"/>
            <a:ext cx="261518" cy="261518"/>
          </a:xfrm>
          <a:prstGeom prst="rect">
            <a:avLst/>
          </a:prstGeom>
        </p:spPr>
      </p:pic>
      <p:sp>
        <p:nvSpPr>
          <p:cNvPr id="13" name="Text 9"/>
          <p:cNvSpPr txBox="1"/>
          <p:nvPr/>
        </p:nvSpPr>
        <p:spPr>
          <a:xfrm>
            <a:off x="1417320" y="4754880"/>
            <a:ext cx="10012680" cy="640080"/>
          </a:xfrm>
          <a:prstGeom prst="rect">
            <a:avLst/>
          </a:prstGeom>
          <a:noFill/>
          <a:ln/>
        </p:spPr>
        <p:txBody>
          <a:bodyPr wrap="square" lIns="635" tIns="635" rIns="635" bIns="635" rtlCol="0" anchor="ctr"/>
          <a:lstStyle/>
          <a:p>
            <a:pPr indent="0" marL="0">
              <a:buNone/>
            </a:pPr>
            <a:r>
              <a:rPr lang="en-US" sz="1400" b="1" dirty="0">
                <a:solidFill>
                  <a:schemeClr val="tx2"/>
                </a:solidFill>
              </a:rPr>
              <a:t>In plain words: </a:t>
            </a:r>
            <a:r>
              <a:rPr lang="en-US" sz="1400" b="1" dirty="0">
                <a:solidFill>
                  <a:schemeClr val="tx1"/>
                </a:solidFill>
              </a:rPr>
              <a:t>Attack rate</a:t>
            </a:r>
            <a:r>
              <a:rPr lang="en-US" sz="1400" dirty="0">
                <a:solidFill>
                  <a:schemeClr val="tx1"/>
                </a:solidFill>
              </a:rPr>
              <a:t> = % who got infected.  </a:t>
            </a:r>
            <a:r>
              <a:rPr lang="en-US" sz="1400" b="1" dirty="0">
                <a:solidFill>
                  <a:schemeClr val="tx1"/>
                </a:solidFill>
              </a:rPr>
              <a:t>Relative risk</a:t>
            </a:r>
            <a:r>
              <a:rPr lang="en-US" sz="1400" dirty="0">
                <a:solidFill>
                  <a:schemeClr val="tx1"/>
                </a:solidFill>
              </a:rPr>
              <a:t> = how many times as likely.  </a:t>
            </a:r>
            <a:r>
              <a:rPr lang="en-US" sz="1400" b="1" dirty="0">
                <a:solidFill>
                  <a:schemeClr val="tx1"/>
                </a:solidFill>
              </a:rPr>
              <a:t>95% CI</a:t>
            </a:r>
            <a:r>
              <a:rPr lang="en-US" sz="1400" dirty="0">
                <a:solidFill>
                  <a:schemeClr val="tx1"/>
                </a:solidFill>
              </a:rPr>
              <a:t> = the range the true value very likely falls in.</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Close quarters are a strong clue, but a link alone is not proof of cause</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5. Payne DC, et al. MMWR Morb Mortal Wkly Rep.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Best explanation: the virus spread person to person in close quarters, helped by sailors who felt fine.</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How far can we trust this?</a:t>
            </a:r>
            <a:endParaRPr lang="en-US" sz="1300" dirty="0"/>
          </a:p>
        </p:txBody>
      </p:sp>
      <p:sp>
        <p:nvSpPr>
          <p:cNvPr id="9" name="What supports it card"/>
          <p:cNvSpPr/>
          <p:nvPr/>
        </p:nvSpPr>
        <p:spPr>
          <a:xfrm>
            <a:off x="548640" y="1371600"/>
            <a:ext cx="5440680" cy="3291840"/>
          </a:xfrm>
          <a:prstGeom prst="roundRect">
            <a:avLst>
              <a:gd name="adj" fmla="val 3333"/>
            </a:avLst>
          </a:prstGeom>
          <a:solidFill>
            <a:schemeClr val="bg2"/>
          </a:solidFill>
          <a:ln/>
        </p:spPr>
      </p:sp>
      <p:sp>
        <p:nvSpPr>
          <p:cNvPr id="10" name="Text 8"/>
          <p:cNvSpPr txBox="1"/>
          <p:nvPr/>
        </p:nvSpPr>
        <p:spPr>
          <a:xfrm>
            <a:off x="777240" y="1463040"/>
            <a:ext cx="493776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supports it</a:t>
            </a:r>
            <a:endParaRPr lang="en-US" sz="1800" dirty="0"/>
          </a:p>
        </p:txBody>
      </p:sp>
      <p:sp>
        <p:nvSpPr>
          <p:cNvPr id="11" name="What supports it icon 1 circle"/>
          <p:cNvSpPr/>
          <p:nvPr/>
        </p:nvSpPr>
        <p:spPr>
          <a:xfrm>
            <a:off x="777240" y="2121408"/>
            <a:ext cx="502920" cy="502920"/>
          </a:xfrm>
          <a:prstGeom prst="ellipse">
            <a:avLst/>
          </a:prstGeom>
          <a:solidFill>
            <a:schemeClr val="accent1"/>
          </a:solidFill>
          <a:ln/>
        </p:spPr>
      </p:sp>
      <p:pic>
        <p:nvPicPr>
          <p:cNvPr id="12" name="What supports it icon 1" descr="What supports it icon 1">    </p:cNvPr>
          <p:cNvPicPr>
            <a:picLocks noChangeAspect="1"/>
          </p:cNvPicPr>
          <p:nvPr/>
        </p:nvPicPr>
        <p:blipFill>
          <a:blip r:embed="rId1"/>
          <a:stretch>
            <a:fillRect/>
          </a:stretch>
        </p:blipFill>
        <p:spPr>
          <a:xfrm>
            <a:off x="897941" y="2242109"/>
            <a:ext cx="261518" cy="261518"/>
          </a:xfrm>
          <a:prstGeom prst="rect">
            <a:avLst/>
          </a:prstGeom>
        </p:spPr>
      </p:pic>
      <p:sp>
        <p:nvSpPr>
          <p:cNvPr id="13" name="Text 10"/>
          <p:cNvSpPr txBox="1"/>
          <p:nvPr/>
        </p:nvSpPr>
        <p:spPr>
          <a:xfrm>
            <a:off x="1463040" y="201168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A big gap: enclosed-space crews were about 2.6 times as likely to be infected</a:t>
            </a:r>
            <a:r>
              <a:rPr lang="en-US" sz="1450" baseline="30000" dirty="0">
                <a:solidFill>
                  <a:schemeClr val="tx1"/>
                </a:solidFill>
              </a:rPr>
              <a:t>1</a:t>
            </a:r>
            <a:endParaRPr lang="en-US" sz="1450" dirty="0"/>
          </a:p>
        </p:txBody>
      </p:sp>
      <p:sp>
        <p:nvSpPr>
          <p:cNvPr id="14" name="What supports it icon 2 circle"/>
          <p:cNvSpPr/>
          <p:nvPr/>
        </p:nvSpPr>
        <p:spPr>
          <a:xfrm>
            <a:off x="777240" y="2990088"/>
            <a:ext cx="502920" cy="502920"/>
          </a:xfrm>
          <a:prstGeom prst="ellipse">
            <a:avLst/>
          </a:prstGeom>
          <a:solidFill>
            <a:schemeClr val="accent1"/>
          </a:solidFill>
          <a:ln/>
        </p:spPr>
      </p:sp>
      <p:pic>
        <p:nvPicPr>
          <p:cNvPr id="15" name="What supports it icon 2" descr="What supports it icon 2">    </p:cNvPr>
          <p:cNvPicPr>
            <a:picLocks noChangeAspect="1"/>
          </p:cNvPicPr>
          <p:nvPr/>
        </p:nvPicPr>
        <p:blipFill>
          <a:blip r:embed="rId2"/>
          <a:stretch>
            <a:fillRect/>
          </a:stretch>
        </p:blipFill>
        <p:spPr>
          <a:xfrm>
            <a:off x="897941" y="3110789"/>
            <a:ext cx="261518" cy="261518"/>
          </a:xfrm>
          <a:prstGeom prst="rect">
            <a:avLst/>
          </a:prstGeom>
        </p:spPr>
      </p:pic>
      <p:sp>
        <p:nvSpPr>
          <p:cNvPr id="16" name="Text 12"/>
          <p:cNvSpPr txBox="1"/>
          <p:nvPr/>
        </p:nvSpPr>
        <p:spPr>
          <a:xfrm>
            <a:off x="1463040" y="288036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It makes sense: the virus spreads through the air, so close quarters raise the risk</a:t>
            </a:r>
            <a:r>
              <a:rPr lang="en-US" sz="1450" baseline="30000" dirty="0">
                <a:solidFill>
                  <a:schemeClr val="tx1"/>
                </a:solidFill>
              </a:rPr>
              <a:t>2</a:t>
            </a:r>
            <a:endParaRPr lang="en-US" sz="1450" dirty="0"/>
          </a:p>
        </p:txBody>
      </p:sp>
      <p:sp>
        <p:nvSpPr>
          <p:cNvPr id="17" name="What supports it icon 3 circle"/>
          <p:cNvSpPr/>
          <p:nvPr/>
        </p:nvSpPr>
        <p:spPr>
          <a:xfrm>
            <a:off x="777240" y="3858768"/>
            <a:ext cx="502920" cy="502920"/>
          </a:xfrm>
          <a:prstGeom prst="ellipse">
            <a:avLst/>
          </a:prstGeom>
          <a:solidFill>
            <a:schemeClr val="accent1"/>
          </a:solidFill>
          <a:ln/>
        </p:spPr>
      </p:sp>
      <p:pic>
        <p:nvPicPr>
          <p:cNvPr id="18" name="What supports it icon 3" descr="What supports it icon 3">    </p:cNvPr>
          <p:cNvPicPr>
            <a:picLocks noChangeAspect="1"/>
          </p:cNvPicPr>
          <p:nvPr/>
        </p:nvPicPr>
        <p:blipFill>
          <a:blip r:embed="rId3"/>
          <a:stretch>
            <a:fillRect/>
          </a:stretch>
        </p:blipFill>
        <p:spPr>
          <a:xfrm>
            <a:off x="897941" y="3979469"/>
            <a:ext cx="261518" cy="261518"/>
          </a:xfrm>
          <a:prstGeom prst="rect">
            <a:avLst/>
          </a:prstGeom>
        </p:spPr>
      </p:pic>
      <p:sp>
        <p:nvSpPr>
          <p:cNvPr id="19" name="Text 14"/>
          <p:cNvSpPr txBox="1"/>
          <p:nvPr/>
        </p:nvSpPr>
        <p:spPr>
          <a:xfrm>
            <a:off x="1463040" y="374904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A Navy–CDC study linked infection to sharing a berth with an infected sailor</a:t>
            </a:r>
            <a:r>
              <a:rPr lang="en-US" sz="1450" baseline="30000" dirty="0">
                <a:solidFill>
                  <a:schemeClr val="tx1"/>
                </a:solidFill>
              </a:rPr>
              <a:t>5</a:t>
            </a:r>
            <a:endParaRPr lang="en-US" sz="1450" dirty="0"/>
          </a:p>
        </p:txBody>
      </p:sp>
      <p:sp>
        <p:nvSpPr>
          <p:cNvPr id="20" name="What is still uncertain card"/>
          <p:cNvSpPr/>
          <p:nvPr/>
        </p:nvSpPr>
        <p:spPr>
          <a:xfrm>
            <a:off x="6172200" y="1371600"/>
            <a:ext cx="5440680" cy="3291840"/>
          </a:xfrm>
          <a:prstGeom prst="roundRect">
            <a:avLst>
              <a:gd name="adj" fmla="val 3333"/>
            </a:avLst>
          </a:prstGeom>
          <a:solidFill>
            <a:schemeClr val="bg2"/>
          </a:solidFill>
          <a:ln/>
        </p:spPr>
      </p:sp>
      <p:sp>
        <p:nvSpPr>
          <p:cNvPr id="21" name="Text 16"/>
          <p:cNvSpPr txBox="1"/>
          <p:nvPr/>
        </p:nvSpPr>
        <p:spPr>
          <a:xfrm>
            <a:off x="6400800" y="1463040"/>
            <a:ext cx="493776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is still uncertain</a:t>
            </a:r>
            <a:endParaRPr lang="en-US" sz="1800" dirty="0"/>
          </a:p>
        </p:txBody>
      </p:sp>
      <p:sp>
        <p:nvSpPr>
          <p:cNvPr id="22" name="What is still uncertain icon 1 circle"/>
          <p:cNvSpPr/>
          <p:nvPr/>
        </p:nvSpPr>
        <p:spPr>
          <a:xfrm>
            <a:off x="6400800" y="2121408"/>
            <a:ext cx="502920" cy="502920"/>
          </a:xfrm>
          <a:prstGeom prst="ellipse">
            <a:avLst/>
          </a:prstGeom>
          <a:solidFill>
            <a:schemeClr val="accent2"/>
          </a:solidFill>
          <a:ln/>
        </p:spPr>
      </p:sp>
      <p:pic>
        <p:nvPicPr>
          <p:cNvPr id="23" name="What is still uncertain icon 1" descr="What is still uncertain icon 1">    </p:cNvPr>
          <p:cNvPicPr>
            <a:picLocks noChangeAspect="1"/>
          </p:cNvPicPr>
          <p:nvPr/>
        </p:nvPicPr>
        <p:blipFill>
          <a:blip r:embed="rId4"/>
          <a:stretch>
            <a:fillRect/>
          </a:stretch>
        </p:blipFill>
        <p:spPr>
          <a:xfrm>
            <a:off x="6521501" y="2242109"/>
            <a:ext cx="261518" cy="261518"/>
          </a:xfrm>
          <a:prstGeom prst="rect">
            <a:avLst/>
          </a:prstGeom>
        </p:spPr>
      </p:pic>
      <p:sp>
        <p:nvSpPr>
          <p:cNvPr id="24" name="Text 18"/>
          <p:cNvSpPr txBox="1"/>
          <p:nvPr/>
        </p:nvSpPr>
        <p:spPr>
          <a:xfrm>
            <a:off x="7086600" y="201168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Other factors may be mixed in: department goes with rank and where people sleep</a:t>
            </a:r>
            <a:endParaRPr lang="en-US" sz="1450" dirty="0"/>
          </a:p>
        </p:txBody>
      </p:sp>
      <p:sp>
        <p:nvSpPr>
          <p:cNvPr id="25" name="What is still uncertain icon 2 circle"/>
          <p:cNvSpPr/>
          <p:nvPr/>
        </p:nvSpPr>
        <p:spPr>
          <a:xfrm>
            <a:off x="6400800" y="2990088"/>
            <a:ext cx="502920" cy="502920"/>
          </a:xfrm>
          <a:prstGeom prst="ellipse">
            <a:avLst/>
          </a:prstGeom>
          <a:solidFill>
            <a:schemeClr val="accent2"/>
          </a:solidFill>
          <a:ln/>
        </p:spPr>
      </p:sp>
      <p:pic>
        <p:nvPicPr>
          <p:cNvPr id="26" name="What is still uncertain icon 2" descr="What is still uncertain icon 2">    </p:cNvPr>
          <p:cNvPicPr>
            <a:picLocks noChangeAspect="1"/>
          </p:cNvPicPr>
          <p:nvPr/>
        </p:nvPicPr>
        <p:blipFill>
          <a:blip r:embed="rId5"/>
          <a:stretch>
            <a:fillRect/>
          </a:stretch>
        </p:blipFill>
        <p:spPr>
          <a:xfrm>
            <a:off x="6521501" y="3110789"/>
            <a:ext cx="261518" cy="261518"/>
          </a:xfrm>
          <a:prstGeom prst="rect">
            <a:avLst/>
          </a:prstGeom>
        </p:spPr>
      </p:pic>
      <p:sp>
        <p:nvSpPr>
          <p:cNvPr id="27" name="Text 20"/>
          <p:cNvSpPr txBox="1"/>
          <p:nvPr/>
        </p:nvSpPr>
        <p:spPr>
          <a:xfrm>
            <a:off x="7086600" y="288036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Only simple comparisons were made, with no adjustment for other factors</a:t>
            </a:r>
            <a:r>
              <a:rPr lang="en-US" sz="1450" baseline="30000" dirty="0">
                <a:solidFill>
                  <a:schemeClr val="tx1"/>
                </a:solidFill>
              </a:rPr>
              <a:t>1</a:t>
            </a:r>
            <a:endParaRPr lang="en-US" sz="1450" dirty="0"/>
          </a:p>
        </p:txBody>
      </p:sp>
      <p:sp>
        <p:nvSpPr>
          <p:cNvPr id="28" name="What is still uncertain icon 3 circle"/>
          <p:cNvSpPr/>
          <p:nvPr/>
        </p:nvSpPr>
        <p:spPr>
          <a:xfrm>
            <a:off x="6400800" y="3858768"/>
            <a:ext cx="502920" cy="502920"/>
          </a:xfrm>
          <a:prstGeom prst="ellipse">
            <a:avLst/>
          </a:prstGeom>
          <a:solidFill>
            <a:schemeClr val="accent2"/>
          </a:solidFill>
          <a:ln/>
        </p:spPr>
      </p:sp>
      <p:pic>
        <p:nvPicPr>
          <p:cNvPr id="29" name="What is still uncertain icon 3" descr="What is still uncertain icon 3">    </p:cNvPr>
          <p:cNvPicPr>
            <a:picLocks noChangeAspect="1"/>
          </p:cNvPicPr>
          <p:nvPr/>
        </p:nvPicPr>
        <p:blipFill>
          <a:blip r:embed="rId6"/>
          <a:stretch>
            <a:fillRect/>
          </a:stretch>
        </p:blipFill>
        <p:spPr>
          <a:xfrm>
            <a:off x="6521501" y="3979469"/>
            <a:ext cx="261518" cy="261518"/>
          </a:xfrm>
          <a:prstGeom prst="rect">
            <a:avLst/>
          </a:prstGeom>
        </p:spPr>
      </p:pic>
      <p:sp>
        <p:nvSpPr>
          <p:cNvPr id="30" name="Text 22"/>
          <p:cNvSpPr txBox="1"/>
          <p:nvPr/>
        </p:nvSpPr>
        <p:spPr>
          <a:xfrm>
            <a:off x="7086600" y="3749040"/>
            <a:ext cx="4389120" cy="777240"/>
          </a:xfrm>
          <a:prstGeom prst="rect">
            <a:avLst/>
          </a:prstGeom>
          <a:noFill/>
          <a:ln/>
        </p:spPr>
        <p:txBody>
          <a:bodyPr wrap="square" lIns="635" tIns="635" rIns="635" bIns="635" rtlCol="0" anchor="ctr"/>
          <a:lstStyle/>
          <a:p>
            <a:pPr indent="0" marL="0">
              <a:buNone/>
            </a:pPr>
            <a:r>
              <a:rPr lang="en-US" sz="1450" dirty="0">
                <a:solidFill>
                  <a:schemeClr val="tx1"/>
                </a:solidFill>
              </a:rPr>
              <a:t>No gene sequencing was reported, so who infected whom is unknown</a:t>
            </a:r>
            <a:r>
              <a:rPr lang="en-US" sz="1450" baseline="30000" dirty="0">
                <a:solidFill>
                  <a:schemeClr val="tx1"/>
                </a:solidFill>
              </a:rPr>
              <a:t>1</a:t>
            </a:r>
            <a:endParaRPr lang="en-US" sz="1450" dirty="0"/>
          </a:p>
        </p:txBody>
      </p:sp>
      <p:sp>
        <p:nvSpPr>
          <p:cNvPr id="31" name="plain words box"/>
          <p:cNvSpPr/>
          <p:nvPr/>
        </p:nvSpPr>
        <p:spPr>
          <a:xfrm>
            <a:off x="548640" y="4800600"/>
            <a:ext cx="11064240" cy="594360"/>
          </a:xfrm>
          <a:prstGeom prst="roundRect">
            <a:avLst>
              <a:gd name="adj" fmla="val 18462"/>
            </a:avLst>
          </a:prstGeom>
          <a:solidFill>
            <a:srgbClr val="FFFFFF"/>
          </a:solidFill>
          <a:ln w="12700">
            <a:solidFill>
              <a:srgbClr val="8DA9C4"/>
            </a:solidFill>
            <a:prstDash val="solid"/>
          </a:ln>
        </p:spPr>
      </p:sp>
      <p:sp>
        <p:nvSpPr>
          <p:cNvPr id="32" name="plain words icon circle"/>
          <p:cNvSpPr/>
          <p:nvPr/>
        </p:nvSpPr>
        <p:spPr>
          <a:xfrm>
            <a:off x="731520" y="4846320"/>
            <a:ext cx="502920" cy="502920"/>
          </a:xfrm>
          <a:prstGeom prst="ellipse">
            <a:avLst/>
          </a:prstGeom>
          <a:solidFill>
            <a:schemeClr val="accent4"/>
          </a:solidFill>
          <a:ln/>
        </p:spPr>
      </p:sp>
      <p:pic>
        <p:nvPicPr>
          <p:cNvPr id="33" name="plain words icon" descr="plain words icon">    </p:cNvPr>
          <p:cNvPicPr>
            <a:picLocks noChangeAspect="1"/>
          </p:cNvPicPr>
          <p:nvPr/>
        </p:nvPicPr>
        <p:blipFill>
          <a:blip r:embed="rId7"/>
          <a:stretch>
            <a:fillRect/>
          </a:stretch>
        </p:blipFill>
        <p:spPr>
          <a:xfrm>
            <a:off x="852221" y="4967021"/>
            <a:ext cx="261518" cy="261518"/>
          </a:xfrm>
          <a:prstGeom prst="rect">
            <a:avLst/>
          </a:prstGeom>
        </p:spPr>
      </p:pic>
      <p:sp>
        <p:nvSpPr>
          <p:cNvPr id="34" name="Text 25"/>
          <p:cNvSpPr txBox="1"/>
          <p:nvPr/>
        </p:nvSpPr>
        <p:spPr>
          <a:xfrm>
            <a:off x="1417320" y="4800600"/>
            <a:ext cx="10012680" cy="594360"/>
          </a:xfrm>
          <a:prstGeom prst="rect">
            <a:avLst/>
          </a:prstGeom>
          <a:noFill/>
          <a:ln/>
        </p:spPr>
        <p:txBody>
          <a:bodyPr wrap="square" lIns="635" tIns="635" rIns="635" bIns="635" rtlCol="0" anchor="ctr"/>
          <a:lstStyle/>
          <a:p>
            <a:pPr indent="0" marL="0">
              <a:buNone/>
            </a:pPr>
            <a:r>
              <a:rPr lang="en-US" sz="1400" b="1" dirty="0">
                <a:solidFill>
                  <a:schemeClr val="tx2"/>
                </a:solidFill>
              </a:rPr>
              <a:t>In plain words: </a:t>
            </a:r>
            <a:r>
              <a:rPr lang="en-US" sz="1400" b="1" dirty="0">
                <a:solidFill>
                  <a:schemeClr val="tx1"/>
                </a:solidFill>
              </a:rPr>
              <a:t>Association</a:t>
            </a:r>
            <a:r>
              <a:rPr lang="en-US" sz="1400" dirty="0">
                <a:solidFill>
                  <a:schemeClr val="tx1"/>
                </a:solidFill>
              </a:rPr>
              <a:t> = two things go together.  </a:t>
            </a:r>
            <a:r>
              <a:rPr lang="en-US" sz="1400" b="1" dirty="0">
                <a:solidFill>
                  <a:schemeClr val="tx1"/>
                </a:solidFill>
              </a:rPr>
              <a:t>Cause</a:t>
            </a:r>
            <a:r>
              <a:rPr lang="en-US" sz="1400" dirty="0">
                <a:solidFill>
                  <a:schemeClr val="tx1"/>
                </a:solidFill>
              </a:rPr>
              <a:t> = one makes the other happen.  </a:t>
            </a:r>
            <a:r>
              <a:rPr lang="en-US" sz="1400" b="1" dirty="0">
                <a:solidFill>
                  <a:schemeClr val="tx1"/>
                </a:solidFill>
              </a:rPr>
              <a:t>Mixed in</a:t>
            </a:r>
            <a:r>
              <a:rPr lang="en-US" sz="1400" dirty="0">
                <a:solidFill>
                  <a:schemeClr val="tx1"/>
                </a:solidFill>
              </a:rPr>
              <a:t> = another factor muddles the link (confounding).</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We can trust the testing, but some questions remain</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4   </a:t>
            </a:r>
            <a:r>
              <a:rPr lang="en-US" sz="1100" b="1" spc="100" kern="0" dirty="0">
                <a:solidFill>
                  <a:schemeClr val="accent6"/>
                </a:solidFill>
              </a:rPr>
              <a:t>HOW DID IT SPREAD, AND HOW SURE ARE WE?</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My view = my own appraisal.</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The testing was thorough, so the main findings are reliable, but we cannot prove exactly who infected whom.</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did the Navy do?</a:t>
            </a:r>
            <a:endParaRPr lang="en-US" sz="1300" dirty="0"/>
          </a:p>
        </p:txBody>
      </p:sp>
      <p:sp>
        <p:nvSpPr>
          <p:cNvPr id="9" name="strengths card"/>
          <p:cNvSpPr/>
          <p:nvPr/>
        </p:nvSpPr>
        <p:spPr>
          <a:xfrm>
            <a:off x="548640" y="1371600"/>
            <a:ext cx="5440680" cy="4023360"/>
          </a:xfrm>
          <a:prstGeom prst="roundRect">
            <a:avLst>
              <a:gd name="adj" fmla="val 2727"/>
            </a:avLst>
          </a:prstGeom>
          <a:solidFill>
            <a:schemeClr val="bg2"/>
          </a:solidFill>
          <a:ln/>
        </p:spPr>
      </p:sp>
      <p:sp>
        <p:nvSpPr>
          <p:cNvPr id="10" name="strengths icon circle"/>
          <p:cNvSpPr/>
          <p:nvPr/>
        </p:nvSpPr>
        <p:spPr>
          <a:xfrm>
            <a:off x="777240" y="1554480"/>
            <a:ext cx="548640" cy="548640"/>
          </a:xfrm>
          <a:prstGeom prst="ellipse">
            <a:avLst/>
          </a:prstGeom>
          <a:solidFill>
            <a:schemeClr val="accent1"/>
          </a:solidFill>
          <a:ln/>
        </p:spPr>
      </p:sp>
      <p:pic>
        <p:nvPicPr>
          <p:cNvPr id="11" name="strengths icon" descr="strengths icon">    </p:cNvPr>
          <p:cNvPicPr>
            <a:picLocks noChangeAspect="1"/>
          </p:cNvPicPr>
          <p:nvPr/>
        </p:nvPicPr>
        <p:blipFill>
          <a:blip r:embed="rId1"/>
          <a:stretch>
            <a:fillRect/>
          </a:stretch>
        </p:blipFill>
        <p:spPr>
          <a:xfrm>
            <a:off x="908914" y="1686154"/>
            <a:ext cx="285293" cy="285293"/>
          </a:xfrm>
          <a:prstGeom prst="rect">
            <a:avLst/>
          </a:prstGeom>
        </p:spPr>
      </p:pic>
      <p:sp>
        <p:nvSpPr>
          <p:cNvPr id="12" name="Text 9"/>
          <p:cNvSpPr txBox="1"/>
          <p:nvPr/>
        </p:nvSpPr>
        <p:spPr>
          <a:xfrm>
            <a:off x="1463040" y="155448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13" name="Text 10"/>
          <p:cNvSpPr txBox="1"/>
          <p:nvPr/>
        </p:nvSpPr>
        <p:spPr>
          <a:xfrm>
            <a:off x="777240" y="2240280"/>
            <a:ext cx="4983480" cy="306324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Everyone was tested, so people who felt fine were not missed</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Followed for 10+ weeks: shows who truly never got sick</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Lab-confirmed: about 95% of cases had a positive PCR test</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Official records, not memory, gave age, job and health data</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Quick action: the ship reached Guam 4 days after the first positive test</a:t>
            </a:r>
            <a:r>
              <a:rPr lang="en-US" sz="1450" baseline="30000" dirty="0">
                <a:solidFill>
                  <a:schemeClr val="tx1"/>
                </a:solidFill>
              </a:rPr>
              <a:t>1</a:t>
            </a:r>
            <a:endParaRPr lang="en-US" sz="1500" dirty="0"/>
          </a:p>
        </p:txBody>
      </p:sp>
      <p:sp>
        <p:nvSpPr>
          <p:cNvPr id="14" name="limitations card"/>
          <p:cNvSpPr/>
          <p:nvPr/>
        </p:nvSpPr>
        <p:spPr>
          <a:xfrm>
            <a:off x="6172200" y="1371600"/>
            <a:ext cx="5440680" cy="4023360"/>
          </a:xfrm>
          <a:prstGeom prst="roundRect">
            <a:avLst>
              <a:gd name="adj" fmla="val 2727"/>
            </a:avLst>
          </a:prstGeom>
          <a:solidFill>
            <a:schemeClr val="bg2"/>
          </a:solidFill>
          <a:ln/>
        </p:spPr>
      </p:sp>
      <p:sp>
        <p:nvSpPr>
          <p:cNvPr id="15" name="limitations icon circle"/>
          <p:cNvSpPr/>
          <p:nvPr/>
        </p:nvSpPr>
        <p:spPr>
          <a:xfrm>
            <a:off x="6400800" y="1554480"/>
            <a:ext cx="548640" cy="548640"/>
          </a:xfrm>
          <a:prstGeom prst="ellipse">
            <a:avLst/>
          </a:prstGeom>
          <a:solidFill>
            <a:schemeClr val="accent2"/>
          </a:solidFill>
          <a:ln/>
        </p:spPr>
      </p:sp>
      <p:pic>
        <p:nvPicPr>
          <p:cNvPr id="16" name="limitations icon" descr="limitations icon">    </p:cNvPr>
          <p:cNvPicPr>
            <a:picLocks noChangeAspect="1"/>
          </p:cNvPicPr>
          <p:nvPr/>
        </p:nvPicPr>
        <p:blipFill>
          <a:blip r:embed="rId2"/>
          <a:stretch>
            <a:fillRect/>
          </a:stretch>
        </p:blipFill>
        <p:spPr>
          <a:xfrm>
            <a:off x="6532474" y="1686154"/>
            <a:ext cx="285293" cy="285293"/>
          </a:xfrm>
          <a:prstGeom prst="rect">
            <a:avLst/>
          </a:prstGeom>
        </p:spPr>
      </p:pic>
      <p:sp>
        <p:nvSpPr>
          <p:cNvPr id="17" name="Text 13"/>
          <p:cNvSpPr txBox="1"/>
          <p:nvPr/>
        </p:nvSpPr>
        <p:spPr>
          <a:xfrm>
            <a:off x="7086600" y="155448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8" name="Text 14"/>
          <p:cNvSpPr txBox="1"/>
          <p:nvPr/>
        </p:nvSpPr>
        <p:spPr>
          <a:xfrm>
            <a:off x="6400800" y="2240280"/>
            <a:ext cx="4983480" cy="3108960"/>
          </a:xfrm>
          <a:prstGeom prst="rect">
            <a:avLst/>
          </a:prstGeom>
          <a:noFill/>
          <a:ln/>
        </p:spPr>
        <p:txBody>
          <a:bodyPr wrap="square" lIns="635" tIns="635" rIns="635" bIns="635" rtlCol="0" anchor="t"/>
          <a:lstStyle/>
          <a:p>
            <a:pPr indent="0" marL="0">
              <a:buNone/>
            </a:pPr>
            <a:r>
              <a:rPr lang="en-US" sz="1300" b="1" dirty="0">
                <a:solidFill>
                  <a:schemeClr val="accent6"/>
                </a:solidFill>
              </a:rPr>
              <a:t>The authors said</a:t>
            </a:r>
            <a:r>
              <a:rPr lang="en-US" sz="1300" b="1" baseline="30000" dirty="0">
                <a:solidFill>
                  <a:schemeClr val="accent6"/>
                </a:solidFill>
              </a:rPr>
              <a:t>1</a:t>
            </a:r>
            <a:endParaRPr lang="en-US" sz="1500" dirty="0"/>
          </a:p>
          <a:p>
            <a:pPr marL="203200" indent="-203200">
              <a:spcAft>
                <a:spcPts val="600"/>
              </a:spcAft>
              <a:buSzPct val="100000"/>
              <a:buChar char="•"/>
            </a:pPr>
            <a:r>
              <a:rPr lang="en-US" sz="1450" dirty="0">
                <a:solidFill>
                  <a:schemeClr val="tx1"/>
                </a:solidFill>
              </a:rPr>
              <a:t>Early records were incomplete</a:t>
            </a:r>
            <a:endParaRPr lang="en-US" sz="1500" dirty="0"/>
          </a:p>
          <a:p>
            <a:pPr marL="203200" indent="-203200">
              <a:spcAft>
                <a:spcPts val="600"/>
              </a:spcAft>
              <a:buSzPct val="100000"/>
              <a:buChar char="•"/>
            </a:pPr>
            <a:r>
              <a:rPr lang="en-US" sz="1450" dirty="0">
                <a:solidFill>
                  <a:schemeClr val="tx1"/>
                </a:solidFill>
              </a:rPr>
              <a:t>The case definition changed in April</a:t>
            </a:r>
            <a:endParaRPr lang="en-US" sz="1500" dirty="0"/>
          </a:p>
          <a:p>
            <a:pPr marL="203200" indent="-203200">
              <a:spcAft>
                <a:spcPts val="600"/>
              </a:spcAft>
              <a:buSzPct val="100000"/>
              <a:buChar char="•"/>
            </a:pPr>
            <a:r>
              <a:rPr lang="en-US" sz="1450" dirty="0">
                <a:solidFill>
                  <a:schemeClr val="tx1"/>
                </a:solidFill>
              </a:rPr>
              <a:t>Navy crews may differ from civilians</a:t>
            </a:r>
            <a:endParaRPr lang="en-US" sz="1500" dirty="0"/>
          </a:p>
          <a:p>
            <a:pPr indent="0" marL="0">
              <a:spcBef>
                <a:spcPts val="800"/>
              </a:spcBef>
              <a:buNone/>
            </a:pPr>
            <a:r>
              <a:rPr lang="en-US" sz="1300" b="1" dirty="0">
                <a:solidFill>
                  <a:schemeClr val="accent2"/>
                </a:solidFill>
              </a:rPr>
              <a:t>My view</a:t>
            </a:r>
            <a:endParaRPr lang="en-US" sz="1500" dirty="0"/>
          </a:p>
          <a:p>
            <a:pPr marL="203200" indent="-203200">
              <a:spcAft>
                <a:spcPts val="600"/>
              </a:spcAft>
              <a:buSzPct val="100000"/>
              <a:buChar char="•"/>
            </a:pPr>
            <a:r>
              <a:rPr lang="en-US" sz="1450" dirty="0">
                <a:solidFill>
                  <a:schemeClr val="tx1"/>
                </a:solidFill>
              </a:rPr>
              <a:t>Simple comparisons only: other factors may be mixed in</a:t>
            </a:r>
            <a:endParaRPr lang="en-US" sz="1500" dirty="0"/>
          </a:p>
          <a:p>
            <a:pPr marL="203200" indent="-203200">
              <a:spcAft>
                <a:spcPts val="600"/>
              </a:spcAft>
              <a:buSzPct val="100000"/>
              <a:buChar char="•"/>
            </a:pPr>
            <a:r>
              <a:rPr lang="en-US" sz="1450" dirty="0">
                <a:solidFill>
                  <a:schemeClr val="tx1"/>
                </a:solidFill>
              </a:rPr>
              <a:t>No air-flow tests or gene sequencing</a:t>
            </a:r>
            <a:endParaRPr lang="en-US" sz="1500" dirty="0"/>
          </a:p>
          <a:p>
            <a:pPr marL="203200" indent="-203200">
              <a:spcAft>
                <a:spcPts val="600"/>
              </a:spcAft>
              <a:buSzPct val="100000"/>
              <a:buChar char="•"/>
            </a:pPr>
            <a:r>
              <a:rPr lang="en-US" sz="1450" dirty="0">
                <a:solidFill>
                  <a:schemeClr val="tx1"/>
                </a:solidFill>
              </a:rPr>
              <a:t>Symptoms were self-reported, so people may misremember</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The Navy separated the sick, quarantined everyone else and tested again</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The response was fast and thorough, yet new cases still appeared for at least 6 weeks after the ship docked.</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What should change next time?</a:t>
            </a:r>
            <a:endParaRPr lang="en-US" sz="1300" dirty="0"/>
          </a:p>
        </p:txBody>
      </p:sp>
      <p:sp>
        <p:nvSpPr>
          <p:cNvPr id="9" name="Isolation card"/>
          <p:cNvSpPr/>
          <p:nvPr/>
        </p:nvSpPr>
        <p:spPr>
          <a:xfrm>
            <a:off x="548640" y="1371600"/>
            <a:ext cx="5394960" cy="1234440"/>
          </a:xfrm>
          <a:prstGeom prst="roundRect">
            <a:avLst>
              <a:gd name="adj" fmla="val 8889"/>
            </a:avLst>
          </a:prstGeom>
          <a:solidFill>
            <a:schemeClr val="bg2"/>
          </a:solidFill>
          <a:ln/>
        </p:spPr>
      </p:sp>
      <p:sp>
        <p:nvSpPr>
          <p:cNvPr id="10" name="Isolation icon circle"/>
          <p:cNvSpPr/>
          <p:nvPr/>
        </p:nvSpPr>
        <p:spPr>
          <a:xfrm>
            <a:off x="777240" y="1668780"/>
            <a:ext cx="640080" cy="640080"/>
          </a:xfrm>
          <a:prstGeom prst="ellipse">
            <a:avLst/>
          </a:prstGeom>
          <a:solidFill>
            <a:schemeClr val="accent1"/>
          </a:solidFill>
          <a:ln/>
        </p:spPr>
      </p:sp>
      <p:pic>
        <p:nvPicPr>
          <p:cNvPr id="11" name="Isolation icon" descr="Isolation icon">    </p:cNvPr>
          <p:cNvPicPr>
            <a:picLocks noChangeAspect="1"/>
          </p:cNvPicPr>
          <p:nvPr/>
        </p:nvPicPr>
        <p:blipFill>
          <a:blip r:embed="rId1"/>
          <a:stretch>
            <a:fillRect/>
          </a:stretch>
        </p:blipFill>
        <p:spPr>
          <a:xfrm>
            <a:off x="930859" y="1822399"/>
            <a:ext cx="332842" cy="332842"/>
          </a:xfrm>
          <a:prstGeom prst="rect">
            <a:avLst/>
          </a:prstGeom>
        </p:spPr>
      </p:pic>
      <p:sp>
        <p:nvSpPr>
          <p:cNvPr id="12" name="Text 9"/>
          <p:cNvSpPr txBox="1"/>
          <p:nvPr/>
        </p:nvSpPr>
        <p:spPr>
          <a:xfrm>
            <a:off x="1645920" y="14264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Isolation</a:t>
            </a:r>
            <a:endParaRPr lang="en-US" sz="1400" dirty="0"/>
          </a:p>
          <a:p>
            <a:pPr indent="0" marL="0">
              <a:buNone/>
            </a:pPr>
            <a:r>
              <a:rPr lang="en-US" sz="1400" dirty="0">
                <a:solidFill>
                  <a:schemeClr val="tx1"/>
                </a:solidFill>
              </a:rPr>
              <a:t>Sailors with Covid-19 stayed apart on the base or in the hospital, with checks twice a day</a:t>
            </a:r>
            <a:r>
              <a:rPr lang="en-US" sz="1400" baseline="30000" dirty="0">
                <a:solidFill>
                  <a:schemeClr val="tx1"/>
                </a:solidFill>
              </a:rPr>
              <a:t>1</a:t>
            </a:r>
            <a:endParaRPr lang="en-US" sz="1400" dirty="0"/>
          </a:p>
        </p:txBody>
      </p:sp>
      <p:sp>
        <p:nvSpPr>
          <p:cNvPr id="13" name="Quarantine card"/>
          <p:cNvSpPr/>
          <p:nvPr/>
        </p:nvSpPr>
        <p:spPr>
          <a:xfrm>
            <a:off x="6217920" y="1371600"/>
            <a:ext cx="5394960" cy="1234440"/>
          </a:xfrm>
          <a:prstGeom prst="roundRect">
            <a:avLst>
              <a:gd name="adj" fmla="val 8889"/>
            </a:avLst>
          </a:prstGeom>
          <a:solidFill>
            <a:schemeClr val="bg2"/>
          </a:solidFill>
          <a:ln/>
        </p:spPr>
      </p:sp>
      <p:sp>
        <p:nvSpPr>
          <p:cNvPr id="14" name="Quarantine icon circle"/>
          <p:cNvSpPr/>
          <p:nvPr/>
        </p:nvSpPr>
        <p:spPr>
          <a:xfrm>
            <a:off x="6446520" y="1668780"/>
            <a:ext cx="640080" cy="640080"/>
          </a:xfrm>
          <a:prstGeom prst="ellipse">
            <a:avLst/>
          </a:prstGeom>
          <a:solidFill>
            <a:schemeClr val="accent1"/>
          </a:solidFill>
          <a:ln/>
        </p:spPr>
      </p:sp>
      <p:pic>
        <p:nvPicPr>
          <p:cNvPr id="15" name="Quarantine icon" descr="Quarantine icon">    </p:cNvPr>
          <p:cNvPicPr>
            <a:picLocks noChangeAspect="1"/>
          </p:cNvPicPr>
          <p:nvPr/>
        </p:nvPicPr>
        <p:blipFill>
          <a:blip r:embed="rId2"/>
          <a:stretch>
            <a:fillRect/>
          </a:stretch>
        </p:blipFill>
        <p:spPr>
          <a:xfrm>
            <a:off x="6600139" y="1822399"/>
            <a:ext cx="332842" cy="332842"/>
          </a:xfrm>
          <a:prstGeom prst="rect">
            <a:avLst/>
          </a:prstGeom>
        </p:spPr>
      </p:pic>
      <p:sp>
        <p:nvSpPr>
          <p:cNvPr id="16" name="Text 12"/>
          <p:cNvSpPr txBox="1"/>
          <p:nvPr/>
        </p:nvSpPr>
        <p:spPr>
          <a:xfrm>
            <a:off x="7315200" y="14264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Quarantine</a:t>
            </a:r>
            <a:endParaRPr lang="en-US" sz="1400" dirty="0"/>
          </a:p>
          <a:p>
            <a:pPr indent="0" marL="0">
              <a:buNone/>
            </a:pPr>
            <a:r>
              <a:rPr lang="en-US" sz="1400" dirty="0">
                <a:solidFill>
                  <a:schemeClr val="tx1"/>
                </a:solidFill>
              </a:rPr>
              <a:t>4,079 sailors without Covid-19 stayed in single hotel rooms (11 hotels)</a:t>
            </a:r>
            <a:r>
              <a:rPr lang="en-US" sz="1400" baseline="30000" dirty="0">
                <a:solidFill>
                  <a:schemeClr val="tx1"/>
                </a:solidFill>
              </a:rPr>
              <a:t>1</a:t>
            </a:r>
            <a:endParaRPr lang="en-US" sz="1400" dirty="0"/>
          </a:p>
        </p:txBody>
      </p:sp>
      <p:sp>
        <p:nvSpPr>
          <p:cNvPr id="17" name="Skeleton crew card"/>
          <p:cNvSpPr/>
          <p:nvPr/>
        </p:nvSpPr>
        <p:spPr>
          <a:xfrm>
            <a:off x="548640" y="2743200"/>
            <a:ext cx="5394960" cy="1234440"/>
          </a:xfrm>
          <a:prstGeom prst="roundRect">
            <a:avLst>
              <a:gd name="adj" fmla="val 8889"/>
            </a:avLst>
          </a:prstGeom>
          <a:solidFill>
            <a:schemeClr val="bg2"/>
          </a:solidFill>
          <a:ln/>
        </p:spPr>
      </p:sp>
      <p:sp>
        <p:nvSpPr>
          <p:cNvPr id="18" name="Skeleton crew icon circle"/>
          <p:cNvSpPr/>
          <p:nvPr/>
        </p:nvSpPr>
        <p:spPr>
          <a:xfrm>
            <a:off x="777240" y="3040380"/>
            <a:ext cx="640080" cy="640080"/>
          </a:xfrm>
          <a:prstGeom prst="ellipse">
            <a:avLst/>
          </a:prstGeom>
          <a:solidFill>
            <a:schemeClr val="accent1"/>
          </a:solidFill>
          <a:ln/>
        </p:spPr>
      </p:sp>
      <p:pic>
        <p:nvPicPr>
          <p:cNvPr id="19" name="Skeleton crew icon" descr="Skeleton crew icon">    </p:cNvPr>
          <p:cNvPicPr>
            <a:picLocks noChangeAspect="1"/>
          </p:cNvPicPr>
          <p:nvPr/>
        </p:nvPicPr>
        <p:blipFill>
          <a:blip r:embed="rId3"/>
          <a:stretch>
            <a:fillRect/>
          </a:stretch>
        </p:blipFill>
        <p:spPr>
          <a:xfrm>
            <a:off x="930859" y="3193999"/>
            <a:ext cx="332842" cy="332842"/>
          </a:xfrm>
          <a:prstGeom prst="rect">
            <a:avLst/>
          </a:prstGeom>
        </p:spPr>
      </p:pic>
      <p:sp>
        <p:nvSpPr>
          <p:cNvPr id="20" name="Text 15"/>
          <p:cNvSpPr txBox="1"/>
          <p:nvPr/>
        </p:nvSpPr>
        <p:spPr>
          <a:xfrm>
            <a:off x="1645920" y="27980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Skeleton crew</a:t>
            </a:r>
            <a:endParaRPr lang="en-US" sz="1400" dirty="0"/>
          </a:p>
          <a:p>
            <a:pPr indent="0" marL="0">
              <a:buNone/>
            </a:pPr>
            <a:r>
              <a:rPr lang="en-US" sz="1400" dirty="0">
                <a:solidFill>
                  <a:schemeClr val="tx1"/>
                </a:solidFill>
              </a:rPr>
              <a:t>A small, healthy crew stayed aboard to run the ship</a:t>
            </a:r>
            <a:r>
              <a:rPr lang="en-US" sz="1400" baseline="30000" dirty="0">
                <a:solidFill>
                  <a:schemeClr val="tx1"/>
                </a:solidFill>
              </a:rPr>
              <a:t>1</a:t>
            </a:r>
            <a:endParaRPr lang="en-US" sz="1400" dirty="0"/>
          </a:p>
        </p:txBody>
      </p:sp>
      <p:sp>
        <p:nvSpPr>
          <p:cNvPr id="21" name="Release rules card"/>
          <p:cNvSpPr/>
          <p:nvPr/>
        </p:nvSpPr>
        <p:spPr>
          <a:xfrm>
            <a:off x="6217920" y="2743200"/>
            <a:ext cx="5394960" cy="1234440"/>
          </a:xfrm>
          <a:prstGeom prst="roundRect">
            <a:avLst>
              <a:gd name="adj" fmla="val 8889"/>
            </a:avLst>
          </a:prstGeom>
          <a:solidFill>
            <a:schemeClr val="bg2"/>
          </a:solidFill>
          <a:ln/>
        </p:spPr>
      </p:sp>
      <p:sp>
        <p:nvSpPr>
          <p:cNvPr id="22" name="Release rules icon circle"/>
          <p:cNvSpPr/>
          <p:nvPr/>
        </p:nvSpPr>
        <p:spPr>
          <a:xfrm>
            <a:off x="6446520" y="3040380"/>
            <a:ext cx="640080" cy="640080"/>
          </a:xfrm>
          <a:prstGeom prst="ellipse">
            <a:avLst/>
          </a:prstGeom>
          <a:solidFill>
            <a:schemeClr val="accent1"/>
          </a:solidFill>
          <a:ln/>
        </p:spPr>
      </p:sp>
      <p:pic>
        <p:nvPicPr>
          <p:cNvPr id="23" name="Release rules icon" descr="Release rules icon">    </p:cNvPr>
          <p:cNvPicPr>
            <a:picLocks noChangeAspect="1"/>
          </p:cNvPicPr>
          <p:nvPr/>
        </p:nvPicPr>
        <p:blipFill>
          <a:blip r:embed="rId4"/>
          <a:stretch>
            <a:fillRect/>
          </a:stretch>
        </p:blipFill>
        <p:spPr>
          <a:xfrm>
            <a:off x="6600139" y="3193999"/>
            <a:ext cx="332842" cy="332842"/>
          </a:xfrm>
          <a:prstGeom prst="rect">
            <a:avLst/>
          </a:prstGeom>
        </p:spPr>
      </p:pic>
      <p:sp>
        <p:nvSpPr>
          <p:cNvPr id="24" name="Text 18"/>
          <p:cNvSpPr txBox="1"/>
          <p:nvPr/>
        </p:nvSpPr>
        <p:spPr>
          <a:xfrm>
            <a:off x="7315200" y="27980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Release rules</a:t>
            </a:r>
            <a:endParaRPr lang="en-US" sz="1400" dirty="0"/>
          </a:p>
          <a:p>
            <a:pPr indent="0" marL="0">
              <a:buNone/>
            </a:pPr>
            <a:r>
              <a:rPr lang="en-US" sz="1400" dirty="0">
                <a:solidFill>
                  <a:schemeClr val="tx1"/>
                </a:solidFill>
              </a:rPr>
              <a:t>At least 14 days apart, then a repeat test. Sick sailors also needed 3 days without symptoms</a:t>
            </a:r>
            <a:r>
              <a:rPr lang="en-US" sz="1400" baseline="30000" dirty="0">
                <a:solidFill>
                  <a:schemeClr val="tx1"/>
                </a:solidFill>
              </a:rPr>
              <a:t>1</a:t>
            </a:r>
            <a:endParaRPr lang="en-US" sz="1400" dirty="0"/>
          </a:p>
        </p:txBody>
      </p:sp>
      <p:sp>
        <p:nvSpPr>
          <p:cNvPr id="25" name="If symptoms appeared card"/>
          <p:cNvSpPr/>
          <p:nvPr/>
        </p:nvSpPr>
        <p:spPr>
          <a:xfrm>
            <a:off x="548640" y="4114800"/>
            <a:ext cx="5394960" cy="1234440"/>
          </a:xfrm>
          <a:prstGeom prst="roundRect">
            <a:avLst>
              <a:gd name="adj" fmla="val 8889"/>
            </a:avLst>
          </a:prstGeom>
          <a:solidFill>
            <a:schemeClr val="bg2"/>
          </a:solidFill>
          <a:ln/>
        </p:spPr>
      </p:sp>
      <p:sp>
        <p:nvSpPr>
          <p:cNvPr id="26" name="If symptoms appeared icon circle"/>
          <p:cNvSpPr/>
          <p:nvPr/>
        </p:nvSpPr>
        <p:spPr>
          <a:xfrm>
            <a:off x="777240" y="4411980"/>
            <a:ext cx="640080" cy="640080"/>
          </a:xfrm>
          <a:prstGeom prst="ellipse">
            <a:avLst/>
          </a:prstGeom>
          <a:solidFill>
            <a:schemeClr val="accent1"/>
          </a:solidFill>
          <a:ln/>
        </p:spPr>
      </p:sp>
      <p:pic>
        <p:nvPicPr>
          <p:cNvPr id="27" name="If symptoms appeared icon" descr="If symptoms appeared icon">    </p:cNvPr>
          <p:cNvPicPr>
            <a:picLocks noChangeAspect="1"/>
          </p:cNvPicPr>
          <p:nvPr/>
        </p:nvPicPr>
        <p:blipFill>
          <a:blip r:embed="rId5"/>
          <a:stretch>
            <a:fillRect/>
          </a:stretch>
        </p:blipFill>
        <p:spPr>
          <a:xfrm>
            <a:off x="930859" y="4565599"/>
            <a:ext cx="332842" cy="332842"/>
          </a:xfrm>
          <a:prstGeom prst="rect">
            <a:avLst/>
          </a:prstGeom>
        </p:spPr>
      </p:pic>
      <p:sp>
        <p:nvSpPr>
          <p:cNvPr id="28" name="Text 21"/>
          <p:cNvSpPr txBox="1"/>
          <p:nvPr/>
        </p:nvSpPr>
        <p:spPr>
          <a:xfrm>
            <a:off x="1645920" y="41696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If symptoms appeared</a:t>
            </a:r>
            <a:endParaRPr lang="en-US" sz="1400" dirty="0"/>
          </a:p>
          <a:p>
            <a:pPr indent="0" marL="0">
              <a:buNone/>
            </a:pPr>
            <a:r>
              <a:rPr lang="en-US" sz="1400" dirty="0">
                <a:solidFill>
                  <a:schemeClr val="tx1"/>
                </a:solidFill>
              </a:rPr>
              <a:t>Anyone who got sick in quarantine was tested and moved to isolation for 14 more days</a:t>
            </a:r>
            <a:r>
              <a:rPr lang="en-US" sz="1400" baseline="30000" dirty="0">
                <a:solidFill>
                  <a:schemeClr val="tx1"/>
                </a:solidFill>
              </a:rPr>
              <a:t>1</a:t>
            </a:r>
            <a:endParaRPr lang="en-US" sz="1400" dirty="0"/>
          </a:p>
        </p:txBody>
      </p:sp>
      <p:sp>
        <p:nvSpPr>
          <p:cNvPr id="29" name="Follow-up card"/>
          <p:cNvSpPr/>
          <p:nvPr/>
        </p:nvSpPr>
        <p:spPr>
          <a:xfrm>
            <a:off x="6217920" y="4114800"/>
            <a:ext cx="5394960" cy="1234440"/>
          </a:xfrm>
          <a:prstGeom prst="roundRect">
            <a:avLst>
              <a:gd name="adj" fmla="val 8889"/>
            </a:avLst>
          </a:prstGeom>
          <a:solidFill>
            <a:schemeClr val="bg2"/>
          </a:solidFill>
          <a:ln/>
        </p:spPr>
      </p:sp>
      <p:sp>
        <p:nvSpPr>
          <p:cNvPr id="30" name="Follow-up icon circle"/>
          <p:cNvSpPr/>
          <p:nvPr/>
        </p:nvSpPr>
        <p:spPr>
          <a:xfrm>
            <a:off x="6446520" y="4411980"/>
            <a:ext cx="640080" cy="640080"/>
          </a:xfrm>
          <a:prstGeom prst="ellipse">
            <a:avLst/>
          </a:prstGeom>
          <a:solidFill>
            <a:schemeClr val="accent1"/>
          </a:solidFill>
          <a:ln/>
        </p:spPr>
      </p:sp>
      <p:pic>
        <p:nvPicPr>
          <p:cNvPr id="31" name="Follow-up icon" descr="Follow-up icon">    </p:cNvPr>
          <p:cNvPicPr>
            <a:picLocks noChangeAspect="1"/>
          </p:cNvPicPr>
          <p:nvPr/>
        </p:nvPicPr>
        <p:blipFill>
          <a:blip r:embed="rId6"/>
          <a:stretch>
            <a:fillRect/>
          </a:stretch>
        </p:blipFill>
        <p:spPr>
          <a:xfrm>
            <a:off x="6600139" y="4565599"/>
            <a:ext cx="332842" cy="332842"/>
          </a:xfrm>
          <a:prstGeom prst="rect">
            <a:avLst/>
          </a:prstGeom>
        </p:spPr>
      </p:pic>
      <p:sp>
        <p:nvSpPr>
          <p:cNvPr id="32" name="Text 24"/>
          <p:cNvSpPr txBox="1"/>
          <p:nvPr/>
        </p:nvSpPr>
        <p:spPr>
          <a:xfrm>
            <a:off x="7315200" y="41696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Follow-up</a:t>
            </a:r>
            <a:endParaRPr lang="en-US" sz="1400" dirty="0"/>
          </a:p>
          <a:p>
            <a:pPr indent="0" marL="0">
              <a:buNone/>
            </a:pPr>
            <a:r>
              <a:rPr lang="en-US" sz="1400" dirty="0">
                <a:solidFill>
                  <a:schemeClr val="tx1"/>
                </a:solidFill>
              </a:rPr>
              <a:t>Every sailor was followed for at least 10 weeks, whatever the test result</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Next time: test everyone early, reduce crowding and don't rely on symptoms</a:t>
            </a:r>
            <a:endParaRPr lang="en-US" sz="2600" dirty="0"/>
          </a:p>
        </p:txBody>
      </p:sp>
      <p:sp>
        <p:nvSpPr>
          <p:cNvPr id="3"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r>
              <a:rPr lang="en-US" sz="1100" b="1" spc="100" kern="0" dirty="0">
                <a:solidFill>
                  <a:schemeClr val="accent2"/>
                </a:solidFill>
              </a:rPr>
              <a:t>5   </a:t>
            </a:r>
            <a:r>
              <a:rPr lang="en-US" sz="1100" b="1" spc="100" kern="0" dirty="0">
                <a:solidFill>
                  <a:schemeClr val="accent6"/>
                </a:solidFill>
              </a:rPr>
              <a:t>WHAT WAS DONE, AND WHAT NEXT?</a:t>
            </a:r>
            <a:endParaRPr lang="en-US" sz="1100" dirty="0"/>
          </a:p>
        </p:txBody>
      </p:sp>
      <p:sp>
        <p:nvSpPr>
          <p:cNvPr id="4"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Recommendations are my own, based on the findings.</a:t>
            </a:r>
            <a:endParaRPr lang="en-US" sz="1000" dirty="0"/>
          </a:p>
        </p:txBody>
      </p:sp>
      <p:sp>
        <p:nvSpPr>
          <p:cNvPr id="5" name="meaning bar"/>
          <p:cNvSpPr/>
          <p:nvPr/>
        </p:nvSpPr>
        <p:spPr>
          <a:xfrm>
            <a:off x="548640" y="5532120"/>
            <a:ext cx="11064240" cy="640080"/>
          </a:xfrm>
          <a:prstGeom prst="roundRect">
            <a:avLst>
              <a:gd name="adj" fmla="val 17143"/>
            </a:avLst>
          </a:prstGeom>
          <a:solidFill>
            <a:schemeClr val="bg2"/>
          </a:solidFill>
          <a:ln/>
        </p:spPr>
      </p:sp>
      <p:sp>
        <p:nvSpPr>
          <p:cNvPr id="6" name="Text 4"/>
          <p:cNvSpPr txBox="1"/>
          <p:nvPr/>
        </p:nvSpPr>
        <p:spPr>
          <a:xfrm>
            <a:off x="731520" y="5559552"/>
            <a:ext cx="7818120" cy="585216"/>
          </a:xfrm>
          <a:prstGeom prst="rect">
            <a:avLst/>
          </a:prstGeom>
          <a:noFill/>
          <a:ln/>
        </p:spPr>
        <p:txBody>
          <a:bodyPr wrap="square" lIns="635" tIns="635" rIns="635" bIns="635" rtlCol="0" anchor="ctr"/>
          <a:lstStyle/>
          <a:p>
            <a:pPr indent="0" marL="0">
              <a:buNone/>
            </a:pPr>
            <a:r>
              <a:rPr lang="en-US" sz="1500" b="1" dirty="0">
                <a:solidFill>
                  <a:schemeClr val="accent2"/>
                </a:solidFill>
              </a:rPr>
              <a:t>What this means: </a:t>
            </a:r>
            <a:r>
              <a:rPr lang="en-US" sz="1500" dirty="0">
                <a:solidFill>
                  <a:schemeClr val="tx1"/>
                </a:solidFill>
              </a:rPr>
              <a:t>Silent spread means prevention must rely on testing and less crowding, not on waiting for symptoms.</a:t>
            </a:r>
            <a:endParaRPr lang="en-US" sz="1500" dirty="0"/>
          </a:p>
        </p:txBody>
      </p:sp>
      <p:sp>
        <p:nvSpPr>
          <p:cNvPr id="7" name="bar divider"/>
          <p:cNvSpPr/>
          <p:nvPr/>
        </p:nvSpPr>
        <p:spPr>
          <a:xfrm>
            <a:off x="8686800" y="5669280"/>
            <a:ext cx="0" cy="365760"/>
          </a:xfrm>
          <a:prstGeom prst="line">
            <a:avLst/>
          </a:prstGeom>
          <a:noFill/>
          <a:ln w="12700">
            <a:solidFill>
              <a:srgbClr val="8DA9C4"/>
            </a:solidFill>
            <a:prstDash val="solid"/>
          </a:ln>
        </p:spPr>
      </p:sp>
      <p:sp>
        <p:nvSpPr>
          <p:cNvPr id="8" name="Text 6"/>
          <p:cNvSpPr txBox="1"/>
          <p:nvPr/>
        </p:nvSpPr>
        <p:spPr>
          <a:xfrm>
            <a:off x="8823960" y="5559552"/>
            <a:ext cx="2697480" cy="585216"/>
          </a:xfrm>
          <a:prstGeom prst="rect">
            <a:avLst/>
          </a:prstGeom>
          <a:noFill/>
          <a:ln/>
        </p:spPr>
        <p:txBody>
          <a:bodyPr wrap="square" lIns="635" tIns="635" rIns="635" bIns="635" rtlCol="0" anchor="ctr"/>
          <a:lstStyle/>
          <a:p>
            <a:pPr indent="0" marL="0">
              <a:buNone/>
            </a:pPr>
            <a:r>
              <a:rPr lang="en-US" sz="1100" b="1" dirty="0">
                <a:solidFill>
                  <a:schemeClr val="accent2"/>
                </a:solidFill>
              </a:rPr>
              <a:t>NEXT →  </a:t>
            </a:r>
            <a:r>
              <a:rPr lang="en-US" sz="1300" i="1" dirty="0">
                <a:solidFill>
                  <a:schemeClr val="accent6"/>
                </a:solidFill>
              </a:rPr>
              <a:t>Let's wrap up the story.</a:t>
            </a:r>
            <a:endParaRPr lang="en-US" sz="1300" dirty="0"/>
          </a:p>
        </p:txBody>
      </p:sp>
      <p:sp>
        <p:nvSpPr>
          <p:cNvPr id="9" name="Control now card"/>
          <p:cNvSpPr/>
          <p:nvPr/>
        </p:nvSpPr>
        <p:spPr>
          <a:xfrm>
            <a:off x="548640" y="1371600"/>
            <a:ext cx="5394960" cy="1234440"/>
          </a:xfrm>
          <a:prstGeom prst="roundRect">
            <a:avLst>
              <a:gd name="adj" fmla="val 8889"/>
            </a:avLst>
          </a:prstGeom>
          <a:solidFill>
            <a:schemeClr val="bg2"/>
          </a:solidFill>
          <a:ln/>
        </p:spPr>
      </p:sp>
      <p:sp>
        <p:nvSpPr>
          <p:cNvPr id="10" name="Control now icon circle"/>
          <p:cNvSpPr/>
          <p:nvPr/>
        </p:nvSpPr>
        <p:spPr>
          <a:xfrm>
            <a:off x="777240" y="1668780"/>
            <a:ext cx="640080" cy="640080"/>
          </a:xfrm>
          <a:prstGeom prst="ellipse">
            <a:avLst/>
          </a:prstGeom>
          <a:solidFill>
            <a:schemeClr val="accent2"/>
          </a:solidFill>
          <a:ln/>
        </p:spPr>
      </p:sp>
      <p:pic>
        <p:nvPicPr>
          <p:cNvPr id="11" name="Control now icon" descr="Control now icon">    </p:cNvPr>
          <p:cNvPicPr>
            <a:picLocks noChangeAspect="1"/>
          </p:cNvPicPr>
          <p:nvPr/>
        </p:nvPicPr>
        <p:blipFill>
          <a:blip r:embed="rId1"/>
          <a:stretch>
            <a:fillRect/>
          </a:stretch>
        </p:blipFill>
        <p:spPr>
          <a:xfrm>
            <a:off x="930859" y="1822399"/>
            <a:ext cx="332842" cy="332842"/>
          </a:xfrm>
          <a:prstGeom prst="rect">
            <a:avLst/>
          </a:prstGeom>
        </p:spPr>
      </p:pic>
      <p:sp>
        <p:nvSpPr>
          <p:cNvPr id="12" name="Text 9"/>
          <p:cNvSpPr txBox="1"/>
          <p:nvPr/>
        </p:nvSpPr>
        <p:spPr>
          <a:xfrm>
            <a:off x="1645920" y="14264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Control now</a:t>
            </a:r>
            <a:endParaRPr lang="en-US" sz="1350" dirty="0"/>
          </a:p>
          <a:p>
            <a:pPr indent="0" marL="0">
              <a:buNone/>
            </a:pPr>
            <a:r>
              <a:rPr lang="en-US" sz="1350" dirty="0">
                <a:solidFill>
                  <a:schemeClr val="tx1"/>
                </a:solidFill>
              </a:rPr>
              <a:t>Test everyone, not just sick people, because 3 in 4 had no symptoms when tested</a:t>
            </a:r>
            <a:r>
              <a:rPr lang="en-US" sz="1350" baseline="30000" dirty="0">
                <a:solidFill>
                  <a:schemeClr val="tx1"/>
                </a:solidFill>
              </a:rPr>
              <a:t>1</a:t>
            </a:r>
            <a:r>
              <a:rPr lang="en-US" sz="1350" dirty="0">
                <a:solidFill>
                  <a:schemeClr val="tx1"/>
                </a:solidFill>
              </a:rPr>
              <a:t>. Separate cases right away.</a:t>
            </a:r>
            <a:endParaRPr lang="en-US" sz="1350" dirty="0"/>
          </a:p>
        </p:txBody>
      </p:sp>
      <p:sp>
        <p:nvSpPr>
          <p:cNvPr id="13" name="Prevention card"/>
          <p:cNvSpPr/>
          <p:nvPr/>
        </p:nvSpPr>
        <p:spPr>
          <a:xfrm>
            <a:off x="548640" y="2743200"/>
            <a:ext cx="5394960" cy="1234440"/>
          </a:xfrm>
          <a:prstGeom prst="roundRect">
            <a:avLst>
              <a:gd name="adj" fmla="val 8889"/>
            </a:avLst>
          </a:prstGeom>
          <a:solidFill>
            <a:schemeClr val="bg2"/>
          </a:solidFill>
          <a:ln/>
        </p:spPr>
      </p:sp>
      <p:sp>
        <p:nvSpPr>
          <p:cNvPr id="14" name="Prevention icon circle"/>
          <p:cNvSpPr/>
          <p:nvPr/>
        </p:nvSpPr>
        <p:spPr>
          <a:xfrm>
            <a:off x="777240" y="3040380"/>
            <a:ext cx="640080" cy="640080"/>
          </a:xfrm>
          <a:prstGeom prst="ellipse">
            <a:avLst/>
          </a:prstGeom>
          <a:solidFill>
            <a:schemeClr val="accent1"/>
          </a:solidFill>
          <a:ln/>
        </p:spPr>
      </p:sp>
      <p:pic>
        <p:nvPicPr>
          <p:cNvPr id="15" name="Prevention icon" descr="Prevention icon">    </p:cNvPr>
          <p:cNvPicPr>
            <a:picLocks noChangeAspect="1"/>
          </p:cNvPicPr>
          <p:nvPr/>
        </p:nvPicPr>
        <p:blipFill>
          <a:blip r:embed="rId2"/>
          <a:stretch>
            <a:fillRect/>
          </a:stretch>
        </p:blipFill>
        <p:spPr>
          <a:xfrm>
            <a:off x="930859" y="3193999"/>
            <a:ext cx="332842" cy="332842"/>
          </a:xfrm>
          <a:prstGeom prst="rect">
            <a:avLst/>
          </a:prstGeom>
        </p:spPr>
      </p:pic>
      <p:sp>
        <p:nvSpPr>
          <p:cNvPr id="16" name="Text 12"/>
          <p:cNvSpPr txBox="1"/>
          <p:nvPr/>
        </p:nvSpPr>
        <p:spPr>
          <a:xfrm>
            <a:off x="1645920" y="27980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Prevention</a:t>
            </a:r>
            <a:endParaRPr lang="en-US" sz="1350" dirty="0"/>
          </a:p>
          <a:p>
            <a:pPr indent="0" marL="0">
              <a:buNone/>
            </a:pPr>
            <a:r>
              <a:rPr lang="en-US" sz="1350" dirty="0">
                <a:solidFill>
                  <a:schemeClr val="tx1"/>
                </a:solidFill>
              </a:rPr>
              <a:t>Quarantine and test before deploying</a:t>
            </a:r>
            <a:r>
              <a:rPr lang="en-US" sz="1350" baseline="30000" dirty="0">
                <a:solidFill>
                  <a:schemeClr val="tx1"/>
                </a:solidFill>
              </a:rPr>
              <a:t>1</a:t>
            </a:r>
            <a:r>
              <a:rPr lang="en-US" sz="1350" dirty="0">
                <a:solidFill>
                  <a:schemeClr val="tx1"/>
                </a:solidFill>
              </a:rPr>
              <a:t>. Use masks, small groups and better air flow in enclosed spaces.</a:t>
            </a:r>
            <a:endParaRPr lang="en-US" sz="1350" dirty="0"/>
          </a:p>
        </p:txBody>
      </p:sp>
      <p:sp>
        <p:nvSpPr>
          <p:cNvPr id="17" name="Surveillance card"/>
          <p:cNvSpPr/>
          <p:nvPr/>
        </p:nvSpPr>
        <p:spPr>
          <a:xfrm>
            <a:off x="548640" y="4114800"/>
            <a:ext cx="5394960" cy="1234440"/>
          </a:xfrm>
          <a:prstGeom prst="roundRect">
            <a:avLst>
              <a:gd name="adj" fmla="val 8889"/>
            </a:avLst>
          </a:prstGeom>
          <a:solidFill>
            <a:schemeClr val="bg2"/>
          </a:solidFill>
          <a:ln/>
        </p:spPr>
      </p:sp>
      <p:sp>
        <p:nvSpPr>
          <p:cNvPr id="18" name="Surveillance icon circle"/>
          <p:cNvSpPr/>
          <p:nvPr/>
        </p:nvSpPr>
        <p:spPr>
          <a:xfrm>
            <a:off x="777240" y="4411980"/>
            <a:ext cx="640080" cy="640080"/>
          </a:xfrm>
          <a:prstGeom prst="ellipse">
            <a:avLst/>
          </a:prstGeom>
          <a:solidFill>
            <a:schemeClr val="accent1"/>
          </a:solidFill>
          <a:ln/>
        </p:spPr>
      </p:sp>
      <p:pic>
        <p:nvPicPr>
          <p:cNvPr id="19" name="Surveillance icon" descr="Surveillance icon">    </p:cNvPr>
          <p:cNvPicPr>
            <a:picLocks noChangeAspect="1"/>
          </p:cNvPicPr>
          <p:nvPr/>
        </p:nvPicPr>
        <p:blipFill>
          <a:blip r:embed="rId3"/>
          <a:stretch>
            <a:fillRect/>
          </a:stretch>
        </p:blipFill>
        <p:spPr>
          <a:xfrm>
            <a:off x="930859" y="4565599"/>
            <a:ext cx="332842" cy="332842"/>
          </a:xfrm>
          <a:prstGeom prst="rect">
            <a:avLst/>
          </a:prstGeom>
        </p:spPr>
      </p:pic>
      <p:sp>
        <p:nvSpPr>
          <p:cNvPr id="20" name="Text 15"/>
          <p:cNvSpPr txBox="1"/>
          <p:nvPr/>
        </p:nvSpPr>
        <p:spPr>
          <a:xfrm>
            <a:off x="1645920" y="41696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Surveillance</a:t>
            </a:r>
            <a:endParaRPr lang="en-US" sz="1350" dirty="0"/>
          </a:p>
          <a:p>
            <a:pPr indent="0" marL="0">
              <a:buNone/>
            </a:pPr>
            <a:r>
              <a:rPr lang="en-US" sz="1350" dirty="0">
                <a:solidFill>
                  <a:schemeClr val="tx1"/>
                </a:solidFill>
              </a:rPr>
              <a:t>Test regularly at sea. Don't rely on temperature checks: only 13% had a fever</a:t>
            </a:r>
            <a:r>
              <a:rPr lang="en-US" sz="1350" baseline="30000" dirty="0">
                <a:solidFill>
                  <a:schemeClr val="tx1"/>
                </a:solidFill>
              </a:rPr>
              <a:t>1</a:t>
            </a:r>
            <a:r>
              <a:rPr lang="en-US" sz="1350" dirty="0">
                <a:solidFill>
                  <a:schemeClr val="tx1"/>
                </a:solidFill>
              </a:rPr>
              <a:t>.</a:t>
            </a:r>
            <a:endParaRPr lang="en-US" sz="1350" dirty="0"/>
          </a:p>
        </p:txBody>
      </p:sp>
      <p:sp>
        <p:nvSpPr>
          <p:cNvPr id="21" name="Communication card"/>
          <p:cNvSpPr/>
          <p:nvPr/>
        </p:nvSpPr>
        <p:spPr>
          <a:xfrm>
            <a:off x="6217920" y="1371600"/>
            <a:ext cx="5394960" cy="1234440"/>
          </a:xfrm>
          <a:prstGeom prst="roundRect">
            <a:avLst>
              <a:gd name="adj" fmla="val 8889"/>
            </a:avLst>
          </a:prstGeom>
          <a:solidFill>
            <a:schemeClr val="bg2"/>
          </a:solidFill>
          <a:ln/>
        </p:spPr>
      </p:sp>
      <p:sp>
        <p:nvSpPr>
          <p:cNvPr id="22" name="Communication icon circle"/>
          <p:cNvSpPr/>
          <p:nvPr/>
        </p:nvSpPr>
        <p:spPr>
          <a:xfrm>
            <a:off x="6446520" y="1668780"/>
            <a:ext cx="640080" cy="640080"/>
          </a:xfrm>
          <a:prstGeom prst="ellipse">
            <a:avLst/>
          </a:prstGeom>
          <a:solidFill>
            <a:schemeClr val="accent1"/>
          </a:solidFill>
          <a:ln/>
        </p:spPr>
      </p:sp>
      <p:pic>
        <p:nvPicPr>
          <p:cNvPr id="23" name="Communication icon" descr="Communication icon">    </p:cNvPr>
          <p:cNvPicPr>
            <a:picLocks noChangeAspect="1"/>
          </p:cNvPicPr>
          <p:nvPr/>
        </p:nvPicPr>
        <p:blipFill>
          <a:blip r:embed="rId4"/>
          <a:stretch>
            <a:fillRect/>
          </a:stretch>
        </p:blipFill>
        <p:spPr>
          <a:xfrm>
            <a:off x="6600139" y="1822399"/>
            <a:ext cx="332842" cy="332842"/>
          </a:xfrm>
          <a:prstGeom prst="rect">
            <a:avLst/>
          </a:prstGeom>
        </p:spPr>
      </p:pic>
      <p:sp>
        <p:nvSpPr>
          <p:cNvPr id="24" name="Text 18"/>
          <p:cNvSpPr txBox="1"/>
          <p:nvPr/>
        </p:nvSpPr>
        <p:spPr>
          <a:xfrm>
            <a:off x="7315200" y="14264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Communication</a:t>
            </a:r>
            <a:endParaRPr lang="en-US" sz="1350" dirty="0"/>
          </a:p>
          <a:p>
            <a:pPr indent="0" marL="0">
              <a:buNone/>
            </a:pPr>
            <a:r>
              <a:rPr lang="en-US" sz="1350" dirty="0">
                <a:solidFill>
                  <a:schemeClr val="tx1"/>
                </a:solidFill>
              </a:rPr>
              <a:t>Tell crews that feeling well does not mean you are not infected. Teach common symptoms: headache, cough, changed taste or smell</a:t>
            </a:r>
            <a:r>
              <a:rPr lang="en-US" sz="1350" baseline="30000" dirty="0">
                <a:solidFill>
                  <a:schemeClr val="tx1"/>
                </a:solidFill>
              </a:rPr>
              <a:t>1</a:t>
            </a:r>
            <a:r>
              <a:rPr lang="en-US" sz="1350" dirty="0">
                <a:solidFill>
                  <a:schemeClr val="tx1"/>
                </a:solidFill>
              </a:rPr>
              <a:t>.</a:t>
            </a:r>
            <a:endParaRPr lang="en-US" sz="1350" dirty="0"/>
          </a:p>
        </p:txBody>
      </p:sp>
      <p:sp>
        <p:nvSpPr>
          <p:cNvPr id="25" name="Future studies card"/>
          <p:cNvSpPr/>
          <p:nvPr/>
        </p:nvSpPr>
        <p:spPr>
          <a:xfrm>
            <a:off x="6217920" y="2743200"/>
            <a:ext cx="5394960" cy="1234440"/>
          </a:xfrm>
          <a:prstGeom prst="roundRect">
            <a:avLst>
              <a:gd name="adj" fmla="val 8889"/>
            </a:avLst>
          </a:prstGeom>
          <a:solidFill>
            <a:schemeClr val="bg2"/>
          </a:solidFill>
          <a:ln/>
        </p:spPr>
      </p:sp>
      <p:sp>
        <p:nvSpPr>
          <p:cNvPr id="26" name="Future studies icon circle"/>
          <p:cNvSpPr/>
          <p:nvPr/>
        </p:nvSpPr>
        <p:spPr>
          <a:xfrm>
            <a:off x="6446520" y="3040380"/>
            <a:ext cx="640080" cy="640080"/>
          </a:xfrm>
          <a:prstGeom prst="ellipse">
            <a:avLst/>
          </a:prstGeom>
          <a:solidFill>
            <a:schemeClr val="accent1"/>
          </a:solidFill>
          <a:ln/>
        </p:spPr>
      </p:sp>
      <p:pic>
        <p:nvPicPr>
          <p:cNvPr id="27" name="Future studies icon" descr="Future studies icon">    </p:cNvPr>
          <p:cNvPicPr>
            <a:picLocks noChangeAspect="1"/>
          </p:cNvPicPr>
          <p:nvPr/>
        </p:nvPicPr>
        <p:blipFill>
          <a:blip r:embed="rId5"/>
          <a:stretch>
            <a:fillRect/>
          </a:stretch>
        </p:blipFill>
        <p:spPr>
          <a:xfrm>
            <a:off x="6600139" y="3193999"/>
            <a:ext cx="332842" cy="332842"/>
          </a:xfrm>
          <a:prstGeom prst="rect">
            <a:avLst/>
          </a:prstGeom>
        </p:spPr>
      </p:pic>
      <p:sp>
        <p:nvSpPr>
          <p:cNvPr id="28" name="Text 21"/>
          <p:cNvSpPr txBox="1"/>
          <p:nvPr/>
        </p:nvSpPr>
        <p:spPr>
          <a:xfrm>
            <a:off x="7315200" y="2798064"/>
            <a:ext cx="4114800" cy="1124712"/>
          </a:xfrm>
          <a:prstGeom prst="rect">
            <a:avLst/>
          </a:prstGeom>
          <a:noFill/>
          <a:ln/>
        </p:spPr>
        <p:txBody>
          <a:bodyPr wrap="square" lIns="635" tIns="635" rIns="635" bIns="635" rtlCol="0" anchor="ctr"/>
          <a:lstStyle/>
          <a:p>
            <a:pPr indent="0" marL="0">
              <a:buNone/>
            </a:pPr>
            <a:r>
              <a:rPr lang="en-US" sz="1650" b="1" dirty="0">
                <a:solidFill>
                  <a:schemeClr val="tx2"/>
                </a:solidFill>
              </a:rPr>
              <a:t>Future studies</a:t>
            </a:r>
            <a:endParaRPr lang="en-US" sz="1350" dirty="0"/>
          </a:p>
          <a:p>
            <a:pPr indent="0" marL="0">
              <a:buNone/>
            </a:pPr>
            <a:r>
              <a:rPr lang="en-US" sz="1350" dirty="0">
                <a:solidFill>
                  <a:schemeClr val="tx1"/>
                </a:solidFill>
              </a:rPr>
              <a:t>Sequence the virus to see who infected whom, measure air flow, and adjust for other factors when comparing groups.</a:t>
            </a:r>
            <a:endParaRPr lang="en-US" sz="1350" dirty="0"/>
          </a:p>
        </p:txBody>
      </p:sp>
      <p:sp>
        <p:nvSpPr>
          <p:cNvPr id="29" name="navy card"/>
          <p:cNvSpPr/>
          <p:nvPr/>
        </p:nvSpPr>
        <p:spPr>
          <a:xfrm>
            <a:off x="6217920" y="4114800"/>
            <a:ext cx="5394960" cy="1234440"/>
          </a:xfrm>
          <a:prstGeom prst="roundRect">
            <a:avLst>
              <a:gd name="adj" fmla="val 8889"/>
            </a:avLst>
          </a:prstGeom>
          <a:solidFill>
            <a:schemeClr val="tx2"/>
          </a:solidFill>
          <a:ln/>
        </p:spPr>
      </p:sp>
      <p:sp>
        <p:nvSpPr>
          <p:cNvPr id="30" name="Text 23"/>
          <p:cNvSpPr txBox="1"/>
          <p:nvPr/>
        </p:nvSpPr>
        <p:spPr>
          <a:xfrm>
            <a:off x="6400800" y="4160520"/>
            <a:ext cx="5029200" cy="1143000"/>
          </a:xfrm>
          <a:prstGeom prst="rect">
            <a:avLst/>
          </a:prstGeom>
          <a:noFill/>
          <a:ln/>
        </p:spPr>
        <p:txBody>
          <a:bodyPr wrap="square" lIns="635" tIns="635" rIns="635" bIns="635" rtlCol="0" anchor="ctr"/>
          <a:lstStyle/>
          <a:p>
            <a:pPr indent="0" marL="0">
              <a:buNone/>
            </a:pPr>
            <a:r>
              <a:rPr lang="en-US" sz="1350" b="1" dirty="0">
                <a:solidFill>
                  <a:schemeClr val="accent4"/>
                </a:solidFill>
              </a:rPr>
              <a:t>What the Navy did next: </a:t>
            </a:r>
            <a:r>
              <a:rPr lang="en-US" sz="1350" dirty="0">
                <a:solidFill>
                  <a:schemeClr val="bg1"/>
                </a:solidFill>
              </a:rPr>
              <a:t>a 14-day quarantine and a test before deploying, fewer foreign port visits, masks, distancing and small groups. Ships have since deployed without another serious outbreak</a:t>
            </a:r>
            <a:r>
              <a:rPr lang="en-US" sz="1350" baseline="30000" dirty="0">
                <a:solidFill>
                  <a:schemeClr val="bg1"/>
                </a:solidFill>
              </a:rPr>
              <a:t>1</a:t>
            </a:r>
            <a:r>
              <a:rPr lang="en-US" sz="1350" dirty="0">
                <a:solidFill>
                  <a:schemeClr val="bg1"/>
                </a:solidFill>
              </a:rPr>
              <a:t> (an observation, not proof).</a:t>
            </a:r>
            <a:endParaRPr lang="en-US" sz="13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Conclusion: the story in five answers</a:t>
            </a:r>
            <a:endParaRPr lang="en-US" sz="3200" dirty="0"/>
          </a:p>
        </p:txBody>
      </p:sp>
      <p:sp>
        <p:nvSpPr>
          <p:cNvPr id="3" name="Text 1"/>
          <p:cNvSpPr txBox="1"/>
          <p:nvPr/>
        </p:nvSpPr>
        <p:spPr>
          <a:xfrm>
            <a:off x="731520" y="1417320"/>
            <a:ext cx="246888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3291840" y="1417320"/>
            <a:ext cx="8138160" cy="594360"/>
          </a:xfrm>
          <a:prstGeom prst="rect">
            <a:avLst/>
          </a:prstGeom>
          <a:noFill/>
          <a:ln/>
        </p:spPr>
        <p:txBody>
          <a:bodyPr wrap="square" lIns="635" tIns="635" rIns="635" bIns="635" rtlCol="0" anchor="ctr"/>
          <a:lstStyle/>
          <a:p>
            <a:pPr indent="0" marL="0">
              <a:buNone/>
            </a:pPr>
            <a:r>
              <a:rPr lang="en-US" sz="1700" dirty="0">
                <a:solidFill>
                  <a:schemeClr val="bg1"/>
                </a:solidFill>
              </a:rPr>
              <a:t>Covid-19 infected about 1 in 4 of the 4,779 sailors on a carrier in 8 weeks</a:t>
            </a:r>
            <a:r>
              <a:rPr lang="en-US" sz="1700" baseline="30000" dirty="0">
                <a:solidFill>
                  <a:schemeClr val="bg1"/>
                </a:solidFill>
              </a:rPr>
              <a:t>1</a:t>
            </a:r>
            <a:endParaRPr lang="en-US" sz="1700" dirty="0"/>
          </a:p>
        </p:txBody>
      </p:sp>
      <p:sp>
        <p:nvSpPr>
          <p:cNvPr id="5" name="Text 3"/>
          <p:cNvSpPr txBox="1"/>
          <p:nvPr/>
        </p:nvSpPr>
        <p:spPr>
          <a:xfrm>
            <a:off x="731520" y="2130552"/>
            <a:ext cx="246888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caused it</a:t>
            </a:r>
            <a:endParaRPr lang="en-US" sz="1700" dirty="0"/>
          </a:p>
        </p:txBody>
      </p:sp>
      <p:sp>
        <p:nvSpPr>
          <p:cNvPr id="6" name="Text 4"/>
          <p:cNvSpPr txBox="1"/>
          <p:nvPr/>
        </p:nvSpPr>
        <p:spPr>
          <a:xfrm>
            <a:off x="3291840" y="2130552"/>
            <a:ext cx="8138160" cy="594360"/>
          </a:xfrm>
          <a:prstGeom prst="rect">
            <a:avLst/>
          </a:prstGeom>
          <a:noFill/>
          <a:ln/>
        </p:spPr>
        <p:txBody>
          <a:bodyPr wrap="square" lIns="635" tIns="635" rIns="635" bIns="635" rtlCol="0" anchor="ctr"/>
          <a:lstStyle/>
          <a:p>
            <a:pPr indent="0" marL="0">
              <a:buNone/>
            </a:pPr>
            <a:r>
              <a:rPr lang="en-US" sz="1700" dirty="0">
                <a:solidFill>
                  <a:schemeClr val="bg1"/>
                </a:solidFill>
              </a:rPr>
              <a:t>The SARS-CoV-2 virus, which can spread before people feel sick</a:t>
            </a:r>
            <a:r>
              <a:rPr lang="en-US" sz="1700" baseline="30000" dirty="0">
                <a:solidFill>
                  <a:schemeClr val="bg1"/>
                </a:solidFill>
              </a:rPr>
              <a:t>2,4</a:t>
            </a:r>
            <a:endParaRPr lang="en-US" sz="1700" dirty="0"/>
          </a:p>
        </p:txBody>
      </p:sp>
      <p:sp>
        <p:nvSpPr>
          <p:cNvPr id="7" name="Text 5"/>
          <p:cNvSpPr txBox="1"/>
          <p:nvPr/>
        </p:nvSpPr>
        <p:spPr>
          <a:xfrm>
            <a:off x="731520" y="2843784"/>
            <a:ext cx="246888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 where, when</a:t>
            </a:r>
            <a:endParaRPr lang="en-US" sz="1700" dirty="0"/>
          </a:p>
        </p:txBody>
      </p:sp>
      <p:sp>
        <p:nvSpPr>
          <p:cNvPr id="8" name="Text 6"/>
          <p:cNvSpPr txBox="1"/>
          <p:nvPr/>
        </p:nvSpPr>
        <p:spPr>
          <a:xfrm>
            <a:off x="3291840" y="2843784"/>
            <a:ext cx="813816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crews and small, enclosed workplaces had higher rates</a:t>
            </a:r>
            <a:r>
              <a:rPr lang="en-US" sz="1700" baseline="30000" dirty="0">
                <a:solidFill>
                  <a:schemeClr val="bg1"/>
                </a:solidFill>
              </a:rPr>
              <a:t>1</a:t>
            </a:r>
            <a:endParaRPr lang="en-US" sz="1700" dirty="0"/>
          </a:p>
        </p:txBody>
      </p:sp>
      <p:sp>
        <p:nvSpPr>
          <p:cNvPr id="9" name="Text 7"/>
          <p:cNvSpPr txBox="1"/>
          <p:nvPr/>
        </p:nvSpPr>
        <p:spPr>
          <a:xfrm>
            <a:off x="731520" y="3557016"/>
            <a:ext cx="246888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 it spread</a:t>
            </a:r>
            <a:endParaRPr lang="en-US" sz="1700" dirty="0"/>
          </a:p>
        </p:txBody>
      </p:sp>
      <p:sp>
        <p:nvSpPr>
          <p:cNvPr id="10" name="Text 8"/>
          <p:cNvSpPr txBox="1"/>
          <p:nvPr/>
        </p:nvSpPr>
        <p:spPr>
          <a:xfrm>
            <a:off x="3291840" y="3557016"/>
            <a:ext cx="8138160" cy="594360"/>
          </a:xfrm>
          <a:prstGeom prst="rect">
            <a:avLst/>
          </a:prstGeom>
          <a:noFill/>
          <a:ln/>
        </p:spPr>
        <p:txBody>
          <a:bodyPr wrap="square" lIns="635" tIns="635" rIns="635" bIns="635" rtlCol="0" anchor="ctr"/>
          <a:lstStyle/>
          <a:p>
            <a:pPr indent="0" marL="0">
              <a:buNone/>
            </a:pPr>
            <a:r>
              <a:rPr lang="en-US" sz="1700" dirty="0">
                <a:solidFill>
                  <a:schemeClr val="bg1"/>
                </a:solidFill>
              </a:rPr>
              <a:t>Person to person in close quarters, helped by sailors who felt fine</a:t>
            </a:r>
            <a:r>
              <a:rPr lang="en-US" sz="1700" baseline="30000" dirty="0">
                <a:solidFill>
                  <a:schemeClr val="bg1"/>
                </a:solidFill>
              </a:rPr>
              <a:t>1</a:t>
            </a:r>
            <a:endParaRPr lang="en-US" sz="1700" dirty="0"/>
          </a:p>
        </p:txBody>
      </p:sp>
      <p:sp>
        <p:nvSpPr>
          <p:cNvPr id="11" name="Text 9"/>
          <p:cNvSpPr txBox="1"/>
          <p:nvPr/>
        </p:nvSpPr>
        <p:spPr>
          <a:xfrm>
            <a:off x="731520" y="4270248"/>
            <a:ext cx="246888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now</a:t>
            </a:r>
            <a:endParaRPr lang="en-US" sz="1700" dirty="0"/>
          </a:p>
        </p:txBody>
      </p:sp>
      <p:sp>
        <p:nvSpPr>
          <p:cNvPr id="12" name="Text 10"/>
          <p:cNvSpPr txBox="1"/>
          <p:nvPr/>
        </p:nvSpPr>
        <p:spPr>
          <a:xfrm>
            <a:off x="3291840" y="4270248"/>
            <a:ext cx="8138160" cy="594360"/>
          </a:xfrm>
          <a:prstGeom prst="rect">
            <a:avLst/>
          </a:prstGeom>
          <a:noFill/>
          <a:ln/>
        </p:spPr>
        <p:txBody>
          <a:bodyPr wrap="square" lIns="635" tIns="635" rIns="635" bIns="635" rtlCol="0" anchor="ctr"/>
          <a:lstStyle/>
          <a:p>
            <a:pPr indent="0" marL="0">
              <a:buNone/>
            </a:pPr>
            <a:r>
              <a:rPr lang="en-US" sz="1700" dirty="0">
                <a:solidFill>
                  <a:schemeClr val="bg1"/>
                </a:solidFill>
              </a:rPr>
              <a:t>Test everyone early, reduce crowding, and don't wait for symptoms</a:t>
            </a:r>
            <a:r>
              <a:rPr lang="en-US" sz="1700" baseline="30000" dirty="0">
                <a:solidFill>
                  <a:schemeClr val="bg1"/>
                </a:solidFill>
              </a:rPr>
              <a:t>1</a:t>
            </a:r>
            <a:endParaRPr lang="en-US" sz="1700" dirty="0"/>
          </a:p>
        </p:txBody>
      </p:sp>
      <p:sp>
        <p:nvSpPr>
          <p:cNvPr id="13" name="lesson panel"/>
          <p:cNvSpPr/>
          <p:nvPr/>
        </p:nvSpPr>
        <p:spPr>
          <a:xfrm>
            <a:off x="731520" y="5120640"/>
            <a:ext cx="10698480" cy="1143000"/>
          </a:xfrm>
          <a:prstGeom prst="roundRect">
            <a:avLst>
              <a:gd name="adj" fmla="val 9600"/>
            </a:avLst>
          </a:prstGeom>
          <a:solidFill>
            <a:schemeClr val="accent5"/>
          </a:solidFill>
          <a:ln/>
        </p:spPr>
      </p:sp>
      <p:sp>
        <p:nvSpPr>
          <p:cNvPr id="14" name="Text 12"/>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800" b="1" dirty="0">
                <a:solidFill>
                  <a:schemeClr val="accent4"/>
                </a:solidFill>
              </a:rPr>
              <a:t>Lesson for public health: </a:t>
            </a:r>
            <a:r>
              <a:rPr lang="en-US" sz="1800" dirty="0">
                <a:solidFill>
                  <a:schemeClr val="bg1"/>
                </a:solidFill>
              </a:rPr>
              <a:t>in any crowded setting, assume the virus may already be there and spreading silently. Test early; don't wait for symptoms.</a:t>
            </a:r>
            <a:endParaRPr lang="en-US" sz="1800" dirty="0"/>
          </a:p>
        </p:txBody>
      </p:sp>
      <p:sp>
        <p:nvSpPr>
          <p:cNvPr id="15" name="Text 13"/>
          <p:cNvSpPr txBox="1"/>
          <p:nvPr/>
        </p:nvSpPr>
        <p:spPr>
          <a:xfrm>
            <a:off x="731520" y="6355080"/>
            <a:ext cx="10058400" cy="320040"/>
          </a:xfrm>
          <a:prstGeom prst="rect">
            <a:avLst/>
          </a:prstGeom>
          <a:noFill/>
          <a:ln/>
        </p:spPr>
        <p:txBody>
          <a:bodyPr wrap="square" lIns="0" tIns="0" rIns="0" bIns="0" rtlCol="0" anchor="ctr"/>
          <a:lstStyle/>
          <a:p>
            <a:pPr indent="0" marL="0">
              <a:buNone/>
            </a:pPr>
            <a:r>
              <a:rPr lang="en-US" sz="1000" i="1" dirty="0">
                <a:solidFill>
                  <a:schemeClr val="accent3"/>
                </a:solidFill>
              </a:rPr>
              <a:t>1. Kasper MR, et al. N Engl J Med. 2020.  2. Hu B, et al. Nat Rev Microbiol. 2021.  4. He X, et al. Nat Med. 2020.</a:t>
            </a:r>
            <a:endParaRPr lang="en-US" sz="1000" dirty="0"/>
          </a:p>
        </p:txBody>
      </p:sp>
      <p:sp>
        <p:nvSpPr>
          <p:cNvPr id="17"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8"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References</a:t>
            </a:r>
            <a:endParaRPr lang="en-US" sz="26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a:t>
            </a:r>
            <a:r>
              <a:rPr lang="en-US" sz="1500" i="1" dirty="0">
                <a:solidFill>
                  <a:schemeClr val="tx1"/>
                </a:solidFill>
              </a:rPr>
              <a:t>N Engl J Med</a:t>
            </a:r>
            <a:r>
              <a:rPr lang="en-US" sz="1500" dirty="0">
                <a:solidFill>
                  <a:schemeClr val="tx1"/>
                </a:solidFill>
              </a:rPr>
              <a:t>.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a:t>
            </a:r>
            <a:r>
              <a:rPr lang="en-US" sz="1500" i="1" dirty="0">
                <a:solidFill>
                  <a:schemeClr val="tx1"/>
                </a:solidFill>
              </a:rPr>
              <a:t>Nat Rev Microbiol</a:t>
            </a:r>
            <a:r>
              <a:rPr lang="en-US" sz="1500" dirty="0">
                <a:solidFill>
                  <a:schemeClr val="tx1"/>
                </a:solidFill>
              </a:rPr>
              <a:t>.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t>
            </a:r>
            <a:r>
              <a:rPr lang="en-US" sz="1500" i="1" dirty="0">
                <a:solidFill>
                  <a:schemeClr val="tx1"/>
                </a:solidFill>
              </a:rPr>
              <a:t>Ann Intern Med</a:t>
            </a:r>
            <a:r>
              <a:rPr lang="en-US" sz="1500" dirty="0">
                <a:solidFill>
                  <a:schemeClr val="tx1"/>
                </a:solidFill>
              </a:rPr>
              <a:t>.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a:t>
            </a:r>
            <a:r>
              <a:rPr lang="en-US" sz="1500" i="1" dirty="0">
                <a:solidFill>
                  <a:schemeClr val="tx1"/>
                </a:solidFill>
              </a:rPr>
              <a:t>Nat Med</a:t>
            </a:r>
            <a:r>
              <a:rPr lang="en-US" sz="1500" dirty="0">
                <a:solidFill>
                  <a:schemeClr val="tx1"/>
                </a:solidFill>
              </a:rPr>
              <a:t>. 2020;26(5):672-675. doi:10.1038/s41591-020-0869-5. Published correction appears in </a:t>
            </a:r>
            <a:r>
              <a:rPr lang="en-US" sz="1500" i="1" dirty="0">
                <a:solidFill>
                  <a:schemeClr val="tx1"/>
                </a:solidFill>
              </a:rPr>
              <a:t>Nat Med</a:t>
            </a:r>
            <a:r>
              <a:rPr lang="en-US" sz="1500" dirty="0">
                <a:solidFill>
                  <a:schemeClr val="tx1"/>
                </a:solidFill>
              </a:rPr>
              <a:t>. 2020;26(9):1491-1493.</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CDC COVID-19 Surge Laboratory Group. SARS-CoV-2 infections and serologic responses from a sample of U.S. Navy service members — USS Theodore Roosevelt, April 2020. </a:t>
            </a:r>
            <a:r>
              <a:rPr lang="en-US" sz="1500" i="1" dirty="0">
                <a:solidFill>
                  <a:schemeClr val="tx1"/>
                </a:solidFill>
              </a:rPr>
              <a:t>MMWR Morb Mortal Wkly Rep</a:t>
            </a:r>
            <a:r>
              <a:rPr lang="en-US" sz="1500" dirty="0">
                <a:solidFill>
                  <a:schemeClr val="tx1"/>
                </a:solidFill>
              </a:rPr>
              <a:t>. 2020;69(23):714-721. doi:10.15585/mmwr.mm6923e4</a:t>
            </a:r>
            <a:endParaRPr lang="en-US" sz="1500" dirty="0"/>
          </a:p>
        </p:txBody>
      </p:sp>
      <p:sp>
        <p:nvSpPr>
          <p:cNvPr id="4" name="Text 0"/>
          <p:cNvSpPr/>
          <p:nvPr>
            <p:ph idx="101" type="body" hasCustomPrompt="1"/>
          </p:nvPr>
        </p:nvSpPr>
        <p:spPr>
          <a:xfrm>
            <a:off x="548640" y="73152"/>
            <a:ext cx="11064240" cy="274320"/>
          </a:xfrm>
          <a:prstGeom prst="rect">
            <a:avLst/>
          </a:prstGeom>
          <a:noFill/>
          <a:ln/>
        </p:spPr>
        <p:txBody>
          <a:bodyPr wrap="square" lIns="0" tIns="0" rIns="0" bIns="0" rtlCol="0" anchor="ctr"/>
          <a:lstStyle/>
          <a:p>
            <a:pPr algn="ctr" indent="0" marL="0">
              <a:buNone/>
            </a:pPr>
            <a:endParaRPr lang="en-US" sz="1100" dirty="0"/>
          </a:p>
        </p:txBody>
      </p:sp>
      <p:sp>
        <p:nvSpPr>
          <p:cNvPr id="5" name="Text 0"/>
          <p:cNvSpPr/>
          <p:nvPr>
            <p:ph idx="102"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2026-10-13T04:07:31Z</dcterms:created>
  <dcterms:modified xsi:type="dcterms:W3CDTF">2026-10-13T04:07:31Z</dcterms:modified>
</cp:coreProperties>
</file>