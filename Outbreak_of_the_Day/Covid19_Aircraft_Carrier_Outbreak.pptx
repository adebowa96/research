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7d9ccd31-c920-efd4-a04b-b0fecd0bddab}">
          <p14:sldIdLst>
            <p14:sldId id="256"/>
          </p14:sldIdLst>
        </p14:section>
        <p14:section name="1 · What happened, and what caused it?" id="{2b702b79-f002-1b11-e78b-a2f47764d28f}">
          <p14:sldIdLst>
            <p14:sldId id="257"/>
            <p14:sldId id="258"/>
            <p14:sldId id="259"/>
            <p14:sldId id="260"/>
            <p14:sldId id="261"/>
          </p14:sldIdLst>
        </p14:section>
        <p14:section name="2 · How did investigators find the cases?" id="{95791002-cc3f-f215-8582-8a50fe86a6d6}">
          <p14:sldIdLst>
            <p14:sldId id="262"/>
            <p14:sldId id="263"/>
            <p14:sldId id="264"/>
          </p14:sldIdLst>
        </p14:section>
        <p14:section name="3 · Who, where and when?" id="{774af71c-0a85-fa19-2731-c1e731671324}">
          <p14:sldIdLst>
            <p14:sldId id="265"/>
            <p14:sldId id="266"/>
            <p14:sldId id="267"/>
            <p14:sldId id="268"/>
          </p14:sldIdLst>
        </p14:section>
        <p14:section name="4 · How did it spread, and how sure are we?" id="{e622b2c7-f0d7-c304-20c8-da5a0e3f7ee8}">
          <p14:sldIdLst>
            <p14:sldId id="269"/>
            <p14:sldId id="270"/>
            <p14:sldId id="271"/>
            <p14:sldId id="272"/>
          </p14:sldIdLst>
        </p14:section>
        <p14:section name="5 · What was done, and what next?" id="{4ef3262c-a994-1007-8113-5752ffbff151}">
          <p14:sldIdLst>
            <p14:sldId id="273"/>
            <p14:sldId id="274"/>
          </p14:sldIdLst>
        </p14:section>
        <p14:section name="Conclusion" id="{f13111b4-335d-cab9-f217-fee4b922ec53}">
          <p14:sldIdLst>
            <p14:sldId id="275"/>
          </p14:sldIdLst>
        </p14:section>
        <p14:section name="References" id="{2ef03d9a-42f3-4446-4af8-4b68f0273cd9}">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Selected symptoms ever reported, % of symptomatic cases (n = 759)¹</a:t>
            </a:r>
          </a:p>
        </c:rich>
      </c:tx>
      <c:layout/>
      <c:overlay val="0"/>
    </c:title>
    <c:autoTitleDeleted val="0"/>
    <c:plotArea>
      <c:layout/>
      <c:barChart>
        <c:barDir val="bar"/>
        <c:grouping val="clustered"/>
        <c:varyColors val="0"/>
        <c:ser>
          <c:idx val="0"/>
          <c:order val="0"/>
          <c:tx>
            <c:strRef>
              <c:f>Sheet1!$B$1</c:f>
              <c:strCache>
                <c:ptCount val="1"/>
                <c:pt idx="0">
                  <c:v>Ever reported (%)</c:v>
                </c:pt>
              </c:strCache>
            </c:strRef>
          </c:tx>
          <c:spPr>
            <a:solidFill>
              <a:srgbClr val="0B2545"/>
            </a:solidFill>
            <a:effectLst/>
          </c:spPr>
          <c:invertIfNegative val="0"/>
          <c:dLbls>
            <c:numFmt formatCode="0.0" sourceLinked="0"/>
            <c:txPr>
              <a:bodyPr/>
              <a:lstStyle/>
              <a:p>
                <a:pPr>
                  <a:defRPr b="0" i="0" strike="noStrike" sz="1200" u="none">
                    <a:solidFill>
                      <a:srgbClr val="1B1B1E"/>
                    </a:solidFill>
                    <a:latin typeface="+mn-lt"/>
                  </a:defRPr>
                </a:pPr>
              </a:p>
            </c:txPr>
            <c:showLegendKey val="0"/>
            <c:showVal val="1"/>
            <c:showCatName val="0"/>
            <c:showSerName val="0"/>
            <c:showPercent val="0"/>
            <c:showBubbleSize val="0"/>
            <c:showLeaderLines val="0"/>
          </c:dLbls>
          <c:cat>
            <c:multiLvlStrRef>
              <c:f>Sheet1!$A$2:$A$8</c:f>
              <c:multiLvlStrCache>
                <c:ptCount val="7"/>
                <c:lvl>
                  <c:pt idx="0">
                    <c:v>Fever</c:v>
                  </c:pt>
                  <c:pt idx="1">
                    <c:v>Shortness of breath</c:v>
                  </c:pt>
                  <c:pt idx="2">
                    <c:v>Chest pain/pressure</c:v>
                  </c:pt>
                  <c:pt idx="3">
                    <c:v>Altered taste or smell</c:v>
                  </c:pt>
                  <c:pt idx="4">
                    <c:v>Nasal/sinus congestion</c:v>
                  </c:pt>
                  <c:pt idx="5">
                    <c:v>Cough</c:v>
                  </c:pt>
                  <c:pt idx="6">
                    <c:v>Headache</c:v>
                  </c:pt>
                </c:lvl>
              </c:multiLvlStrCache>
            </c:multiLvlStrRef>
          </c:cat>
          <c:val>
            <c:numRef>
              <c:f>Sheet1!$B$2:$B$8</c:f>
              <c:numCache>
                <c:formatCode>General</c:formatCode>
                <c:ptCount val="7"/>
                <c:pt idx="0">
                  <c:v>13.2</c:v>
                </c:pt>
                <c:pt idx="1">
                  <c:v>20.3</c:v>
                </c:pt>
                <c:pt idx="2">
                  <c:v>26.2</c:v>
                </c:pt>
                <c:pt idx="3">
                  <c:v>42.3</c:v>
                </c:pt>
                <c:pt idx="4">
                  <c:v>43.8</c:v>
                </c:pt>
                <c:pt idx="5">
                  <c:v>59.5</c:v>
                </c:pt>
                <c:pt idx="6">
                  <c:v>68</c:v>
                </c:pt>
              </c:numCache>
            </c:numRef>
          </c:val>
        </c:ser>
        <c:dLbls>
          <c:numFmt formatCode="0.0" sourceLinked="0"/>
          <c:txPr>
            <a:bodyPr/>
            <a:lstStyle/>
            <a:p>
              <a:pPr>
                <a:defRPr b="0" i="0" strike="noStrike" sz="1200" u="none">
                  <a:solidFill>
                    <a:srgbClr val="1B1B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Percent of symptomatic cases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Confirmed and suspected cases by symptom status (N = 1,331)¹</a:t>
            </a:r>
          </a:p>
        </c:rich>
      </c:tx>
      <c:layout/>
      <c:overlay val="0"/>
    </c:title>
    <c:autoTitleDeleted val="0"/>
    <c:plotArea>
      <c:layout/>
      <c:doughnutChart>
        <c:varyColors val="1"/>
        <c:ser>
          <c:idx val="0"/>
          <c:order val="0"/>
          <c:tx>
            <c:strRef>
              <c:f>Sheet1!$B$1</c:f>
              <c:strCache>
                <c:ptCount val="1"/>
                <c:pt idx="0">
                  <c:v>Case status</c:v>
                </c:pt>
              </c:strCache>
            </c:strRef>
          </c:tx>
          <c:spPr>
            <a:solidFill>
              <a:schemeClr val="accent1"/>
            </a:solidFill>
            <a:ln w="9525" cap="flat">
              <a:solidFill>
                <a:srgbClr val="F9F9F9"/>
              </a:solidFill>
              <a:prstDash val="solid"/>
              <a:round/>
            </a:ln>
            <a:effectLst/>
          </c:spPr>
          <c:dPt>
            <c:idx val="0"/>
            <c:bubble3D val="0"/>
            <c:spPr>
              <a:solidFill>
                <a:srgbClr val="0B2545"/>
              </a:solidFill>
              <a:effectLst/>
            </c:spPr>
          </c:dPt>
          <c:dPt>
            <c:idx val="1"/>
            <c:bubble3D val="0"/>
            <c:spPr>
              <a:solidFill>
                <a:srgbClr val="8DA9C4"/>
              </a:solidFill>
              <a:effectLst/>
            </c:spPr>
          </c:dPt>
          <c:dPt>
            <c:idx val="2"/>
            <c:bubble3D val="0"/>
            <c:spPr>
              <a:solidFill>
                <a:srgbClr val="D1495B"/>
              </a:solidFill>
              <a:effectLst/>
            </c:spPr>
          </c:dPt>
          <c:dPt>
            <c:idx val="3"/>
            <c:bubble3D val="0"/>
            <c:spPr>
              <a:solidFill>
                <a:srgbClr val="EDAE49"/>
              </a:solidFill>
              <a:effectLst/>
            </c:spPr>
          </c:dPt>
          <c:dLbls>
            <c:dLbl>
              <c:idx val="0"/>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Asymptomatic (never)</c:v>
                </c:pt>
                <c:pt idx="1">
                  <c:v>Presymptomatic</c:v>
                </c:pt>
                <c:pt idx="2">
                  <c:v>Symptomatic at test</c:v>
                </c:pt>
                <c:pt idx="3">
                  <c:v>Suspected (no + test)</c:v>
                </c:pt>
              </c:strCache>
            </c:strRef>
          </c:cat>
          <c:val>
            <c:numRef>
              <c:f>Sheet1!$B$2:$B$5</c:f>
              <c:numCache>
                <c:ptCount val="4"/>
                <c:pt idx="0">
                  <c:v>572</c:v>
                </c:pt>
                <c:pt idx="1">
                  <c:v>406</c:v>
                </c:pt>
                <c:pt idx="2">
                  <c:v>293</c:v>
                </c:pt>
                <c:pt idx="3">
                  <c:v>60</c:v>
                </c:pt>
              </c:numCache>
            </c:numRef>
          </c:val>
        </c:ser>
        <c:firstSliceAng val="0"/>
        <c:holeSize val="55"/>
      </c:doughnutChart>
      <c:spPr>
        <a:noFill/>
        <a:ln>
          <a:noFill/>
        </a:ln>
        <a:effectLst/>
      </c:spPr>
    </c:plotArea>
    <c:legend>
      <c:legendPos val="b"/>
      <c:overlay val="0"/>
      <c:txPr>
        <a:bodyPr/>
        <a:lstStyle/>
        <a:p>
          <a:pPr>
            <a:defRPr sz="1300">
              <a:solidFill>
                <a:srgbClr val="1B1B1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Attack rate (confirmed + suspected) by department, %, from Table 1 counts¹</a:t>
            </a:r>
          </a:p>
        </c:rich>
      </c:tx>
      <c:layout/>
      <c:overlay val="0"/>
    </c:title>
    <c:autoTitleDeleted val="0"/>
    <c:plotArea>
      <c:layout/>
      <c:barChart>
        <c:barDir val="col"/>
        <c:grouping val="stacked"/>
        <c:varyColors val="0"/>
        <c:ser>
          <c:idx val="0"/>
          <c:order val="0"/>
          <c:tx>
            <c:strRef>
              <c:f>Sheet1!$B$1</c:f>
              <c:strCache>
                <c:ptCount val="1"/>
                <c:pt idx="0">
                  <c:v>Confined spaces</c:v>
                </c:pt>
              </c:strCache>
            </c:strRef>
          </c:tx>
          <c:spPr>
            <a:solidFill>
              <a:srgbClr val="0B2545"/>
            </a:solidFill>
            <a:effectLst/>
          </c:spPr>
          <c:invertIfNegative val="0"/>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Weapons</c:v>
                  </c:pt>
                  <c:pt idx="1">
                    <c:v>Supply</c:v>
                  </c:pt>
                  <c:pt idx="2">
                    <c:v>Engineering</c:v>
                  </c:pt>
                  <c:pt idx="3">
                    <c:v>Reactor</c:v>
                  </c:pt>
                  <c:pt idx="4">
                    <c:v>Combat support</c:v>
                  </c:pt>
                  <c:pt idx="5">
                    <c:v>Medical (PPE)</c:v>
                  </c:pt>
                  <c:pt idx="6">
                    <c:v>Air</c:v>
                  </c:pt>
                  <c:pt idx="7">
                    <c:v>Deck</c:v>
                  </c:pt>
                </c:lvl>
              </c:multiLvlStrCache>
            </c:multiLvlStrRef>
          </c:cat>
          <c:val>
            <c:numRef>
              <c:f>Sheet1!$B$2:$B$9</c:f>
              <c:numCache>
                <c:formatCode>General</c:formatCode>
                <c:ptCount val="8"/>
                <c:pt idx="0">
                  <c:v>41.6</c:v>
                </c:pt>
                <c:pt idx="1">
                  <c:v>38.8</c:v>
                </c:pt>
                <c:pt idx="2">
                  <c:v>32.8</c:v>
                </c:pt>
                <c:pt idx="3">
                  <c:v>31.4</c:v>
                </c:pt>
                <c:pt idx="4">
                  <c:v>18.8</c:v>
                </c:pt>
                <c:pt idx="5">
                  <c:v>0</c:v>
                </c:pt>
                <c:pt idx="6">
                  <c:v>0</c:v>
                </c:pt>
                <c:pt idx="7">
                  <c:v>0</c:v>
                </c:pt>
              </c:numCache>
            </c:numRef>
          </c:val>
        </c:ser>
        <c:ser>
          <c:idx val="1"/>
          <c:order val="1"/>
          <c:tx>
            <c:strRef>
              <c:f>Sheet1!$C$1</c:f>
              <c:strCache>
                <c:ptCount val="1"/>
                <c:pt idx="0">
                  <c:v>PPE or open-air/mixed</c:v>
                </c:pt>
              </c:strCache>
            </c:strRef>
          </c:tx>
          <c:spPr>
            <a:solidFill>
              <a:srgbClr val="8DA9C4"/>
            </a:solidFill>
            <a:effectLst/>
          </c:spPr>
          <c:invertIfNegative val="0"/>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Weapons</c:v>
                  </c:pt>
                  <c:pt idx="1">
                    <c:v>Supply</c:v>
                  </c:pt>
                  <c:pt idx="2">
                    <c:v>Engineering</c:v>
                  </c:pt>
                  <c:pt idx="3">
                    <c:v>Reactor</c:v>
                  </c:pt>
                  <c:pt idx="4">
                    <c:v>Combat support</c:v>
                  </c:pt>
                  <c:pt idx="5">
                    <c:v>Medical (PPE)</c:v>
                  </c:pt>
                  <c:pt idx="6">
                    <c:v>Air</c:v>
                  </c:pt>
                  <c:pt idx="7">
                    <c:v>Deck</c:v>
                  </c:pt>
                </c:lvl>
              </c:multiLvlStrCache>
            </c:multiLvlStrRef>
          </c:cat>
          <c:val>
            <c:numRef>
              <c:f>Sheet1!$C$2:$C$9</c:f>
              <c:numCache>
                <c:formatCode>General</c:formatCode>
                <c:ptCount val="8"/>
                <c:pt idx="0">
                  <c:v>0</c:v>
                </c:pt>
                <c:pt idx="1">
                  <c:v>0</c:v>
                </c:pt>
                <c:pt idx="2">
                  <c:v>0</c:v>
                </c:pt>
                <c:pt idx="3">
                  <c:v>0</c:v>
                </c:pt>
                <c:pt idx="4">
                  <c:v>0</c:v>
                </c:pt>
                <c:pt idx="5">
                  <c:v>16.7</c:v>
                </c:pt>
                <c:pt idx="6">
                  <c:v>14.2</c:v>
                </c:pt>
                <c:pt idx="7">
                  <c:v>4.7</c:v>
                </c:pt>
              </c:numCache>
            </c:numRef>
          </c:val>
        </c:ser>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Attack rate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200">
              <a:solidFill>
                <a:srgbClr val="1B1B1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I'm analyzing the Covid-19 outbreak on the aircraft carrier U.S.S. Theodore Roosevelt in spring 2020, published by Kasper and colleagues in the New England Journal of Medicine. The whole crew was tested and followed for at least 10 weeks, so we can see the full picture of SARS-CoV-2 spreading through a young, healthy, crowded population. I'll tell it as a story in five parts: what happened and what caused it; how investigators found the cases; who was affected, where and when; how it spread and how sure we are; and what was done and what should happen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what happened, in numbers. The ship had 4,779 crew in the analysis. Between March 23 and May 18, 2020, 1,271 tested positive by rRT-PCR, an attack rate of 26.6%, and 60 more were suspected cases. Severe outcomes were rare: 23 were hospitalized, 4 needed intensive care, and 1 sailor died. So the outbreak was large and fast, but low in severity. The question for the rest of this talk is how a young, healthy crew ended up with more than a quarter of its members infected. To answer it, we first need to see where this crew lived and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setting explains a lot. A carrier is close to the worst case for respiratory transmission: shared open-bay berthing, densely populated work spaces, crowded galleys and gyms. The population is the opposite of high-risk: young, fit and up to date on routine immunizations, though no Covid-19 vaccine existed yet. The outbreak was detected when three symptomatic sailors tested positive after 13 days at sea. Because the Navy tested and followed every crew member, this is a rare outbreak where we know the full denominator and have a much more complete estimate of the asymptomatic proportion. So when did the virus arrive, and how long was it spreading before anyone noticed? That is the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key dates. The ship made a port visit on March 5 to 9, and carrier onboard delivery (COD) flights brought personnel and mail between March 11 and 16. The investigators did not identify the index case. Looking back, symptoms began as early as March 11, but the outbreak was not recognized until March 23, twelve days later, when the first three sailors tested positive. The ship docked in Guam on March 27, and most of the crew went ashore to isolation or single-room hotel quarantine, while essential personnel stayed aboard. Even so, new cases kept occurring until the end of the analysis on May 18. Keep that silent twelve-day start in mind, because it is the central puzzle: how does an infection spread for almost two weeks without anyone noticing? To answer that, we need to meet the virus.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virus gives us part of the answer. SARS-CoV-2 is an enveloped RNA betacoronavirus that enters cells through the ACE2 receptor. Three biological features explain this outbreak. First, it spreads through respiratory droplets and aerosol particles that can linger in the air, as Hu and colleagues describe. Second, infectiousness rises several days before symptoms; in their corrected analysis, He and colleagues estimated that about 44% of transmission happens in the presymptomatic phase. Third, the incubation period averages about five days but can run up to two weeks, which is why 14-day quarantine was used. So a virus that spreads before symptoms, on a crowded ship, can move quietly. What did the illness look like when it did show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young, healthy crew the illness was mostly mild. Among the 759 symptomatic confirmed or suspected cases, headache and cough were the most common symptoms and altered taste or smell affected 42%. Fever was uncommon: only 13% ever reported it and about 5% had it at onset. That matters for public health practice, because temperature checks were a common screening tool in 2020 and here they would have missed almost nine in ten symptomatic cases. The chart shows selected symptoms, not all 19 in the paper's figure, and the denominator of 759 is my sum of symptomatic, presymptomatic and suspected cases from Figure 1. The lesson: symptoms alone could not tell investigators who was infected. They needed a case definition that would work even when people felt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symptoms can't find the cases, the case definition has to rely on testing. Investigators used a two-tier definition. A confirmed case was any crew member with a positive nasopharyngeal rRT-PCR test. A suspected case met the CSTE clinical criteria without a positive test. Confirmed cases were then split into symptomatic, presymptomatic and asymptomatic based on when symptoms appeared relative to the test. There was no separate probable category. The definition covers person, place, time, clinical and laboratory criteria, although the time window is implied by the analysis period rather than stated as a formal criterion. Was it a good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the definition suited this setting. Because everyone was tested, sensitivity was very high, and that is the only reason we know 572 infections never caused symptoms. The confirmed tier is highly specific. The suspected tier is less so, since other respiratory viruses such as rhinovirus, RSV and OC43 were found aboard; but suspected cases are only 4.5% of the total, so any bias is small. The authors acknowledge that the CDC definition changed in April. With the definition settled, how did investigators actually find and follow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investigation followed the standard steps. Detection came from three symptomatic sailors. Case finding began as contact tracing and quickly moved to testing everyone, which is active case finding at full scale. Descriptive data came from linking the crew roster to Defense Manpower Data Center demographics and Military Health System records. Lab work used nasopharyngeal rRT-PCR, plus a multiplex panel to look for other respiratory pathogens. For the analytic step, the investigators compared infected and uninfected crew and reported univariate odds ratios; they did not name a study design. Because the whole crew was followed, I treat it as a cohort, which is why I can also calculate risk ratios. One gap: no environmental investigation is described, so the role of ventilation or particular spaces is inferred rather than measured. Now to what they found, starting with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timeline, now with the cases plotted. This epidemic curve shows symptomatic cases by onset date. Sporadic cases appear from March 11, two to seven days after the port visit, which fits infection in port. The first onsets fall on the same days as the first COD arrivals, so those flights are a less likely source for the first cases, though they could explain later ones. The curve is clearly not a point-source pattern: onsets run for about ten weeks, with a sustained rise and a long, irregular tail, which fits propagated person-to-person transmission. Cases continued well after the ship docked on March 27. The article doesn't say why; plausible reasons are infections acquired before quarantine, which can explain onsets for about two weeks, transmission among the essential crew who stayed aboard, and imperfect onset dates. I'd also treat the sharp jump on March 23 cautiously, because that is when active testing began. One more thing: this curve shows only the sailors who developed symptoms. The bigger part of the story is the ones who didn't.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curve shows only sailors who developed symptoms. The bigger part of the story is the ones who didn't. Of 1,271 confirmed cases, 572 never had symptoms, 406 were presymptomatic and 293 were already symptomatic when tested. In other words, more than three in four infected sailors felt fine on the day they tested positive. That explains the silent start we saw on the timeline, and why the outbreak was so large before anyone noticed it. For control, it means symptom-based isolation alone was bound to fail. A note on denominators: the paper's Figure 1 reports 43.0% as asymptomatic because it divides by all 1,331 cases, including the 60 suspected ones. Among the 1,271 confirmed cases it is 45.0%, which matches the abstract's 'nearly half'. So who were these silent carriers?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were they? Not any particular type of sailor. Men and women were infected at about the same rate, 28%, and attack rates across racial and ethnic groups ranged from about 25 to 31%. The paper reports only mean age, which was 27 for both cases and non-cases, so I can't say anything about age-specific rates. The exception is rank. Enlisted sailors had an attack rate of 28.6% against 21.3% for officers. The most plausible explanation is living conditions, since enlisted crew sleep in open bays with dozens of bunks. Obesity showed a modest association with infection and was more common among hospitalized sailors, consistent with what we know about Covid-19 severity. If who you were mattered less than how you lived, what about where you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worked mattered more than who you were. Weapons, supply, engineering and reactor sailors work below decks in enclosed spaces, and their attack rates were 31 to 42%. Air and deck sailors spend time in open air, and their rates were 14% and under 5%. Using the paper's own grouping of confined departments, I calculated a risk ratio of 2.6: confined-space crew were about 2.6 times as likely to get Covid-19 as air and deck crew. The medical department is an interesting exception. They had the closest exposure to patients, yet only 16.7% were infected, somewhat below the crew average. That is consistent with PPE helping, but PPE use wasn't measured and there were only 48 people, so it is a hint, not proof. A map was not appropriate because the ship was the single site; the department chart is the spatial analysis. Let's put numbers on all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big was the risk, in numbers? This slide puts the measures together and marks which ones the authors reported and which I calculated. The overall attack rate of 26.6% is the headline. Adding the suspected cases gives 27.9%. The case-fatality proportion of 0.08% is very low, but it reflects the crew's age and fitness and shouldn't be applied to an older population. Because the whole crew was followed, I could calculate risk ratios directly. Confined-space work had the strongest association, with a risk ratio of 2.63 and a confidence interval well away from 1. The authors reported odds ratios instead, so let's look at those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investigators' own odds ratios. Red means significantly increased odds, navy significantly decreased, and grey means the confidence interval includes 1. Weapons, supply, engineering and reactor departments all had significantly higher odds than air crew, and deck crew had much lower odds. Enlisted rank and obesity were also significant. Two cautions. First, when the outcome affects over a quarter of the population, the odds ratio exaggerates the risk ratio; for enlisted sailors the OR is 1.48 but the actual risk ratio is 1.34, so I would have reported risk ratios. Second, the published department odds ratios can't be rebuilt from the table's own counts with air as the reference: from the counts, weapons crew had about 4.3 times the odds, and combat support and medical were slightly above air, not below. The main pattern, higher risk in the confined departments than in air and deck, holds either way, but I wouldn't lean on the exact published numbers. So do these associations mean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it together: the most important finding is that silent carriers and close quarters facilitated rapid spread. The source of introduction was never pinned down. The mode of transmission is supported by the propagated curve and the crowding pattern by rank and department, together with what we know of the virus's biology. Is the confined-space association causal? Several Bradford Hill criteria support it: strength, biological plausibility, and consistency with the Navy–CDC serosurvey on the same ship, which tied infection to sharing a berth with an infected crewmate and to contact with a known case, although it did not look at work spaces. A dose-response gradient can't be assessed, because confinement was recorded only as confined or mixed. But department is confounded by rank and berthing, the analysis is unadjusted, and many comparisons were made. So I'd call it a strong, plausible association, not proven causation. How much weight can the investigation bear?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investigation's main strength is complete enumeration: every sailor was tested and followed, which minimizes selection bias and gives a known denominator. PCR confirmation and linked health records add rigor. The authors acknowledged weak early records, a changing case definition and limited generalizability. From my own reading, I'd add five more: the analysis is only univariate, so confounding by rank and living quarters wasn't addressed; no environmental assessment is described; symptom data were self-reported and subject to recall bias; without genomic sequencing the introduction source and transmission chains remain unknown; and the Results text describes percentages calculated on all 1,331 cases as shares of the 1,271 confirmed cases. As I noted on the odds-ratio slide, the published department odds ratios also don't match the table's own counts. Given those limits, let's look at what the Navy actually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did the Navy do with all this? Once in Guam, it split the crew. Confirmed cases went into isolation, test-negative sailors went into single-room hotel quarantine, and a skeleton crew stayed aboard. Release needed at least 14 days, symptom resolution and a repeat PCR. Anyone who became symptomatic in quarantine moved into isolation. Every sailor was followed for at least 10 weeks, which is what lets us trust the outcome counts. The response was fast, but not instant: cases kept occurring for at least six weeks after docking. So what would I recommend?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recommendation follows from a finding. Because most cases had no symptoms, control must rely on testing everyone rather than on symptom screening. Because confined spaces carried 2.6 times the risk, prevention should target ventilation and cohorting in those departments, along with pre-deployment quarantine and testing. Because fever was rare, temperature screening is a poor surveillance tool. Crews need to hear that feeling well is not the same as being uninfected. Future investigations should add genomic sequencing, an environmental assessment and adjusted analyses. The Navy reports that since it adopted pre-deployment restriction of movement with exit testing, cut shore leave at foreign ports and enforced masks, distancing and cohorting on board, it has deployed multiple ships without another serious outbreak. That is encouraging, but it is an uncontrolled observation, and the Navy did not report adopting the ventilation, pooled-screening or sequencing measures I recommend. That brings us back to the questions we started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here are the answers to the questions we started with. What happened: SARS-CoV-2 spread through more than a quarter of the Theodore Roosevelt's crew in about eight weeks. Who was affected: young, healthy sailors, with higher risk for enlisted sailors and those in confined spaces. How it spread: propagated person-to-person respiratory spread, supported by the curve shape and the crowding pattern. The single most important finding is that more than three-quarters of infected sailors had no symptoms when diagnosed. The lesson extends well beyond the Navy, to dormitories, prisons, nursing homes and workplaces: assume silent introduction, as the investigators recommend, and build control around testing and the environment, not symptoms.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rtlCol="0"/>
          <a:lstStyle>
            <a:lvl1pPr algn="ctr" indent="0" marL="0">
              <a:buNone/>
              <a:defRPr lang="en-US" sz="1100" b="1" dirty="0">
                <a:solidFill>
                  <a:schemeClr val="accent6"/>
                </a:solidFill>
              </a:defRPr>
            </a:lvl1pPr>
          </a:lstStyle>
          <a:p>
            <a:pPr algn="ctr" indent="0" marL="0">
              <a:buNone/>
            </a:pP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rtlCol="0"/>
          <a:lstStyle>
            <a:lvl1pPr indent="0" marL="0">
              <a:buNone/>
              <a:defRPr lang="en-US" sz="1000" i="1" dirty="0">
                <a:solidFill>
                  <a:schemeClr val="accent6"/>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3.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An Outbreak of Covid-19 on an Aircraft Carrier</a:t>
            </a: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r>
              <a:rPr lang="en-US" sz="2200" dirty="0">
                <a:solidFill>
                  <a:schemeClr val="bg1"/>
                </a:solidFill>
              </a:rPr>
              <a:t>U.S.S. Theodore Roosevelt, March–May 2020</a:t>
            </a:r>
            <a:endParaRPr lang="en-US" sz="1800" dirty="0"/>
          </a:p>
          <a:p>
            <a:pPr indent="0" marL="0">
              <a:buNone/>
            </a:pPr>
            <a:r>
              <a:rPr lang="en-US" sz="1000" dirty="0">
                <a:solidFill>
                  <a:schemeClr val="accent3"/>
                </a:solidFill>
              </a:rPr>
              <a:t> </a:t>
            </a:r>
            <a:endParaRPr lang="en-US" sz="1800" dirty="0"/>
          </a:p>
          <a:p>
            <a:pPr indent="0" marL="0">
              <a:buNone/>
            </a:pPr>
            <a:r>
              <a:rPr lang="en-US" sz="1800" b="1" dirty="0">
                <a:solidFill>
                  <a:schemeClr val="accent3"/>
                </a:solidFill>
              </a:rPr>
              <a:t>Praise Shobayo</a:t>
            </a:r>
            <a:endParaRPr lang="en-US" sz="1800" dirty="0"/>
          </a:p>
          <a:p>
            <a:pPr indent="0" marL="0">
              <a:buNone/>
            </a:pPr>
            <a:r>
              <a:rPr lang="en-US" sz="1800" dirty="0">
                <a:solidFill>
                  <a:schemeClr val="accent3"/>
                </a:solidFill>
              </a:rPr>
              <a:t>Liberty University</a:t>
            </a:r>
            <a:endParaRPr lang="en-US" sz="1800" dirty="0"/>
          </a:p>
          <a:p>
            <a:pPr indent="0" marL="0">
              <a:buNone/>
            </a:pPr>
            <a:r>
              <a:rPr lang="en-US" sz="1800" dirty="0">
                <a:solidFill>
                  <a:schemeClr val="accent3"/>
                </a:solidFill>
              </a:rPr>
              <a:t>HLTH650: Field Epidemiology</a:t>
            </a:r>
            <a:endParaRPr lang="en-US" sz="1800" dirty="0"/>
          </a:p>
          <a:p>
            <a:pPr indent="0" marL="0">
              <a:buNone/>
            </a:pPr>
            <a:r>
              <a:rPr lang="en-US" sz="1800" dirty="0">
                <a:solidFill>
                  <a:schemeClr val="accent3"/>
                </a:solidFill>
              </a:rPr>
              <a:t>October 15, 2026</a:t>
            </a:r>
            <a:endParaRPr lang="en-US" sz="1800" dirty="0"/>
          </a:p>
        </p:txBody>
      </p:sp>
      <p:sp>
        <p:nvSpPr>
          <p:cNvPr id="4" name="ship icon circle"/>
          <p:cNvSpPr/>
          <p:nvPr/>
        </p:nvSpPr>
        <p:spPr>
          <a:xfrm>
            <a:off x="9692640" y="3931920"/>
            <a:ext cx="1737360" cy="1737360"/>
          </a:xfrm>
          <a:prstGeom prst="ellipse">
            <a:avLst/>
          </a:prstGeom>
          <a:solidFill>
            <a:schemeClr val="accent5"/>
          </a:solidFill>
          <a:ln/>
        </p:spPr>
      </p:sp>
      <p:pic>
        <p:nvPicPr>
          <p:cNvPr id="5" name="ship icon" descr="Ship icon">    </p:cNvPr>
          <p:cNvPicPr>
            <a:picLocks noChangeAspect="1"/>
          </p:cNvPicPr>
          <p:nvPr/>
        </p:nvPicPr>
        <p:blipFill>
          <a:blip r:embed="rId1"/>
          <a:stretch>
            <a:fillRect/>
          </a:stretch>
        </p:blipFill>
        <p:spPr>
          <a:xfrm>
            <a:off x="10104120" y="4343400"/>
            <a:ext cx="9144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Happened: The Outbreak in Numbers</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5" name="stat card 1"/>
          <p:cNvSpPr/>
          <p:nvPr/>
        </p:nvSpPr>
        <p:spPr>
          <a:xfrm>
            <a:off x="548640" y="1325880"/>
            <a:ext cx="3520440" cy="2240280"/>
          </a:xfrm>
          <a:prstGeom prst="roundRect">
            <a:avLst>
              <a:gd name="adj" fmla="val 4898"/>
            </a:avLst>
          </a:prstGeom>
          <a:solidFill>
            <a:schemeClr val="bg2"/>
          </a:solidFill>
          <a:ln/>
        </p:spPr>
      </p:sp>
      <p:sp>
        <p:nvSpPr>
          <p:cNvPr id="6" name="stat icon 1 circle"/>
          <p:cNvSpPr/>
          <p:nvPr/>
        </p:nvSpPr>
        <p:spPr>
          <a:xfrm>
            <a:off x="822960" y="1600200"/>
            <a:ext cx="640080" cy="640080"/>
          </a:xfrm>
          <a:prstGeom prst="ellipse">
            <a:avLst/>
          </a:prstGeom>
          <a:solidFill>
            <a:schemeClr val="accent1"/>
          </a:solidFill>
          <a:ln/>
        </p:spPr>
      </p:sp>
      <p:pic>
        <p:nvPicPr>
          <p:cNvPr id="7" name="stat icon 1" descr="stat icon 1">    </p:cNvPr>
          <p:cNvPicPr>
            <a:picLocks noChangeAspect="1"/>
          </p:cNvPicPr>
          <p:nvPr/>
        </p:nvPicPr>
        <p:blipFill>
          <a:blip r:embed="rId1"/>
          <a:stretch>
            <a:fillRect/>
          </a:stretch>
        </p:blipFill>
        <p:spPr>
          <a:xfrm>
            <a:off x="976579" y="1753819"/>
            <a:ext cx="332842" cy="332842"/>
          </a:xfrm>
          <a:prstGeom prst="rect">
            <a:avLst/>
          </a:prstGeom>
        </p:spPr>
      </p:pic>
      <p:sp>
        <p:nvSpPr>
          <p:cNvPr id="8" name="Text 5"/>
          <p:cNvSpPr txBox="1"/>
          <p:nvPr/>
        </p:nvSpPr>
        <p:spPr>
          <a:xfrm>
            <a:off x="160020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4,779</a:t>
            </a:r>
            <a:endParaRPr lang="en-US" sz="4800" dirty="0"/>
          </a:p>
        </p:txBody>
      </p:sp>
      <p:sp>
        <p:nvSpPr>
          <p:cNvPr id="9" name="Text 6"/>
          <p:cNvSpPr txBox="1"/>
          <p:nvPr/>
        </p:nvSpPr>
        <p:spPr>
          <a:xfrm>
            <a:off x="82296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crew members aboard (the population at risk)</a:t>
            </a:r>
            <a:r>
              <a:rPr lang="en-US" sz="1500" baseline="30000" dirty="0">
                <a:solidFill>
                  <a:schemeClr val="tx1"/>
                </a:solidFill>
              </a:rPr>
              <a:t>1</a:t>
            </a:r>
            <a:endParaRPr lang="en-US" sz="1500" dirty="0"/>
          </a:p>
        </p:txBody>
      </p:sp>
      <p:sp>
        <p:nvSpPr>
          <p:cNvPr id="10" name="stat card 2"/>
          <p:cNvSpPr/>
          <p:nvPr/>
        </p:nvSpPr>
        <p:spPr>
          <a:xfrm>
            <a:off x="4343400" y="1325880"/>
            <a:ext cx="3520440" cy="2240280"/>
          </a:xfrm>
          <a:prstGeom prst="roundRect">
            <a:avLst>
              <a:gd name="adj" fmla="val 4898"/>
            </a:avLst>
          </a:prstGeom>
          <a:solidFill>
            <a:schemeClr val="bg2"/>
          </a:solidFill>
          <a:ln/>
        </p:spPr>
      </p:sp>
      <p:sp>
        <p:nvSpPr>
          <p:cNvPr id="11" name="stat icon 2 circle"/>
          <p:cNvSpPr/>
          <p:nvPr/>
        </p:nvSpPr>
        <p:spPr>
          <a:xfrm>
            <a:off x="4617720" y="1600200"/>
            <a:ext cx="640080" cy="640080"/>
          </a:xfrm>
          <a:prstGeom prst="ellipse">
            <a:avLst/>
          </a:prstGeom>
          <a:solidFill>
            <a:schemeClr val="accent2"/>
          </a:solidFill>
          <a:ln/>
        </p:spPr>
      </p:sp>
      <p:pic>
        <p:nvPicPr>
          <p:cNvPr id="12" name="stat icon 2" descr="stat icon 2">    </p:cNvPr>
          <p:cNvPicPr>
            <a:picLocks noChangeAspect="1"/>
          </p:cNvPicPr>
          <p:nvPr/>
        </p:nvPicPr>
        <p:blipFill>
          <a:blip r:embed="rId2"/>
          <a:stretch>
            <a:fillRect/>
          </a:stretch>
        </p:blipFill>
        <p:spPr>
          <a:xfrm>
            <a:off x="4771339" y="1753819"/>
            <a:ext cx="332842" cy="332842"/>
          </a:xfrm>
          <a:prstGeom prst="rect">
            <a:avLst/>
          </a:prstGeom>
        </p:spPr>
      </p:pic>
      <p:sp>
        <p:nvSpPr>
          <p:cNvPr id="13" name="Text 9"/>
          <p:cNvSpPr txBox="1"/>
          <p:nvPr/>
        </p:nvSpPr>
        <p:spPr>
          <a:xfrm>
            <a:off x="539496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1,271</a:t>
            </a:r>
            <a:endParaRPr lang="en-US" sz="4800" dirty="0"/>
          </a:p>
        </p:txBody>
      </p:sp>
      <p:sp>
        <p:nvSpPr>
          <p:cNvPr id="14" name="Text 10"/>
          <p:cNvSpPr txBox="1"/>
          <p:nvPr/>
        </p:nvSpPr>
        <p:spPr>
          <a:xfrm>
            <a:off x="461772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laboratory-confirmed cases (26.6% of crew)</a:t>
            </a:r>
            <a:r>
              <a:rPr lang="en-US" sz="1500" baseline="30000" dirty="0">
                <a:solidFill>
                  <a:schemeClr val="tx1"/>
                </a:solidFill>
              </a:rPr>
              <a:t>1</a:t>
            </a:r>
            <a:endParaRPr lang="en-US" sz="1500" dirty="0"/>
          </a:p>
        </p:txBody>
      </p:sp>
      <p:sp>
        <p:nvSpPr>
          <p:cNvPr id="15" name="stat card 3"/>
          <p:cNvSpPr/>
          <p:nvPr/>
        </p:nvSpPr>
        <p:spPr>
          <a:xfrm>
            <a:off x="8138160" y="1325880"/>
            <a:ext cx="3520440" cy="2240280"/>
          </a:xfrm>
          <a:prstGeom prst="roundRect">
            <a:avLst>
              <a:gd name="adj" fmla="val 4898"/>
            </a:avLst>
          </a:prstGeom>
          <a:solidFill>
            <a:schemeClr val="bg2"/>
          </a:solidFill>
          <a:ln/>
        </p:spPr>
      </p:sp>
      <p:sp>
        <p:nvSpPr>
          <p:cNvPr id="16" name="stat icon 3 circle"/>
          <p:cNvSpPr/>
          <p:nvPr/>
        </p:nvSpPr>
        <p:spPr>
          <a:xfrm>
            <a:off x="8412480" y="1600200"/>
            <a:ext cx="640080" cy="640080"/>
          </a:xfrm>
          <a:prstGeom prst="ellipse">
            <a:avLst/>
          </a:prstGeom>
          <a:solidFill>
            <a:schemeClr val="accent5"/>
          </a:solidFill>
          <a:ln/>
        </p:spPr>
      </p:sp>
      <p:pic>
        <p:nvPicPr>
          <p:cNvPr id="17" name="stat icon 3" descr="stat icon 3">    </p:cNvPr>
          <p:cNvPicPr>
            <a:picLocks noChangeAspect="1"/>
          </p:cNvPicPr>
          <p:nvPr/>
        </p:nvPicPr>
        <p:blipFill>
          <a:blip r:embed="rId3"/>
          <a:stretch>
            <a:fillRect/>
          </a:stretch>
        </p:blipFill>
        <p:spPr>
          <a:xfrm>
            <a:off x="8566099" y="1753819"/>
            <a:ext cx="332842" cy="332842"/>
          </a:xfrm>
          <a:prstGeom prst="rect">
            <a:avLst/>
          </a:prstGeom>
        </p:spPr>
      </p:pic>
      <p:sp>
        <p:nvSpPr>
          <p:cNvPr id="18" name="Text 13"/>
          <p:cNvSpPr txBox="1"/>
          <p:nvPr/>
        </p:nvSpPr>
        <p:spPr>
          <a:xfrm>
            <a:off x="918972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60</a:t>
            </a:r>
            <a:endParaRPr lang="en-US" sz="4800" dirty="0"/>
          </a:p>
        </p:txBody>
      </p:sp>
      <p:sp>
        <p:nvSpPr>
          <p:cNvPr id="19" name="Text 14"/>
          <p:cNvSpPr txBox="1"/>
          <p:nvPr/>
        </p:nvSpPr>
        <p:spPr>
          <a:xfrm>
            <a:off x="841248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suspected cases (clinical criteria, no positive test)</a:t>
            </a:r>
            <a:r>
              <a:rPr lang="en-US" sz="1500" baseline="30000" dirty="0">
                <a:solidFill>
                  <a:schemeClr val="tx1"/>
                </a:solidFill>
              </a:rPr>
              <a:t>1</a:t>
            </a:r>
            <a:endParaRPr lang="en-US" sz="1500" dirty="0"/>
          </a:p>
        </p:txBody>
      </p:sp>
      <p:sp>
        <p:nvSpPr>
          <p:cNvPr id="20" name="stat card 4"/>
          <p:cNvSpPr/>
          <p:nvPr/>
        </p:nvSpPr>
        <p:spPr>
          <a:xfrm>
            <a:off x="548640" y="3840480"/>
            <a:ext cx="3520440" cy="2240280"/>
          </a:xfrm>
          <a:prstGeom prst="roundRect">
            <a:avLst>
              <a:gd name="adj" fmla="val 4898"/>
            </a:avLst>
          </a:prstGeom>
          <a:solidFill>
            <a:schemeClr val="bg2"/>
          </a:solidFill>
          <a:ln/>
        </p:spPr>
      </p:sp>
      <p:sp>
        <p:nvSpPr>
          <p:cNvPr id="21" name="stat icon 4 circle"/>
          <p:cNvSpPr/>
          <p:nvPr/>
        </p:nvSpPr>
        <p:spPr>
          <a:xfrm>
            <a:off x="822960" y="4114800"/>
            <a:ext cx="640080" cy="640080"/>
          </a:xfrm>
          <a:prstGeom prst="ellipse">
            <a:avLst/>
          </a:prstGeom>
          <a:solidFill>
            <a:schemeClr val="accent5"/>
          </a:solidFill>
          <a:ln/>
        </p:spPr>
      </p:sp>
      <p:pic>
        <p:nvPicPr>
          <p:cNvPr id="22" name="stat icon 4" descr="stat icon 4">    </p:cNvPr>
          <p:cNvPicPr>
            <a:picLocks noChangeAspect="1"/>
          </p:cNvPicPr>
          <p:nvPr/>
        </p:nvPicPr>
        <p:blipFill>
          <a:blip r:embed="rId4"/>
          <a:stretch>
            <a:fillRect/>
          </a:stretch>
        </p:blipFill>
        <p:spPr>
          <a:xfrm>
            <a:off x="976579" y="4268419"/>
            <a:ext cx="332842" cy="332842"/>
          </a:xfrm>
          <a:prstGeom prst="rect">
            <a:avLst/>
          </a:prstGeom>
        </p:spPr>
      </p:pic>
      <p:sp>
        <p:nvSpPr>
          <p:cNvPr id="23" name="Text 17"/>
          <p:cNvSpPr txBox="1"/>
          <p:nvPr/>
        </p:nvSpPr>
        <p:spPr>
          <a:xfrm>
            <a:off x="160020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23</a:t>
            </a:r>
            <a:endParaRPr lang="en-US" sz="4800" dirty="0"/>
          </a:p>
        </p:txBody>
      </p:sp>
      <p:sp>
        <p:nvSpPr>
          <p:cNvPr id="24" name="Text 18"/>
          <p:cNvSpPr txBox="1"/>
          <p:nvPr/>
        </p:nvSpPr>
        <p:spPr>
          <a:xfrm>
            <a:off x="82296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hospitalized (1.7% of 1,331 confirmed + suspected)</a:t>
            </a:r>
            <a:r>
              <a:rPr lang="en-US" sz="1500" baseline="30000" dirty="0">
                <a:solidFill>
                  <a:schemeClr val="tx1"/>
                </a:solidFill>
              </a:rPr>
              <a:t>1</a:t>
            </a:r>
            <a:endParaRPr lang="en-US" sz="1500" dirty="0"/>
          </a:p>
        </p:txBody>
      </p:sp>
      <p:sp>
        <p:nvSpPr>
          <p:cNvPr id="25" name="stat card 5"/>
          <p:cNvSpPr/>
          <p:nvPr/>
        </p:nvSpPr>
        <p:spPr>
          <a:xfrm>
            <a:off x="4343400" y="3840480"/>
            <a:ext cx="3520440" cy="2240280"/>
          </a:xfrm>
          <a:prstGeom prst="roundRect">
            <a:avLst>
              <a:gd name="adj" fmla="val 4898"/>
            </a:avLst>
          </a:prstGeom>
          <a:solidFill>
            <a:schemeClr val="bg2"/>
          </a:solidFill>
          <a:ln/>
        </p:spPr>
      </p:sp>
      <p:sp>
        <p:nvSpPr>
          <p:cNvPr id="26" name="stat icon 5 circle"/>
          <p:cNvSpPr/>
          <p:nvPr/>
        </p:nvSpPr>
        <p:spPr>
          <a:xfrm>
            <a:off x="4617720" y="4114800"/>
            <a:ext cx="640080" cy="640080"/>
          </a:xfrm>
          <a:prstGeom prst="ellipse">
            <a:avLst/>
          </a:prstGeom>
          <a:solidFill>
            <a:schemeClr val="accent5"/>
          </a:solidFill>
          <a:ln/>
        </p:spPr>
      </p:sp>
      <p:pic>
        <p:nvPicPr>
          <p:cNvPr id="27" name="stat icon 5" descr="stat icon 5">    </p:cNvPr>
          <p:cNvPicPr>
            <a:picLocks noChangeAspect="1"/>
          </p:cNvPicPr>
          <p:nvPr/>
        </p:nvPicPr>
        <p:blipFill>
          <a:blip r:embed="rId5"/>
          <a:stretch>
            <a:fillRect/>
          </a:stretch>
        </p:blipFill>
        <p:spPr>
          <a:xfrm>
            <a:off x="4771339" y="4268419"/>
            <a:ext cx="332842" cy="332842"/>
          </a:xfrm>
          <a:prstGeom prst="rect">
            <a:avLst/>
          </a:prstGeom>
        </p:spPr>
      </p:pic>
      <p:sp>
        <p:nvSpPr>
          <p:cNvPr id="28" name="Text 21"/>
          <p:cNvSpPr txBox="1"/>
          <p:nvPr/>
        </p:nvSpPr>
        <p:spPr>
          <a:xfrm>
            <a:off x="539496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4</a:t>
            </a:r>
            <a:endParaRPr lang="en-US" sz="4800" dirty="0"/>
          </a:p>
        </p:txBody>
      </p:sp>
      <p:sp>
        <p:nvSpPr>
          <p:cNvPr id="29" name="Text 22"/>
          <p:cNvSpPr txBox="1"/>
          <p:nvPr/>
        </p:nvSpPr>
        <p:spPr>
          <a:xfrm>
            <a:off x="461772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admitted to intensive care (0.3%)</a:t>
            </a:r>
            <a:r>
              <a:rPr lang="en-US" sz="1500" baseline="30000" dirty="0">
                <a:solidFill>
                  <a:schemeClr val="tx1"/>
                </a:solidFill>
              </a:rPr>
              <a:t>1</a:t>
            </a:r>
            <a:endParaRPr lang="en-US" sz="1500" dirty="0"/>
          </a:p>
        </p:txBody>
      </p:sp>
      <p:sp>
        <p:nvSpPr>
          <p:cNvPr id="30" name="stat card 6"/>
          <p:cNvSpPr/>
          <p:nvPr/>
        </p:nvSpPr>
        <p:spPr>
          <a:xfrm>
            <a:off x="8138160" y="3840480"/>
            <a:ext cx="3520440" cy="2240280"/>
          </a:xfrm>
          <a:prstGeom prst="roundRect">
            <a:avLst>
              <a:gd name="adj" fmla="val 4898"/>
            </a:avLst>
          </a:prstGeom>
          <a:solidFill>
            <a:schemeClr val="bg2"/>
          </a:solidFill>
          <a:ln/>
        </p:spPr>
      </p:sp>
      <p:sp>
        <p:nvSpPr>
          <p:cNvPr id="31" name="stat icon 6 circle"/>
          <p:cNvSpPr/>
          <p:nvPr/>
        </p:nvSpPr>
        <p:spPr>
          <a:xfrm>
            <a:off x="8412480" y="4114800"/>
            <a:ext cx="640080" cy="640080"/>
          </a:xfrm>
          <a:prstGeom prst="ellipse">
            <a:avLst/>
          </a:prstGeom>
          <a:solidFill>
            <a:schemeClr val="accent2"/>
          </a:solidFill>
          <a:ln/>
        </p:spPr>
      </p:sp>
      <p:pic>
        <p:nvPicPr>
          <p:cNvPr id="32" name="stat icon 6" descr="stat icon 6">    </p:cNvPr>
          <p:cNvPicPr>
            <a:picLocks noChangeAspect="1"/>
          </p:cNvPicPr>
          <p:nvPr/>
        </p:nvPicPr>
        <p:blipFill>
          <a:blip r:embed="rId6"/>
          <a:stretch>
            <a:fillRect/>
          </a:stretch>
        </p:blipFill>
        <p:spPr>
          <a:xfrm>
            <a:off x="8566099" y="4268419"/>
            <a:ext cx="332842" cy="332842"/>
          </a:xfrm>
          <a:prstGeom prst="rect">
            <a:avLst/>
          </a:prstGeom>
        </p:spPr>
      </p:pic>
      <p:sp>
        <p:nvSpPr>
          <p:cNvPr id="33" name="Text 25"/>
          <p:cNvSpPr txBox="1"/>
          <p:nvPr/>
        </p:nvSpPr>
        <p:spPr>
          <a:xfrm>
            <a:off x="918972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a:t>
            </a:r>
            <a:endParaRPr lang="en-US" sz="4800" dirty="0"/>
          </a:p>
        </p:txBody>
      </p:sp>
      <p:sp>
        <p:nvSpPr>
          <p:cNvPr id="34" name="Text 26"/>
          <p:cNvSpPr txBox="1"/>
          <p:nvPr/>
        </p:nvSpPr>
        <p:spPr>
          <a:xfrm>
            <a:off x="841248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death from Covid-19–related cardiovascular complications</a:t>
            </a:r>
            <a:r>
              <a:rPr lang="en-US" sz="150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The Setting: Close Quarters at Sea</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5" name="Setting icon circle"/>
          <p:cNvSpPr/>
          <p:nvPr/>
        </p:nvSpPr>
        <p:spPr>
          <a:xfrm>
            <a:off x="548640" y="1371600"/>
            <a:ext cx="685800" cy="685800"/>
          </a:xfrm>
          <a:prstGeom prst="ellipse">
            <a:avLst/>
          </a:prstGeom>
          <a:solidFill>
            <a:schemeClr val="accent1"/>
          </a:solidFill>
          <a:ln/>
        </p:spPr>
      </p:sp>
      <p:pic>
        <p:nvPicPr>
          <p:cNvPr id="6" name="Setting icon" descr="Setting icon">    </p:cNvPr>
          <p:cNvPicPr>
            <a:picLocks noChangeAspect="1"/>
          </p:cNvPicPr>
          <p:nvPr/>
        </p:nvPicPr>
        <p:blipFill>
          <a:blip r:embed="rId1"/>
          <a:stretch>
            <a:fillRect/>
          </a:stretch>
        </p:blipFill>
        <p:spPr>
          <a:xfrm>
            <a:off x="713232" y="1536192"/>
            <a:ext cx="356616" cy="356616"/>
          </a:xfrm>
          <a:prstGeom prst="rect">
            <a:avLst/>
          </a:prstGeom>
        </p:spPr>
      </p:pic>
      <p:sp>
        <p:nvSpPr>
          <p:cNvPr id="7" name="Text 4"/>
          <p:cNvSpPr txBox="1"/>
          <p:nvPr/>
        </p:nvSpPr>
        <p:spPr>
          <a:xfrm>
            <a:off x="1417320" y="1298448"/>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Setting</a:t>
            </a:r>
            <a:endParaRPr lang="en-US" sz="1500" dirty="0"/>
          </a:p>
          <a:p>
            <a:pPr indent="0" marL="0">
              <a:buNone/>
            </a:pPr>
            <a:r>
              <a:rPr lang="en-US" sz="1500" dirty="0">
                <a:solidFill>
                  <a:schemeClr val="tx1"/>
                </a:solidFill>
              </a:rPr>
              <a:t>Nuclear-powered carrier on Western Pacific operations; diverted to U.S. Naval Base Guam (42-bed naval hospital)</a:t>
            </a:r>
            <a:r>
              <a:rPr lang="en-US" sz="1500" baseline="30000" dirty="0">
                <a:solidFill>
                  <a:schemeClr val="tx1"/>
                </a:solidFill>
              </a:rPr>
              <a:t>1</a:t>
            </a:r>
            <a:endParaRPr lang="en-US" sz="1500" dirty="0"/>
          </a:p>
        </p:txBody>
      </p:sp>
      <p:sp>
        <p:nvSpPr>
          <p:cNvPr id="8" name="Living conditions icon circle"/>
          <p:cNvSpPr/>
          <p:nvPr/>
        </p:nvSpPr>
        <p:spPr>
          <a:xfrm>
            <a:off x="548640" y="2395728"/>
            <a:ext cx="685800" cy="685800"/>
          </a:xfrm>
          <a:prstGeom prst="ellipse">
            <a:avLst/>
          </a:prstGeom>
          <a:solidFill>
            <a:schemeClr val="accent1"/>
          </a:solidFill>
          <a:ln/>
        </p:spPr>
      </p:sp>
      <p:pic>
        <p:nvPicPr>
          <p:cNvPr id="9" name="Living conditions icon" descr="Living conditions icon">    </p:cNvPr>
          <p:cNvPicPr>
            <a:picLocks noChangeAspect="1"/>
          </p:cNvPicPr>
          <p:nvPr/>
        </p:nvPicPr>
        <p:blipFill>
          <a:blip r:embed="rId2"/>
          <a:stretch>
            <a:fillRect/>
          </a:stretch>
        </p:blipFill>
        <p:spPr>
          <a:xfrm>
            <a:off x="713232" y="2560320"/>
            <a:ext cx="356616" cy="356616"/>
          </a:xfrm>
          <a:prstGeom prst="rect">
            <a:avLst/>
          </a:prstGeom>
        </p:spPr>
      </p:pic>
      <p:sp>
        <p:nvSpPr>
          <p:cNvPr id="10" name="Text 6"/>
          <p:cNvSpPr txBox="1"/>
          <p:nvPr/>
        </p:nvSpPr>
        <p:spPr>
          <a:xfrm>
            <a:off x="1417320" y="2322576"/>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Living conditions</a:t>
            </a:r>
            <a:endParaRPr lang="en-US" sz="1500" dirty="0"/>
          </a:p>
          <a:p>
            <a:pPr indent="0" marL="0">
              <a:buNone/>
            </a:pPr>
            <a:r>
              <a:rPr lang="en-US" sz="1500" dirty="0">
                <a:solidFill>
                  <a:schemeClr val="tx1"/>
                </a:solidFill>
              </a:rPr>
              <a:t>Enlisted crew sleep in open bays of tightly spaced bunks and gather in galleys and gyms</a:t>
            </a:r>
            <a:r>
              <a:rPr lang="en-US" sz="1500" baseline="30000" dirty="0">
                <a:solidFill>
                  <a:schemeClr val="tx1"/>
                </a:solidFill>
              </a:rPr>
              <a:t>1</a:t>
            </a:r>
            <a:endParaRPr lang="en-US" sz="1500" dirty="0"/>
          </a:p>
        </p:txBody>
      </p:sp>
      <p:sp>
        <p:nvSpPr>
          <p:cNvPr id="11" name="Population icon circle"/>
          <p:cNvSpPr/>
          <p:nvPr/>
        </p:nvSpPr>
        <p:spPr>
          <a:xfrm>
            <a:off x="548640" y="3419856"/>
            <a:ext cx="685800" cy="685800"/>
          </a:xfrm>
          <a:prstGeom prst="ellipse">
            <a:avLst/>
          </a:prstGeom>
          <a:solidFill>
            <a:schemeClr val="accent1"/>
          </a:solidFill>
          <a:ln/>
        </p:spPr>
      </p:sp>
      <p:pic>
        <p:nvPicPr>
          <p:cNvPr id="12" name="Population icon" descr="Population icon">    </p:cNvPr>
          <p:cNvPicPr>
            <a:picLocks noChangeAspect="1"/>
          </p:cNvPicPr>
          <p:nvPr/>
        </p:nvPicPr>
        <p:blipFill>
          <a:blip r:embed="rId3"/>
          <a:stretch>
            <a:fillRect/>
          </a:stretch>
        </p:blipFill>
        <p:spPr>
          <a:xfrm>
            <a:off x="713232" y="3584448"/>
            <a:ext cx="356616" cy="356616"/>
          </a:xfrm>
          <a:prstGeom prst="rect">
            <a:avLst/>
          </a:prstGeom>
        </p:spPr>
      </p:pic>
      <p:sp>
        <p:nvSpPr>
          <p:cNvPr id="13" name="Text 8"/>
          <p:cNvSpPr txBox="1"/>
          <p:nvPr/>
        </p:nvSpPr>
        <p:spPr>
          <a:xfrm>
            <a:off x="1417320" y="3346704"/>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Population</a:t>
            </a:r>
            <a:endParaRPr lang="en-US" sz="1500" dirty="0"/>
          </a:p>
          <a:p>
            <a:pPr indent="0" marL="0">
              <a:buNone/>
            </a:pPr>
            <a:r>
              <a:rPr lang="en-US" sz="1500" dirty="0">
                <a:solidFill>
                  <a:schemeClr val="tx1"/>
                </a:solidFill>
              </a:rPr>
              <a:t>Mean age 27 y, 78% male, ~69% under 30, fit for sea duty and up to date on routine immunizations</a:t>
            </a:r>
            <a:r>
              <a:rPr lang="en-US" sz="1500" baseline="30000" dirty="0">
                <a:solidFill>
                  <a:schemeClr val="tx1"/>
                </a:solidFill>
              </a:rPr>
              <a:t>1</a:t>
            </a:r>
            <a:endParaRPr lang="en-US" sz="1500" dirty="0"/>
          </a:p>
        </p:txBody>
      </p:sp>
      <p:sp>
        <p:nvSpPr>
          <p:cNvPr id="14" name="Detection icon circle"/>
          <p:cNvSpPr/>
          <p:nvPr/>
        </p:nvSpPr>
        <p:spPr>
          <a:xfrm>
            <a:off x="548640" y="4443984"/>
            <a:ext cx="685800" cy="685800"/>
          </a:xfrm>
          <a:prstGeom prst="ellipse">
            <a:avLst/>
          </a:prstGeom>
          <a:solidFill>
            <a:schemeClr val="accent1"/>
          </a:solidFill>
          <a:ln/>
        </p:spPr>
      </p:sp>
      <p:pic>
        <p:nvPicPr>
          <p:cNvPr id="15" name="Detection icon" descr="Detection icon">    </p:cNvPr>
          <p:cNvPicPr>
            <a:picLocks noChangeAspect="1"/>
          </p:cNvPicPr>
          <p:nvPr/>
        </p:nvPicPr>
        <p:blipFill>
          <a:blip r:embed="rId4"/>
          <a:stretch>
            <a:fillRect/>
          </a:stretch>
        </p:blipFill>
        <p:spPr>
          <a:xfrm>
            <a:off x="713232" y="4608576"/>
            <a:ext cx="356616" cy="356616"/>
          </a:xfrm>
          <a:prstGeom prst="rect">
            <a:avLst/>
          </a:prstGeom>
        </p:spPr>
      </p:pic>
      <p:sp>
        <p:nvSpPr>
          <p:cNvPr id="16" name="Text 10"/>
          <p:cNvSpPr txBox="1"/>
          <p:nvPr/>
        </p:nvSpPr>
        <p:spPr>
          <a:xfrm>
            <a:off x="1417320" y="4370832"/>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Detection</a:t>
            </a:r>
            <a:endParaRPr lang="en-US" sz="1500" dirty="0"/>
          </a:p>
          <a:p>
            <a:pPr indent="0" marL="0">
              <a:buNone/>
            </a:pPr>
            <a:r>
              <a:rPr lang="en-US" sz="1500" dirty="0">
                <a:solidFill>
                  <a:schemeClr val="tx1"/>
                </a:solidFill>
              </a:rPr>
              <a:t>Day 13 at sea: 3 sailors reported symptoms and tested rRT-PCR positive (March 23, 2020)</a:t>
            </a:r>
            <a:r>
              <a:rPr lang="en-US" sz="1500" baseline="30000" dirty="0">
                <a:solidFill>
                  <a:schemeClr val="tx1"/>
                </a:solidFill>
              </a:rPr>
              <a:t>1</a:t>
            </a:r>
            <a:endParaRPr lang="en-US" sz="1500" dirty="0"/>
          </a:p>
        </p:txBody>
      </p:sp>
      <p:sp>
        <p:nvSpPr>
          <p:cNvPr id="17" name="significance panel"/>
          <p:cNvSpPr/>
          <p:nvPr/>
        </p:nvSpPr>
        <p:spPr>
          <a:xfrm>
            <a:off x="7223760" y="1325880"/>
            <a:ext cx="4389120" cy="4526280"/>
          </a:xfrm>
          <a:prstGeom prst="roundRect">
            <a:avLst>
              <a:gd name="adj" fmla="val 2500"/>
            </a:avLst>
          </a:prstGeom>
          <a:solidFill>
            <a:schemeClr val="tx2"/>
          </a:solidFill>
          <a:ln/>
        </p:spPr>
      </p:sp>
      <p:sp>
        <p:nvSpPr>
          <p:cNvPr id="18" name="Text 12"/>
          <p:cNvSpPr txBox="1"/>
          <p:nvPr/>
        </p:nvSpPr>
        <p:spPr>
          <a:xfrm>
            <a:off x="7498080" y="1554480"/>
            <a:ext cx="3931920" cy="457200"/>
          </a:xfrm>
          <a:prstGeom prst="rect">
            <a:avLst/>
          </a:prstGeom>
          <a:noFill/>
          <a:ln/>
        </p:spPr>
        <p:txBody>
          <a:bodyPr wrap="square" lIns="635" tIns="635" rIns="635" bIns="635" rtlCol="0" anchor="t"/>
          <a:lstStyle/>
          <a:p>
            <a:pPr indent="0" marL="0">
              <a:buNone/>
            </a:pPr>
            <a:r>
              <a:rPr lang="en-US" sz="1900" b="1" dirty="0">
                <a:solidFill>
                  <a:schemeClr val="bg1"/>
                </a:solidFill>
                <a:latin typeface="Cambria" pitchFamily="34" charset="0"/>
                <a:ea typeface="Cambria" pitchFamily="34" charset="-122"/>
                <a:cs typeface="Cambria" pitchFamily="34" charset="-120"/>
              </a:rPr>
              <a:t>Why it matters epidemiologically</a:t>
            </a:r>
            <a:endParaRPr lang="en-US" sz="1900" dirty="0"/>
          </a:p>
        </p:txBody>
      </p:sp>
      <p:sp>
        <p:nvSpPr>
          <p:cNvPr id="19" name="Text 13"/>
          <p:cNvSpPr txBox="1"/>
          <p:nvPr/>
        </p:nvSpPr>
        <p:spPr>
          <a:xfrm>
            <a:off x="7498080" y="2103120"/>
            <a:ext cx="3931920" cy="3566160"/>
          </a:xfrm>
          <a:prstGeom prst="rect">
            <a:avLst/>
          </a:prstGeom>
          <a:noFill/>
          <a:ln/>
        </p:spPr>
        <p:txBody>
          <a:bodyPr wrap="square" lIns="635" tIns="635" rIns="635" bIns="635" rtlCol="0" anchor="t"/>
          <a:lstStyle/>
          <a:p>
            <a:pPr marL="203200" indent="-203200">
              <a:spcAft>
                <a:spcPts val="600"/>
              </a:spcAft>
              <a:buSzPct val="100000"/>
              <a:buChar char="•"/>
            </a:pPr>
            <a:r>
              <a:rPr lang="en-US" sz="1500" dirty="0">
                <a:solidFill>
                  <a:schemeClr val="bg1"/>
                </a:solidFill>
              </a:rPr>
              <a:t>Every crew member was evaluated, tested and followed for at least 10 weeks, a level of documentation hard to achieve in civilian populations</a:t>
            </a:r>
            <a:r>
              <a:rPr lang="en-US" sz="1500" baseline="30000" dirty="0">
                <a:solidFill>
                  <a:schemeClr val="bg1"/>
                </a:solidFill>
              </a:rPr>
              <a:t>1</a:t>
            </a:r>
            <a:endParaRPr lang="en-US" sz="1500" dirty="0"/>
          </a:p>
          <a:p>
            <a:pPr marL="203200" indent="-203200">
              <a:spcAft>
                <a:spcPts val="600"/>
              </a:spcAft>
              <a:buSzPct val="100000"/>
              <a:buChar char="•"/>
            </a:pPr>
            <a:r>
              <a:rPr lang="en-US" sz="1500" dirty="0">
                <a:solidFill>
                  <a:schemeClr val="bg1"/>
                </a:solidFill>
              </a:rPr>
              <a:t>Gives a known denominator, so attack rates are not distorted by sampling</a:t>
            </a:r>
            <a:endParaRPr lang="en-US" sz="1500" dirty="0"/>
          </a:p>
          <a:p>
            <a:pPr marL="203200" indent="-203200">
              <a:spcAft>
                <a:spcPts val="600"/>
              </a:spcAft>
              <a:buSzPct val="100000"/>
              <a:buChar char="•"/>
            </a:pPr>
            <a:r>
              <a:rPr lang="en-US" sz="1500" dirty="0">
                <a:solidFill>
                  <a:schemeClr val="bg1"/>
                </a:solidFill>
              </a:rPr>
              <a:t>Shows how SARS-CoV-2 behaves in young, healthy adults housed in close quarters</a:t>
            </a:r>
            <a:r>
              <a:rPr lang="en-US" sz="1500" baseline="30000" dirty="0">
                <a:solidFill>
                  <a:schemeClr val="bg1"/>
                </a:solidFill>
              </a:rPr>
              <a:t>1</a:t>
            </a:r>
            <a:endParaRPr lang="en-US" sz="1500" dirty="0"/>
          </a:p>
          <a:p>
            <a:pPr marL="203200" indent="-203200">
              <a:spcAft>
                <a:spcPts val="600"/>
              </a:spcAft>
              <a:buSzPct val="100000"/>
              <a:buChar char="•"/>
            </a:pPr>
            <a:r>
              <a:rPr lang="en-US" sz="1500" dirty="0">
                <a:solidFill>
                  <a:schemeClr val="bg1"/>
                </a:solidFill>
              </a:rPr>
              <a:t>The outbreak pulled a deployed carrier off Western Pacific operations and into port in Guam</a:t>
            </a:r>
            <a:r>
              <a:rPr lang="en-US" sz="1500" baseline="30000" dirty="0">
                <a:solidFill>
                  <a:schemeClr val="bg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 Silent Start: 12 Days Before Detection</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5" name="timeline axis"/>
          <p:cNvSpPr/>
          <p:nvPr/>
        </p:nvSpPr>
        <p:spPr>
          <a:xfrm>
            <a:off x="1280160" y="3063240"/>
            <a:ext cx="9601200" cy="0"/>
          </a:xfrm>
          <a:prstGeom prst="line">
            <a:avLst/>
          </a:prstGeom>
          <a:noFill/>
          <a:ln w="38100">
            <a:solidFill>
              <a:srgbClr val="8DA9C4"/>
            </a:solidFill>
            <a:prstDash val="solid"/>
          </a:ln>
        </p:spPr>
      </p:sp>
      <p:sp>
        <p:nvSpPr>
          <p:cNvPr id="6" name="milestone 1"/>
          <p:cNvSpPr/>
          <p:nvPr/>
        </p:nvSpPr>
        <p:spPr>
          <a:xfrm>
            <a:off x="1124712" y="2907792"/>
            <a:ext cx="310896" cy="310896"/>
          </a:xfrm>
          <a:prstGeom prst="ellipse">
            <a:avLst/>
          </a:prstGeom>
          <a:solidFill>
            <a:schemeClr val="accent5"/>
          </a:solidFill>
          <a:ln w="25400">
            <a:solidFill>
              <a:srgbClr val="FFFFFF"/>
            </a:solidFill>
            <a:prstDash val="solid"/>
          </a:ln>
        </p:spPr>
      </p:sp>
      <p:sp>
        <p:nvSpPr>
          <p:cNvPr id="7" name="Text 5"/>
          <p:cNvSpPr txBox="1"/>
          <p:nvPr/>
        </p:nvSpPr>
        <p:spPr>
          <a:xfrm>
            <a:off x="41148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5"/>
                </a:solidFill>
                <a:latin typeface="Cambria" pitchFamily="34" charset="0"/>
                <a:ea typeface="Cambria" pitchFamily="34" charset="-122"/>
                <a:cs typeface="Cambria" pitchFamily="34" charset="-120"/>
              </a:rPr>
              <a:t>Mar 5–9</a:t>
            </a:r>
            <a:endParaRPr lang="en-US" sz="1800" dirty="0"/>
          </a:p>
        </p:txBody>
      </p:sp>
      <p:sp>
        <p:nvSpPr>
          <p:cNvPr id="8" name="Text 6"/>
          <p:cNvSpPr txBox="1"/>
          <p:nvPr/>
        </p:nvSpPr>
        <p:spPr>
          <a:xfrm>
            <a:off x="41148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Port visit during deployment</a:t>
            </a:r>
            <a:r>
              <a:rPr lang="en-US" sz="1350" baseline="30000" dirty="0">
                <a:solidFill>
                  <a:schemeClr val="tx1"/>
                </a:solidFill>
              </a:rPr>
              <a:t>1</a:t>
            </a:r>
            <a:endParaRPr lang="en-US" sz="1350" dirty="0"/>
          </a:p>
        </p:txBody>
      </p:sp>
      <p:sp>
        <p:nvSpPr>
          <p:cNvPr id="9" name="milestone 2"/>
          <p:cNvSpPr/>
          <p:nvPr/>
        </p:nvSpPr>
        <p:spPr>
          <a:xfrm>
            <a:off x="3044952" y="2907792"/>
            <a:ext cx="310896" cy="310896"/>
          </a:xfrm>
          <a:prstGeom prst="ellipse">
            <a:avLst/>
          </a:prstGeom>
          <a:solidFill>
            <a:schemeClr val="accent5"/>
          </a:solidFill>
          <a:ln w="25400">
            <a:solidFill>
              <a:srgbClr val="FFFFFF"/>
            </a:solidFill>
            <a:prstDash val="solid"/>
          </a:ln>
        </p:spPr>
      </p:sp>
      <p:sp>
        <p:nvSpPr>
          <p:cNvPr id="10" name="Text 8"/>
          <p:cNvSpPr txBox="1"/>
          <p:nvPr/>
        </p:nvSpPr>
        <p:spPr>
          <a:xfrm>
            <a:off x="233172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5"/>
                </a:solidFill>
                <a:latin typeface="Cambria" pitchFamily="34" charset="0"/>
                <a:ea typeface="Cambria" pitchFamily="34" charset="-122"/>
                <a:cs typeface="Cambria" pitchFamily="34" charset="-120"/>
              </a:rPr>
              <a:t>Mar 11</a:t>
            </a:r>
            <a:endParaRPr lang="en-US" sz="1800" dirty="0"/>
          </a:p>
        </p:txBody>
      </p:sp>
      <p:sp>
        <p:nvSpPr>
          <p:cNvPr id="11" name="Text 9"/>
          <p:cNvSpPr txBox="1"/>
          <p:nvPr/>
        </p:nvSpPr>
        <p:spPr>
          <a:xfrm>
            <a:off x="233172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Earliest symptom onset (found in retrospect); COD flights Mar 11–16</a:t>
            </a:r>
            <a:r>
              <a:rPr lang="en-US" sz="1350" baseline="30000" dirty="0">
                <a:solidFill>
                  <a:schemeClr val="tx1"/>
                </a:solidFill>
              </a:rPr>
              <a:t>1</a:t>
            </a:r>
            <a:endParaRPr lang="en-US" sz="1350" dirty="0"/>
          </a:p>
        </p:txBody>
      </p:sp>
      <p:sp>
        <p:nvSpPr>
          <p:cNvPr id="12" name="milestone 3"/>
          <p:cNvSpPr/>
          <p:nvPr/>
        </p:nvSpPr>
        <p:spPr>
          <a:xfrm>
            <a:off x="4965192" y="2907792"/>
            <a:ext cx="310896" cy="310896"/>
          </a:xfrm>
          <a:prstGeom prst="ellipse">
            <a:avLst/>
          </a:prstGeom>
          <a:solidFill>
            <a:schemeClr val="accent2"/>
          </a:solidFill>
          <a:ln w="25400">
            <a:solidFill>
              <a:srgbClr val="FFFFFF"/>
            </a:solidFill>
            <a:prstDash val="solid"/>
          </a:ln>
        </p:spPr>
      </p:sp>
      <p:sp>
        <p:nvSpPr>
          <p:cNvPr id="13" name="Text 11"/>
          <p:cNvSpPr txBox="1"/>
          <p:nvPr/>
        </p:nvSpPr>
        <p:spPr>
          <a:xfrm>
            <a:off x="425196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2"/>
                </a:solidFill>
                <a:latin typeface="Cambria" pitchFamily="34" charset="0"/>
                <a:ea typeface="Cambria" pitchFamily="34" charset="-122"/>
                <a:cs typeface="Cambria" pitchFamily="34" charset="-120"/>
              </a:rPr>
              <a:t>Mar 23</a:t>
            </a:r>
            <a:endParaRPr lang="en-US" sz="1800" dirty="0"/>
          </a:p>
        </p:txBody>
      </p:sp>
      <p:sp>
        <p:nvSpPr>
          <p:cNvPr id="14" name="Text 12"/>
          <p:cNvSpPr txBox="1"/>
          <p:nvPr/>
        </p:nvSpPr>
        <p:spPr>
          <a:xfrm>
            <a:off x="425196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First 3 positive tests; ~400 close contacts traced within 24 h</a:t>
            </a:r>
            <a:r>
              <a:rPr lang="en-US" sz="1350" baseline="30000" dirty="0">
                <a:solidFill>
                  <a:schemeClr val="tx1"/>
                </a:solidFill>
              </a:rPr>
              <a:t>1</a:t>
            </a:r>
            <a:endParaRPr lang="en-US" sz="1350" dirty="0"/>
          </a:p>
        </p:txBody>
      </p:sp>
      <p:sp>
        <p:nvSpPr>
          <p:cNvPr id="15" name="milestone 4"/>
          <p:cNvSpPr/>
          <p:nvPr/>
        </p:nvSpPr>
        <p:spPr>
          <a:xfrm>
            <a:off x="6885432" y="2907792"/>
            <a:ext cx="310896" cy="310896"/>
          </a:xfrm>
          <a:prstGeom prst="ellipse">
            <a:avLst/>
          </a:prstGeom>
          <a:solidFill>
            <a:schemeClr val="accent1"/>
          </a:solidFill>
          <a:ln w="25400">
            <a:solidFill>
              <a:srgbClr val="FFFFFF"/>
            </a:solidFill>
            <a:prstDash val="solid"/>
          </a:ln>
        </p:spPr>
      </p:sp>
      <p:sp>
        <p:nvSpPr>
          <p:cNvPr id="16" name="Text 14"/>
          <p:cNvSpPr txBox="1"/>
          <p:nvPr/>
        </p:nvSpPr>
        <p:spPr>
          <a:xfrm>
            <a:off x="617220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Mar 27</a:t>
            </a:r>
            <a:endParaRPr lang="en-US" sz="1800" dirty="0"/>
          </a:p>
        </p:txBody>
      </p:sp>
      <p:sp>
        <p:nvSpPr>
          <p:cNvPr id="17" name="Text 15"/>
          <p:cNvSpPr txBox="1"/>
          <p:nvPr/>
        </p:nvSpPr>
        <p:spPr>
          <a:xfrm>
            <a:off x="617220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Ship docks in Guam; isolation and quarantine ashore begin</a:t>
            </a:r>
            <a:r>
              <a:rPr lang="en-US" sz="1350" baseline="30000" dirty="0">
                <a:solidFill>
                  <a:schemeClr val="tx1"/>
                </a:solidFill>
              </a:rPr>
              <a:t>1</a:t>
            </a:r>
            <a:endParaRPr lang="en-US" sz="1350" dirty="0"/>
          </a:p>
        </p:txBody>
      </p:sp>
      <p:sp>
        <p:nvSpPr>
          <p:cNvPr id="18" name="milestone 5"/>
          <p:cNvSpPr/>
          <p:nvPr/>
        </p:nvSpPr>
        <p:spPr>
          <a:xfrm>
            <a:off x="8805672" y="2907792"/>
            <a:ext cx="310896" cy="310896"/>
          </a:xfrm>
          <a:prstGeom prst="ellipse">
            <a:avLst/>
          </a:prstGeom>
          <a:solidFill>
            <a:schemeClr val="accent1"/>
          </a:solidFill>
          <a:ln w="25400">
            <a:solidFill>
              <a:srgbClr val="FFFFFF"/>
            </a:solidFill>
            <a:prstDash val="solid"/>
          </a:ln>
        </p:spPr>
      </p:sp>
      <p:sp>
        <p:nvSpPr>
          <p:cNvPr id="19" name="Text 17"/>
          <p:cNvSpPr txBox="1"/>
          <p:nvPr/>
        </p:nvSpPr>
        <p:spPr>
          <a:xfrm>
            <a:off x="809244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Ashore</a:t>
            </a:r>
            <a:endParaRPr lang="en-US" sz="1800" dirty="0"/>
          </a:p>
        </p:txBody>
      </p:sp>
      <p:sp>
        <p:nvSpPr>
          <p:cNvPr id="20" name="Text 18"/>
          <p:cNvSpPr txBox="1"/>
          <p:nvPr/>
        </p:nvSpPr>
        <p:spPr>
          <a:xfrm>
            <a:off x="809244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4,079 test-negative crew quarantined in single rooms in 11 hotels</a:t>
            </a:r>
            <a:r>
              <a:rPr lang="en-US" sz="1350" baseline="30000" dirty="0">
                <a:solidFill>
                  <a:schemeClr val="tx1"/>
                </a:solidFill>
              </a:rPr>
              <a:t>1</a:t>
            </a:r>
            <a:endParaRPr lang="en-US" sz="1350" dirty="0"/>
          </a:p>
        </p:txBody>
      </p:sp>
      <p:sp>
        <p:nvSpPr>
          <p:cNvPr id="21" name="milestone 6"/>
          <p:cNvSpPr/>
          <p:nvPr/>
        </p:nvSpPr>
        <p:spPr>
          <a:xfrm>
            <a:off x="10725912" y="2907792"/>
            <a:ext cx="310896" cy="310896"/>
          </a:xfrm>
          <a:prstGeom prst="ellipse">
            <a:avLst/>
          </a:prstGeom>
          <a:solidFill>
            <a:schemeClr val="accent1"/>
          </a:solidFill>
          <a:ln w="25400">
            <a:solidFill>
              <a:srgbClr val="FFFFFF"/>
            </a:solidFill>
            <a:prstDash val="solid"/>
          </a:ln>
        </p:spPr>
      </p:sp>
      <p:sp>
        <p:nvSpPr>
          <p:cNvPr id="22" name="Text 20"/>
          <p:cNvSpPr txBox="1"/>
          <p:nvPr/>
        </p:nvSpPr>
        <p:spPr>
          <a:xfrm>
            <a:off x="1001268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May 18</a:t>
            </a:r>
            <a:endParaRPr lang="en-US" sz="1800" dirty="0"/>
          </a:p>
        </p:txBody>
      </p:sp>
      <p:sp>
        <p:nvSpPr>
          <p:cNvPr id="23" name="Text 21"/>
          <p:cNvSpPr txBox="1"/>
          <p:nvPr/>
        </p:nvSpPr>
        <p:spPr>
          <a:xfrm>
            <a:off x="1001268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End of analysis; cases continued at least 6 weeks after docking</a:t>
            </a:r>
            <a:r>
              <a:rPr lang="en-US" sz="1350" baseline="30000" dirty="0">
                <a:solidFill>
                  <a:schemeClr val="tx1"/>
                </a:solidFill>
              </a:rPr>
              <a:t>1</a:t>
            </a:r>
            <a:endParaRPr lang="en-US" sz="1350" dirty="0"/>
          </a:p>
        </p:txBody>
      </p:sp>
      <p:sp>
        <p:nvSpPr>
          <p:cNvPr id="24" name="takeaway"/>
          <p:cNvSpPr/>
          <p:nvPr/>
        </p:nvSpPr>
        <p:spPr>
          <a:xfrm>
            <a:off x="548640" y="5074920"/>
            <a:ext cx="11064240" cy="1051560"/>
          </a:xfrm>
          <a:prstGeom prst="roundRect">
            <a:avLst>
              <a:gd name="adj" fmla="val 10435"/>
            </a:avLst>
          </a:prstGeom>
          <a:solidFill>
            <a:schemeClr val="bg2"/>
          </a:solidFill>
          <a:ln/>
        </p:spPr>
      </p:sp>
      <p:sp>
        <p:nvSpPr>
          <p:cNvPr id="25" name="Text 23"/>
          <p:cNvSpPr txBox="1"/>
          <p:nvPr/>
        </p:nvSpPr>
        <p:spPr>
          <a:xfrm>
            <a:off x="777240" y="5166360"/>
            <a:ext cx="10607040" cy="868680"/>
          </a:xfrm>
          <a:prstGeom prst="rect">
            <a:avLst/>
          </a:prstGeom>
          <a:noFill/>
          <a:ln/>
        </p:spPr>
        <p:txBody>
          <a:bodyPr wrap="square" lIns="635" tIns="635" rIns="635" bIns="635" rtlCol="0" anchor="ctr"/>
          <a:lstStyle/>
          <a:p>
            <a:pPr indent="0" marL="0">
              <a:buNone/>
            </a:pPr>
            <a:r>
              <a:rPr lang="en-US" sz="1600" b="1" dirty="0">
                <a:solidFill>
                  <a:schemeClr val="accent2"/>
                </a:solidFill>
              </a:rPr>
              <a:t>Key point: </a:t>
            </a:r>
            <a:r>
              <a:rPr lang="en-US" sz="1600" dirty="0">
                <a:solidFill>
                  <a:schemeClr val="tx1"/>
                </a:solidFill>
              </a:rPr>
              <a:t>symptomatic infections were already circulating 12 days before the outbreak was recognized, and cases continued for at least 6 weeks after the ship docked in Guam.</a:t>
            </a:r>
            <a:r>
              <a:rPr lang="en-US" sz="1600" baseline="30000" dirty="0">
                <a:solidFill>
                  <a:schemeClr val="tx1"/>
                </a:solidFill>
              </a:rPr>
              <a:t>1</a:t>
            </a:r>
            <a:endParaRPr lang="en-US" sz="16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The Agent: A Virus That Spreads Silently</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3. Lauer SA, et al. Ann Intern Med. 2020.  4. He X, et al. Nat Med. 2020.</a:t>
            </a:r>
            <a:endParaRPr lang="en-US" sz="1000" dirty="0"/>
          </a:p>
        </p:txBody>
      </p:sp>
      <p:sp>
        <p:nvSpPr>
          <p:cNvPr id="5" name="Classification &amp; biology card"/>
          <p:cNvSpPr/>
          <p:nvPr/>
        </p:nvSpPr>
        <p:spPr>
          <a:xfrm>
            <a:off x="548640" y="1325880"/>
            <a:ext cx="3520440" cy="4023360"/>
          </a:xfrm>
          <a:prstGeom prst="roundRect">
            <a:avLst>
              <a:gd name="adj" fmla="val 3117"/>
            </a:avLst>
          </a:prstGeom>
          <a:solidFill>
            <a:schemeClr val="bg2"/>
          </a:solidFill>
          <a:ln/>
        </p:spPr>
      </p:sp>
      <p:sp>
        <p:nvSpPr>
          <p:cNvPr id="6" name="Classification &amp; biology icon circle"/>
          <p:cNvSpPr/>
          <p:nvPr/>
        </p:nvSpPr>
        <p:spPr>
          <a:xfrm>
            <a:off x="822960" y="1554480"/>
            <a:ext cx="640080" cy="640080"/>
          </a:xfrm>
          <a:prstGeom prst="ellipse">
            <a:avLst/>
          </a:prstGeom>
          <a:solidFill>
            <a:schemeClr val="accent1"/>
          </a:solidFill>
          <a:ln/>
        </p:spPr>
      </p:sp>
      <p:pic>
        <p:nvPicPr>
          <p:cNvPr id="7" name="Classification &amp; biology icon" descr="Classification &amp; biology icon">    </p:cNvPr>
          <p:cNvPicPr>
            <a:picLocks noChangeAspect="1"/>
          </p:cNvPicPr>
          <p:nvPr/>
        </p:nvPicPr>
        <p:blipFill>
          <a:blip r:embed="rId1"/>
          <a:stretch>
            <a:fillRect/>
          </a:stretch>
        </p:blipFill>
        <p:spPr>
          <a:xfrm>
            <a:off x="976579" y="1708099"/>
            <a:ext cx="332842" cy="332842"/>
          </a:xfrm>
          <a:prstGeom prst="rect">
            <a:avLst/>
          </a:prstGeom>
        </p:spPr>
      </p:pic>
      <p:sp>
        <p:nvSpPr>
          <p:cNvPr id="8" name="Text 5"/>
          <p:cNvSpPr txBox="1"/>
          <p:nvPr/>
        </p:nvSpPr>
        <p:spPr>
          <a:xfrm>
            <a:off x="155448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Classification &amp; biology</a:t>
            </a:r>
            <a:endParaRPr lang="en-US" sz="1800" dirty="0"/>
          </a:p>
        </p:txBody>
      </p:sp>
      <p:sp>
        <p:nvSpPr>
          <p:cNvPr id="9" name="Text 6"/>
          <p:cNvSpPr txBox="1"/>
          <p:nvPr/>
        </p:nvSpPr>
        <p:spPr>
          <a:xfrm>
            <a:off x="77724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Genus Betacoronavirus, subgenus Sarbecovirus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Enveloped RNA virus; 79% genome identity with SARS-CoV</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Spike protein binds the human ACE2 receptor</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Closest relatives are horseshoe bat coronaviruses, pointing to a bat reservoir</a:t>
            </a:r>
            <a:r>
              <a:rPr lang="en-US" sz="1450" baseline="30000" dirty="0">
                <a:solidFill>
                  <a:schemeClr val="tx1"/>
                </a:solidFill>
              </a:rPr>
              <a:t>2</a:t>
            </a:r>
            <a:endParaRPr lang="en-US" sz="1500" dirty="0"/>
          </a:p>
        </p:txBody>
      </p:sp>
      <p:sp>
        <p:nvSpPr>
          <p:cNvPr id="10" name="Transmission card"/>
          <p:cNvSpPr/>
          <p:nvPr/>
        </p:nvSpPr>
        <p:spPr>
          <a:xfrm>
            <a:off x="4297680" y="1325880"/>
            <a:ext cx="3520440" cy="4023360"/>
          </a:xfrm>
          <a:prstGeom prst="roundRect">
            <a:avLst>
              <a:gd name="adj" fmla="val 3117"/>
            </a:avLst>
          </a:prstGeom>
          <a:solidFill>
            <a:schemeClr val="bg2"/>
          </a:solidFill>
          <a:ln/>
        </p:spPr>
      </p:sp>
      <p:sp>
        <p:nvSpPr>
          <p:cNvPr id="11" name="Transmission icon circle"/>
          <p:cNvSpPr/>
          <p:nvPr/>
        </p:nvSpPr>
        <p:spPr>
          <a:xfrm>
            <a:off x="4572000" y="1554480"/>
            <a:ext cx="640080" cy="640080"/>
          </a:xfrm>
          <a:prstGeom prst="ellipse">
            <a:avLst/>
          </a:prstGeom>
          <a:solidFill>
            <a:schemeClr val="accent1"/>
          </a:solidFill>
          <a:ln/>
        </p:spPr>
      </p:sp>
      <p:pic>
        <p:nvPicPr>
          <p:cNvPr id="12" name="Transmission icon" descr="Transmission icon">    </p:cNvPr>
          <p:cNvPicPr>
            <a:picLocks noChangeAspect="1"/>
          </p:cNvPicPr>
          <p:nvPr/>
        </p:nvPicPr>
        <p:blipFill>
          <a:blip r:embed="rId2"/>
          <a:stretch>
            <a:fillRect/>
          </a:stretch>
        </p:blipFill>
        <p:spPr>
          <a:xfrm>
            <a:off x="4725619" y="1708099"/>
            <a:ext cx="332842" cy="332842"/>
          </a:xfrm>
          <a:prstGeom prst="rect">
            <a:avLst/>
          </a:prstGeom>
        </p:spPr>
      </p:pic>
      <p:sp>
        <p:nvSpPr>
          <p:cNvPr id="13" name="Text 9"/>
          <p:cNvSpPr txBox="1"/>
          <p:nvPr/>
        </p:nvSpPr>
        <p:spPr>
          <a:xfrm>
            <a:off x="530352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Transmission</a:t>
            </a:r>
            <a:endParaRPr lang="en-US" sz="1800" dirty="0"/>
          </a:p>
        </p:txBody>
      </p:sp>
      <p:sp>
        <p:nvSpPr>
          <p:cNvPr id="14" name="Text 10"/>
          <p:cNvSpPr txBox="1"/>
          <p:nvPr/>
        </p:nvSpPr>
        <p:spPr>
          <a:xfrm>
            <a:off x="452628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Respiratory droplets released during close contact, including speech</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Aerosol particles can linger in the air and be inhaled deep into the lungs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Coronaviruses can persist on inanimate surfaces for days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Transmissible during mild or asymptomatic infection</a:t>
            </a:r>
            <a:r>
              <a:rPr lang="en-US" sz="1450" baseline="30000" dirty="0">
                <a:solidFill>
                  <a:schemeClr val="tx1"/>
                </a:solidFill>
              </a:rPr>
              <a:t>2</a:t>
            </a:r>
            <a:endParaRPr lang="en-US" sz="1500" dirty="0"/>
          </a:p>
        </p:txBody>
      </p:sp>
      <p:sp>
        <p:nvSpPr>
          <p:cNvPr id="15" name="Natural history card"/>
          <p:cNvSpPr/>
          <p:nvPr/>
        </p:nvSpPr>
        <p:spPr>
          <a:xfrm>
            <a:off x="8046720" y="1325880"/>
            <a:ext cx="3520440" cy="4023360"/>
          </a:xfrm>
          <a:prstGeom prst="roundRect">
            <a:avLst>
              <a:gd name="adj" fmla="val 3117"/>
            </a:avLst>
          </a:prstGeom>
          <a:solidFill>
            <a:schemeClr val="bg2"/>
          </a:solidFill>
          <a:ln/>
        </p:spPr>
      </p:sp>
      <p:sp>
        <p:nvSpPr>
          <p:cNvPr id="16" name="Natural history icon circle"/>
          <p:cNvSpPr/>
          <p:nvPr/>
        </p:nvSpPr>
        <p:spPr>
          <a:xfrm>
            <a:off x="8321040" y="1554480"/>
            <a:ext cx="640080" cy="640080"/>
          </a:xfrm>
          <a:prstGeom prst="ellipse">
            <a:avLst/>
          </a:prstGeom>
          <a:solidFill>
            <a:schemeClr val="accent1"/>
          </a:solidFill>
          <a:ln/>
        </p:spPr>
      </p:sp>
      <p:pic>
        <p:nvPicPr>
          <p:cNvPr id="17" name="Natural history icon" descr="Natural history icon">    </p:cNvPr>
          <p:cNvPicPr>
            <a:picLocks noChangeAspect="1"/>
          </p:cNvPicPr>
          <p:nvPr/>
        </p:nvPicPr>
        <p:blipFill>
          <a:blip r:embed="rId3"/>
          <a:stretch>
            <a:fillRect/>
          </a:stretch>
        </p:blipFill>
        <p:spPr>
          <a:xfrm>
            <a:off x="8474659" y="1708099"/>
            <a:ext cx="332842" cy="332842"/>
          </a:xfrm>
          <a:prstGeom prst="rect">
            <a:avLst/>
          </a:prstGeom>
        </p:spPr>
      </p:pic>
      <p:sp>
        <p:nvSpPr>
          <p:cNvPr id="18" name="Text 13"/>
          <p:cNvSpPr txBox="1"/>
          <p:nvPr/>
        </p:nvSpPr>
        <p:spPr>
          <a:xfrm>
            <a:off x="905256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Natural history</a:t>
            </a:r>
            <a:endParaRPr lang="en-US" sz="1800" dirty="0"/>
          </a:p>
        </p:txBody>
      </p:sp>
      <p:sp>
        <p:nvSpPr>
          <p:cNvPr id="19" name="Text 14"/>
          <p:cNvSpPr txBox="1"/>
          <p:nvPr/>
        </p:nvSpPr>
        <p:spPr>
          <a:xfrm>
            <a:off x="827532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Incubation: median 5.1 days (97.5th percentile, 11.5 days)</a:t>
            </a:r>
            <a:r>
              <a:rPr lang="en-US" sz="1450" baseline="30000" dirty="0">
                <a:solidFill>
                  <a:schemeClr val="tx1"/>
                </a:solidFill>
              </a:rPr>
              <a:t>3</a:t>
            </a:r>
            <a:endParaRPr lang="en-US" sz="1500" dirty="0"/>
          </a:p>
          <a:p>
            <a:pPr marL="203200" indent="-203200">
              <a:spcAft>
                <a:spcPts val="600"/>
              </a:spcAft>
              <a:buSzPct val="100000"/>
              <a:buChar char="•"/>
            </a:pPr>
            <a:r>
              <a:rPr lang="en-US" sz="1450" dirty="0">
                <a:solidFill>
                  <a:schemeClr val="tx1"/>
                </a:solidFill>
              </a:rPr>
              <a:t>Infectiousness rises about 5–6 days before symptom onset and peaks at onset</a:t>
            </a:r>
            <a:r>
              <a:rPr lang="en-US" sz="1450" baseline="30000" dirty="0">
                <a:solidFill>
                  <a:schemeClr val="tx1"/>
                </a:solidFill>
              </a:rPr>
              <a:t>4</a:t>
            </a:r>
            <a:endParaRPr lang="en-US" sz="1500" dirty="0"/>
          </a:p>
          <a:p>
            <a:pPr marL="203200" indent="-203200">
              <a:spcAft>
                <a:spcPts val="600"/>
              </a:spcAft>
              <a:buSzPct val="100000"/>
              <a:buChar char="•"/>
            </a:pPr>
            <a:r>
              <a:rPr lang="en-US" sz="1450" dirty="0">
                <a:solidFill>
                  <a:schemeClr val="tx1"/>
                </a:solidFill>
              </a:rPr>
              <a:t>An estimated 44% (95% CI, 30%–57%) of transmission occurs before symptoms start</a:t>
            </a:r>
            <a:r>
              <a:rPr lang="en-US" sz="1450" baseline="30000" dirty="0">
                <a:solidFill>
                  <a:schemeClr val="tx1"/>
                </a:solidFill>
              </a:rPr>
              <a:t>4</a:t>
            </a:r>
            <a:endParaRPr lang="en-US" sz="1500" dirty="0"/>
          </a:p>
          <a:p>
            <a:pPr marL="203200" indent="-203200">
              <a:spcAft>
                <a:spcPts val="600"/>
              </a:spcAft>
              <a:buSzPct val="100000"/>
              <a:buChar char="•"/>
            </a:pPr>
            <a:r>
              <a:rPr lang="en-US" sz="1450" dirty="0">
                <a:solidFill>
                  <a:schemeClr val="tx1"/>
                </a:solidFill>
              </a:rPr>
              <a:t>Diagnosed by rRT-PCR targeting two regions (N1, N2) of the nucleocapsid gene</a:t>
            </a:r>
            <a:r>
              <a:rPr lang="en-US" sz="1450" baseline="30000" dirty="0">
                <a:solidFill>
                  <a:schemeClr val="tx1"/>
                </a:solidFill>
              </a:rPr>
              <a:t>1</a:t>
            </a:r>
            <a:endParaRPr lang="en-US" sz="1500" dirty="0"/>
          </a:p>
        </p:txBody>
      </p:sp>
      <p:sp>
        <p:nvSpPr>
          <p:cNvPr id="20" name="Text 15"/>
          <p:cNvSpPr txBox="1"/>
          <p:nvPr/>
        </p:nvSpPr>
        <p:spPr>
          <a:xfrm>
            <a:off x="548640" y="5532120"/>
            <a:ext cx="11064240" cy="640080"/>
          </a:xfrm>
          <a:prstGeom prst="rect">
            <a:avLst/>
          </a:prstGeom>
          <a:noFill/>
          <a:ln/>
        </p:spPr>
        <p:txBody>
          <a:bodyPr wrap="square" lIns="635" tIns="635" rIns="635" bIns="635" rtlCol="0" anchor="ctr"/>
          <a:lstStyle/>
          <a:p>
            <a:pPr indent="0" marL="0">
              <a:buNone/>
            </a:pPr>
            <a:r>
              <a:rPr lang="en-US" sz="1600" b="1" dirty="0">
                <a:solidFill>
                  <a:schemeClr val="accent2"/>
                </a:solidFill>
              </a:rPr>
              <a:t>Relevance to this outbreak: </a:t>
            </a:r>
            <a:r>
              <a:rPr lang="en-US" sz="1600" dirty="0">
                <a:solidFill>
                  <a:schemeClr val="tx1"/>
                </a:solidFill>
              </a:rPr>
              <a:t>presymptomatic shedding plus aerosol spread in confined, shared spaces is exactly what a warship provides.</a:t>
            </a:r>
            <a:endParaRPr lang="en-US" sz="16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Mild Symptoms Made Cases Hard to Spot</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graphicFrame>
        <p:nvGraphicFramePr>
          <p:cNvPr id="5" name="Chart 0" descr=""/>
          <p:cNvGraphicFramePr/>
          <p:nvPr/>
        </p:nvGraphicFramePr>
        <p:xfrm>
          <a:off x="548640" y="1280160"/>
          <a:ext cx="6675120" cy="4434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5760720"/>
            <a:ext cx="6675120" cy="411480"/>
          </a:xfrm>
          <a:prstGeom prst="rect">
            <a:avLst/>
          </a:prstGeom>
          <a:noFill/>
          <a:ln/>
        </p:spPr>
        <p:txBody>
          <a:bodyPr wrap="square" lIns="635" tIns="635" rIns="635" bIns="635" rtlCol="0" anchor="t"/>
          <a:lstStyle/>
          <a:p>
            <a:pPr indent="0" marL="0">
              <a:buNone/>
            </a:pPr>
            <a:r>
              <a:rPr lang="en-US" sz="1200" i="1" dirty="0">
                <a:solidFill>
                  <a:schemeClr val="accent6"/>
                </a:solidFill>
              </a:rPr>
              <a:t>Not shown: sore throat (~40%), body aches (~36%), fatigue (~19%) and runny nose (~17%); see Kasper et al Figure 3</a:t>
            </a:r>
            <a:r>
              <a:rPr lang="en-US" sz="1200" i="1" baseline="30000" dirty="0">
                <a:solidFill>
                  <a:schemeClr val="accent6"/>
                </a:solidFill>
              </a:rPr>
              <a:t>1</a:t>
            </a:r>
            <a:endParaRPr lang="en-US" sz="1200" dirty="0"/>
          </a:p>
        </p:txBody>
      </p:sp>
      <p:sp>
        <p:nvSpPr>
          <p:cNvPr id="7" name="fever callout"/>
          <p:cNvSpPr/>
          <p:nvPr/>
        </p:nvSpPr>
        <p:spPr>
          <a:xfrm>
            <a:off x="7589520" y="1325880"/>
            <a:ext cx="4023360" cy="2148840"/>
          </a:xfrm>
          <a:prstGeom prst="roundRect">
            <a:avLst>
              <a:gd name="adj" fmla="val 5106"/>
            </a:avLst>
          </a:prstGeom>
          <a:solidFill>
            <a:schemeClr val="bg2"/>
          </a:solidFill>
          <a:ln/>
        </p:spPr>
      </p:sp>
      <p:sp>
        <p:nvSpPr>
          <p:cNvPr id="8" name="Text 5"/>
          <p:cNvSpPr txBox="1"/>
          <p:nvPr/>
        </p:nvSpPr>
        <p:spPr>
          <a:xfrm>
            <a:off x="7818120" y="1463040"/>
            <a:ext cx="3566160" cy="822960"/>
          </a:xfrm>
          <a:prstGeom prst="rect">
            <a:avLst/>
          </a:prstGeom>
          <a:noFill/>
          <a:ln/>
        </p:spPr>
        <p:txBody>
          <a:bodyPr wrap="square" lIns="635" tIns="635" rIns="635" bIns="635"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13.2%</a:t>
            </a:r>
            <a:endParaRPr lang="en-US" sz="4800" dirty="0"/>
          </a:p>
        </p:txBody>
      </p:sp>
      <p:sp>
        <p:nvSpPr>
          <p:cNvPr id="9" name="Text 6"/>
          <p:cNvSpPr txBox="1"/>
          <p:nvPr/>
        </p:nvSpPr>
        <p:spPr>
          <a:xfrm>
            <a:off x="7818120" y="2286000"/>
            <a:ext cx="3566160" cy="1097280"/>
          </a:xfrm>
          <a:prstGeom prst="rect">
            <a:avLst/>
          </a:prstGeom>
          <a:noFill/>
          <a:ln/>
        </p:spPr>
        <p:txBody>
          <a:bodyPr wrap="square" lIns="635" tIns="635" rIns="635" bIns="635" rtlCol="0" anchor="t"/>
          <a:lstStyle/>
          <a:p>
            <a:pPr indent="0" marL="0">
              <a:buNone/>
            </a:pPr>
            <a:r>
              <a:rPr lang="en-US" sz="1450" dirty="0">
                <a:solidFill>
                  <a:schemeClr val="tx1"/>
                </a:solidFill>
              </a:rPr>
              <a:t>of symptomatic cases ever had fever, and only 5.3% at onset.</a:t>
            </a:r>
            <a:r>
              <a:rPr lang="en-US" sz="1450" baseline="30000" dirty="0">
                <a:solidFill>
                  <a:schemeClr val="tx1"/>
                </a:solidFill>
              </a:rPr>
              <a:t>1</a:t>
            </a:r>
            <a:r>
              <a:rPr lang="en-US" sz="1450" dirty="0">
                <a:solidFill>
                  <a:schemeClr val="tx1"/>
                </a:solidFill>
              </a:rPr>
              <a:t> Temperature screening alone would miss most infections.</a:t>
            </a:r>
            <a:endParaRPr lang="en-US" sz="1450" dirty="0"/>
          </a:p>
        </p:txBody>
      </p:sp>
      <p:sp>
        <p:nvSpPr>
          <p:cNvPr id="10" name="severity callout"/>
          <p:cNvSpPr/>
          <p:nvPr/>
        </p:nvSpPr>
        <p:spPr>
          <a:xfrm>
            <a:off x="7589520" y="3657600"/>
            <a:ext cx="4023360" cy="2468880"/>
          </a:xfrm>
          <a:prstGeom prst="roundRect">
            <a:avLst>
              <a:gd name="adj" fmla="val 4444"/>
            </a:avLst>
          </a:prstGeom>
          <a:solidFill>
            <a:schemeClr val="bg2"/>
          </a:solidFill>
          <a:ln/>
        </p:spPr>
      </p:sp>
      <p:sp>
        <p:nvSpPr>
          <p:cNvPr id="11" name="Text 8"/>
          <p:cNvSpPr txBox="1"/>
          <p:nvPr/>
        </p:nvSpPr>
        <p:spPr>
          <a:xfrm>
            <a:off x="7772400" y="3794760"/>
            <a:ext cx="3703320" cy="22402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Cough (32.8%) and headache (31.0%) were the most common first symptoms</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Only 0.5% had oxygen saturation below 95%; none below 90%</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Hospitalized sailors more often reported fever (32% vs 12%)</a:t>
            </a:r>
            <a:r>
              <a:rPr lang="en-US" sz="14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Who Counts as a Case?</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2   </a:t>
            </a:r>
            <a:r>
              <a:rPr lang="en-US" sz="1100" b="1" spc="100" kern="0" dirty="0">
                <a:solidFill>
                  <a:schemeClr val="accent6"/>
                </a:solidFill>
              </a:rPr>
              <a:t>HOW DID INVESTIGATORS FIND THE CASES?</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1920240"/>
                <a:gridCol w="4206240"/>
                <a:gridCol w="822960"/>
              </a:tblGrid>
              <a:tr h="566928">
                <a:tc>
                  <a:txBody>
                    <a:bodyPr/>
                    <a:lstStyle/>
                    <a:p>
                      <a:pPr indent="0" marL="0">
                        <a:buNone/>
                      </a:pPr>
                      <a:r>
                        <a:rPr lang="en-US" sz="1500" b="1" dirty="0">
                          <a:solidFill>
                            <a:srgbClr val="FFFFFF"/>
                          </a:solidFill>
                        </a:rPr>
                        <a:t>Category</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Definition</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n</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566928">
                <a:tc>
                  <a:txBody>
                    <a:bodyPr/>
                    <a:lstStyle/>
                    <a:p>
                      <a:pPr indent="0" marL="0">
                        <a:buNone/>
                      </a:pPr>
                      <a:r>
                        <a:rPr lang="en-US" sz="1450" b="1" dirty="0">
                          <a:solidFill>
                            <a:srgbClr val="1B1B1E"/>
                          </a:solidFill>
                        </a:rPr>
                        <a:t>Confirmed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Nasopharyngeal swab positive for SARS-CoV-2 by rRT-PCR</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1,271</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Symptom onset before first positive test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293</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Presymptomatic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Positive test first; symptoms developed afterward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406</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Asymptomatic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Positive test; clinical criteria never met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572</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b="1" dirty="0">
                          <a:solidFill>
                            <a:srgbClr val="1B1B1E"/>
                          </a:solidFill>
                        </a:rPr>
                        <a:t>Suspected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Met CSTE clinical criteria for Covid-19 without a positive test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60</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b="1" dirty="0">
                          <a:solidFill>
                            <a:srgbClr val="1B1B1E"/>
                          </a:solidFill>
                        </a:rPr>
                        <a:t>Probable</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Not used as a separate category</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394960"/>
            <a:ext cx="6949440" cy="365760"/>
          </a:xfrm>
          <a:prstGeom prst="rect">
            <a:avLst/>
          </a:prstGeom>
          <a:noFill/>
          <a:ln/>
        </p:spPr>
        <p:txBody>
          <a:bodyPr wrap="square" lIns="635" tIns="635" rIns="635" bIns="635" rtlCol="0" anchor="t"/>
          <a:lstStyle/>
          <a:p>
            <a:pPr indent="0" marL="0">
              <a:buNone/>
            </a:pPr>
            <a:r>
              <a:rPr lang="en-US" sz="1200" i="1" dirty="0">
                <a:solidFill>
                  <a:schemeClr val="accent6"/>
                </a:solidFill>
              </a:rPr>
              <a:t>Table: case definitions and case counts as reported by Kasper et al</a:t>
            </a:r>
            <a:r>
              <a:rPr lang="en-US" sz="1200" i="1" baseline="30000" dirty="0">
                <a:solidFill>
                  <a:schemeClr val="accent6"/>
                </a:solidFill>
              </a:rPr>
              <a:t>1</a:t>
            </a:r>
            <a:endParaRPr lang="en-US" sz="1200" dirty="0"/>
          </a:p>
        </p:txBody>
      </p:sp>
      <p:sp>
        <p:nvSpPr>
          <p:cNvPr id="7" name="criteria card"/>
          <p:cNvSpPr/>
          <p:nvPr/>
        </p:nvSpPr>
        <p:spPr>
          <a:xfrm>
            <a:off x="7863840" y="1325880"/>
            <a:ext cx="3749040" cy="4526280"/>
          </a:xfrm>
          <a:prstGeom prst="roundRect">
            <a:avLst>
              <a:gd name="adj" fmla="val 2927"/>
            </a:avLst>
          </a:prstGeom>
          <a:solidFill>
            <a:schemeClr val="bg2"/>
          </a:solidFill>
          <a:ln/>
        </p:spPr>
      </p:sp>
      <p:sp>
        <p:nvSpPr>
          <p:cNvPr id="8" name="Text 5"/>
          <p:cNvSpPr txBox="1"/>
          <p:nvPr/>
        </p:nvSpPr>
        <p:spPr>
          <a:xfrm>
            <a:off x="8092440" y="1463040"/>
            <a:ext cx="338328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Elements of the definition</a:t>
            </a:r>
            <a:endParaRPr lang="en-US" sz="1800" dirty="0"/>
          </a:p>
        </p:txBody>
      </p:sp>
      <p:sp>
        <p:nvSpPr>
          <p:cNvPr id="9" name="Text 6"/>
          <p:cNvSpPr txBox="1"/>
          <p:nvPr/>
        </p:nvSpPr>
        <p:spPr>
          <a:xfrm>
            <a:off x="8092440" y="1965960"/>
            <a:ext cx="3383280" cy="3749040"/>
          </a:xfrm>
          <a:prstGeom prst="rect">
            <a:avLst/>
          </a:prstGeom>
          <a:noFill/>
          <a:ln/>
        </p:spPr>
        <p:txBody>
          <a:bodyPr wrap="square" lIns="635" tIns="635" rIns="635" bIns="635" rtlCol="0" anchor="t"/>
          <a:lstStyle/>
          <a:p>
            <a:pPr marL="203200" indent="-203200">
              <a:spcAft>
                <a:spcPts val="600"/>
              </a:spcAft>
              <a:buSzPct val="100000"/>
              <a:buChar char="•"/>
            </a:pPr>
            <a:r>
              <a:rPr lang="en-US" sz="1450" b="1" dirty="0">
                <a:solidFill>
                  <a:schemeClr val="tx1"/>
                </a:solidFill>
              </a:rPr>
              <a:t>Person: </a:t>
            </a:r>
            <a:r>
              <a:rPr lang="en-US" sz="1450" dirty="0">
                <a:solidFill>
                  <a:schemeClr val="tx1"/>
                </a:solidFill>
              </a:rPr>
              <a:t>uniformed crew with a matched personnel ID (civilians excluded)</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Place: </a:t>
            </a:r>
            <a:r>
              <a:rPr lang="en-US" sz="1450" dirty="0">
                <a:solidFill>
                  <a:schemeClr val="tx1"/>
                </a:solidFill>
              </a:rPr>
              <a:t>U.S.S. Theodore Roosevelt crew, aboard ship or ashore in Guam</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Time: </a:t>
            </a:r>
            <a:r>
              <a:rPr lang="en-US" sz="1450" dirty="0">
                <a:solidFill>
                  <a:schemeClr val="tx1"/>
                </a:solidFill>
              </a:rPr>
              <a:t>positive tests March 23 – May 18, 2020</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Clinical: </a:t>
            </a:r>
            <a:r>
              <a:rPr lang="en-US" sz="1450" dirty="0">
                <a:solidFill>
                  <a:schemeClr val="tx1"/>
                </a:solidFill>
              </a:rPr>
              <a:t>CSTE criteria; fever = subjective or ≥100.0°F</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Laboratory: </a:t>
            </a:r>
            <a:r>
              <a:rPr lang="en-US" sz="1450" dirty="0">
                <a:solidFill>
                  <a:schemeClr val="tx1"/>
                </a:solidFill>
              </a:rPr>
              <a:t>rRT-PCR on NP swab, N1/N2 gene targets</a:t>
            </a:r>
            <a:r>
              <a:rPr lang="en-US" sz="14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Was the Case Definition Appropriate?</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2   </a:t>
            </a:r>
            <a:r>
              <a:rPr lang="en-US" sz="1100" b="1" spc="100" kern="0" dirty="0">
                <a:solidFill>
                  <a:schemeClr val="accent6"/>
                </a:solidFill>
              </a:rPr>
              <a:t>HOW DID INVESTIGATORS FIND THE CASES?</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Appraisal is the student's own.</a:t>
            </a:r>
            <a:endParaRPr lang="en-US" sz="1000" dirty="0"/>
          </a:p>
        </p:txBody>
      </p:sp>
      <p:sp>
        <p:nvSpPr>
          <p:cNvPr id="5" name="Sensitivity: high card"/>
          <p:cNvSpPr/>
          <p:nvPr/>
        </p:nvSpPr>
        <p:spPr>
          <a:xfrm>
            <a:off x="548640" y="1325880"/>
            <a:ext cx="3520440" cy="3611880"/>
          </a:xfrm>
          <a:prstGeom prst="roundRect">
            <a:avLst>
              <a:gd name="adj" fmla="val 3117"/>
            </a:avLst>
          </a:prstGeom>
          <a:solidFill>
            <a:schemeClr val="bg2"/>
          </a:solidFill>
          <a:ln/>
        </p:spPr>
      </p:sp>
      <p:sp>
        <p:nvSpPr>
          <p:cNvPr id="6" name="Sensitivity: high icon circle"/>
          <p:cNvSpPr/>
          <p:nvPr/>
        </p:nvSpPr>
        <p:spPr>
          <a:xfrm>
            <a:off x="822960" y="1554480"/>
            <a:ext cx="594360" cy="594360"/>
          </a:xfrm>
          <a:prstGeom prst="ellipse">
            <a:avLst/>
          </a:prstGeom>
          <a:solidFill>
            <a:schemeClr val="accent1"/>
          </a:solidFill>
          <a:ln/>
        </p:spPr>
      </p:sp>
      <p:pic>
        <p:nvPicPr>
          <p:cNvPr id="7" name="Sensitivity: high icon" descr="Sensitivity: high icon">    </p:cNvPr>
          <p:cNvPicPr>
            <a:picLocks noChangeAspect="1"/>
          </p:cNvPicPr>
          <p:nvPr/>
        </p:nvPicPr>
        <p:blipFill>
          <a:blip r:embed="rId1"/>
          <a:stretch>
            <a:fillRect/>
          </a:stretch>
        </p:blipFill>
        <p:spPr>
          <a:xfrm>
            <a:off x="965606" y="1697126"/>
            <a:ext cx="309067" cy="309067"/>
          </a:xfrm>
          <a:prstGeom prst="rect">
            <a:avLst/>
          </a:prstGeom>
        </p:spPr>
      </p:pic>
      <p:sp>
        <p:nvSpPr>
          <p:cNvPr id="8" name="Text 5"/>
          <p:cNvSpPr txBox="1"/>
          <p:nvPr/>
        </p:nvSpPr>
        <p:spPr>
          <a:xfrm>
            <a:off x="150876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Sensitivity: high</a:t>
            </a:r>
            <a:endParaRPr lang="en-US" sz="1700" dirty="0"/>
          </a:p>
        </p:txBody>
      </p:sp>
      <p:sp>
        <p:nvSpPr>
          <p:cNvPr id="9" name="Text 6"/>
          <p:cNvSpPr txBox="1"/>
          <p:nvPr/>
        </p:nvSpPr>
        <p:spPr>
          <a:xfrm>
            <a:off x="77724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Universal testing found infections regardless of symptoms</a:t>
            </a:r>
            <a:endParaRPr lang="en-US" sz="1500" dirty="0"/>
          </a:p>
          <a:p>
            <a:pPr marL="203200" indent="-203200">
              <a:spcAft>
                <a:spcPts val="600"/>
              </a:spcAft>
              <a:buSzPct val="100000"/>
              <a:buChar char="•"/>
            </a:pPr>
            <a:r>
              <a:rPr lang="en-US" sz="1400" dirty="0">
                <a:solidFill>
                  <a:schemeClr val="tx1"/>
                </a:solidFill>
              </a:rPr>
              <a:t>Picked up 572 asymptomatic infections that symptom-based surveillance would have missed</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Missed cases still possible: a single NP swab taken early or late in infection can be falsely negative</a:t>
            </a:r>
            <a:endParaRPr lang="en-US" sz="1500" dirty="0"/>
          </a:p>
        </p:txBody>
      </p:sp>
      <p:sp>
        <p:nvSpPr>
          <p:cNvPr id="10" name="Specificity: mixed card"/>
          <p:cNvSpPr/>
          <p:nvPr/>
        </p:nvSpPr>
        <p:spPr>
          <a:xfrm>
            <a:off x="4297680" y="1325880"/>
            <a:ext cx="3520440" cy="3611880"/>
          </a:xfrm>
          <a:prstGeom prst="roundRect">
            <a:avLst>
              <a:gd name="adj" fmla="val 3117"/>
            </a:avLst>
          </a:prstGeom>
          <a:solidFill>
            <a:schemeClr val="bg2"/>
          </a:solidFill>
          <a:ln/>
        </p:spPr>
      </p:sp>
      <p:sp>
        <p:nvSpPr>
          <p:cNvPr id="11" name="Specificity: mixed icon circle"/>
          <p:cNvSpPr/>
          <p:nvPr/>
        </p:nvSpPr>
        <p:spPr>
          <a:xfrm>
            <a:off x="4572000" y="1554480"/>
            <a:ext cx="594360" cy="594360"/>
          </a:xfrm>
          <a:prstGeom prst="ellipse">
            <a:avLst/>
          </a:prstGeom>
          <a:solidFill>
            <a:schemeClr val="accent4"/>
          </a:solidFill>
          <a:ln/>
        </p:spPr>
      </p:sp>
      <p:pic>
        <p:nvPicPr>
          <p:cNvPr id="12" name="Specificity: mixed icon" descr="Specificity: mixed icon">    </p:cNvPr>
          <p:cNvPicPr>
            <a:picLocks noChangeAspect="1"/>
          </p:cNvPicPr>
          <p:nvPr/>
        </p:nvPicPr>
        <p:blipFill>
          <a:blip r:embed="rId2"/>
          <a:stretch>
            <a:fillRect/>
          </a:stretch>
        </p:blipFill>
        <p:spPr>
          <a:xfrm>
            <a:off x="4714646" y="1697126"/>
            <a:ext cx="309067" cy="309067"/>
          </a:xfrm>
          <a:prstGeom prst="rect">
            <a:avLst/>
          </a:prstGeom>
        </p:spPr>
      </p:pic>
      <p:sp>
        <p:nvSpPr>
          <p:cNvPr id="13" name="Text 9"/>
          <p:cNvSpPr txBox="1"/>
          <p:nvPr/>
        </p:nvSpPr>
        <p:spPr>
          <a:xfrm>
            <a:off x="525780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Specificity: mixed</a:t>
            </a:r>
            <a:endParaRPr lang="en-US" sz="1700" dirty="0"/>
          </a:p>
        </p:txBody>
      </p:sp>
      <p:sp>
        <p:nvSpPr>
          <p:cNvPr id="14" name="Text 10"/>
          <p:cNvSpPr txBox="1"/>
          <p:nvPr/>
        </p:nvSpPr>
        <p:spPr>
          <a:xfrm>
            <a:off x="452628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Confirmed tier: highly specific (PCR)</a:t>
            </a:r>
            <a:endParaRPr lang="en-US" sz="1500" dirty="0"/>
          </a:p>
          <a:p>
            <a:pPr marL="203200" indent="-203200">
              <a:spcAft>
                <a:spcPts val="600"/>
              </a:spcAft>
              <a:buSzPct val="100000"/>
              <a:buChar char="•"/>
            </a:pPr>
            <a:r>
              <a:rPr lang="en-US" sz="1400" dirty="0">
                <a:solidFill>
                  <a:schemeClr val="tx1"/>
                </a:solidFill>
              </a:rPr>
              <a:t>Suspected tier: less specific. Rhinovirus, RSV and coronavirus OC43 were circulating aboard</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Only 60 suspected cases (4.5%), so the effect is small</a:t>
            </a:r>
            <a:r>
              <a:rPr lang="en-US" sz="1400" baseline="30000" dirty="0">
                <a:solidFill>
                  <a:schemeClr val="tx1"/>
                </a:solidFill>
              </a:rPr>
              <a:t>1</a:t>
            </a:r>
            <a:endParaRPr lang="en-US" sz="1500" dirty="0"/>
          </a:p>
        </p:txBody>
      </p:sp>
      <p:sp>
        <p:nvSpPr>
          <p:cNvPr id="15" name="Changed during investigation card"/>
          <p:cNvSpPr/>
          <p:nvPr/>
        </p:nvSpPr>
        <p:spPr>
          <a:xfrm>
            <a:off x="8046720" y="1325880"/>
            <a:ext cx="3520440" cy="3611880"/>
          </a:xfrm>
          <a:prstGeom prst="roundRect">
            <a:avLst>
              <a:gd name="adj" fmla="val 3117"/>
            </a:avLst>
          </a:prstGeom>
          <a:solidFill>
            <a:schemeClr val="bg2"/>
          </a:solidFill>
          <a:ln/>
        </p:spPr>
      </p:sp>
      <p:sp>
        <p:nvSpPr>
          <p:cNvPr id="16" name="Changed during investigation icon circle"/>
          <p:cNvSpPr/>
          <p:nvPr/>
        </p:nvSpPr>
        <p:spPr>
          <a:xfrm>
            <a:off x="8321040" y="1554480"/>
            <a:ext cx="594360" cy="594360"/>
          </a:xfrm>
          <a:prstGeom prst="ellipse">
            <a:avLst/>
          </a:prstGeom>
          <a:solidFill>
            <a:schemeClr val="accent2"/>
          </a:solidFill>
          <a:ln/>
        </p:spPr>
      </p:sp>
      <p:pic>
        <p:nvPicPr>
          <p:cNvPr id="17" name="Changed during investigation icon" descr="Changed during investigation icon">    </p:cNvPr>
          <p:cNvPicPr>
            <a:picLocks noChangeAspect="1"/>
          </p:cNvPicPr>
          <p:nvPr/>
        </p:nvPicPr>
        <p:blipFill>
          <a:blip r:embed="rId3"/>
          <a:stretch>
            <a:fillRect/>
          </a:stretch>
        </p:blipFill>
        <p:spPr>
          <a:xfrm>
            <a:off x="8463686" y="1697126"/>
            <a:ext cx="309067" cy="309067"/>
          </a:xfrm>
          <a:prstGeom prst="rect">
            <a:avLst/>
          </a:prstGeom>
        </p:spPr>
      </p:pic>
      <p:sp>
        <p:nvSpPr>
          <p:cNvPr id="18" name="Text 13"/>
          <p:cNvSpPr txBox="1"/>
          <p:nvPr/>
        </p:nvSpPr>
        <p:spPr>
          <a:xfrm>
            <a:off x="900684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Changed during investigation</a:t>
            </a:r>
            <a:endParaRPr lang="en-US" sz="1700" dirty="0"/>
          </a:p>
        </p:txBody>
      </p:sp>
      <p:sp>
        <p:nvSpPr>
          <p:cNvPr id="19" name="Text 14"/>
          <p:cNvSpPr txBox="1"/>
          <p:nvPr/>
        </p:nvSpPr>
        <p:spPr>
          <a:xfrm>
            <a:off x="827532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The CDC/CSTE case definition was revised in April 2020, mid-outbreak</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Symptom subtypes relied on self-report and on records that were weaker early on,</a:t>
            </a:r>
            <a:r>
              <a:rPr lang="en-US" sz="1400" baseline="30000" dirty="0">
                <a:solidFill>
                  <a:schemeClr val="tx1"/>
                </a:solidFill>
              </a:rPr>
              <a:t>1</a:t>
            </a:r>
            <a:r>
              <a:rPr lang="en-US" sz="1400" dirty="0">
                <a:solidFill>
                  <a:schemeClr val="tx1"/>
                </a:solidFill>
              </a:rPr>
              <a:t> so misclassification is possible</a:t>
            </a:r>
            <a:endParaRPr lang="en-US" sz="1500" dirty="0"/>
          </a:p>
        </p:txBody>
      </p:sp>
      <p:sp>
        <p:nvSpPr>
          <p:cNvPr id="20" name="own analysis"/>
          <p:cNvSpPr/>
          <p:nvPr/>
        </p:nvSpPr>
        <p:spPr>
          <a:xfrm>
            <a:off x="548640" y="5120640"/>
            <a:ext cx="11064240" cy="1051560"/>
          </a:xfrm>
          <a:prstGeom prst="roundRect">
            <a:avLst>
              <a:gd name="adj" fmla="val 10435"/>
            </a:avLst>
          </a:prstGeom>
          <a:solidFill>
            <a:schemeClr val="tx2"/>
          </a:solidFill>
          <a:ln/>
        </p:spPr>
      </p:sp>
      <p:sp>
        <p:nvSpPr>
          <p:cNvPr id="21" name="Text 16"/>
          <p:cNvSpPr txBox="1"/>
          <p:nvPr/>
        </p:nvSpPr>
        <p:spPr>
          <a:xfrm>
            <a:off x="777240" y="5166360"/>
            <a:ext cx="10607040" cy="960120"/>
          </a:xfrm>
          <a:prstGeom prst="rect">
            <a:avLst/>
          </a:prstGeom>
          <a:noFill/>
          <a:ln/>
        </p:spPr>
        <p:txBody>
          <a:bodyPr wrap="square" lIns="635" tIns="635" rIns="635" bIns="635" rtlCol="0" anchor="ctr"/>
          <a:lstStyle/>
          <a:p>
            <a:pPr indent="0" marL="0">
              <a:buNone/>
            </a:pPr>
            <a:r>
              <a:rPr lang="en-US" sz="1450" b="1" dirty="0">
                <a:solidFill>
                  <a:schemeClr val="accent4"/>
                </a:solidFill>
              </a:rPr>
              <a:t>My verdict: </a:t>
            </a:r>
            <a:r>
              <a:rPr lang="en-US" sz="1450" dirty="0">
                <a:solidFill>
                  <a:schemeClr val="bg1"/>
                </a:solidFill>
              </a:rPr>
              <a:t>appropriate for this setting. Universal testing made the definition highly sensitive, PCR made the confirmed tier highly specific, and only 60 cases (4.5%) rested on clinical criteria alone.</a:t>
            </a:r>
            <a:r>
              <a:rPr lang="en-US" sz="1450" baseline="30000" dirty="0">
                <a:solidFill>
                  <a:schemeClr val="bg1"/>
                </a:solidFill>
              </a:rPr>
              <a:t>1</a:t>
            </a:r>
            <a:endParaRPr lang="en-US" sz="14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The Investigation: Test Everyone</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2   </a:t>
            </a:r>
            <a:r>
              <a:rPr lang="en-US" sz="1100" b="1" spc="100" kern="0" dirty="0">
                <a:solidFill>
                  <a:schemeClr val="accent6"/>
                </a:solidFill>
              </a:rPr>
              <a:t>HOW DID INVESTIGATORS FIND THE CASES?</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5" name="Detection step"/>
          <p:cNvSpPr/>
          <p:nvPr/>
        </p:nvSpPr>
        <p:spPr>
          <a:xfrm>
            <a:off x="548640" y="1371600"/>
            <a:ext cx="2057400" cy="3291840"/>
          </a:xfrm>
          <a:prstGeom prst="roundRect">
            <a:avLst>
              <a:gd name="adj" fmla="val 5333"/>
            </a:avLst>
          </a:prstGeom>
          <a:solidFill>
            <a:schemeClr val="bg2"/>
          </a:solidFill>
          <a:ln/>
        </p:spPr>
      </p:sp>
      <p:sp>
        <p:nvSpPr>
          <p:cNvPr id="6" name="Detection icon circle"/>
          <p:cNvSpPr/>
          <p:nvPr/>
        </p:nvSpPr>
        <p:spPr>
          <a:xfrm>
            <a:off x="1211580" y="1600200"/>
            <a:ext cx="731520" cy="731520"/>
          </a:xfrm>
          <a:prstGeom prst="ellipse">
            <a:avLst/>
          </a:prstGeom>
          <a:solidFill>
            <a:schemeClr val="accent1"/>
          </a:solidFill>
          <a:ln/>
        </p:spPr>
      </p:sp>
      <p:pic>
        <p:nvPicPr>
          <p:cNvPr id="7" name="Detection icon" descr="Detection icon">    </p:cNvPr>
          <p:cNvPicPr>
            <a:picLocks noChangeAspect="1"/>
          </p:cNvPicPr>
          <p:nvPr/>
        </p:nvPicPr>
        <p:blipFill>
          <a:blip r:embed="rId1"/>
          <a:stretch>
            <a:fillRect/>
          </a:stretch>
        </p:blipFill>
        <p:spPr>
          <a:xfrm>
            <a:off x="1387145" y="1775765"/>
            <a:ext cx="380390" cy="380390"/>
          </a:xfrm>
          <a:prstGeom prst="rect">
            <a:avLst/>
          </a:prstGeom>
        </p:spPr>
      </p:pic>
      <p:sp>
        <p:nvSpPr>
          <p:cNvPr id="8" name="Text 5"/>
          <p:cNvSpPr txBox="1"/>
          <p:nvPr/>
        </p:nvSpPr>
        <p:spPr>
          <a:xfrm>
            <a:off x="640080"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Detection</a:t>
            </a:r>
            <a:endParaRPr lang="en-US" sz="1700" dirty="0"/>
          </a:p>
        </p:txBody>
      </p:sp>
      <p:sp>
        <p:nvSpPr>
          <p:cNvPr id="9" name="Text 6"/>
          <p:cNvSpPr txBox="1"/>
          <p:nvPr/>
        </p:nvSpPr>
        <p:spPr>
          <a:xfrm>
            <a:off x="685800"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3 symptomatic sailors tested PCR positive on day 13 at sea</a:t>
            </a:r>
            <a:r>
              <a:rPr lang="en-US" sz="1350" baseline="30000" dirty="0">
                <a:solidFill>
                  <a:schemeClr val="tx1"/>
                </a:solidFill>
              </a:rPr>
              <a:t>1</a:t>
            </a:r>
            <a:endParaRPr lang="en-US" sz="1350" dirty="0"/>
          </a:p>
        </p:txBody>
      </p:sp>
      <p:sp>
        <p:nvSpPr>
          <p:cNvPr id="10" name="flow arrow 1"/>
          <p:cNvSpPr/>
          <p:nvPr/>
        </p:nvSpPr>
        <p:spPr>
          <a:xfrm>
            <a:off x="2633472" y="2880360"/>
            <a:ext cx="137160" cy="274320"/>
          </a:xfrm>
          <a:prstGeom prst="chevron">
            <a:avLst/>
          </a:prstGeom>
          <a:solidFill>
            <a:schemeClr val="accent3"/>
          </a:solidFill>
          <a:ln/>
        </p:spPr>
      </p:sp>
      <p:sp>
        <p:nvSpPr>
          <p:cNvPr id="11" name="Case finding step"/>
          <p:cNvSpPr/>
          <p:nvPr/>
        </p:nvSpPr>
        <p:spPr>
          <a:xfrm>
            <a:off x="2798064" y="1371600"/>
            <a:ext cx="2057400" cy="3291840"/>
          </a:xfrm>
          <a:prstGeom prst="roundRect">
            <a:avLst>
              <a:gd name="adj" fmla="val 5333"/>
            </a:avLst>
          </a:prstGeom>
          <a:solidFill>
            <a:schemeClr val="bg2"/>
          </a:solidFill>
          <a:ln/>
        </p:spPr>
      </p:sp>
      <p:sp>
        <p:nvSpPr>
          <p:cNvPr id="12" name="Case finding icon circle"/>
          <p:cNvSpPr/>
          <p:nvPr/>
        </p:nvSpPr>
        <p:spPr>
          <a:xfrm>
            <a:off x="3461004" y="1600200"/>
            <a:ext cx="731520" cy="731520"/>
          </a:xfrm>
          <a:prstGeom prst="ellipse">
            <a:avLst/>
          </a:prstGeom>
          <a:solidFill>
            <a:schemeClr val="accent1"/>
          </a:solidFill>
          <a:ln/>
        </p:spPr>
      </p:sp>
      <p:pic>
        <p:nvPicPr>
          <p:cNvPr id="13" name="Case finding icon" descr="Case finding icon">    </p:cNvPr>
          <p:cNvPicPr>
            <a:picLocks noChangeAspect="1"/>
          </p:cNvPicPr>
          <p:nvPr/>
        </p:nvPicPr>
        <p:blipFill>
          <a:blip r:embed="rId2"/>
          <a:stretch>
            <a:fillRect/>
          </a:stretch>
        </p:blipFill>
        <p:spPr>
          <a:xfrm>
            <a:off x="3636569" y="1775765"/>
            <a:ext cx="380390" cy="380390"/>
          </a:xfrm>
          <a:prstGeom prst="rect">
            <a:avLst/>
          </a:prstGeom>
        </p:spPr>
      </p:pic>
      <p:sp>
        <p:nvSpPr>
          <p:cNvPr id="14" name="Text 10"/>
          <p:cNvSpPr txBox="1"/>
          <p:nvPr/>
        </p:nvSpPr>
        <p:spPr>
          <a:xfrm>
            <a:off x="2889504"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Case finding</a:t>
            </a:r>
            <a:endParaRPr lang="en-US" sz="1700" dirty="0"/>
          </a:p>
        </p:txBody>
      </p:sp>
      <p:sp>
        <p:nvSpPr>
          <p:cNvPr id="15" name="Text 11"/>
          <p:cNvSpPr txBox="1"/>
          <p:nvPr/>
        </p:nvSpPr>
        <p:spPr>
          <a:xfrm>
            <a:off x="2935224"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Contact tracing (~400 in 24 h), then testing of all 4,779 crew: active case finding</a:t>
            </a:r>
            <a:r>
              <a:rPr lang="en-US" sz="1350" baseline="30000" dirty="0">
                <a:solidFill>
                  <a:schemeClr val="tx1"/>
                </a:solidFill>
              </a:rPr>
              <a:t>1</a:t>
            </a:r>
            <a:endParaRPr lang="en-US" sz="1350" dirty="0"/>
          </a:p>
        </p:txBody>
      </p:sp>
      <p:sp>
        <p:nvSpPr>
          <p:cNvPr id="16" name="flow arrow 2"/>
          <p:cNvSpPr/>
          <p:nvPr/>
        </p:nvSpPr>
        <p:spPr>
          <a:xfrm>
            <a:off x="4882896" y="2880360"/>
            <a:ext cx="137160" cy="274320"/>
          </a:xfrm>
          <a:prstGeom prst="chevron">
            <a:avLst/>
          </a:prstGeom>
          <a:solidFill>
            <a:schemeClr val="accent3"/>
          </a:solidFill>
          <a:ln/>
        </p:spPr>
      </p:sp>
      <p:sp>
        <p:nvSpPr>
          <p:cNvPr id="17" name="Descriptive epi step"/>
          <p:cNvSpPr/>
          <p:nvPr/>
        </p:nvSpPr>
        <p:spPr>
          <a:xfrm>
            <a:off x="5047488" y="1371600"/>
            <a:ext cx="2057400" cy="3291840"/>
          </a:xfrm>
          <a:prstGeom prst="roundRect">
            <a:avLst>
              <a:gd name="adj" fmla="val 5333"/>
            </a:avLst>
          </a:prstGeom>
          <a:solidFill>
            <a:schemeClr val="bg2"/>
          </a:solidFill>
          <a:ln/>
        </p:spPr>
      </p:sp>
      <p:sp>
        <p:nvSpPr>
          <p:cNvPr id="18" name="Descriptive epi icon circle"/>
          <p:cNvSpPr/>
          <p:nvPr/>
        </p:nvSpPr>
        <p:spPr>
          <a:xfrm>
            <a:off x="5710428" y="1600200"/>
            <a:ext cx="731520" cy="731520"/>
          </a:xfrm>
          <a:prstGeom prst="ellipse">
            <a:avLst/>
          </a:prstGeom>
          <a:solidFill>
            <a:schemeClr val="accent1"/>
          </a:solidFill>
          <a:ln/>
        </p:spPr>
      </p:sp>
      <p:pic>
        <p:nvPicPr>
          <p:cNvPr id="19" name="Descriptive epi icon" descr="Descriptive epi icon">    </p:cNvPr>
          <p:cNvPicPr>
            <a:picLocks noChangeAspect="1"/>
          </p:cNvPicPr>
          <p:nvPr/>
        </p:nvPicPr>
        <p:blipFill>
          <a:blip r:embed="rId3"/>
          <a:stretch>
            <a:fillRect/>
          </a:stretch>
        </p:blipFill>
        <p:spPr>
          <a:xfrm>
            <a:off x="5885993" y="1775765"/>
            <a:ext cx="380390" cy="380390"/>
          </a:xfrm>
          <a:prstGeom prst="rect">
            <a:avLst/>
          </a:prstGeom>
        </p:spPr>
      </p:pic>
      <p:sp>
        <p:nvSpPr>
          <p:cNvPr id="20" name="Text 15"/>
          <p:cNvSpPr txBox="1"/>
          <p:nvPr/>
        </p:nvSpPr>
        <p:spPr>
          <a:xfrm>
            <a:off x="5138928"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Descriptive epi</a:t>
            </a:r>
            <a:endParaRPr lang="en-US" sz="1700" dirty="0"/>
          </a:p>
        </p:txBody>
      </p:sp>
      <p:sp>
        <p:nvSpPr>
          <p:cNvPr id="21" name="Text 16"/>
          <p:cNvSpPr txBox="1"/>
          <p:nvPr/>
        </p:nvSpPr>
        <p:spPr>
          <a:xfrm>
            <a:off x="5184648"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Personnel rosters linked to demographics, health records and symptom data</a:t>
            </a:r>
            <a:r>
              <a:rPr lang="en-US" sz="1350" baseline="30000" dirty="0">
                <a:solidFill>
                  <a:schemeClr val="tx1"/>
                </a:solidFill>
              </a:rPr>
              <a:t>1</a:t>
            </a:r>
            <a:endParaRPr lang="en-US" sz="1350" dirty="0"/>
          </a:p>
        </p:txBody>
      </p:sp>
      <p:sp>
        <p:nvSpPr>
          <p:cNvPr id="22" name="flow arrow 3"/>
          <p:cNvSpPr/>
          <p:nvPr/>
        </p:nvSpPr>
        <p:spPr>
          <a:xfrm>
            <a:off x="7132320" y="2880360"/>
            <a:ext cx="137160" cy="274320"/>
          </a:xfrm>
          <a:prstGeom prst="chevron">
            <a:avLst/>
          </a:prstGeom>
          <a:solidFill>
            <a:schemeClr val="accent3"/>
          </a:solidFill>
          <a:ln/>
        </p:spPr>
      </p:sp>
      <p:sp>
        <p:nvSpPr>
          <p:cNvPr id="23" name="Laboratory step"/>
          <p:cNvSpPr/>
          <p:nvPr/>
        </p:nvSpPr>
        <p:spPr>
          <a:xfrm>
            <a:off x="7296912" y="1371600"/>
            <a:ext cx="2057400" cy="3291840"/>
          </a:xfrm>
          <a:prstGeom prst="roundRect">
            <a:avLst>
              <a:gd name="adj" fmla="val 5333"/>
            </a:avLst>
          </a:prstGeom>
          <a:solidFill>
            <a:schemeClr val="bg2"/>
          </a:solidFill>
          <a:ln/>
        </p:spPr>
      </p:sp>
      <p:sp>
        <p:nvSpPr>
          <p:cNvPr id="24" name="Laboratory icon circle"/>
          <p:cNvSpPr/>
          <p:nvPr/>
        </p:nvSpPr>
        <p:spPr>
          <a:xfrm>
            <a:off x="7959852" y="1600200"/>
            <a:ext cx="731520" cy="731520"/>
          </a:xfrm>
          <a:prstGeom prst="ellipse">
            <a:avLst/>
          </a:prstGeom>
          <a:solidFill>
            <a:schemeClr val="accent1"/>
          </a:solidFill>
          <a:ln/>
        </p:spPr>
      </p:sp>
      <p:pic>
        <p:nvPicPr>
          <p:cNvPr id="25" name="Laboratory icon" descr="Laboratory icon">    </p:cNvPr>
          <p:cNvPicPr>
            <a:picLocks noChangeAspect="1"/>
          </p:cNvPicPr>
          <p:nvPr/>
        </p:nvPicPr>
        <p:blipFill>
          <a:blip r:embed="rId4"/>
          <a:stretch>
            <a:fillRect/>
          </a:stretch>
        </p:blipFill>
        <p:spPr>
          <a:xfrm>
            <a:off x="8135417" y="1775765"/>
            <a:ext cx="380390" cy="380390"/>
          </a:xfrm>
          <a:prstGeom prst="rect">
            <a:avLst/>
          </a:prstGeom>
        </p:spPr>
      </p:pic>
      <p:sp>
        <p:nvSpPr>
          <p:cNvPr id="26" name="Text 20"/>
          <p:cNvSpPr txBox="1"/>
          <p:nvPr/>
        </p:nvSpPr>
        <p:spPr>
          <a:xfrm>
            <a:off x="7388352"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Laboratory</a:t>
            </a:r>
            <a:endParaRPr lang="en-US" sz="1700" dirty="0"/>
          </a:p>
        </p:txBody>
      </p:sp>
      <p:sp>
        <p:nvSpPr>
          <p:cNvPr id="27" name="Text 21"/>
          <p:cNvSpPr txBox="1"/>
          <p:nvPr/>
        </p:nvSpPr>
        <p:spPr>
          <a:xfrm>
            <a:off x="7434072"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NP swabs; rRT-PCR (Seegene Allplex or CDC EUA assay); BioFire panel for other respiratory viruses</a:t>
            </a:r>
            <a:r>
              <a:rPr lang="en-US" sz="1350" baseline="30000" dirty="0">
                <a:solidFill>
                  <a:schemeClr val="tx1"/>
                </a:solidFill>
              </a:rPr>
              <a:t>1</a:t>
            </a:r>
            <a:endParaRPr lang="en-US" sz="1350" dirty="0"/>
          </a:p>
        </p:txBody>
      </p:sp>
      <p:sp>
        <p:nvSpPr>
          <p:cNvPr id="28" name="flow arrow 4"/>
          <p:cNvSpPr/>
          <p:nvPr/>
        </p:nvSpPr>
        <p:spPr>
          <a:xfrm>
            <a:off x="9381744" y="2880360"/>
            <a:ext cx="137160" cy="274320"/>
          </a:xfrm>
          <a:prstGeom prst="chevron">
            <a:avLst/>
          </a:prstGeom>
          <a:solidFill>
            <a:schemeClr val="accent3"/>
          </a:solidFill>
          <a:ln/>
        </p:spPr>
      </p:sp>
      <p:sp>
        <p:nvSpPr>
          <p:cNvPr id="29" name="Analytic epi step"/>
          <p:cNvSpPr/>
          <p:nvPr/>
        </p:nvSpPr>
        <p:spPr>
          <a:xfrm>
            <a:off x="9546336" y="1371600"/>
            <a:ext cx="2057400" cy="3291840"/>
          </a:xfrm>
          <a:prstGeom prst="roundRect">
            <a:avLst>
              <a:gd name="adj" fmla="val 5333"/>
            </a:avLst>
          </a:prstGeom>
          <a:solidFill>
            <a:schemeClr val="bg2"/>
          </a:solidFill>
          <a:ln/>
        </p:spPr>
      </p:sp>
      <p:sp>
        <p:nvSpPr>
          <p:cNvPr id="30" name="Analytic epi icon circle"/>
          <p:cNvSpPr/>
          <p:nvPr/>
        </p:nvSpPr>
        <p:spPr>
          <a:xfrm>
            <a:off x="10209276" y="1600200"/>
            <a:ext cx="731520" cy="731520"/>
          </a:xfrm>
          <a:prstGeom prst="ellipse">
            <a:avLst/>
          </a:prstGeom>
          <a:solidFill>
            <a:schemeClr val="accent1"/>
          </a:solidFill>
          <a:ln/>
        </p:spPr>
      </p:sp>
      <p:pic>
        <p:nvPicPr>
          <p:cNvPr id="31" name="Analytic epi icon" descr="Analytic epi icon">    </p:cNvPr>
          <p:cNvPicPr>
            <a:picLocks noChangeAspect="1"/>
          </p:cNvPicPr>
          <p:nvPr/>
        </p:nvPicPr>
        <p:blipFill>
          <a:blip r:embed="rId5"/>
          <a:stretch>
            <a:fillRect/>
          </a:stretch>
        </p:blipFill>
        <p:spPr>
          <a:xfrm>
            <a:off x="10384841" y="1775765"/>
            <a:ext cx="380390" cy="380390"/>
          </a:xfrm>
          <a:prstGeom prst="rect">
            <a:avLst/>
          </a:prstGeom>
        </p:spPr>
      </p:pic>
      <p:sp>
        <p:nvSpPr>
          <p:cNvPr id="32" name="Text 25"/>
          <p:cNvSpPr txBox="1"/>
          <p:nvPr/>
        </p:nvSpPr>
        <p:spPr>
          <a:xfrm>
            <a:off x="9637776"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Analytic epi</a:t>
            </a:r>
            <a:endParaRPr lang="en-US" sz="1700" dirty="0"/>
          </a:p>
        </p:txBody>
      </p:sp>
      <p:sp>
        <p:nvSpPr>
          <p:cNvPr id="33" name="Text 26"/>
          <p:cNvSpPr txBox="1"/>
          <p:nvPr/>
        </p:nvSpPr>
        <p:spPr>
          <a:xfrm>
            <a:off x="9683496"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Infected vs uninfected crew compared; univariate ORs with 95% CIs (OpenEpi, SAS 9.4)</a:t>
            </a:r>
            <a:r>
              <a:rPr lang="en-US" sz="1350" baseline="30000" dirty="0">
                <a:solidFill>
                  <a:schemeClr val="tx1"/>
                </a:solidFill>
              </a:rPr>
              <a:t>1</a:t>
            </a:r>
            <a:endParaRPr lang="en-US" sz="1350" dirty="0"/>
          </a:p>
        </p:txBody>
      </p:sp>
      <p:sp>
        <p:nvSpPr>
          <p:cNvPr id="34" name="surveillance note"/>
          <p:cNvSpPr/>
          <p:nvPr/>
        </p:nvSpPr>
        <p:spPr>
          <a:xfrm>
            <a:off x="548640" y="4892040"/>
            <a:ext cx="5394960" cy="1280160"/>
          </a:xfrm>
          <a:prstGeom prst="roundRect">
            <a:avLst>
              <a:gd name="adj" fmla="val 8571"/>
            </a:avLst>
          </a:prstGeom>
          <a:solidFill>
            <a:schemeClr val="bg2"/>
          </a:solidFill>
          <a:ln/>
        </p:spPr>
      </p:sp>
      <p:sp>
        <p:nvSpPr>
          <p:cNvPr id="35" name="Text 28"/>
          <p:cNvSpPr txBox="1"/>
          <p:nvPr/>
        </p:nvSpPr>
        <p:spPr>
          <a:xfrm>
            <a:off x="777240" y="4983480"/>
            <a:ext cx="4983480" cy="1097280"/>
          </a:xfrm>
          <a:prstGeom prst="rect">
            <a:avLst/>
          </a:prstGeom>
          <a:noFill/>
          <a:ln/>
        </p:spPr>
        <p:txBody>
          <a:bodyPr wrap="square" lIns="635" tIns="635" rIns="635" bIns="635" rtlCol="0" anchor="ctr"/>
          <a:lstStyle/>
          <a:p>
            <a:pPr indent="0" marL="0">
              <a:buNone/>
            </a:pPr>
            <a:r>
              <a:rPr lang="en-US" sz="1400" b="1" dirty="0">
                <a:solidFill>
                  <a:schemeClr val="tx2"/>
                </a:solidFill>
              </a:rPr>
              <a:t>Active surveillance: </a:t>
            </a:r>
            <a:r>
              <a:rPr lang="en-US" sz="1400" dirty="0">
                <a:solidFill>
                  <a:schemeClr val="tx1"/>
                </a:solidFill>
              </a:rPr>
              <a:t>in-person health screenings plus the MySymptoms self-report app, reviewed every morning and evening; isolated cases also had twice-daily temperature and pulse-oximetry checks</a:t>
            </a:r>
            <a:r>
              <a:rPr lang="en-US" sz="1400" baseline="30000" dirty="0">
                <a:solidFill>
                  <a:schemeClr val="tx1"/>
                </a:solidFill>
              </a:rPr>
              <a:t>1</a:t>
            </a:r>
            <a:endParaRPr lang="en-US" sz="1400" dirty="0"/>
          </a:p>
        </p:txBody>
      </p:sp>
      <p:sp>
        <p:nvSpPr>
          <p:cNvPr id="36" name="environmental note"/>
          <p:cNvSpPr/>
          <p:nvPr/>
        </p:nvSpPr>
        <p:spPr>
          <a:xfrm>
            <a:off x="6217920" y="4892040"/>
            <a:ext cx="5394960" cy="1280160"/>
          </a:xfrm>
          <a:prstGeom prst="roundRect">
            <a:avLst>
              <a:gd name="adj" fmla="val 8571"/>
            </a:avLst>
          </a:prstGeom>
          <a:solidFill>
            <a:schemeClr val="bg2"/>
          </a:solidFill>
          <a:ln/>
        </p:spPr>
      </p:sp>
      <p:sp>
        <p:nvSpPr>
          <p:cNvPr id="37" name="Text 30"/>
          <p:cNvSpPr txBox="1"/>
          <p:nvPr/>
        </p:nvSpPr>
        <p:spPr>
          <a:xfrm>
            <a:off x="6446520" y="4983480"/>
            <a:ext cx="4983480" cy="1097280"/>
          </a:xfrm>
          <a:prstGeom prst="rect">
            <a:avLst/>
          </a:prstGeom>
          <a:noFill/>
          <a:ln/>
        </p:spPr>
        <p:txBody>
          <a:bodyPr wrap="square" lIns="635" tIns="635" rIns="635" bIns="635" rtlCol="0" anchor="ctr"/>
          <a:lstStyle/>
          <a:p>
            <a:pPr indent="0" marL="0">
              <a:buNone/>
            </a:pPr>
            <a:r>
              <a:rPr lang="en-US" sz="1400" b="1" dirty="0">
                <a:solidFill>
                  <a:schemeClr val="accent2"/>
                </a:solidFill>
              </a:rPr>
              <a:t>Environmental investigation: </a:t>
            </a:r>
            <a:r>
              <a:rPr lang="en-US" sz="1400" dirty="0">
                <a:solidFill>
                  <a:schemeClr val="tx1"/>
                </a:solidFill>
              </a:rPr>
              <a:t>none is described in the article</a:t>
            </a:r>
            <a:r>
              <a:rPr lang="en-US" sz="1400" baseline="30000" dirty="0">
                <a:solidFill>
                  <a:schemeClr val="tx1"/>
                </a:solidFill>
              </a:rPr>
              <a:t>1</a:t>
            </a:r>
            <a:r>
              <a:rPr lang="en-US" sz="1400" dirty="0">
                <a:solidFill>
                  <a:schemeClr val="tx1"/>
                </a:solidFill>
              </a:rPr>
              <a:t>; ventilation and shared spaces were assessed only indirectly, through the department analysis.</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Time: A Propagated Epidemic Curve</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Interpretation is the student's.</a:t>
            </a:r>
            <a:endParaRPr lang="en-US" sz="1000" dirty="0"/>
          </a:p>
        </p:txBody>
      </p:sp>
      <p:pic>
        <p:nvPicPr>
          <p:cNvPr id="5" name="epidemic curve" descr="Epidemic curve of symptomatic Covid-19 cases by onset date, March 1 to May 18, 2020">    </p:cNvPr>
          <p:cNvPicPr>
            <a:picLocks noChangeAspect="1"/>
          </p:cNvPicPr>
          <p:nvPr/>
        </p:nvPicPr>
        <p:blipFill>
          <a:blip r:embed="rId1"/>
          <a:stretch>
            <a:fillRect/>
          </a:stretch>
        </p:blipFill>
        <p:spPr>
          <a:xfrm>
            <a:off x="548640" y="1280160"/>
            <a:ext cx="7086600" cy="3867912"/>
          </a:xfrm>
          <a:prstGeom prst="rect">
            <a:avLst/>
          </a:prstGeom>
        </p:spPr>
      </p:pic>
      <p:sp>
        <p:nvSpPr>
          <p:cNvPr id="6" name="Text 3"/>
          <p:cNvSpPr txBox="1"/>
          <p:nvPr/>
        </p:nvSpPr>
        <p:spPr>
          <a:xfrm>
            <a:off x="548640" y="5212080"/>
            <a:ext cx="7086600" cy="502920"/>
          </a:xfrm>
          <a:prstGeom prst="rect">
            <a:avLst/>
          </a:prstGeom>
          <a:noFill/>
          <a:ln/>
        </p:spPr>
        <p:txBody>
          <a:bodyPr wrap="square" lIns="635" tIns="635" rIns="635" bIns="635" rtlCol="0" anchor="t"/>
          <a:lstStyle/>
          <a:p>
            <a:pPr indent="0" marL="0">
              <a:buNone/>
            </a:pPr>
            <a:r>
              <a:rPr lang="en-US" sz="1200" i="1" dirty="0">
                <a:solidFill>
                  <a:schemeClr val="accent6"/>
                </a:solidFill>
              </a:rPr>
              <a:t>Figure: symptomatic confirmed or suspected cases by date of onset (n = 759); asymptomatic cases not shown. Reproduced from Kasper et al</a:t>
            </a:r>
            <a:r>
              <a:rPr lang="en-US" sz="1200" i="1" baseline="30000" dirty="0">
                <a:solidFill>
                  <a:schemeClr val="accent6"/>
                </a:solidFill>
              </a:rPr>
              <a:t>1</a:t>
            </a:r>
            <a:r>
              <a:rPr lang="en-US" sz="1200" i="1" dirty="0">
                <a:solidFill>
                  <a:schemeClr val="accent6"/>
                </a:solidFill>
              </a:rPr>
              <a:t> (Figure 2).</a:t>
            </a:r>
            <a:endParaRPr lang="en-US" sz="1200" dirty="0"/>
          </a:p>
        </p:txBody>
      </p:sp>
      <p:sp>
        <p:nvSpPr>
          <p:cNvPr id="7" name="curve interpretation"/>
          <p:cNvSpPr/>
          <p:nvPr/>
        </p:nvSpPr>
        <p:spPr>
          <a:xfrm>
            <a:off x="7955280" y="1325880"/>
            <a:ext cx="3657600" cy="4846320"/>
          </a:xfrm>
          <a:prstGeom prst="roundRect">
            <a:avLst>
              <a:gd name="adj" fmla="val 3000"/>
            </a:avLst>
          </a:prstGeom>
          <a:solidFill>
            <a:schemeClr val="bg2"/>
          </a:solidFill>
          <a:ln/>
        </p:spPr>
      </p:sp>
      <p:sp>
        <p:nvSpPr>
          <p:cNvPr id="8" name="Text 5"/>
          <p:cNvSpPr txBox="1"/>
          <p:nvPr/>
        </p:nvSpPr>
        <p:spPr>
          <a:xfrm>
            <a:off x="8183880" y="1463040"/>
            <a:ext cx="320040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Reading the curve</a:t>
            </a:r>
            <a:endParaRPr lang="en-US" sz="1800" dirty="0"/>
          </a:p>
        </p:txBody>
      </p:sp>
      <p:sp>
        <p:nvSpPr>
          <p:cNvPr id="9" name="Text 6"/>
          <p:cNvSpPr txBox="1"/>
          <p:nvPr/>
        </p:nvSpPr>
        <p:spPr>
          <a:xfrm>
            <a:off x="8183880" y="1965960"/>
            <a:ext cx="324612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b="1" dirty="0">
                <a:solidFill>
                  <a:schemeClr val="tx1"/>
                </a:solidFill>
              </a:rPr>
              <a:t>Introduction: </a:t>
            </a:r>
            <a:r>
              <a:rPr lang="en-US" sz="1350" dirty="0">
                <a:solidFill>
                  <a:schemeClr val="tx1"/>
                </a:solidFill>
              </a:rPr>
              <a:t>first onsets Mar 11–12, 2–7 days after the port visit and on the same days as the first COD arrivals,</a:t>
            </a:r>
            <a:r>
              <a:rPr lang="en-US" sz="1350" baseline="30000" dirty="0">
                <a:solidFill>
                  <a:schemeClr val="tx1"/>
                </a:solidFill>
              </a:rPr>
              <a:t>1</a:t>
            </a:r>
            <a:r>
              <a:rPr lang="en-US" sz="1350" dirty="0">
                <a:solidFill>
                  <a:schemeClr val="tx1"/>
                </a:solidFill>
              </a:rPr>
              <a:t> so the port visit fits better</a:t>
            </a:r>
            <a:endParaRPr lang="en-US" sz="1500" dirty="0"/>
          </a:p>
          <a:p>
            <a:pPr marL="203200" indent="-203200">
              <a:spcAft>
                <a:spcPts val="600"/>
              </a:spcAft>
              <a:buSzPct val="100000"/>
              <a:buChar char="•"/>
            </a:pPr>
            <a:r>
              <a:rPr lang="en-US" sz="1350" b="1" dirty="0">
                <a:solidFill>
                  <a:schemeClr val="tx1"/>
                </a:solidFill>
              </a:rPr>
              <a:t>Not a point source: </a:t>
            </a:r>
            <a:r>
              <a:rPr lang="en-US" sz="1350" dirty="0">
                <a:solidFill>
                  <a:schemeClr val="tx1"/>
                </a:solidFill>
              </a:rPr>
              <a:t>onsets span about 10 weeks, far beyond the 1–14-day incubation range</a:t>
            </a:r>
            <a:r>
              <a:rPr lang="en-US" sz="1350" baseline="30000" dirty="0">
                <a:solidFill>
                  <a:schemeClr val="tx1"/>
                </a:solidFill>
              </a:rPr>
              <a:t>2</a:t>
            </a:r>
            <a:endParaRPr lang="en-US" sz="1500" dirty="0"/>
          </a:p>
          <a:p>
            <a:pPr marL="203200" indent="-203200">
              <a:spcAft>
                <a:spcPts val="600"/>
              </a:spcAft>
              <a:buSzPct val="100000"/>
              <a:buChar char="•"/>
            </a:pPr>
            <a:r>
              <a:rPr lang="en-US" sz="1350" b="1" dirty="0">
                <a:solidFill>
                  <a:schemeClr val="tx1"/>
                </a:solidFill>
              </a:rPr>
              <a:t>Propagated: </a:t>
            </a:r>
            <a:r>
              <a:rPr lang="en-US" sz="1350" dirty="0">
                <a:solidFill>
                  <a:schemeClr val="tx1"/>
                </a:solidFill>
              </a:rPr>
              <a:t>a sustained rise from Mar 23 and a long, irregular tail into May fit ongoing person-to-person spread</a:t>
            </a:r>
            <a:endParaRPr lang="en-US" sz="1500" dirty="0"/>
          </a:p>
          <a:p>
            <a:pPr marL="203200" indent="-203200">
              <a:spcAft>
                <a:spcPts val="600"/>
              </a:spcAft>
              <a:buSzPct val="100000"/>
              <a:buChar char="•"/>
            </a:pPr>
            <a:r>
              <a:rPr lang="en-US" sz="1350" b="1" dirty="0">
                <a:solidFill>
                  <a:schemeClr val="tx1"/>
                </a:solidFill>
              </a:rPr>
              <a:t>Caution: </a:t>
            </a:r>
            <a:r>
              <a:rPr lang="en-US" sz="1350" dirty="0">
                <a:solidFill>
                  <a:schemeClr val="tx1"/>
                </a:solidFill>
              </a:rPr>
              <a:t>the Mar 23 jump partly reflects testing starting, not only new infections</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Silent Carriers: Why It Went Unseen</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45.0% = 572/1,271 (student calculation); Figure 1 shows 43.0% because it divides by all 1,331 cases.</a:t>
            </a:r>
            <a:endParaRPr lang="en-US" sz="1000" dirty="0"/>
          </a:p>
        </p:txBody>
      </p:sp>
      <p:graphicFrame>
        <p:nvGraphicFramePr>
          <p:cNvPr id="5" name="Chart 0" descr=""/>
          <p:cNvGraphicFramePr/>
          <p:nvPr/>
        </p:nvGraphicFramePr>
        <p:xfrm>
          <a:off x="548640" y="1280160"/>
          <a:ext cx="5852160" cy="4892040"/>
        </p:xfrm>
        <a:graphic xmlns:a="http://schemas.openxmlformats.org/drawingml/2006/main">
          <a:graphicData uri="http://schemas.openxmlformats.org/drawingml/2006/chart">
            <c:chart xmlns:c="http://schemas.openxmlformats.org/drawingml/2006/chart" r:id="rId1"/>
          </a:graphicData>
        </a:graphic>
      </p:graphicFrame>
      <p:sp>
        <p:nvSpPr>
          <p:cNvPr id="6" name="stat 1"/>
          <p:cNvSpPr/>
          <p:nvPr/>
        </p:nvSpPr>
        <p:spPr>
          <a:xfrm>
            <a:off x="6766560" y="1325880"/>
            <a:ext cx="4846320" cy="1143000"/>
          </a:xfrm>
          <a:prstGeom prst="roundRect">
            <a:avLst>
              <a:gd name="adj" fmla="val 9600"/>
            </a:avLst>
          </a:prstGeom>
          <a:solidFill>
            <a:schemeClr val="bg2"/>
          </a:solidFill>
          <a:ln/>
        </p:spPr>
      </p:sp>
      <p:sp>
        <p:nvSpPr>
          <p:cNvPr id="7" name="Text 4"/>
          <p:cNvSpPr txBox="1"/>
          <p:nvPr/>
        </p:nvSpPr>
        <p:spPr>
          <a:xfrm>
            <a:off x="6949440" y="1417320"/>
            <a:ext cx="1737360" cy="960120"/>
          </a:xfrm>
          <a:prstGeom prst="rect">
            <a:avLst/>
          </a:prstGeom>
          <a:noFill/>
          <a:ln/>
        </p:spPr>
        <p:txBody>
          <a:bodyPr wrap="square" lIns="635" tIns="635" rIns="635" bIns="635"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76.9%</a:t>
            </a:r>
            <a:endParaRPr lang="en-US" sz="3200" dirty="0"/>
          </a:p>
        </p:txBody>
      </p:sp>
      <p:sp>
        <p:nvSpPr>
          <p:cNvPr id="8" name="Text 5"/>
          <p:cNvSpPr txBox="1"/>
          <p:nvPr/>
        </p:nvSpPr>
        <p:spPr>
          <a:xfrm>
            <a:off x="8686800" y="141732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(978/1,271) had no symptoms on the day they tested positive</a:t>
            </a:r>
            <a:r>
              <a:rPr lang="en-US" sz="1400" baseline="30000" dirty="0">
                <a:solidFill>
                  <a:schemeClr val="tx1"/>
                </a:solidFill>
              </a:rPr>
              <a:t>1</a:t>
            </a:r>
            <a:endParaRPr lang="en-US" sz="1400" dirty="0"/>
          </a:p>
        </p:txBody>
      </p:sp>
      <p:sp>
        <p:nvSpPr>
          <p:cNvPr id="9" name="stat 2"/>
          <p:cNvSpPr/>
          <p:nvPr/>
        </p:nvSpPr>
        <p:spPr>
          <a:xfrm>
            <a:off x="6766560" y="2606040"/>
            <a:ext cx="4846320" cy="1143000"/>
          </a:xfrm>
          <a:prstGeom prst="roundRect">
            <a:avLst>
              <a:gd name="adj" fmla="val 9600"/>
            </a:avLst>
          </a:prstGeom>
          <a:solidFill>
            <a:schemeClr val="bg2"/>
          </a:solidFill>
          <a:ln/>
        </p:spPr>
      </p:sp>
      <p:sp>
        <p:nvSpPr>
          <p:cNvPr id="10" name="Text 7"/>
          <p:cNvSpPr txBox="1"/>
          <p:nvPr/>
        </p:nvSpPr>
        <p:spPr>
          <a:xfrm>
            <a:off x="6949440" y="2697480"/>
            <a:ext cx="1737360" cy="960120"/>
          </a:xfrm>
          <a:prstGeom prst="rect">
            <a:avLst/>
          </a:prstGeom>
          <a:noFill/>
          <a:ln/>
        </p:spPr>
        <p:txBody>
          <a:bodyPr wrap="square" lIns="635" tIns="635" rIns="635" bIns="635"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45.0%</a:t>
            </a:r>
            <a:endParaRPr lang="en-US" sz="3200" dirty="0"/>
          </a:p>
        </p:txBody>
      </p:sp>
      <p:sp>
        <p:nvSpPr>
          <p:cNvPr id="11" name="Text 8"/>
          <p:cNvSpPr txBox="1"/>
          <p:nvPr/>
        </p:nvSpPr>
        <p:spPr>
          <a:xfrm>
            <a:off x="8686800" y="269748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(572/1,271) never developed symptoms (student calculation)</a:t>
            </a:r>
            <a:endParaRPr lang="en-US" sz="1400" dirty="0"/>
          </a:p>
        </p:txBody>
      </p:sp>
      <p:sp>
        <p:nvSpPr>
          <p:cNvPr id="12" name="stat 3"/>
          <p:cNvSpPr/>
          <p:nvPr/>
        </p:nvSpPr>
        <p:spPr>
          <a:xfrm>
            <a:off x="6766560" y="3886200"/>
            <a:ext cx="4846320" cy="1143000"/>
          </a:xfrm>
          <a:prstGeom prst="roundRect">
            <a:avLst>
              <a:gd name="adj" fmla="val 9600"/>
            </a:avLst>
          </a:prstGeom>
          <a:solidFill>
            <a:schemeClr val="bg2"/>
          </a:solidFill>
          <a:ln/>
        </p:spPr>
      </p:sp>
      <p:sp>
        <p:nvSpPr>
          <p:cNvPr id="13" name="Text 10"/>
          <p:cNvSpPr txBox="1"/>
          <p:nvPr/>
        </p:nvSpPr>
        <p:spPr>
          <a:xfrm>
            <a:off x="6949440" y="3977640"/>
            <a:ext cx="1737360" cy="960120"/>
          </a:xfrm>
          <a:prstGeom prst="rect">
            <a:avLst/>
          </a:prstGeom>
          <a:noFill/>
          <a:ln/>
        </p:spPr>
        <p:txBody>
          <a:bodyPr wrap="square" lIns="635" tIns="635" rIns="635" bIns="635" rtlCol="0" anchor="ctr"/>
          <a:lstStyle/>
          <a:p>
            <a:pPr indent="0" marL="0">
              <a:buNone/>
            </a:pPr>
            <a:r>
              <a:rPr lang="en-US" sz="3200" b="1" dirty="0">
                <a:solidFill>
                  <a:schemeClr val="accent5"/>
                </a:solidFill>
                <a:latin typeface="Cambria" pitchFamily="34" charset="0"/>
                <a:ea typeface="Cambria" pitchFamily="34" charset="-122"/>
                <a:cs typeface="Cambria" pitchFamily="34" charset="-120"/>
              </a:rPr>
              <a:t>55.0%</a:t>
            </a:r>
            <a:endParaRPr lang="en-US" sz="3200" dirty="0"/>
          </a:p>
        </p:txBody>
      </p:sp>
      <p:sp>
        <p:nvSpPr>
          <p:cNvPr id="14" name="Text 11"/>
          <p:cNvSpPr txBox="1"/>
          <p:nvPr/>
        </p:nvSpPr>
        <p:spPr>
          <a:xfrm>
            <a:off x="8686800" y="397764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(699/1,271) had symptoms at some point</a:t>
            </a:r>
            <a:r>
              <a:rPr lang="en-US" sz="1400" baseline="30000" dirty="0">
                <a:solidFill>
                  <a:schemeClr val="tx1"/>
                </a:solidFill>
              </a:rPr>
              <a:t>1</a:t>
            </a:r>
            <a:endParaRPr lang="en-US" sz="1400" dirty="0"/>
          </a:p>
        </p:txBody>
      </p:sp>
      <p:sp>
        <p:nvSpPr>
          <p:cNvPr id="15" name="Text 12"/>
          <p:cNvSpPr txBox="1"/>
          <p:nvPr/>
        </p:nvSpPr>
        <p:spPr>
          <a:xfrm>
            <a:off x="6766560" y="5257800"/>
            <a:ext cx="4846320" cy="914400"/>
          </a:xfrm>
          <a:prstGeom prst="rect">
            <a:avLst/>
          </a:prstGeom>
          <a:noFill/>
          <a:ln/>
        </p:spPr>
        <p:txBody>
          <a:bodyPr wrap="square" lIns="635" tIns="635" rIns="635" bIns="635" rtlCol="0" anchor="t"/>
          <a:lstStyle/>
          <a:p>
            <a:pPr indent="0" marL="0">
              <a:buNone/>
            </a:pPr>
            <a:r>
              <a:rPr lang="en-US" sz="1500" b="1" dirty="0">
                <a:solidFill>
                  <a:schemeClr val="accent2"/>
                </a:solidFill>
              </a:rPr>
              <a:t>So what? </a:t>
            </a:r>
            <a:r>
              <a:rPr lang="en-US" sz="1500" dirty="0">
                <a:solidFill>
                  <a:schemeClr val="tx1"/>
                </a:solidFill>
              </a:rPr>
              <a:t>Isolating only symptomatic sailors could not have controlled this outbreak. Most infected sailors could not be identified without testing.</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Person: Who Was Affected?</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Attack rates: student calculation from reference 1 data.</a:t>
            </a:r>
            <a:endParaRPr lang="en-US" sz="1000" dirty="0"/>
          </a:p>
        </p:txBody>
      </p:sp>
      <p:sp>
        <p:nvSpPr>
          <p:cNvPr id="5" name="Text 3"/>
          <p:cNvSpPr txBox="1"/>
          <p:nvPr/>
        </p:nvSpPr>
        <p:spPr>
          <a:xfrm>
            <a:off x="548640" y="5532120"/>
            <a:ext cx="7315200" cy="365760"/>
          </a:xfrm>
          <a:prstGeom prst="rect">
            <a:avLst/>
          </a:prstGeom>
          <a:noFill/>
          <a:ln/>
        </p:spPr>
        <p:txBody>
          <a:bodyPr wrap="square" lIns="635" tIns="635" rIns="635" bIns="635" rtlCol="0" anchor="t"/>
          <a:lstStyle/>
          <a:p>
            <a:pPr indent="0" marL="0">
              <a:buNone/>
            </a:pPr>
            <a:r>
              <a:rPr lang="en-US" sz="1200" i="1" dirty="0">
                <a:solidFill>
                  <a:schemeClr val="accent6"/>
                </a:solidFill>
              </a:rPr>
              <a:t>Table: cases and odds ratios from Kasper et al</a:t>
            </a:r>
            <a:r>
              <a:rPr lang="en-US" sz="1200" i="1" baseline="30000" dirty="0">
                <a:solidFill>
                  <a:schemeClr val="accent6"/>
                </a:solidFill>
              </a:rPr>
              <a:t>1</a:t>
            </a:r>
            <a:r>
              <a:rPr lang="en-US" sz="1200" i="1" dirty="0">
                <a:solidFill>
                  <a:schemeClr val="accent6"/>
                </a:solidFill>
              </a:rPr>
              <a:t> Table 1; attack rates calculated by the student</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240280"/>
                <a:gridCol w="2057400"/>
                <a:gridCol w="1325880"/>
                <a:gridCol w="1691640"/>
              </a:tblGrid>
              <a:tr h="457200">
                <a:tc>
                  <a:txBody>
                    <a:bodyPr/>
                    <a:lstStyle/>
                    <a:p>
                      <a:pPr indent="0" marL="0">
                        <a:buNone/>
                      </a:pPr>
                      <a:r>
                        <a:rPr lang="en-US" sz="1400" b="1" dirty="0">
                          <a:solidFill>
                            <a:srgbClr val="FFFFFF"/>
                          </a:solidFill>
                        </a:rPr>
                        <a:t>Characteristic</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Cases / group</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Attack rate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OR (95% CI), reported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457200">
                <a:tc>
                  <a:txBody>
                    <a:bodyPr/>
                    <a:lstStyle/>
                    <a:p>
                      <a:pPr indent="0" marL="0">
                        <a:buNone/>
                      </a:pPr>
                      <a:r>
                        <a:rPr lang="en-US" sz="1300" dirty="0">
                          <a:solidFill>
                            <a:srgbClr val="1B1B1E"/>
                          </a:solidFill>
                        </a:rPr>
                        <a:t>Female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289 / 1,046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0.99 (0.85–1.15)</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Male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1,042 / 3,733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27.9%</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b="1" dirty="0">
                          <a:solidFill>
                            <a:srgbClr val="D1495B"/>
                          </a:solidFill>
                        </a:rPr>
                        <a:t>Enlisted</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1,231 / 4,311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28.6%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1.48 (1.17–1.87)</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Officer</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98 / 461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21.3%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b="1" dirty="0">
                          <a:solidFill>
                            <a:srgbClr val="D1495B"/>
                          </a:solidFill>
                        </a:rPr>
                        <a:t>Obese (BMI ≥30)</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267 / 851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31.4%</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1.33 (1.11–1.61)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Underweight/normal BMI</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389 / 1,524</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25.5%</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Black / Hispanic / White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261/851 · 273/965 · 568/2,081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30.7 · 28.3 · 27.3%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No significant difference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Mean age, cases vs non-cases</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27.1 vs 27.2 y</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7" name="interpretation card"/>
          <p:cNvSpPr/>
          <p:nvPr/>
        </p:nvSpPr>
        <p:spPr>
          <a:xfrm>
            <a:off x="8183880" y="1325880"/>
            <a:ext cx="3429000" cy="4846320"/>
          </a:xfrm>
          <a:prstGeom prst="roundRect">
            <a:avLst>
              <a:gd name="adj" fmla="val 3200"/>
            </a:avLst>
          </a:prstGeom>
          <a:solidFill>
            <a:schemeClr val="bg2"/>
          </a:solidFill>
          <a:ln/>
        </p:spPr>
      </p:sp>
      <p:sp>
        <p:nvSpPr>
          <p:cNvPr id="8" name="Text 5"/>
          <p:cNvSpPr txBox="1"/>
          <p:nvPr/>
        </p:nvSpPr>
        <p:spPr>
          <a:xfrm>
            <a:off x="8412480" y="1463040"/>
            <a:ext cx="301752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it means</a:t>
            </a:r>
            <a:endParaRPr lang="en-US" sz="1800" dirty="0"/>
          </a:p>
        </p:txBody>
      </p:sp>
      <p:sp>
        <p:nvSpPr>
          <p:cNvPr id="9" name="Text 6"/>
          <p:cNvSpPr txBox="1"/>
          <p:nvPr/>
        </p:nvSpPr>
        <p:spPr>
          <a:xfrm>
            <a:off x="8412480" y="1965960"/>
            <a:ext cx="306324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chemeClr val="tx1"/>
                </a:solidFill>
              </a:rPr>
              <a:t>Sex and race made little difference (attack rates about 25–31%), so who a sailor was mattered less than how they lived and worked</a:t>
            </a:r>
            <a:r>
              <a:rPr lang="en-US" sz="1350" baseline="30000" dirty="0">
                <a:solidFill>
                  <a:schemeClr val="tx1"/>
                </a:solidFill>
              </a:rPr>
              <a:t>1</a:t>
            </a:r>
            <a:endParaRPr lang="en-US" sz="1500" dirty="0"/>
          </a:p>
          <a:p>
            <a:pPr marL="203200" indent="-203200">
              <a:spcAft>
                <a:spcPts val="600"/>
              </a:spcAft>
              <a:buSzPct val="100000"/>
              <a:buChar char="•"/>
            </a:pPr>
            <a:r>
              <a:rPr lang="en-US" sz="1350" dirty="0">
                <a:solidFill>
                  <a:schemeClr val="tx1"/>
                </a:solidFill>
              </a:rPr>
              <a:t>Age: only mean age is reported (27.1 vs 27.2 y), so age-specific rates are unknown</a:t>
            </a:r>
            <a:r>
              <a:rPr lang="en-US" sz="1350" baseline="30000" dirty="0">
                <a:solidFill>
                  <a:schemeClr val="tx1"/>
                </a:solidFill>
              </a:rPr>
              <a:t>1</a:t>
            </a:r>
            <a:endParaRPr lang="en-US" sz="1500" dirty="0"/>
          </a:p>
          <a:p>
            <a:pPr marL="203200" indent="-203200">
              <a:spcAft>
                <a:spcPts val="600"/>
              </a:spcAft>
              <a:buSzPct val="100000"/>
              <a:buChar char="•"/>
            </a:pPr>
            <a:r>
              <a:rPr lang="en-US" sz="1350" dirty="0">
                <a:solidFill>
                  <a:schemeClr val="tx1"/>
                </a:solidFill>
              </a:rPr>
              <a:t>Enlisted sailors had more risk, most likely because enlisted crew sleep in open bays of tightly spaced bunks</a:t>
            </a:r>
            <a:r>
              <a:rPr lang="en-US" sz="1350" baseline="30000" dirty="0">
                <a:solidFill>
                  <a:schemeClr val="tx1"/>
                </a:solidFill>
              </a:rPr>
              <a:t>1</a:t>
            </a:r>
            <a:endParaRPr lang="en-US" sz="1500" dirty="0"/>
          </a:p>
          <a:p>
            <a:pPr marL="203200" indent="-203200">
              <a:spcAft>
                <a:spcPts val="600"/>
              </a:spcAft>
              <a:buSzPct val="100000"/>
              <a:buChar char="•"/>
            </a:pPr>
            <a:r>
              <a:rPr lang="en-US" sz="1350" dirty="0">
                <a:solidFill>
                  <a:schemeClr val="tx1"/>
                </a:solidFill>
              </a:rPr>
              <a:t>Obesity carried a modest risk; obese sailors were 35% of those hospitalized, and asthma and hypertension were over-represented too (22% each)</a:t>
            </a:r>
            <a:r>
              <a:rPr lang="en-US" sz="13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Place: Confined Spaces Hit Hardest</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Attack rates and RR: student calculation from reference 1 data.</a:t>
            </a:r>
            <a:endParaRPr lang="en-US" sz="1000" dirty="0"/>
          </a:p>
        </p:txBody>
      </p:sp>
      <p:graphicFrame>
        <p:nvGraphicFramePr>
          <p:cNvPr id="5" name="Chart 0" descr=""/>
          <p:cNvGraphicFramePr/>
          <p:nvPr/>
        </p:nvGraphicFramePr>
        <p:xfrm>
          <a:off x="548640" y="1280160"/>
          <a:ext cx="6949440" cy="4892040"/>
        </p:xfrm>
        <a:graphic xmlns:a="http://schemas.openxmlformats.org/drawingml/2006/main">
          <a:graphicData uri="http://schemas.openxmlformats.org/drawingml/2006/chart">
            <c:chart xmlns:c="http://schemas.openxmlformats.org/drawingml/2006/chart" r:id="rId1"/>
          </a:graphicData>
        </a:graphic>
      </p:graphicFrame>
      <p:sp>
        <p:nvSpPr>
          <p:cNvPr id="6" name="RR callout"/>
          <p:cNvSpPr/>
          <p:nvPr/>
        </p:nvSpPr>
        <p:spPr>
          <a:xfrm>
            <a:off x="7818120" y="1325880"/>
            <a:ext cx="3794760" cy="2377440"/>
          </a:xfrm>
          <a:prstGeom prst="roundRect">
            <a:avLst>
              <a:gd name="adj" fmla="val 4615"/>
            </a:avLst>
          </a:prstGeom>
          <a:solidFill>
            <a:schemeClr val="tx2"/>
          </a:solidFill>
          <a:ln/>
        </p:spPr>
      </p:sp>
      <p:sp>
        <p:nvSpPr>
          <p:cNvPr id="7" name="Text 4"/>
          <p:cNvSpPr txBox="1"/>
          <p:nvPr/>
        </p:nvSpPr>
        <p:spPr>
          <a:xfrm>
            <a:off x="8046720" y="1417320"/>
            <a:ext cx="3383280" cy="777240"/>
          </a:xfrm>
          <a:prstGeom prst="rect">
            <a:avLst/>
          </a:prstGeom>
          <a:noFill/>
          <a:ln/>
        </p:spPr>
        <p:txBody>
          <a:bodyPr wrap="square" lIns="635" tIns="635" rIns="635" bIns="635" rtlCol="0" anchor="t"/>
          <a:lstStyle/>
          <a:p>
            <a:pPr indent="0" marL="0">
              <a:buNone/>
            </a:pPr>
            <a:r>
              <a:rPr lang="en-US" sz="4000" b="1" dirty="0">
                <a:solidFill>
                  <a:schemeClr val="bg1"/>
                </a:solidFill>
                <a:latin typeface="Cambria" pitchFamily="34" charset="0"/>
                <a:ea typeface="Cambria" pitchFamily="34" charset="-122"/>
                <a:cs typeface="Cambria" pitchFamily="34" charset="-120"/>
              </a:rPr>
              <a:t>RR 2.63</a:t>
            </a:r>
            <a:endParaRPr lang="en-US" sz="4000" dirty="0"/>
          </a:p>
        </p:txBody>
      </p:sp>
      <p:sp>
        <p:nvSpPr>
          <p:cNvPr id="8" name="Text 5"/>
          <p:cNvSpPr txBox="1"/>
          <p:nvPr/>
        </p:nvSpPr>
        <p:spPr>
          <a:xfrm>
            <a:off x="8046720" y="2194560"/>
            <a:ext cx="3383280" cy="1417320"/>
          </a:xfrm>
          <a:prstGeom prst="rect">
            <a:avLst/>
          </a:prstGeom>
          <a:noFill/>
          <a:ln/>
        </p:spPr>
        <p:txBody>
          <a:bodyPr wrap="square" lIns="635" tIns="635" rIns="635" bIns="635" rtlCol="0" anchor="t"/>
          <a:lstStyle/>
          <a:p>
            <a:pPr indent="0" marL="0">
              <a:buNone/>
            </a:pPr>
            <a:r>
              <a:rPr lang="en-US" sz="1400" dirty="0">
                <a:solidFill>
                  <a:schemeClr val="bg1"/>
                </a:solidFill>
              </a:rPr>
              <a:t>Confined-space crew were about 2.6 times as likely to be infected as air and deck crew: 33.3% (476/1,430) vs 12.7% (69/545). 95% CI 2.08–3.32.</a:t>
            </a:r>
            <a:endParaRPr lang="en-US" sz="1400" dirty="0"/>
          </a:p>
        </p:txBody>
      </p:sp>
      <p:sp>
        <p:nvSpPr>
          <p:cNvPr id="9" name="medical callout"/>
          <p:cNvSpPr/>
          <p:nvPr/>
        </p:nvSpPr>
        <p:spPr>
          <a:xfrm>
            <a:off x="7818120" y="3886200"/>
            <a:ext cx="3794760" cy="2286000"/>
          </a:xfrm>
          <a:prstGeom prst="roundRect">
            <a:avLst>
              <a:gd name="adj" fmla="val 4800"/>
            </a:avLst>
          </a:prstGeom>
          <a:solidFill>
            <a:schemeClr val="bg2"/>
          </a:solidFill>
          <a:ln/>
        </p:spPr>
      </p:sp>
      <p:sp>
        <p:nvSpPr>
          <p:cNvPr id="10" name="Text 7"/>
          <p:cNvSpPr txBox="1"/>
          <p:nvPr/>
        </p:nvSpPr>
        <p:spPr>
          <a:xfrm>
            <a:off x="8046720" y="3977640"/>
            <a:ext cx="3383280" cy="2103120"/>
          </a:xfrm>
          <a:prstGeom prst="rect">
            <a:avLst/>
          </a:prstGeom>
          <a:noFill/>
          <a:ln/>
        </p:spPr>
        <p:txBody>
          <a:bodyPr wrap="square" lIns="635" tIns="635" rIns="635" bIns="635" rtlCol="0" anchor="t"/>
          <a:lstStyle/>
          <a:p>
            <a:pPr indent="0" marL="0">
              <a:buNone/>
            </a:pPr>
            <a:r>
              <a:rPr lang="en-US" sz="1400" b="1" dirty="0">
                <a:solidFill>
                  <a:schemeClr val="tx2"/>
                </a:solidFill>
              </a:rPr>
              <a:t>Medical department: 16.7% (8/48)</a:t>
            </a:r>
            <a:r>
              <a:rPr lang="en-US" sz="1400" b="1" baseline="30000" dirty="0">
                <a:solidFill>
                  <a:schemeClr val="tx2"/>
                </a:solidFill>
              </a:rPr>
              <a:t>1</a:t>
            </a:r>
            <a:endParaRPr lang="en-US" sz="1400" dirty="0"/>
          </a:p>
          <a:p>
            <a:pPr indent="0" marL="0">
              <a:buNone/>
            </a:pPr>
            <a:r>
              <a:rPr lang="en-US" sz="1400" dirty="0">
                <a:solidFill>
                  <a:schemeClr val="tx1"/>
                </a:solidFill>
              </a:rPr>
              <a:t>Despite the closest exposure to sick sailors, their attack rate was somewhat below the crew average (27.9%), consistent with PPE helping. But PPE use was not measured and n = 48, so treat it as a hint, not proof.</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The Scorecard: How Big Was the Risk?</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4   </a:t>
            </a:r>
            <a:r>
              <a:rPr lang="en-US" sz="1100" b="1" spc="100" kern="0" dirty="0">
                <a:solidFill>
                  <a:schemeClr val="accent6"/>
                </a:solidFill>
              </a:rPr>
              <a:t>HOW DID IT SPREAD, AND HOW SURE ARE WE?</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R = reported in reference 1; S = student calculation from reference 1 data.</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498080" cy="914400"/>
        </p:xfrm>
        <a:graphic>
          <a:graphicData uri="http://schemas.openxmlformats.org/drawingml/2006/table">
            <a:tbl>
              <a:tblPr/>
              <a:tblGrid>
                <a:gridCol w="3200400"/>
                <a:gridCol w="1828800"/>
                <a:gridCol w="1874520"/>
                <a:gridCol w="594360"/>
              </a:tblGrid>
              <a:tr h="457200">
                <a:tc>
                  <a:txBody>
                    <a:bodyPr/>
                    <a:lstStyle/>
                    <a:p>
                      <a:pPr indent="0" marL="0">
                        <a:buNone/>
                      </a:pPr>
                      <a:r>
                        <a:rPr lang="en-US" sz="1400" b="1" dirty="0">
                          <a:solidFill>
                            <a:srgbClr val="FFFFFF"/>
                          </a:solidFill>
                        </a:rPr>
                        <a:t>Measure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Calculation</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Value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Src</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457200">
                <a:tc>
                  <a:txBody>
                    <a:bodyPr/>
                    <a:lstStyle/>
                    <a:p>
                      <a:pPr indent="0" marL="0">
                        <a:buNone/>
                      </a:pPr>
                      <a:r>
                        <a:rPr lang="en-US" sz="1350" dirty="0">
                          <a:solidFill>
                            <a:srgbClr val="1B1B1E"/>
                          </a:solidFill>
                        </a:rPr>
                        <a:t>Overall attack rate (confirmed)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1,271 / 4,779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26.6%</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Attack rate (confirmed + suspected)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1,331 / 4,779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Asymptomatic proportion of confirmed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572 / 1,271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45.0%</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Hospitalization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23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1.7%</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ICU admission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4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0.3%</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Case-fatality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0.08%</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confined vs air/deck</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33.3% ÷ 12.7%</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2.63 (2.08–3.32)</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enlisted vs officer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28.6% ÷ 21.3%</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1.34 (1.12–1.61)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obese vs BMI &lt;25</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31.4% ÷ 25.5%</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1.23 (1.08–1.40)</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6" name="measure interpretation"/>
          <p:cNvSpPr/>
          <p:nvPr/>
        </p:nvSpPr>
        <p:spPr>
          <a:xfrm>
            <a:off x="8366760" y="1325880"/>
            <a:ext cx="3246120" cy="4846320"/>
          </a:xfrm>
          <a:prstGeom prst="roundRect">
            <a:avLst>
              <a:gd name="adj" fmla="val 3380"/>
            </a:avLst>
          </a:prstGeom>
          <a:solidFill>
            <a:schemeClr val="bg2"/>
          </a:solidFill>
          <a:ln/>
        </p:spPr>
      </p:sp>
      <p:sp>
        <p:nvSpPr>
          <p:cNvPr id="7" name="Text 4"/>
          <p:cNvSpPr txBox="1"/>
          <p:nvPr/>
        </p:nvSpPr>
        <p:spPr>
          <a:xfrm>
            <a:off x="8595360" y="1463040"/>
            <a:ext cx="283464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Interpretation</a:t>
            </a:r>
            <a:endParaRPr lang="en-US" sz="1800" dirty="0"/>
          </a:p>
        </p:txBody>
      </p:sp>
      <p:sp>
        <p:nvSpPr>
          <p:cNvPr id="8" name="Text 5"/>
          <p:cNvSpPr txBox="1"/>
          <p:nvPr/>
        </p:nvSpPr>
        <p:spPr>
          <a:xfrm>
            <a:off x="8595360" y="1965960"/>
            <a:ext cx="288036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chemeClr val="tx1"/>
                </a:solidFill>
              </a:rPr>
              <a:t>More than 1 in 4 sailors were infected within about 8 weeks</a:t>
            </a:r>
            <a:r>
              <a:rPr lang="en-US" sz="1350" baseline="30000" dirty="0">
                <a:solidFill>
                  <a:schemeClr val="tx1"/>
                </a:solidFill>
              </a:rPr>
              <a:t>1</a:t>
            </a:r>
            <a:r>
              <a:rPr lang="en-US" sz="1350" dirty="0">
                <a:solidFill>
                  <a:schemeClr val="tx1"/>
                </a:solidFill>
              </a:rPr>
              <a:t>: very high transmission</a:t>
            </a:r>
            <a:endParaRPr lang="en-US" sz="1500" dirty="0"/>
          </a:p>
          <a:p>
            <a:pPr marL="203200" indent="-203200">
              <a:spcAft>
                <a:spcPts val="600"/>
              </a:spcAft>
              <a:buSzPct val="100000"/>
              <a:buChar char="•"/>
            </a:pPr>
            <a:r>
              <a:rPr lang="en-US" sz="1350" dirty="0">
                <a:solidFill>
                  <a:schemeClr val="tx1"/>
                </a:solidFill>
              </a:rPr>
              <a:t>Severity was very low (CFP &lt;0.1%), reflecting a young, healthy population, not a milder virus</a:t>
            </a:r>
            <a:endParaRPr lang="en-US" sz="1500" dirty="0"/>
          </a:p>
          <a:p>
            <a:pPr marL="203200" indent="-203200">
              <a:spcAft>
                <a:spcPts val="600"/>
              </a:spcAft>
              <a:buSzPct val="100000"/>
              <a:buChar char="•"/>
            </a:pPr>
            <a:r>
              <a:rPr lang="en-US" sz="1350" dirty="0">
                <a:solidFill>
                  <a:schemeClr val="tx1"/>
                </a:solidFill>
              </a:rPr>
              <a:t>Because the whole crew was tested there is no sampling error, though some infections may have been missed or misclassified</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Testing the Clues: Reported ORs</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4   </a:t>
            </a:r>
            <a:r>
              <a:rPr lang="en-US" sz="1100" b="1" spc="100" kern="0" dirty="0">
                <a:solidFill>
                  <a:schemeClr val="accent6"/>
                </a:solidFill>
              </a:rPr>
              <a:t>HOW DID IT SPREAD, AND HOW SURE ARE WE?</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ORs as reported: univariate, not adjusted.</a:t>
            </a:r>
            <a:endParaRPr lang="en-US" sz="1000" dirty="0"/>
          </a:p>
        </p:txBody>
      </p:sp>
      <p:sp>
        <p:nvSpPr>
          <p:cNvPr id="5" name="null line"/>
          <p:cNvSpPr/>
          <p:nvPr/>
        </p:nvSpPr>
        <p:spPr>
          <a:xfrm>
            <a:off x="5845182" y="1645920"/>
            <a:ext cx="0" cy="4069080"/>
          </a:xfrm>
          <a:prstGeom prst="line">
            <a:avLst/>
          </a:prstGeom>
          <a:noFill/>
          <a:ln w="12700">
            <a:solidFill>
              <a:srgbClr val="5C6B7A"/>
            </a:solidFill>
            <a:prstDash val="dash"/>
          </a:ln>
        </p:spPr>
      </p:sp>
      <p:sp>
        <p:nvSpPr>
          <p:cNvPr id="6" name="x axis"/>
          <p:cNvSpPr/>
          <p:nvPr/>
        </p:nvSpPr>
        <p:spPr>
          <a:xfrm>
            <a:off x="3108960" y="5715000"/>
            <a:ext cx="4206240" cy="0"/>
          </a:xfrm>
          <a:prstGeom prst="line">
            <a:avLst/>
          </a:prstGeom>
          <a:noFill/>
          <a:ln w="12700">
            <a:solidFill>
              <a:srgbClr val="5C6B7A"/>
            </a:solidFill>
            <a:prstDash val="solid"/>
          </a:ln>
        </p:spPr>
      </p:sp>
      <p:sp>
        <p:nvSpPr>
          <p:cNvPr id="7" name="Text 5"/>
          <p:cNvSpPr txBox="1"/>
          <p:nvPr/>
        </p:nvSpPr>
        <p:spPr>
          <a:xfrm>
            <a:off x="3467742"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0.1</a:t>
            </a:r>
            <a:endParaRPr lang="en-US" sz="1100" dirty="0"/>
          </a:p>
        </p:txBody>
      </p:sp>
      <p:sp>
        <p:nvSpPr>
          <p:cNvPr id="8" name="Text 6"/>
          <p:cNvSpPr txBox="1"/>
          <p:nvPr/>
        </p:nvSpPr>
        <p:spPr>
          <a:xfrm>
            <a:off x="4304658"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0.25</a:t>
            </a:r>
            <a:endParaRPr lang="en-US" sz="1100" dirty="0"/>
          </a:p>
        </p:txBody>
      </p:sp>
      <p:sp>
        <p:nvSpPr>
          <p:cNvPr id="9" name="Text 7"/>
          <p:cNvSpPr txBox="1"/>
          <p:nvPr/>
        </p:nvSpPr>
        <p:spPr>
          <a:xfrm>
            <a:off x="4937760"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0.5</a:t>
            </a:r>
            <a:endParaRPr lang="en-US" sz="1100" dirty="0"/>
          </a:p>
        </p:txBody>
      </p:sp>
      <p:sp>
        <p:nvSpPr>
          <p:cNvPr id="10" name="Text 8"/>
          <p:cNvSpPr txBox="1"/>
          <p:nvPr/>
        </p:nvSpPr>
        <p:spPr>
          <a:xfrm>
            <a:off x="5570862"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1</a:t>
            </a:r>
            <a:endParaRPr lang="en-US" sz="1100" dirty="0"/>
          </a:p>
        </p:txBody>
      </p:sp>
      <p:sp>
        <p:nvSpPr>
          <p:cNvPr id="11" name="Text 9"/>
          <p:cNvSpPr txBox="1"/>
          <p:nvPr/>
        </p:nvSpPr>
        <p:spPr>
          <a:xfrm>
            <a:off x="6203964"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2</a:t>
            </a:r>
            <a:endParaRPr lang="en-US" sz="1100" dirty="0"/>
          </a:p>
        </p:txBody>
      </p:sp>
      <p:sp>
        <p:nvSpPr>
          <p:cNvPr id="12" name="Text 10"/>
          <p:cNvSpPr txBox="1"/>
          <p:nvPr/>
        </p:nvSpPr>
        <p:spPr>
          <a:xfrm>
            <a:off x="6837067"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4</a:t>
            </a:r>
            <a:endParaRPr lang="en-US" sz="1100" dirty="0"/>
          </a:p>
        </p:txBody>
      </p:sp>
      <p:sp>
        <p:nvSpPr>
          <p:cNvPr id="13" name="Text 11"/>
          <p:cNvSpPr txBox="1"/>
          <p:nvPr/>
        </p:nvSpPr>
        <p:spPr>
          <a:xfrm>
            <a:off x="3108960" y="6035040"/>
            <a:ext cx="4206240" cy="274320"/>
          </a:xfrm>
          <a:prstGeom prst="rect">
            <a:avLst/>
          </a:prstGeom>
          <a:noFill/>
          <a:ln/>
        </p:spPr>
        <p:txBody>
          <a:bodyPr wrap="square" lIns="635" tIns="635" rIns="635" bIns="635" rtlCol="0" anchor="t"/>
          <a:lstStyle/>
          <a:p>
            <a:pPr algn="ctr" indent="0" marL="0">
              <a:buNone/>
            </a:pPr>
            <a:r>
              <a:rPr lang="en-US" sz="1200" dirty="0">
                <a:solidFill>
                  <a:schemeClr val="accent6"/>
                </a:solidFill>
              </a:rPr>
              <a:t>Odds ratio (log scale)</a:t>
            </a:r>
            <a:endParaRPr lang="en-US" sz="1200" dirty="0"/>
          </a:p>
        </p:txBody>
      </p:sp>
      <p:sp>
        <p:nvSpPr>
          <p:cNvPr id="14" name="Text 12"/>
          <p:cNvSpPr txBox="1"/>
          <p:nvPr/>
        </p:nvSpPr>
        <p:spPr>
          <a:xfrm>
            <a:off x="7406640" y="1371600"/>
            <a:ext cx="1737360" cy="320040"/>
          </a:xfrm>
          <a:prstGeom prst="rect">
            <a:avLst/>
          </a:prstGeom>
          <a:noFill/>
          <a:ln/>
        </p:spPr>
        <p:txBody>
          <a:bodyPr wrap="square" lIns="635" tIns="635" rIns="635" bIns="635" rtlCol="0" anchor="t"/>
          <a:lstStyle/>
          <a:p>
            <a:pPr indent="0" marL="0">
              <a:buNone/>
            </a:pPr>
            <a:r>
              <a:rPr lang="en-US" sz="1200" b="1" dirty="0">
                <a:solidFill>
                  <a:schemeClr val="accent6"/>
                </a:solidFill>
              </a:rPr>
              <a:t>OR (95% CI)</a:t>
            </a:r>
            <a:r>
              <a:rPr lang="en-US" sz="1200" b="1" baseline="30000" dirty="0">
                <a:solidFill>
                  <a:schemeClr val="accent6"/>
                </a:solidFill>
              </a:rPr>
              <a:t>1</a:t>
            </a:r>
            <a:endParaRPr lang="en-US" sz="1200" dirty="0"/>
          </a:p>
        </p:txBody>
      </p:sp>
      <p:sp>
        <p:nvSpPr>
          <p:cNvPr id="15" name="Text 13"/>
          <p:cNvSpPr txBox="1"/>
          <p:nvPr/>
        </p:nvSpPr>
        <p:spPr>
          <a:xfrm>
            <a:off x="548640" y="1815084"/>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Weapons (vs Air)</a:t>
            </a:r>
            <a:endParaRPr lang="en-US" sz="1300" dirty="0"/>
          </a:p>
        </p:txBody>
      </p:sp>
      <p:sp>
        <p:nvSpPr>
          <p:cNvPr id="16" name="ci Weapons (vs Air)"/>
          <p:cNvSpPr/>
          <p:nvPr/>
        </p:nvSpPr>
        <p:spPr>
          <a:xfrm>
            <a:off x="6440999" y="1979676"/>
            <a:ext cx="623538" cy="0"/>
          </a:xfrm>
          <a:prstGeom prst="line">
            <a:avLst/>
          </a:prstGeom>
          <a:noFill/>
          <a:ln w="25400">
            <a:solidFill>
              <a:srgbClr val="D1495B"/>
            </a:solidFill>
            <a:prstDash val="solid"/>
          </a:ln>
        </p:spPr>
      </p:sp>
      <p:sp>
        <p:nvSpPr>
          <p:cNvPr id="17" name="point Weapons (vs Air)"/>
          <p:cNvSpPr/>
          <p:nvPr/>
        </p:nvSpPr>
        <p:spPr>
          <a:xfrm>
            <a:off x="6679240" y="1906524"/>
            <a:ext cx="146304" cy="146304"/>
          </a:xfrm>
          <a:prstGeom prst="rect">
            <a:avLst/>
          </a:prstGeom>
          <a:solidFill>
            <a:srgbClr val="D1495B"/>
          </a:solidFill>
          <a:ln/>
        </p:spPr>
      </p:sp>
      <p:sp>
        <p:nvSpPr>
          <p:cNvPr id="18" name="Text 16"/>
          <p:cNvSpPr txBox="1"/>
          <p:nvPr/>
        </p:nvSpPr>
        <p:spPr>
          <a:xfrm>
            <a:off x="7406640" y="1815084"/>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2.70 (1.92–3.80)</a:t>
            </a:r>
            <a:endParaRPr lang="en-US" sz="1250" dirty="0"/>
          </a:p>
        </p:txBody>
      </p:sp>
      <p:sp>
        <p:nvSpPr>
          <p:cNvPr id="19" name="Text 17"/>
          <p:cNvSpPr txBox="1"/>
          <p:nvPr/>
        </p:nvSpPr>
        <p:spPr>
          <a:xfrm>
            <a:off x="548640" y="2208276"/>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Supply (vs Air)</a:t>
            </a:r>
            <a:endParaRPr lang="en-US" sz="1300" dirty="0"/>
          </a:p>
        </p:txBody>
      </p:sp>
      <p:sp>
        <p:nvSpPr>
          <p:cNvPr id="20" name="ci Supply (vs Air)"/>
          <p:cNvSpPr/>
          <p:nvPr/>
        </p:nvSpPr>
        <p:spPr>
          <a:xfrm>
            <a:off x="6371846" y="2372868"/>
            <a:ext cx="552695" cy="0"/>
          </a:xfrm>
          <a:prstGeom prst="line">
            <a:avLst/>
          </a:prstGeom>
          <a:noFill/>
          <a:ln w="25400">
            <a:solidFill>
              <a:srgbClr val="D1495B"/>
            </a:solidFill>
            <a:prstDash val="solid"/>
          </a:ln>
        </p:spPr>
      </p:sp>
      <p:sp>
        <p:nvSpPr>
          <p:cNvPr id="21" name="point Supply (vs Air)"/>
          <p:cNvSpPr/>
          <p:nvPr/>
        </p:nvSpPr>
        <p:spPr>
          <a:xfrm>
            <a:off x="6575458" y="2299716"/>
            <a:ext cx="146304" cy="146304"/>
          </a:xfrm>
          <a:prstGeom prst="rect">
            <a:avLst/>
          </a:prstGeom>
          <a:solidFill>
            <a:srgbClr val="D1495B"/>
          </a:solidFill>
          <a:ln/>
        </p:spPr>
      </p:sp>
      <p:sp>
        <p:nvSpPr>
          <p:cNvPr id="22" name="Text 20"/>
          <p:cNvSpPr txBox="1"/>
          <p:nvPr/>
        </p:nvSpPr>
        <p:spPr>
          <a:xfrm>
            <a:off x="7406640" y="2208276"/>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2.41 (1.78–3.26)</a:t>
            </a:r>
            <a:endParaRPr lang="en-US" sz="1250" dirty="0"/>
          </a:p>
        </p:txBody>
      </p:sp>
      <p:sp>
        <p:nvSpPr>
          <p:cNvPr id="23" name="Text 21"/>
          <p:cNvSpPr txBox="1"/>
          <p:nvPr/>
        </p:nvSpPr>
        <p:spPr>
          <a:xfrm>
            <a:off x="548640" y="2601468"/>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Engineering (vs Air)</a:t>
            </a:r>
            <a:endParaRPr lang="en-US" sz="1300" dirty="0"/>
          </a:p>
        </p:txBody>
      </p:sp>
      <p:sp>
        <p:nvSpPr>
          <p:cNvPr id="24" name="ci Engineering (vs Air)"/>
          <p:cNvSpPr/>
          <p:nvPr/>
        </p:nvSpPr>
        <p:spPr>
          <a:xfrm>
            <a:off x="6077766" y="2766060"/>
            <a:ext cx="664421" cy="0"/>
          </a:xfrm>
          <a:prstGeom prst="line">
            <a:avLst/>
          </a:prstGeom>
          <a:noFill/>
          <a:ln w="25400">
            <a:solidFill>
              <a:srgbClr val="D1495B"/>
            </a:solidFill>
            <a:prstDash val="solid"/>
          </a:ln>
        </p:spPr>
      </p:sp>
      <p:sp>
        <p:nvSpPr>
          <p:cNvPr id="25" name="point Engineering (vs Air)"/>
          <p:cNvSpPr/>
          <p:nvPr/>
        </p:nvSpPr>
        <p:spPr>
          <a:xfrm>
            <a:off x="6333924" y="2692908"/>
            <a:ext cx="146304" cy="146304"/>
          </a:xfrm>
          <a:prstGeom prst="rect">
            <a:avLst/>
          </a:prstGeom>
          <a:solidFill>
            <a:srgbClr val="D1495B"/>
          </a:solidFill>
          <a:ln/>
        </p:spPr>
      </p:sp>
      <p:sp>
        <p:nvSpPr>
          <p:cNvPr id="26" name="Text 24"/>
          <p:cNvSpPr txBox="1"/>
          <p:nvPr/>
        </p:nvSpPr>
        <p:spPr>
          <a:xfrm>
            <a:off x="7406640" y="2601468"/>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1.85 (1.29–2.67)</a:t>
            </a:r>
            <a:endParaRPr lang="en-US" sz="1250" dirty="0"/>
          </a:p>
        </p:txBody>
      </p:sp>
      <p:sp>
        <p:nvSpPr>
          <p:cNvPr id="27" name="Text 25"/>
          <p:cNvSpPr txBox="1"/>
          <p:nvPr/>
        </p:nvSpPr>
        <p:spPr>
          <a:xfrm>
            <a:off x="548640" y="2994660"/>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Reactor (vs Air)</a:t>
            </a:r>
            <a:endParaRPr lang="en-US" sz="1300" dirty="0"/>
          </a:p>
        </p:txBody>
      </p:sp>
      <p:sp>
        <p:nvSpPr>
          <p:cNvPr id="28" name="ci Reactor (vs Air)"/>
          <p:cNvSpPr/>
          <p:nvPr/>
        </p:nvSpPr>
        <p:spPr>
          <a:xfrm>
            <a:off x="6077766" y="3159252"/>
            <a:ext cx="551695" cy="0"/>
          </a:xfrm>
          <a:prstGeom prst="line">
            <a:avLst/>
          </a:prstGeom>
          <a:noFill/>
          <a:ln w="25400">
            <a:solidFill>
              <a:srgbClr val="D1495B"/>
            </a:solidFill>
            <a:prstDash val="solid"/>
          </a:ln>
        </p:spPr>
      </p:sp>
      <p:sp>
        <p:nvSpPr>
          <p:cNvPr id="29" name="point Reactor (vs Air)"/>
          <p:cNvSpPr/>
          <p:nvPr/>
        </p:nvSpPr>
        <p:spPr>
          <a:xfrm>
            <a:off x="6272670" y="3086100"/>
            <a:ext cx="146304" cy="146304"/>
          </a:xfrm>
          <a:prstGeom prst="rect">
            <a:avLst/>
          </a:prstGeom>
          <a:solidFill>
            <a:srgbClr val="D1495B"/>
          </a:solidFill>
          <a:ln/>
        </p:spPr>
      </p:sp>
      <p:sp>
        <p:nvSpPr>
          <p:cNvPr id="30" name="Text 28"/>
          <p:cNvSpPr txBox="1"/>
          <p:nvPr/>
        </p:nvSpPr>
        <p:spPr>
          <a:xfrm>
            <a:off x="7406640" y="2994660"/>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1.73 (1.29–2.36)</a:t>
            </a:r>
            <a:endParaRPr lang="en-US" sz="1250" dirty="0"/>
          </a:p>
        </p:txBody>
      </p:sp>
      <p:sp>
        <p:nvSpPr>
          <p:cNvPr id="31" name="Text 29"/>
          <p:cNvSpPr txBox="1"/>
          <p:nvPr/>
        </p:nvSpPr>
        <p:spPr>
          <a:xfrm>
            <a:off x="548640" y="3387852"/>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Combat support (vs Air)</a:t>
            </a:r>
            <a:endParaRPr lang="en-US" sz="1300" dirty="0"/>
          </a:p>
        </p:txBody>
      </p:sp>
      <p:sp>
        <p:nvSpPr>
          <p:cNvPr id="32" name="ci Combat support (vs Air)"/>
          <p:cNvSpPr/>
          <p:nvPr/>
        </p:nvSpPr>
        <p:spPr>
          <a:xfrm>
            <a:off x="5347643" y="3552444"/>
            <a:ext cx="758014" cy="0"/>
          </a:xfrm>
          <a:prstGeom prst="line">
            <a:avLst/>
          </a:prstGeom>
          <a:noFill/>
          <a:ln w="25400">
            <a:solidFill>
              <a:srgbClr val="5C6B7A"/>
            </a:solidFill>
            <a:prstDash val="solid"/>
          </a:ln>
        </p:spPr>
      </p:sp>
      <p:sp>
        <p:nvSpPr>
          <p:cNvPr id="33" name="point Combat support (vs Air)"/>
          <p:cNvSpPr/>
          <p:nvPr/>
        </p:nvSpPr>
        <p:spPr>
          <a:xfrm>
            <a:off x="5655271" y="3479292"/>
            <a:ext cx="146304" cy="146304"/>
          </a:xfrm>
          <a:prstGeom prst="rect">
            <a:avLst/>
          </a:prstGeom>
          <a:solidFill>
            <a:srgbClr val="5C6B7A"/>
          </a:solidFill>
          <a:ln/>
        </p:spPr>
      </p:sp>
      <p:sp>
        <p:nvSpPr>
          <p:cNvPr id="34" name="Text 32"/>
          <p:cNvSpPr txBox="1"/>
          <p:nvPr/>
        </p:nvSpPr>
        <p:spPr>
          <a:xfrm>
            <a:off x="7406640" y="3387852"/>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0.88 (0.58–1.33)</a:t>
            </a:r>
            <a:endParaRPr lang="en-US" sz="1250" dirty="0"/>
          </a:p>
        </p:txBody>
      </p:sp>
      <p:sp>
        <p:nvSpPr>
          <p:cNvPr id="35" name="Text 33"/>
          <p:cNvSpPr txBox="1"/>
          <p:nvPr/>
        </p:nvSpPr>
        <p:spPr>
          <a:xfrm>
            <a:off x="548640" y="3781044"/>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Medical (vs Air)</a:t>
            </a:r>
            <a:endParaRPr lang="en-US" sz="1300" dirty="0"/>
          </a:p>
        </p:txBody>
      </p:sp>
      <p:sp>
        <p:nvSpPr>
          <p:cNvPr id="36" name="ci Medical (vs Air)"/>
          <p:cNvSpPr/>
          <p:nvPr/>
        </p:nvSpPr>
        <p:spPr>
          <a:xfrm>
            <a:off x="4859826" y="3945636"/>
            <a:ext cx="1453756" cy="0"/>
          </a:xfrm>
          <a:prstGeom prst="line">
            <a:avLst/>
          </a:prstGeom>
          <a:noFill/>
          <a:ln w="25400">
            <a:solidFill>
              <a:srgbClr val="5C6B7A"/>
            </a:solidFill>
            <a:prstDash val="solid"/>
          </a:ln>
        </p:spPr>
      </p:sp>
      <p:sp>
        <p:nvSpPr>
          <p:cNvPr id="37" name="point Medical (vs Air)"/>
          <p:cNvSpPr/>
          <p:nvPr/>
        </p:nvSpPr>
        <p:spPr>
          <a:xfrm>
            <a:off x="5521367" y="3872484"/>
            <a:ext cx="146304" cy="146304"/>
          </a:xfrm>
          <a:prstGeom prst="rect">
            <a:avLst/>
          </a:prstGeom>
          <a:solidFill>
            <a:srgbClr val="5C6B7A"/>
          </a:solidFill>
          <a:ln/>
        </p:spPr>
      </p:sp>
      <p:sp>
        <p:nvSpPr>
          <p:cNvPr id="38" name="Text 36"/>
          <p:cNvSpPr txBox="1"/>
          <p:nvPr/>
        </p:nvSpPr>
        <p:spPr>
          <a:xfrm>
            <a:off x="7406640" y="3781044"/>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0.76 (0.34–1.67)</a:t>
            </a:r>
            <a:endParaRPr lang="en-US" sz="1250" dirty="0"/>
          </a:p>
        </p:txBody>
      </p:sp>
      <p:sp>
        <p:nvSpPr>
          <p:cNvPr id="39" name="Text 37"/>
          <p:cNvSpPr txBox="1"/>
          <p:nvPr/>
        </p:nvSpPr>
        <p:spPr>
          <a:xfrm>
            <a:off x="548640" y="4174236"/>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Deck (vs Air)</a:t>
            </a:r>
            <a:endParaRPr lang="en-US" sz="1300" dirty="0"/>
          </a:p>
        </p:txBody>
      </p:sp>
      <p:sp>
        <p:nvSpPr>
          <p:cNvPr id="40" name="ci Deck (vs Air)"/>
          <p:cNvSpPr/>
          <p:nvPr/>
        </p:nvSpPr>
        <p:spPr>
          <a:xfrm>
            <a:off x="3416285" y="4338828"/>
            <a:ext cx="1831618" cy="0"/>
          </a:xfrm>
          <a:prstGeom prst="line">
            <a:avLst/>
          </a:prstGeom>
          <a:noFill/>
          <a:ln w="25400">
            <a:solidFill>
              <a:srgbClr val="0B2545"/>
            </a:solidFill>
            <a:prstDash val="solid"/>
          </a:ln>
        </p:spPr>
      </p:sp>
      <p:sp>
        <p:nvSpPr>
          <p:cNvPr id="41" name="point Deck (vs Air)"/>
          <p:cNvSpPr/>
          <p:nvPr/>
        </p:nvSpPr>
        <p:spPr>
          <a:xfrm>
            <a:off x="4205779" y="4265676"/>
            <a:ext cx="146304" cy="146304"/>
          </a:xfrm>
          <a:prstGeom prst="rect">
            <a:avLst/>
          </a:prstGeom>
          <a:solidFill>
            <a:srgbClr val="0B2545"/>
          </a:solidFill>
          <a:ln/>
        </p:spPr>
      </p:sp>
      <p:sp>
        <p:nvSpPr>
          <p:cNvPr id="42" name="Text 40"/>
          <p:cNvSpPr txBox="1"/>
          <p:nvPr/>
        </p:nvSpPr>
        <p:spPr>
          <a:xfrm>
            <a:off x="7406640" y="4174236"/>
            <a:ext cx="1737360" cy="329184"/>
          </a:xfrm>
          <a:prstGeom prst="rect">
            <a:avLst/>
          </a:prstGeom>
          <a:noFill/>
          <a:ln/>
        </p:spPr>
        <p:txBody>
          <a:bodyPr wrap="square" lIns="635" tIns="635" rIns="635" bIns="635" rtlCol="0" anchor="ctr"/>
          <a:lstStyle/>
          <a:p>
            <a:pPr indent="0" marL="0">
              <a:buNone/>
            </a:pPr>
            <a:r>
              <a:rPr lang="en-US" sz="1250" b="1" dirty="0">
                <a:solidFill>
                  <a:srgbClr val="0B2545"/>
                </a:solidFill>
              </a:rPr>
              <a:t>0.18 (0.07–0.52)</a:t>
            </a:r>
            <a:endParaRPr lang="en-US" sz="1250" dirty="0"/>
          </a:p>
        </p:txBody>
      </p:sp>
      <p:sp>
        <p:nvSpPr>
          <p:cNvPr id="43" name="Text 41"/>
          <p:cNvSpPr txBox="1"/>
          <p:nvPr/>
        </p:nvSpPr>
        <p:spPr>
          <a:xfrm>
            <a:off x="548640" y="4567428"/>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Enlisted (vs Officer)</a:t>
            </a:r>
            <a:endParaRPr lang="en-US" sz="1300" dirty="0"/>
          </a:p>
        </p:txBody>
      </p:sp>
      <p:sp>
        <p:nvSpPr>
          <p:cNvPr id="44" name="ci Enlisted (vs Officer)"/>
          <p:cNvSpPr/>
          <p:nvPr/>
        </p:nvSpPr>
        <p:spPr>
          <a:xfrm>
            <a:off x="5988585" y="4732020"/>
            <a:ext cx="428312" cy="0"/>
          </a:xfrm>
          <a:prstGeom prst="line">
            <a:avLst/>
          </a:prstGeom>
          <a:noFill/>
          <a:ln w="25400">
            <a:solidFill>
              <a:srgbClr val="D1495B"/>
            </a:solidFill>
            <a:prstDash val="solid"/>
          </a:ln>
        </p:spPr>
      </p:sp>
      <p:sp>
        <p:nvSpPr>
          <p:cNvPr id="45" name="point Enlisted (vs Officer)"/>
          <p:cNvSpPr/>
          <p:nvPr/>
        </p:nvSpPr>
        <p:spPr>
          <a:xfrm>
            <a:off x="6130111" y="4658868"/>
            <a:ext cx="146304" cy="146304"/>
          </a:xfrm>
          <a:prstGeom prst="rect">
            <a:avLst/>
          </a:prstGeom>
          <a:solidFill>
            <a:srgbClr val="D1495B"/>
          </a:solidFill>
          <a:ln/>
        </p:spPr>
      </p:sp>
      <p:sp>
        <p:nvSpPr>
          <p:cNvPr id="46" name="Text 44"/>
          <p:cNvSpPr txBox="1"/>
          <p:nvPr/>
        </p:nvSpPr>
        <p:spPr>
          <a:xfrm>
            <a:off x="7406640" y="4567428"/>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1.48 (1.17–1.87)</a:t>
            </a:r>
            <a:endParaRPr lang="en-US" sz="1250" dirty="0"/>
          </a:p>
        </p:txBody>
      </p:sp>
      <p:sp>
        <p:nvSpPr>
          <p:cNvPr id="47" name="Text 45"/>
          <p:cNvSpPr txBox="1"/>
          <p:nvPr/>
        </p:nvSpPr>
        <p:spPr>
          <a:xfrm>
            <a:off x="548640" y="4960620"/>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Obese (vs BMI &lt;25)</a:t>
            </a:r>
            <a:endParaRPr lang="en-US" sz="1300" dirty="0"/>
          </a:p>
        </p:txBody>
      </p:sp>
      <p:sp>
        <p:nvSpPr>
          <p:cNvPr id="48" name="ci Obese (vs BMI &lt;25)"/>
          <p:cNvSpPr/>
          <p:nvPr/>
        </p:nvSpPr>
        <p:spPr>
          <a:xfrm>
            <a:off x="5940502" y="5125212"/>
            <a:ext cx="339660" cy="0"/>
          </a:xfrm>
          <a:prstGeom prst="line">
            <a:avLst/>
          </a:prstGeom>
          <a:noFill/>
          <a:ln w="25400">
            <a:solidFill>
              <a:srgbClr val="D1495B"/>
            </a:solidFill>
            <a:prstDash val="solid"/>
          </a:ln>
        </p:spPr>
      </p:sp>
      <p:sp>
        <p:nvSpPr>
          <p:cNvPr id="49" name="point Obese (vs BMI &lt;25)"/>
          <p:cNvSpPr/>
          <p:nvPr/>
        </p:nvSpPr>
        <p:spPr>
          <a:xfrm>
            <a:off x="6032505" y="5052060"/>
            <a:ext cx="146304" cy="146304"/>
          </a:xfrm>
          <a:prstGeom prst="rect">
            <a:avLst/>
          </a:prstGeom>
          <a:solidFill>
            <a:srgbClr val="D1495B"/>
          </a:solidFill>
          <a:ln/>
        </p:spPr>
      </p:sp>
      <p:sp>
        <p:nvSpPr>
          <p:cNvPr id="50" name="Text 48"/>
          <p:cNvSpPr txBox="1"/>
          <p:nvPr/>
        </p:nvSpPr>
        <p:spPr>
          <a:xfrm>
            <a:off x="7406640" y="4960620"/>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1.33 (1.11–1.61)</a:t>
            </a:r>
            <a:endParaRPr lang="en-US" sz="1250" dirty="0"/>
          </a:p>
        </p:txBody>
      </p:sp>
      <p:sp>
        <p:nvSpPr>
          <p:cNvPr id="51" name="Text 49"/>
          <p:cNvSpPr txBox="1"/>
          <p:nvPr/>
        </p:nvSpPr>
        <p:spPr>
          <a:xfrm>
            <a:off x="548640" y="5353812"/>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Female (vs Male)</a:t>
            </a:r>
            <a:endParaRPr lang="en-US" sz="1300" dirty="0"/>
          </a:p>
        </p:txBody>
      </p:sp>
      <p:sp>
        <p:nvSpPr>
          <p:cNvPr id="52" name="ci Female (vs Male)"/>
          <p:cNvSpPr/>
          <p:nvPr/>
        </p:nvSpPr>
        <p:spPr>
          <a:xfrm>
            <a:off x="5696742" y="5518404"/>
            <a:ext cx="276095" cy="0"/>
          </a:xfrm>
          <a:prstGeom prst="line">
            <a:avLst/>
          </a:prstGeom>
          <a:noFill/>
          <a:ln w="25400">
            <a:solidFill>
              <a:srgbClr val="5C6B7A"/>
            </a:solidFill>
            <a:prstDash val="solid"/>
          </a:ln>
        </p:spPr>
      </p:sp>
      <p:sp>
        <p:nvSpPr>
          <p:cNvPr id="53" name="point Female (vs Male)"/>
          <p:cNvSpPr/>
          <p:nvPr/>
        </p:nvSpPr>
        <p:spPr>
          <a:xfrm>
            <a:off x="5762850" y="5445252"/>
            <a:ext cx="146304" cy="146304"/>
          </a:xfrm>
          <a:prstGeom prst="rect">
            <a:avLst/>
          </a:prstGeom>
          <a:solidFill>
            <a:srgbClr val="5C6B7A"/>
          </a:solidFill>
          <a:ln/>
        </p:spPr>
      </p:sp>
      <p:sp>
        <p:nvSpPr>
          <p:cNvPr id="54" name="Text 52"/>
          <p:cNvSpPr txBox="1"/>
          <p:nvPr/>
        </p:nvSpPr>
        <p:spPr>
          <a:xfrm>
            <a:off x="7406640" y="5353812"/>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0.99 (0.85–1.15)</a:t>
            </a:r>
            <a:endParaRPr lang="en-US" sz="1250" dirty="0"/>
          </a:p>
        </p:txBody>
      </p:sp>
      <p:sp>
        <p:nvSpPr>
          <p:cNvPr id="55" name="OR interpretation"/>
          <p:cNvSpPr/>
          <p:nvPr/>
        </p:nvSpPr>
        <p:spPr>
          <a:xfrm>
            <a:off x="9326880" y="1325880"/>
            <a:ext cx="2286000" cy="4846320"/>
          </a:xfrm>
          <a:prstGeom prst="roundRect">
            <a:avLst>
              <a:gd name="adj" fmla="val 4800"/>
            </a:avLst>
          </a:prstGeom>
          <a:solidFill>
            <a:schemeClr val="bg2"/>
          </a:solidFill>
          <a:ln/>
        </p:spPr>
      </p:sp>
      <p:sp>
        <p:nvSpPr>
          <p:cNvPr id="56" name="Text 54"/>
          <p:cNvSpPr txBox="1"/>
          <p:nvPr/>
        </p:nvSpPr>
        <p:spPr>
          <a:xfrm>
            <a:off x="9464040" y="1463040"/>
            <a:ext cx="2057400" cy="461772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chemeClr val="tx1"/>
                </a:solidFill>
              </a:rPr>
              <a:t>CIs that exclude 1 (colored) are statistically significant</a:t>
            </a:r>
            <a:endParaRPr lang="en-US" sz="1500" dirty="0"/>
          </a:p>
          <a:p>
            <a:pPr marL="203200" indent="-203200">
              <a:spcAft>
                <a:spcPts val="600"/>
              </a:spcAft>
              <a:buSzPct val="100000"/>
              <a:buChar char="•"/>
            </a:pPr>
            <a:r>
              <a:rPr lang="en-US" sz="1300" dirty="0">
                <a:solidFill>
                  <a:schemeClr val="tx1"/>
                </a:solidFill>
              </a:rPr>
              <a:t>Weapons had the highest reported OR (2.70)</a:t>
            </a:r>
            <a:r>
              <a:rPr lang="en-US" sz="1300" baseline="30000" dirty="0">
                <a:solidFill>
                  <a:schemeClr val="tx1"/>
                </a:solidFill>
              </a:rPr>
              <a:t>1</a:t>
            </a:r>
            <a:endParaRPr lang="en-US" sz="1500" dirty="0"/>
          </a:p>
          <a:p>
            <a:pPr marL="203200" indent="-203200">
              <a:spcAft>
                <a:spcPts val="600"/>
              </a:spcAft>
              <a:buSzPct val="100000"/>
              <a:buChar char="•"/>
            </a:pPr>
            <a:r>
              <a:rPr lang="en-US" sz="1300" b="1" dirty="0">
                <a:solidFill>
                  <a:schemeClr val="tx1"/>
                </a:solidFill>
              </a:rPr>
              <a:t>OR ≠ RR here: </a:t>
            </a:r>
            <a:r>
              <a:rPr lang="en-US" sz="1300" dirty="0">
                <a:solidFill>
                  <a:schemeClr val="tx1"/>
                </a:solidFill>
              </a:rPr>
              <a:t>with a common outcome (28%), the OR overstates risk. Enlisted OR 1.48 vs RR 1.34</a:t>
            </a:r>
            <a:endParaRPr lang="en-US" sz="1500" dirty="0"/>
          </a:p>
          <a:p>
            <a:pPr marL="203200" indent="-203200">
              <a:spcAft>
                <a:spcPts val="600"/>
              </a:spcAft>
              <a:buSzPct val="100000"/>
              <a:buChar char="•"/>
            </a:pPr>
            <a:r>
              <a:rPr lang="en-US" sz="1300" b="1" dirty="0">
                <a:solidFill>
                  <a:schemeClr val="tx1"/>
                </a:solidFill>
              </a:rPr>
              <a:t>Check: </a:t>
            </a:r>
            <a:r>
              <a:rPr lang="en-US" sz="1300" dirty="0">
                <a:solidFill>
                  <a:schemeClr val="tx1"/>
                </a:solidFill>
              </a:rPr>
              <a:t>department ORs don't reproduce from Table 1 counts vs Air (crude Weapons OR = 4.32)</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Interpretation: Association or Causation?</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4   </a:t>
            </a:r>
            <a:r>
              <a:rPr lang="en-US" sz="1100" b="1" spc="100" kern="0" dirty="0">
                <a:solidFill>
                  <a:schemeClr val="accent6"/>
                </a:solidFill>
              </a:rPr>
              <a:t>HOW DID IT SPREAD, AND HOW SURE ARE WE?</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5. Payne DC, et al. MMWR Morb Mortal Wkly Rep. 2020.</a:t>
            </a:r>
            <a:endParaRPr lang="en-US" sz="1000" dirty="0"/>
          </a:p>
        </p:txBody>
      </p:sp>
      <p:sp>
        <p:nvSpPr>
          <p:cNvPr id="5" name="main finding"/>
          <p:cNvSpPr/>
          <p:nvPr/>
        </p:nvSpPr>
        <p:spPr>
          <a:xfrm>
            <a:off x="548640" y="1325880"/>
            <a:ext cx="5394960" cy="2194560"/>
          </a:xfrm>
          <a:prstGeom prst="roundRect">
            <a:avLst>
              <a:gd name="adj" fmla="val 5000"/>
            </a:avLst>
          </a:prstGeom>
          <a:solidFill>
            <a:schemeClr val="tx2"/>
          </a:solidFill>
          <a:ln/>
        </p:spPr>
      </p:sp>
      <p:sp>
        <p:nvSpPr>
          <p:cNvPr id="6" name="Text 4"/>
          <p:cNvSpPr txBox="1"/>
          <p:nvPr/>
        </p:nvSpPr>
        <p:spPr>
          <a:xfrm>
            <a:off x="777240" y="1463040"/>
            <a:ext cx="4937760" cy="411480"/>
          </a:xfrm>
          <a:prstGeom prst="rect">
            <a:avLst/>
          </a:prstGeom>
          <a:noFill/>
          <a:ln/>
        </p:spPr>
        <p:txBody>
          <a:bodyPr wrap="square" lIns="635" tIns="635" rIns="635" bIns="635" rtlCol="0" anchor="t"/>
          <a:lstStyle/>
          <a:p>
            <a:pPr indent="0" marL="0">
              <a:buNone/>
            </a:pPr>
            <a:r>
              <a:rPr lang="en-US" sz="1700" b="1" dirty="0">
                <a:solidFill>
                  <a:schemeClr val="accent4"/>
                </a:solidFill>
                <a:latin typeface="Cambria" pitchFamily="34" charset="0"/>
                <a:ea typeface="Cambria" pitchFamily="34" charset="-122"/>
                <a:cs typeface="Cambria" pitchFamily="34" charset="-120"/>
              </a:rPr>
              <a:t>Most important finding</a:t>
            </a:r>
            <a:endParaRPr lang="en-US" sz="1700" dirty="0"/>
          </a:p>
        </p:txBody>
      </p:sp>
      <p:sp>
        <p:nvSpPr>
          <p:cNvPr id="7" name="Text 5"/>
          <p:cNvSpPr txBox="1"/>
          <p:nvPr/>
        </p:nvSpPr>
        <p:spPr>
          <a:xfrm>
            <a:off x="777240" y="1920240"/>
            <a:ext cx="4937760" cy="1508760"/>
          </a:xfrm>
          <a:prstGeom prst="rect">
            <a:avLst/>
          </a:prstGeom>
          <a:noFill/>
          <a:ln/>
        </p:spPr>
        <p:txBody>
          <a:bodyPr wrap="square" lIns="635" tIns="635" rIns="635" bIns="635" rtlCol="0" anchor="t"/>
          <a:lstStyle/>
          <a:p>
            <a:pPr indent="0" marL="0">
              <a:buNone/>
            </a:pPr>
            <a:r>
              <a:rPr lang="en-US" sz="1600" dirty="0">
                <a:solidFill>
                  <a:schemeClr val="bg1"/>
                </a:solidFill>
              </a:rPr>
              <a:t>Close-quarters conditions and asymptomatic and presymptomatic sailors facilitated rapid person-to-person spread.</a:t>
            </a:r>
            <a:r>
              <a:rPr lang="en-US" sz="1600" baseline="30000" dirty="0">
                <a:solidFill>
                  <a:schemeClr val="bg1"/>
                </a:solidFill>
              </a:rPr>
              <a:t>1</a:t>
            </a:r>
            <a:endParaRPr lang="en-US" sz="1600" dirty="0"/>
          </a:p>
        </p:txBody>
      </p:sp>
      <p:sp>
        <p:nvSpPr>
          <p:cNvPr id="8" name="source evidence"/>
          <p:cNvSpPr/>
          <p:nvPr/>
        </p:nvSpPr>
        <p:spPr>
          <a:xfrm>
            <a:off x="548640" y="3703320"/>
            <a:ext cx="5394960" cy="2468880"/>
          </a:xfrm>
          <a:prstGeom prst="roundRect">
            <a:avLst>
              <a:gd name="adj" fmla="val 4444"/>
            </a:avLst>
          </a:prstGeom>
          <a:solidFill>
            <a:schemeClr val="bg2"/>
          </a:solidFill>
          <a:ln/>
        </p:spPr>
      </p:sp>
      <p:sp>
        <p:nvSpPr>
          <p:cNvPr id="9" name="Text 7"/>
          <p:cNvSpPr txBox="1"/>
          <p:nvPr/>
        </p:nvSpPr>
        <p:spPr>
          <a:xfrm>
            <a:off x="777240" y="3794760"/>
            <a:ext cx="4937760" cy="411480"/>
          </a:xfrm>
          <a:prstGeom prst="rect">
            <a:avLst/>
          </a:prstGeom>
          <a:noFill/>
          <a:ln/>
        </p:spPr>
        <p:txBody>
          <a:bodyPr wrap="square" lIns="635" tIns="635" rIns="635" bIns="635" rtlCol="0" anchor="t"/>
          <a:lstStyle/>
          <a:p>
            <a:pPr indent="0" marL="0">
              <a:buNone/>
            </a:pPr>
            <a:r>
              <a:rPr lang="en-US" sz="1700" b="1" dirty="0">
                <a:solidFill>
                  <a:schemeClr val="tx2"/>
                </a:solidFill>
                <a:latin typeface="Cambria" pitchFamily="34" charset="0"/>
                <a:ea typeface="Cambria" pitchFamily="34" charset="-122"/>
                <a:cs typeface="Cambria" pitchFamily="34" charset="-120"/>
              </a:rPr>
              <a:t>Source and mode: the evidence</a:t>
            </a:r>
            <a:endParaRPr lang="en-US" sz="1700" dirty="0"/>
          </a:p>
        </p:txBody>
      </p:sp>
      <p:sp>
        <p:nvSpPr>
          <p:cNvPr id="10" name="Text 8"/>
          <p:cNvSpPr txBox="1"/>
          <p:nvPr/>
        </p:nvSpPr>
        <p:spPr>
          <a:xfrm>
            <a:off x="777240" y="4251960"/>
            <a:ext cx="4937760" cy="182880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Source of introduction not determined (port visit or COD flights)</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Mode: the propagated curve and the crowding pattern (enlisted &gt; officers; confined &gt; open air) point to close-contact respiratory spread</a:t>
            </a:r>
            <a:endParaRPr lang="en-US" sz="1500" dirty="0"/>
          </a:p>
        </p:txBody>
      </p:sp>
      <p:sp>
        <p:nvSpPr>
          <p:cNvPr id="11" name="Text 9"/>
          <p:cNvSpPr txBox="1"/>
          <p:nvPr/>
        </p:nvSpPr>
        <p:spPr>
          <a:xfrm>
            <a:off x="6263640" y="1325880"/>
            <a:ext cx="5303520" cy="411480"/>
          </a:xfrm>
          <a:prstGeom prst="rect">
            <a:avLst/>
          </a:prstGeom>
          <a:noFill/>
          <a:ln/>
        </p:spPr>
        <p:txBody>
          <a:bodyPr wrap="square" lIns="635" tIns="635" rIns="635" bIns="635" rtlCol="0" anchor="t"/>
          <a:lstStyle/>
          <a:p>
            <a:pPr indent="0" marL="0">
              <a:buNone/>
            </a:pPr>
            <a:r>
              <a:rPr lang="en-US" sz="1700" b="1" dirty="0">
                <a:solidFill>
                  <a:schemeClr val="tx2"/>
                </a:solidFill>
                <a:latin typeface="Cambria" pitchFamily="34" charset="0"/>
                <a:ea typeface="Cambria" pitchFamily="34" charset="-122"/>
                <a:cs typeface="Cambria" pitchFamily="34" charset="-120"/>
              </a:rPr>
              <a:t>Weighing causality</a:t>
            </a:r>
            <a:endParaRPr lang="en-US" sz="1700" dirty="0"/>
          </a:p>
        </p:txBody>
      </p:sp>
      <p:sp>
        <p:nvSpPr>
          <p:cNvPr id="12" name="Strength icon circle"/>
          <p:cNvSpPr/>
          <p:nvPr/>
        </p:nvSpPr>
        <p:spPr>
          <a:xfrm>
            <a:off x="6263640" y="1874520"/>
            <a:ext cx="457200" cy="457200"/>
          </a:xfrm>
          <a:prstGeom prst="ellipse">
            <a:avLst/>
          </a:prstGeom>
          <a:solidFill>
            <a:schemeClr val="accent1"/>
          </a:solidFill>
          <a:ln/>
        </p:spPr>
      </p:sp>
      <p:pic>
        <p:nvPicPr>
          <p:cNvPr id="13" name="Strength icon" descr="Strength icon">    </p:cNvPr>
          <p:cNvPicPr>
            <a:picLocks noChangeAspect="1"/>
          </p:cNvPicPr>
          <p:nvPr/>
        </p:nvPicPr>
        <p:blipFill>
          <a:blip r:embed="rId1"/>
          <a:stretch>
            <a:fillRect/>
          </a:stretch>
        </p:blipFill>
        <p:spPr>
          <a:xfrm>
            <a:off x="6373368" y="1984248"/>
            <a:ext cx="237744" cy="237744"/>
          </a:xfrm>
          <a:prstGeom prst="rect">
            <a:avLst/>
          </a:prstGeom>
        </p:spPr>
      </p:pic>
      <p:sp>
        <p:nvSpPr>
          <p:cNvPr id="14" name="Text 11"/>
          <p:cNvSpPr txBox="1"/>
          <p:nvPr/>
        </p:nvSpPr>
        <p:spPr>
          <a:xfrm>
            <a:off x="6858000" y="1810512"/>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Strength: </a:t>
            </a:r>
            <a:r>
              <a:rPr lang="en-US" sz="1400" dirty="0">
                <a:solidFill>
                  <a:schemeClr val="tx1"/>
                </a:solidFill>
              </a:rPr>
              <a:t>RR 2.6 for confined work; CI excludes 1</a:t>
            </a:r>
            <a:endParaRPr lang="en-US" sz="1400" dirty="0"/>
          </a:p>
        </p:txBody>
      </p:sp>
      <p:sp>
        <p:nvSpPr>
          <p:cNvPr id="15" name="Consistency icon circle"/>
          <p:cNvSpPr/>
          <p:nvPr/>
        </p:nvSpPr>
        <p:spPr>
          <a:xfrm>
            <a:off x="6263640" y="2596896"/>
            <a:ext cx="457200" cy="457200"/>
          </a:xfrm>
          <a:prstGeom prst="ellipse">
            <a:avLst/>
          </a:prstGeom>
          <a:solidFill>
            <a:schemeClr val="accent1"/>
          </a:solidFill>
          <a:ln/>
        </p:spPr>
      </p:sp>
      <p:pic>
        <p:nvPicPr>
          <p:cNvPr id="16" name="Consistency icon" descr="Consistency icon">    </p:cNvPr>
          <p:cNvPicPr>
            <a:picLocks noChangeAspect="1"/>
          </p:cNvPicPr>
          <p:nvPr/>
        </p:nvPicPr>
        <p:blipFill>
          <a:blip r:embed="rId2"/>
          <a:stretch>
            <a:fillRect/>
          </a:stretch>
        </p:blipFill>
        <p:spPr>
          <a:xfrm>
            <a:off x="6373368" y="2706624"/>
            <a:ext cx="237744" cy="237744"/>
          </a:xfrm>
          <a:prstGeom prst="rect">
            <a:avLst/>
          </a:prstGeom>
        </p:spPr>
      </p:pic>
      <p:sp>
        <p:nvSpPr>
          <p:cNvPr id="17" name="Text 13"/>
          <p:cNvSpPr txBox="1"/>
          <p:nvPr/>
        </p:nvSpPr>
        <p:spPr>
          <a:xfrm>
            <a:off x="6858000" y="2532888"/>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Consistency: </a:t>
            </a:r>
            <a:r>
              <a:rPr lang="en-US" sz="1400" dirty="0">
                <a:solidFill>
                  <a:schemeClr val="tx1"/>
                </a:solidFill>
              </a:rPr>
              <a:t>Navy–CDC serosurvey (n = 382) linked infection to sharing a berth with an infected crewmate (OR 3.3) and contact with a known case</a:t>
            </a:r>
            <a:r>
              <a:rPr lang="en-US" sz="1400" baseline="30000" dirty="0">
                <a:solidFill>
                  <a:schemeClr val="tx1"/>
                </a:solidFill>
              </a:rPr>
              <a:t>5</a:t>
            </a:r>
            <a:endParaRPr lang="en-US" sz="1400" dirty="0"/>
          </a:p>
        </p:txBody>
      </p:sp>
      <p:sp>
        <p:nvSpPr>
          <p:cNvPr id="18" name="Plausibility icon circle"/>
          <p:cNvSpPr/>
          <p:nvPr/>
        </p:nvSpPr>
        <p:spPr>
          <a:xfrm>
            <a:off x="6263640" y="3319272"/>
            <a:ext cx="457200" cy="457200"/>
          </a:xfrm>
          <a:prstGeom prst="ellipse">
            <a:avLst/>
          </a:prstGeom>
          <a:solidFill>
            <a:schemeClr val="accent1"/>
          </a:solidFill>
          <a:ln/>
        </p:spPr>
      </p:sp>
      <p:pic>
        <p:nvPicPr>
          <p:cNvPr id="19" name="Plausibility icon" descr="Plausibility icon">    </p:cNvPr>
          <p:cNvPicPr>
            <a:picLocks noChangeAspect="1"/>
          </p:cNvPicPr>
          <p:nvPr/>
        </p:nvPicPr>
        <p:blipFill>
          <a:blip r:embed="rId3"/>
          <a:stretch>
            <a:fillRect/>
          </a:stretch>
        </p:blipFill>
        <p:spPr>
          <a:xfrm>
            <a:off x="6373368" y="3429000"/>
            <a:ext cx="237744" cy="237744"/>
          </a:xfrm>
          <a:prstGeom prst="rect">
            <a:avLst/>
          </a:prstGeom>
        </p:spPr>
      </p:pic>
      <p:sp>
        <p:nvSpPr>
          <p:cNvPr id="20" name="Text 15"/>
          <p:cNvSpPr txBox="1"/>
          <p:nvPr/>
        </p:nvSpPr>
        <p:spPr>
          <a:xfrm>
            <a:off x="6858000" y="3255264"/>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Plausibility: </a:t>
            </a:r>
            <a:r>
              <a:rPr lang="en-US" sz="1400" dirty="0">
                <a:solidFill>
                  <a:schemeClr val="tx1"/>
                </a:solidFill>
              </a:rPr>
              <a:t>Aerosols can linger in indoor air and be inhaled by others</a:t>
            </a:r>
            <a:r>
              <a:rPr lang="en-US" sz="1400" baseline="30000" dirty="0">
                <a:solidFill>
                  <a:schemeClr val="tx1"/>
                </a:solidFill>
              </a:rPr>
              <a:t>2</a:t>
            </a:r>
            <a:endParaRPr lang="en-US" sz="1400" dirty="0"/>
          </a:p>
        </p:txBody>
      </p:sp>
      <p:sp>
        <p:nvSpPr>
          <p:cNvPr id="21" name="Biological gradient icon circle"/>
          <p:cNvSpPr/>
          <p:nvPr/>
        </p:nvSpPr>
        <p:spPr>
          <a:xfrm>
            <a:off x="6263640" y="4041648"/>
            <a:ext cx="457200" cy="457200"/>
          </a:xfrm>
          <a:prstGeom prst="ellipse">
            <a:avLst/>
          </a:prstGeom>
          <a:solidFill>
            <a:schemeClr val="accent2"/>
          </a:solidFill>
          <a:ln/>
        </p:spPr>
      </p:sp>
      <p:pic>
        <p:nvPicPr>
          <p:cNvPr id="22" name="Biological gradient icon" descr="Biological gradient icon">    </p:cNvPr>
          <p:cNvPicPr>
            <a:picLocks noChangeAspect="1"/>
          </p:cNvPicPr>
          <p:nvPr/>
        </p:nvPicPr>
        <p:blipFill>
          <a:blip r:embed="rId4"/>
          <a:stretch>
            <a:fillRect/>
          </a:stretch>
        </p:blipFill>
        <p:spPr>
          <a:xfrm>
            <a:off x="6373368" y="4151376"/>
            <a:ext cx="237744" cy="237744"/>
          </a:xfrm>
          <a:prstGeom prst="rect">
            <a:avLst/>
          </a:prstGeom>
        </p:spPr>
      </p:pic>
      <p:sp>
        <p:nvSpPr>
          <p:cNvPr id="23" name="Text 17"/>
          <p:cNvSpPr txBox="1"/>
          <p:nvPr/>
        </p:nvSpPr>
        <p:spPr>
          <a:xfrm>
            <a:off x="6858000" y="3977640"/>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Biological gradient: </a:t>
            </a:r>
            <a:r>
              <a:rPr lang="en-US" sz="1400" dirty="0">
                <a:solidFill>
                  <a:schemeClr val="tx1"/>
                </a:solidFill>
              </a:rPr>
              <a:t>Not assessable: confinement was recorded only as confined vs mixed, not graded</a:t>
            </a:r>
            <a:endParaRPr lang="en-US" sz="1400" dirty="0"/>
          </a:p>
        </p:txBody>
      </p:sp>
      <p:sp>
        <p:nvSpPr>
          <p:cNvPr id="24" name="Confounding icon circle"/>
          <p:cNvSpPr/>
          <p:nvPr/>
        </p:nvSpPr>
        <p:spPr>
          <a:xfrm>
            <a:off x="6263640" y="4764024"/>
            <a:ext cx="457200" cy="457200"/>
          </a:xfrm>
          <a:prstGeom prst="ellipse">
            <a:avLst/>
          </a:prstGeom>
          <a:solidFill>
            <a:schemeClr val="accent2"/>
          </a:solidFill>
          <a:ln/>
        </p:spPr>
      </p:sp>
      <p:pic>
        <p:nvPicPr>
          <p:cNvPr id="25" name="Confounding icon" descr="Confounding icon">    </p:cNvPr>
          <p:cNvPicPr>
            <a:picLocks noChangeAspect="1"/>
          </p:cNvPicPr>
          <p:nvPr/>
        </p:nvPicPr>
        <p:blipFill>
          <a:blip r:embed="rId5"/>
          <a:stretch>
            <a:fillRect/>
          </a:stretch>
        </p:blipFill>
        <p:spPr>
          <a:xfrm>
            <a:off x="6373368" y="4873752"/>
            <a:ext cx="237744" cy="237744"/>
          </a:xfrm>
          <a:prstGeom prst="rect">
            <a:avLst/>
          </a:prstGeom>
        </p:spPr>
      </p:pic>
      <p:sp>
        <p:nvSpPr>
          <p:cNvPr id="26" name="Text 19"/>
          <p:cNvSpPr txBox="1"/>
          <p:nvPr/>
        </p:nvSpPr>
        <p:spPr>
          <a:xfrm>
            <a:off x="6858000" y="4700016"/>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Confounding: </a:t>
            </a:r>
            <a:r>
              <a:rPr lang="en-US" sz="1400" dirty="0">
                <a:solidFill>
                  <a:schemeClr val="tx1"/>
                </a:solidFill>
              </a:rPr>
              <a:t>Department is linked to rank and berthing; no adjusted model</a:t>
            </a:r>
            <a:endParaRPr lang="en-US" sz="1400" dirty="0"/>
          </a:p>
        </p:txBody>
      </p:sp>
      <p:sp>
        <p:nvSpPr>
          <p:cNvPr id="27" name="Multiple tests icon circle"/>
          <p:cNvSpPr/>
          <p:nvPr/>
        </p:nvSpPr>
        <p:spPr>
          <a:xfrm>
            <a:off x="6263640" y="5486400"/>
            <a:ext cx="457200" cy="457200"/>
          </a:xfrm>
          <a:prstGeom prst="ellipse">
            <a:avLst/>
          </a:prstGeom>
          <a:solidFill>
            <a:schemeClr val="accent2"/>
          </a:solidFill>
          <a:ln/>
        </p:spPr>
      </p:sp>
      <p:pic>
        <p:nvPicPr>
          <p:cNvPr id="28" name="Multiple tests icon" descr="Multiple tests icon">    </p:cNvPr>
          <p:cNvPicPr>
            <a:picLocks noChangeAspect="1"/>
          </p:cNvPicPr>
          <p:nvPr/>
        </p:nvPicPr>
        <p:blipFill>
          <a:blip r:embed="rId6"/>
          <a:stretch>
            <a:fillRect/>
          </a:stretch>
        </p:blipFill>
        <p:spPr>
          <a:xfrm>
            <a:off x="6373368" y="5596128"/>
            <a:ext cx="237744" cy="237744"/>
          </a:xfrm>
          <a:prstGeom prst="rect">
            <a:avLst/>
          </a:prstGeom>
        </p:spPr>
      </p:pic>
      <p:sp>
        <p:nvSpPr>
          <p:cNvPr id="29" name="Text 21"/>
          <p:cNvSpPr txBox="1"/>
          <p:nvPr/>
        </p:nvSpPr>
        <p:spPr>
          <a:xfrm>
            <a:off x="6858000" y="5422392"/>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Multiple tests: </a:t>
            </a:r>
            <a:r>
              <a:rPr lang="en-US" sz="1400" dirty="0">
                <a:solidFill>
                  <a:schemeClr val="tx1"/>
                </a:solidFill>
              </a:rPr>
              <a:t>Many unadjusted comparisons raise the chance of false positives</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Sure Are We? Strengths &amp; Limitations</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4   </a:t>
            </a:r>
            <a:r>
              <a:rPr lang="en-US" sz="1100" b="1" spc="100" kern="0" dirty="0">
                <a:solidFill>
                  <a:schemeClr val="accent6"/>
                </a:solidFill>
              </a:rPr>
              <a:t>HOW DID IT SPREAD, AND HOW SURE ARE WE?</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'My critical analysis' items are the student's own.</a:t>
            </a:r>
            <a:endParaRPr lang="en-US" sz="1000" dirty="0"/>
          </a:p>
        </p:txBody>
      </p:sp>
      <p:sp>
        <p:nvSpPr>
          <p:cNvPr id="5" name="strengths"/>
          <p:cNvSpPr/>
          <p:nvPr/>
        </p:nvSpPr>
        <p:spPr>
          <a:xfrm>
            <a:off x="548640" y="1325880"/>
            <a:ext cx="5394960" cy="4846320"/>
          </a:xfrm>
          <a:prstGeom prst="roundRect">
            <a:avLst>
              <a:gd name="adj" fmla="val 2264"/>
            </a:avLst>
          </a:prstGeom>
          <a:solidFill>
            <a:schemeClr val="bg2"/>
          </a:solidFill>
          <a:ln/>
        </p:spPr>
      </p:sp>
      <p:sp>
        <p:nvSpPr>
          <p:cNvPr id="6" name="strengths icon circle"/>
          <p:cNvSpPr/>
          <p:nvPr/>
        </p:nvSpPr>
        <p:spPr>
          <a:xfrm>
            <a:off x="777240" y="1508760"/>
            <a:ext cx="548640" cy="548640"/>
          </a:xfrm>
          <a:prstGeom prst="ellipse">
            <a:avLst/>
          </a:prstGeom>
          <a:solidFill>
            <a:schemeClr val="accent1"/>
          </a:solidFill>
          <a:ln/>
        </p:spPr>
      </p:sp>
      <p:pic>
        <p:nvPicPr>
          <p:cNvPr id="7" name="strengths icon" descr="strengths icon">    </p:cNvPr>
          <p:cNvPicPr>
            <a:picLocks noChangeAspect="1"/>
          </p:cNvPicPr>
          <p:nvPr/>
        </p:nvPicPr>
        <p:blipFill>
          <a:blip r:embed="rId1"/>
          <a:stretch>
            <a:fillRect/>
          </a:stretch>
        </p:blipFill>
        <p:spPr>
          <a:xfrm>
            <a:off x="908914" y="1640434"/>
            <a:ext cx="285293" cy="285293"/>
          </a:xfrm>
          <a:prstGeom prst="rect">
            <a:avLst/>
          </a:prstGeom>
        </p:spPr>
      </p:pic>
      <p:sp>
        <p:nvSpPr>
          <p:cNvPr id="8" name="Text 5"/>
          <p:cNvSpPr txBox="1"/>
          <p:nvPr/>
        </p:nvSpPr>
        <p:spPr>
          <a:xfrm>
            <a:off x="1463040" y="150876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Strengths</a:t>
            </a:r>
            <a:endParaRPr lang="en-US" sz="2000" dirty="0"/>
          </a:p>
        </p:txBody>
      </p:sp>
      <p:sp>
        <p:nvSpPr>
          <p:cNvPr id="9" name="Text 6"/>
          <p:cNvSpPr txBox="1"/>
          <p:nvPr/>
        </p:nvSpPr>
        <p:spPr>
          <a:xfrm>
            <a:off x="777240" y="2194560"/>
            <a:ext cx="4983480" cy="3886200"/>
          </a:xfrm>
          <a:prstGeom prst="rect">
            <a:avLst/>
          </a:prstGeom>
          <a:noFill/>
          <a:ln/>
        </p:spPr>
        <p:txBody>
          <a:bodyPr wrap="square" lIns="635" tIns="635" rIns="635" bIns="635" rtlCol="0" anchor="t"/>
          <a:lstStyle/>
          <a:p>
            <a:pPr marL="203200" indent="-203200">
              <a:spcAft>
                <a:spcPts val="600"/>
              </a:spcAft>
              <a:buSzPct val="100000"/>
              <a:buChar char="•"/>
            </a:pPr>
            <a:r>
              <a:rPr lang="en-US" sz="1350" b="1" dirty="0">
                <a:solidFill>
                  <a:schemeClr val="tx1"/>
                </a:solidFill>
              </a:rPr>
              <a:t>Complete case ascertainment: </a:t>
            </a:r>
            <a:r>
              <a:rPr lang="en-US" sz="1350" dirty="0">
                <a:solidFill>
                  <a:schemeClr val="tx1"/>
                </a:solidFill>
              </a:rPr>
              <a:t>the whole crew was tested, which minimizes selection bias and gives a known denominator</a:t>
            </a:r>
            <a:endParaRPr lang="en-US" sz="1500" dirty="0"/>
          </a:p>
          <a:p>
            <a:pPr marL="203200" indent="-203200">
              <a:spcAft>
                <a:spcPts val="600"/>
              </a:spcAft>
              <a:buSzPct val="100000"/>
              <a:buChar char="•"/>
            </a:pPr>
            <a:r>
              <a:rPr lang="en-US" sz="1350" b="1" dirty="0">
                <a:solidFill>
                  <a:schemeClr val="tx1"/>
                </a:solidFill>
              </a:rPr>
              <a:t>10-week follow-up of all crew: </a:t>
            </a:r>
            <a:r>
              <a:rPr lang="en-US" sz="1350" dirty="0">
                <a:solidFill>
                  <a:schemeClr val="tx1"/>
                </a:solidFill>
              </a:rPr>
              <a:t>separates presymptomatic from truly asymptomatic infections</a:t>
            </a:r>
            <a:endParaRPr lang="en-US" sz="1500" dirty="0"/>
          </a:p>
          <a:p>
            <a:pPr marL="203200" indent="-203200">
              <a:spcAft>
                <a:spcPts val="600"/>
              </a:spcAft>
              <a:buSzPct val="100000"/>
              <a:buChar char="•"/>
            </a:pPr>
            <a:r>
              <a:rPr lang="en-US" sz="1350" b="1" dirty="0">
                <a:solidFill>
                  <a:schemeClr val="tx1"/>
                </a:solidFill>
              </a:rPr>
              <a:t>Lab confirmation: </a:t>
            </a:r>
            <a:r>
              <a:rPr lang="en-US" sz="1350" dirty="0">
                <a:solidFill>
                  <a:schemeClr val="tx1"/>
                </a:solidFill>
              </a:rPr>
              <a:t>95% of cases PCR-confirmed, which limits misclassification</a:t>
            </a:r>
            <a:endParaRPr lang="en-US" sz="1500" dirty="0"/>
          </a:p>
          <a:p>
            <a:pPr marL="203200" indent="-203200">
              <a:spcAft>
                <a:spcPts val="600"/>
              </a:spcAft>
              <a:buSzPct val="100000"/>
              <a:buChar char="•"/>
            </a:pPr>
            <a:r>
              <a:rPr lang="en-US" sz="1350" b="1" dirty="0">
                <a:solidFill>
                  <a:schemeClr val="tx1"/>
                </a:solidFill>
              </a:rPr>
              <a:t>Linked records: </a:t>
            </a:r>
            <a:r>
              <a:rPr lang="en-US" sz="1350" dirty="0">
                <a:solidFill>
                  <a:schemeClr val="tx1"/>
                </a:solidFill>
              </a:rPr>
              <a:t>objective demographic and health data, not self-report</a:t>
            </a:r>
            <a:endParaRPr lang="en-US" sz="1500" dirty="0"/>
          </a:p>
          <a:p>
            <a:pPr marL="203200" indent="-203200">
              <a:spcAft>
                <a:spcPts val="600"/>
              </a:spcAft>
              <a:buSzPct val="100000"/>
              <a:buChar char="•"/>
            </a:pPr>
            <a:r>
              <a:rPr lang="en-US" sz="1350" b="1" dirty="0">
                <a:solidFill>
                  <a:schemeClr val="tx1"/>
                </a:solidFill>
              </a:rPr>
              <a:t>Rapid response: </a:t>
            </a:r>
            <a:r>
              <a:rPr lang="en-US" sz="1350" dirty="0">
                <a:solidFill>
                  <a:schemeClr val="tx1"/>
                </a:solidFill>
              </a:rPr>
              <a:t>ship reached Guam 4 days after the first positive test; single-room quarantine</a:t>
            </a:r>
            <a:r>
              <a:rPr lang="en-US" sz="1350" baseline="30000" dirty="0">
                <a:solidFill>
                  <a:schemeClr val="tx1"/>
                </a:solidFill>
              </a:rPr>
              <a:t>1</a:t>
            </a:r>
            <a:endParaRPr lang="en-US" sz="1500" dirty="0"/>
          </a:p>
        </p:txBody>
      </p:sp>
      <p:sp>
        <p:nvSpPr>
          <p:cNvPr id="10" name="limitations"/>
          <p:cNvSpPr/>
          <p:nvPr/>
        </p:nvSpPr>
        <p:spPr>
          <a:xfrm>
            <a:off x="6217920" y="1325880"/>
            <a:ext cx="5394960" cy="4846320"/>
          </a:xfrm>
          <a:prstGeom prst="roundRect">
            <a:avLst>
              <a:gd name="adj" fmla="val 2264"/>
            </a:avLst>
          </a:prstGeom>
          <a:solidFill>
            <a:schemeClr val="bg2"/>
          </a:solidFill>
          <a:ln/>
        </p:spPr>
      </p:sp>
      <p:sp>
        <p:nvSpPr>
          <p:cNvPr id="11" name="limitations icon circle"/>
          <p:cNvSpPr/>
          <p:nvPr/>
        </p:nvSpPr>
        <p:spPr>
          <a:xfrm>
            <a:off x="6446520" y="1508760"/>
            <a:ext cx="548640" cy="548640"/>
          </a:xfrm>
          <a:prstGeom prst="ellipse">
            <a:avLst/>
          </a:prstGeom>
          <a:solidFill>
            <a:schemeClr val="accent2"/>
          </a:solidFill>
          <a:ln/>
        </p:spPr>
      </p:sp>
      <p:pic>
        <p:nvPicPr>
          <p:cNvPr id="12" name="limitations icon" descr="limitations icon">    </p:cNvPr>
          <p:cNvPicPr>
            <a:picLocks noChangeAspect="1"/>
          </p:cNvPicPr>
          <p:nvPr/>
        </p:nvPicPr>
        <p:blipFill>
          <a:blip r:embed="rId2"/>
          <a:stretch>
            <a:fillRect/>
          </a:stretch>
        </p:blipFill>
        <p:spPr>
          <a:xfrm>
            <a:off x="6578194" y="1640434"/>
            <a:ext cx="285293" cy="285293"/>
          </a:xfrm>
          <a:prstGeom prst="rect">
            <a:avLst/>
          </a:prstGeom>
        </p:spPr>
      </p:pic>
      <p:sp>
        <p:nvSpPr>
          <p:cNvPr id="13" name="Text 9"/>
          <p:cNvSpPr txBox="1"/>
          <p:nvPr/>
        </p:nvSpPr>
        <p:spPr>
          <a:xfrm>
            <a:off x="7132320" y="150876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Limitations</a:t>
            </a:r>
            <a:endParaRPr lang="en-US" sz="2000" dirty="0"/>
          </a:p>
        </p:txBody>
      </p:sp>
      <p:sp>
        <p:nvSpPr>
          <p:cNvPr id="14" name="Text 10"/>
          <p:cNvSpPr txBox="1"/>
          <p:nvPr/>
        </p:nvSpPr>
        <p:spPr>
          <a:xfrm>
            <a:off x="6446520" y="2194560"/>
            <a:ext cx="4983480" cy="3886200"/>
          </a:xfrm>
          <a:prstGeom prst="rect">
            <a:avLst/>
          </a:prstGeom>
          <a:noFill/>
          <a:ln/>
        </p:spPr>
        <p:txBody>
          <a:bodyPr wrap="square" lIns="635" tIns="635" rIns="635" bIns="635" rtlCol="0" anchor="t"/>
          <a:lstStyle/>
          <a:p>
            <a:pPr indent="0" marL="0">
              <a:buNone/>
            </a:pPr>
            <a:r>
              <a:rPr lang="en-US" sz="1300" b="1" dirty="0">
                <a:solidFill>
                  <a:schemeClr val="accent6"/>
                </a:solidFill>
              </a:rPr>
              <a:t>Identified by authors</a:t>
            </a:r>
            <a:r>
              <a:rPr lang="en-US" sz="1300" b="1" baseline="30000" dirty="0">
                <a:solidFill>
                  <a:schemeClr val="accent6"/>
                </a:solidFill>
              </a:rPr>
              <a:t>1</a:t>
            </a:r>
            <a:endParaRPr lang="en-US" sz="1500" dirty="0"/>
          </a:p>
          <a:p>
            <a:pPr marL="203200" indent="-203200">
              <a:spcAft>
                <a:spcPts val="600"/>
              </a:spcAft>
              <a:buSzPct val="100000"/>
              <a:buChar char="•"/>
            </a:pPr>
            <a:r>
              <a:rPr lang="en-US" sz="1350" dirty="0">
                <a:solidFill>
                  <a:schemeClr val="tx1"/>
                </a:solidFill>
              </a:rPr>
              <a:t>Poor record quality early in the outbreak</a:t>
            </a:r>
            <a:endParaRPr lang="en-US" sz="1500" dirty="0"/>
          </a:p>
          <a:p>
            <a:pPr marL="203200" indent="-203200">
              <a:spcAft>
                <a:spcPts val="600"/>
              </a:spcAft>
              <a:buSzPct val="100000"/>
              <a:buChar char="•"/>
            </a:pPr>
            <a:r>
              <a:rPr lang="en-US" sz="1350" dirty="0">
                <a:solidFill>
                  <a:schemeClr val="tx1"/>
                </a:solidFill>
              </a:rPr>
              <a:t>Case definition changed in April 2020</a:t>
            </a:r>
            <a:endParaRPr lang="en-US" sz="1500" dirty="0"/>
          </a:p>
          <a:p>
            <a:pPr marL="203200" indent="-203200">
              <a:spcAft>
                <a:spcPts val="600"/>
              </a:spcAft>
              <a:buSzPct val="100000"/>
              <a:buChar char="•"/>
            </a:pPr>
            <a:r>
              <a:rPr lang="en-US" sz="1350" dirty="0">
                <a:solidFill>
                  <a:schemeClr val="tx1"/>
                </a:solidFill>
              </a:rPr>
              <a:t>Military population: limited generalizability</a:t>
            </a:r>
            <a:endParaRPr lang="en-US" sz="1500" dirty="0"/>
          </a:p>
          <a:p>
            <a:pPr indent="0" marL="0">
              <a:spcBef>
                <a:spcPts val="800"/>
              </a:spcBef>
              <a:buNone/>
            </a:pPr>
            <a:r>
              <a:rPr lang="en-US" sz="1300" b="1" dirty="0">
                <a:solidFill>
                  <a:schemeClr val="accent2"/>
                </a:solidFill>
              </a:rPr>
              <a:t>My critical analysis</a:t>
            </a:r>
            <a:endParaRPr lang="en-US" sz="1500" dirty="0"/>
          </a:p>
          <a:p>
            <a:pPr marL="203200" indent="-203200">
              <a:spcAft>
                <a:spcPts val="600"/>
              </a:spcAft>
              <a:buSzPct val="100000"/>
              <a:buChar char="•"/>
            </a:pPr>
            <a:r>
              <a:rPr lang="en-US" sz="1350" dirty="0">
                <a:solidFill>
                  <a:schemeClr val="tx1"/>
                </a:solidFill>
              </a:rPr>
              <a:t>Only univariate ORs: no adjustment for rank, berthing or department</a:t>
            </a:r>
            <a:endParaRPr lang="en-US" sz="1500" dirty="0"/>
          </a:p>
          <a:p>
            <a:pPr marL="203200" indent="-203200">
              <a:spcAft>
                <a:spcPts val="600"/>
              </a:spcAft>
              <a:buSzPct val="100000"/>
              <a:buChar char="•"/>
            </a:pPr>
            <a:r>
              <a:rPr lang="en-US" sz="1350" dirty="0">
                <a:solidFill>
                  <a:schemeClr val="tx1"/>
                </a:solidFill>
              </a:rPr>
              <a:t>No environmental assessment of ventilation or shared spaces</a:t>
            </a:r>
            <a:endParaRPr lang="en-US" sz="1500" dirty="0"/>
          </a:p>
          <a:p>
            <a:pPr marL="203200" indent="-203200">
              <a:spcAft>
                <a:spcPts val="600"/>
              </a:spcAft>
              <a:buSzPct val="100000"/>
              <a:buChar char="•"/>
            </a:pPr>
            <a:r>
              <a:rPr lang="en-US" sz="1350" dirty="0">
                <a:solidFill>
                  <a:schemeClr val="tx1"/>
                </a:solidFill>
              </a:rPr>
              <a:t>Onset dates and symptoms self-reported (recall bias)</a:t>
            </a:r>
            <a:endParaRPr lang="en-US" sz="1500" dirty="0"/>
          </a:p>
          <a:p>
            <a:pPr marL="203200" indent="-203200">
              <a:spcAft>
                <a:spcPts val="600"/>
              </a:spcAft>
              <a:buSzPct val="100000"/>
              <a:buChar char="•"/>
            </a:pPr>
            <a:r>
              <a:rPr lang="en-US" sz="1350" dirty="0">
                <a:solidFill>
                  <a:schemeClr val="tx1"/>
                </a:solidFill>
              </a:rPr>
              <a:t>No sequencing, so introduction source and chains unresolved</a:t>
            </a:r>
            <a:endParaRPr lang="en-US" sz="1500" dirty="0"/>
          </a:p>
          <a:p>
            <a:pPr marL="203200" indent="-203200">
              <a:spcAft>
                <a:spcPts val="600"/>
              </a:spcAft>
              <a:buSzPct val="100000"/>
              <a:buChar char="•"/>
            </a:pPr>
            <a:r>
              <a:rPr lang="en-US" sz="1350" dirty="0">
                <a:solidFill>
                  <a:schemeClr val="tx1"/>
                </a:solidFill>
              </a:rPr>
              <a:t>Results text mixes denominators: 43.0% asymptomatic is 572/1,331, described as a share of 1,271</a:t>
            </a:r>
            <a:r>
              <a:rPr lang="en-US" sz="13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The Response: Isolate, Quarantine, Test</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5   </a:t>
            </a:r>
            <a:r>
              <a:rPr lang="en-US" sz="1100" b="1" spc="100" kern="0" dirty="0">
                <a:solidFill>
                  <a:schemeClr val="accent6"/>
                </a:solidFill>
              </a:rPr>
              <a:t>WHAT WAS DONE, AND WHAT NEXT?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5" name="Isolation card"/>
          <p:cNvSpPr/>
          <p:nvPr/>
        </p:nvSpPr>
        <p:spPr>
          <a:xfrm>
            <a:off x="548640" y="1325880"/>
            <a:ext cx="5394960" cy="1417320"/>
          </a:xfrm>
          <a:prstGeom prst="roundRect">
            <a:avLst>
              <a:gd name="adj" fmla="val 7742"/>
            </a:avLst>
          </a:prstGeom>
          <a:solidFill>
            <a:schemeClr val="bg2"/>
          </a:solidFill>
          <a:ln/>
        </p:spPr>
      </p:sp>
      <p:sp>
        <p:nvSpPr>
          <p:cNvPr id="6" name="Isolation icon circle"/>
          <p:cNvSpPr/>
          <p:nvPr/>
        </p:nvSpPr>
        <p:spPr>
          <a:xfrm>
            <a:off x="777240" y="1691640"/>
            <a:ext cx="685800" cy="685800"/>
          </a:xfrm>
          <a:prstGeom prst="ellipse">
            <a:avLst/>
          </a:prstGeom>
          <a:solidFill>
            <a:schemeClr val="accent1"/>
          </a:solidFill>
          <a:ln/>
        </p:spPr>
      </p:sp>
      <p:pic>
        <p:nvPicPr>
          <p:cNvPr id="7" name="Isolation icon" descr="Isolation icon">    </p:cNvPr>
          <p:cNvPicPr>
            <a:picLocks noChangeAspect="1"/>
          </p:cNvPicPr>
          <p:nvPr/>
        </p:nvPicPr>
        <p:blipFill>
          <a:blip r:embed="rId1"/>
          <a:stretch>
            <a:fillRect/>
          </a:stretch>
        </p:blipFill>
        <p:spPr>
          <a:xfrm>
            <a:off x="941832" y="1856232"/>
            <a:ext cx="356616" cy="356616"/>
          </a:xfrm>
          <a:prstGeom prst="rect">
            <a:avLst/>
          </a:prstGeom>
        </p:spPr>
      </p:pic>
      <p:sp>
        <p:nvSpPr>
          <p:cNvPr id="8" name="Text 5"/>
          <p:cNvSpPr txBox="1"/>
          <p:nvPr/>
        </p:nvSpPr>
        <p:spPr>
          <a:xfrm>
            <a:off x="1645920" y="14356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Isolation</a:t>
            </a:r>
            <a:endParaRPr lang="en-US" sz="1400" dirty="0"/>
          </a:p>
          <a:p>
            <a:pPr indent="0" marL="0">
              <a:buNone/>
            </a:pPr>
            <a:r>
              <a:rPr lang="en-US" sz="1400" dirty="0">
                <a:solidFill>
                  <a:schemeClr val="tx1"/>
                </a:solidFill>
              </a:rPr>
              <a:t>Confirmed cases isolated on Naval Base Guam or in the naval hospital; symptoms, temperature and SpO₂ checked twice daily</a:t>
            </a:r>
            <a:r>
              <a:rPr lang="en-US" sz="1400" baseline="30000" dirty="0">
                <a:solidFill>
                  <a:schemeClr val="tx1"/>
                </a:solidFill>
              </a:rPr>
              <a:t>1</a:t>
            </a:r>
            <a:endParaRPr lang="en-US" sz="1400" dirty="0"/>
          </a:p>
        </p:txBody>
      </p:sp>
      <p:sp>
        <p:nvSpPr>
          <p:cNvPr id="9" name="Quarantine card"/>
          <p:cNvSpPr/>
          <p:nvPr/>
        </p:nvSpPr>
        <p:spPr>
          <a:xfrm>
            <a:off x="6217920" y="1325880"/>
            <a:ext cx="5394960" cy="1417320"/>
          </a:xfrm>
          <a:prstGeom prst="roundRect">
            <a:avLst>
              <a:gd name="adj" fmla="val 7742"/>
            </a:avLst>
          </a:prstGeom>
          <a:solidFill>
            <a:schemeClr val="bg2"/>
          </a:solidFill>
          <a:ln/>
        </p:spPr>
      </p:sp>
      <p:sp>
        <p:nvSpPr>
          <p:cNvPr id="10" name="Quarantine icon circle"/>
          <p:cNvSpPr/>
          <p:nvPr/>
        </p:nvSpPr>
        <p:spPr>
          <a:xfrm>
            <a:off x="6446520" y="1691640"/>
            <a:ext cx="685800" cy="685800"/>
          </a:xfrm>
          <a:prstGeom prst="ellipse">
            <a:avLst/>
          </a:prstGeom>
          <a:solidFill>
            <a:schemeClr val="accent1"/>
          </a:solidFill>
          <a:ln/>
        </p:spPr>
      </p:sp>
      <p:pic>
        <p:nvPicPr>
          <p:cNvPr id="11" name="Quarantine icon" descr="Quarantine icon">    </p:cNvPr>
          <p:cNvPicPr>
            <a:picLocks noChangeAspect="1"/>
          </p:cNvPicPr>
          <p:nvPr/>
        </p:nvPicPr>
        <p:blipFill>
          <a:blip r:embed="rId2"/>
          <a:stretch>
            <a:fillRect/>
          </a:stretch>
        </p:blipFill>
        <p:spPr>
          <a:xfrm>
            <a:off x="6611112" y="1856232"/>
            <a:ext cx="356616" cy="356616"/>
          </a:xfrm>
          <a:prstGeom prst="rect">
            <a:avLst/>
          </a:prstGeom>
        </p:spPr>
      </p:pic>
      <p:sp>
        <p:nvSpPr>
          <p:cNvPr id="12" name="Text 8"/>
          <p:cNvSpPr txBox="1"/>
          <p:nvPr/>
        </p:nvSpPr>
        <p:spPr>
          <a:xfrm>
            <a:off x="7315200" y="14356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Quarantine</a:t>
            </a:r>
            <a:endParaRPr lang="en-US" sz="1400" dirty="0"/>
          </a:p>
          <a:p>
            <a:pPr indent="0" marL="0">
              <a:buNone/>
            </a:pPr>
            <a:r>
              <a:rPr lang="en-US" sz="1400" dirty="0">
                <a:solidFill>
                  <a:schemeClr val="tx1"/>
                </a:solidFill>
              </a:rPr>
              <a:t>4,079 test-negative, symptom-free crew placed in single-occupancy rooms across 11 hotels</a:t>
            </a:r>
            <a:r>
              <a:rPr lang="en-US" sz="1400" baseline="30000" dirty="0">
                <a:solidFill>
                  <a:schemeClr val="tx1"/>
                </a:solidFill>
              </a:rPr>
              <a:t>1</a:t>
            </a:r>
            <a:endParaRPr lang="en-US" sz="1400" dirty="0"/>
          </a:p>
        </p:txBody>
      </p:sp>
      <p:sp>
        <p:nvSpPr>
          <p:cNvPr id="13" name="Skeleton crew card"/>
          <p:cNvSpPr/>
          <p:nvPr/>
        </p:nvSpPr>
        <p:spPr>
          <a:xfrm>
            <a:off x="548640" y="2926080"/>
            <a:ext cx="5394960" cy="1417320"/>
          </a:xfrm>
          <a:prstGeom prst="roundRect">
            <a:avLst>
              <a:gd name="adj" fmla="val 7742"/>
            </a:avLst>
          </a:prstGeom>
          <a:solidFill>
            <a:schemeClr val="bg2"/>
          </a:solidFill>
          <a:ln/>
        </p:spPr>
      </p:sp>
      <p:sp>
        <p:nvSpPr>
          <p:cNvPr id="14" name="Skeleton crew icon circle"/>
          <p:cNvSpPr/>
          <p:nvPr/>
        </p:nvSpPr>
        <p:spPr>
          <a:xfrm>
            <a:off x="777240" y="3291840"/>
            <a:ext cx="685800" cy="685800"/>
          </a:xfrm>
          <a:prstGeom prst="ellipse">
            <a:avLst/>
          </a:prstGeom>
          <a:solidFill>
            <a:schemeClr val="accent1"/>
          </a:solidFill>
          <a:ln/>
        </p:spPr>
      </p:sp>
      <p:pic>
        <p:nvPicPr>
          <p:cNvPr id="15" name="Skeleton crew icon" descr="Skeleton crew icon">    </p:cNvPr>
          <p:cNvPicPr>
            <a:picLocks noChangeAspect="1"/>
          </p:cNvPicPr>
          <p:nvPr/>
        </p:nvPicPr>
        <p:blipFill>
          <a:blip r:embed="rId3"/>
          <a:stretch>
            <a:fillRect/>
          </a:stretch>
        </p:blipFill>
        <p:spPr>
          <a:xfrm>
            <a:off x="941832" y="3456432"/>
            <a:ext cx="356616" cy="356616"/>
          </a:xfrm>
          <a:prstGeom prst="rect">
            <a:avLst/>
          </a:prstGeom>
        </p:spPr>
      </p:pic>
      <p:sp>
        <p:nvSpPr>
          <p:cNvPr id="16" name="Text 11"/>
          <p:cNvSpPr txBox="1"/>
          <p:nvPr/>
        </p:nvSpPr>
        <p:spPr>
          <a:xfrm>
            <a:off x="1645920" y="30358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Skeleton crew</a:t>
            </a:r>
            <a:endParaRPr lang="en-US" sz="1400" dirty="0"/>
          </a:p>
          <a:p>
            <a:pPr indent="0" marL="0">
              <a:buNone/>
            </a:pPr>
            <a:r>
              <a:rPr lang="en-US" sz="1400" dirty="0">
                <a:solidFill>
                  <a:schemeClr val="tx1"/>
                </a:solidFill>
              </a:rPr>
              <a:t>Essential uninfected personnel stayed aboard to keep the ship running in port</a:t>
            </a:r>
            <a:r>
              <a:rPr lang="en-US" sz="1400" baseline="30000" dirty="0">
                <a:solidFill>
                  <a:schemeClr val="tx1"/>
                </a:solidFill>
              </a:rPr>
              <a:t>1</a:t>
            </a:r>
            <a:endParaRPr lang="en-US" sz="1400" dirty="0"/>
          </a:p>
        </p:txBody>
      </p:sp>
      <p:sp>
        <p:nvSpPr>
          <p:cNvPr id="17" name="Exit criteria card"/>
          <p:cNvSpPr/>
          <p:nvPr/>
        </p:nvSpPr>
        <p:spPr>
          <a:xfrm>
            <a:off x="6217920" y="2926080"/>
            <a:ext cx="5394960" cy="1417320"/>
          </a:xfrm>
          <a:prstGeom prst="roundRect">
            <a:avLst>
              <a:gd name="adj" fmla="val 7742"/>
            </a:avLst>
          </a:prstGeom>
          <a:solidFill>
            <a:schemeClr val="bg2"/>
          </a:solidFill>
          <a:ln/>
        </p:spPr>
      </p:sp>
      <p:sp>
        <p:nvSpPr>
          <p:cNvPr id="18" name="Exit criteria icon circle"/>
          <p:cNvSpPr/>
          <p:nvPr/>
        </p:nvSpPr>
        <p:spPr>
          <a:xfrm>
            <a:off x="6446520" y="3291840"/>
            <a:ext cx="685800" cy="685800"/>
          </a:xfrm>
          <a:prstGeom prst="ellipse">
            <a:avLst/>
          </a:prstGeom>
          <a:solidFill>
            <a:schemeClr val="accent1"/>
          </a:solidFill>
          <a:ln/>
        </p:spPr>
      </p:sp>
      <p:pic>
        <p:nvPicPr>
          <p:cNvPr id="19" name="Exit criteria icon" descr="Exit criteria icon">    </p:cNvPr>
          <p:cNvPicPr>
            <a:picLocks noChangeAspect="1"/>
          </p:cNvPicPr>
          <p:nvPr/>
        </p:nvPicPr>
        <p:blipFill>
          <a:blip r:embed="rId4"/>
          <a:stretch>
            <a:fillRect/>
          </a:stretch>
        </p:blipFill>
        <p:spPr>
          <a:xfrm>
            <a:off x="6611112" y="3456432"/>
            <a:ext cx="356616" cy="356616"/>
          </a:xfrm>
          <a:prstGeom prst="rect">
            <a:avLst/>
          </a:prstGeom>
        </p:spPr>
      </p:pic>
      <p:sp>
        <p:nvSpPr>
          <p:cNvPr id="20" name="Text 14"/>
          <p:cNvSpPr txBox="1"/>
          <p:nvPr/>
        </p:nvSpPr>
        <p:spPr>
          <a:xfrm>
            <a:off x="7315200" y="30358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Exit criteria</a:t>
            </a:r>
            <a:endParaRPr lang="en-US" sz="1400" dirty="0"/>
          </a:p>
          <a:p>
            <a:pPr indent="0" marL="0">
              <a:buNone/>
            </a:pPr>
            <a:r>
              <a:rPr lang="en-US" sz="1400" dirty="0">
                <a:solidFill>
                  <a:schemeClr val="tx1"/>
                </a:solidFill>
              </a:rPr>
              <a:t>At least 14 days in isolation or quarantine, 3 symptom-free days for cases, and a repeat rRT-PCR before release</a:t>
            </a:r>
            <a:r>
              <a:rPr lang="en-US" sz="1400" baseline="30000" dirty="0">
                <a:solidFill>
                  <a:schemeClr val="tx1"/>
                </a:solidFill>
              </a:rPr>
              <a:t>1</a:t>
            </a:r>
            <a:endParaRPr lang="en-US" sz="1400" dirty="0"/>
          </a:p>
        </p:txBody>
      </p:sp>
      <p:sp>
        <p:nvSpPr>
          <p:cNvPr id="21" name="Reclassification card"/>
          <p:cNvSpPr/>
          <p:nvPr/>
        </p:nvSpPr>
        <p:spPr>
          <a:xfrm>
            <a:off x="548640" y="4526280"/>
            <a:ext cx="5394960" cy="1417320"/>
          </a:xfrm>
          <a:prstGeom prst="roundRect">
            <a:avLst>
              <a:gd name="adj" fmla="val 7742"/>
            </a:avLst>
          </a:prstGeom>
          <a:solidFill>
            <a:schemeClr val="bg2"/>
          </a:solidFill>
          <a:ln/>
        </p:spPr>
      </p:sp>
      <p:sp>
        <p:nvSpPr>
          <p:cNvPr id="22" name="Reclassification icon circle"/>
          <p:cNvSpPr/>
          <p:nvPr/>
        </p:nvSpPr>
        <p:spPr>
          <a:xfrm>
            <a:off x="777240" y="4892040"/>
            <a:ext cx="685800" cy="685800"/>
          </a:xfrm>
          <a:prstGeom prst="ellipse">
            <a:avLst/>
          </a:prstGeom>
          <a:solidFill>
            <a:schemeClr val="accent1"/>
          </a:solidFill>
          <a:ln/>
        </p:spPr>
      </p:sp>
      <p:pic>
        <p:nvPicPr>
          <p:cNvPr id="23" name="Reclassification icon" descr="Reclassification icon">    </p:cNvPr>
          <p:cNvPicPr>
            <a:picLocks noChangeAspect="1"/>
          </p:cNvPicPr>
          <p:nvPr/>
        </p:nvPicPr>
        <p:blipFill>
          <a:blip r:embed="rId5"/>
          <a:stretch>
            <a:fillRect/>
          </a:stretch>
        </p:blipFill>
        <p:spPr>
          <a:xfrm>
            <a:off x="941832" y="5056632"/>
            <a:ext cx="356616" cy="356616"/>
          </a:xfrm>
          <a:prstGeom prst="rect">
            <a:avLst/>
          </a:prstGeom>
        </p:spPr>
      </p:pic>
      <p:sp>
        <p:nvSpPr>
          <p:cNvPr id="24" name="Text 17"/>
          <p:cNvSpPr txBox="1"/>
          <p:nvPr/>
        </p:nvSpPr>
        <p:spPr>
          <a:xfrm>
            <a:off x="1645920" y="46360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Reclassification</a:t>
            </a:r>
            <a:endParaRPr lang="en-US" sz="1400" dirty="0"/>
          </a:p>
          <a:p>
            <a:pPr indent="0" marL="0">
              <a:buNone/>
            </a:pPr>
            <a:r>
              <a:rPr lang="en-US" sz="1400" dirty="0">
                <a:solidFill>
                  <a:schemeClr val="tx1"/>
                </a:solidFill>
              </a:rPr>
              <a:t>Anyone who developed symptoms in quarantine was tested and moved to isolation for 14 more days</a:t>
            </a:r>
            <a:r>
              <a:rPr lang="en-US" sz="1400" baseline="30000" dirty="0">
                <a:solidFill>
                  <a:schemeClr val="tx1"/>
                </a:solidFill>
              </a:rPr>
              <a:t>1</a:t>
            </a:r>
            <a:endParaRPr lang="en-US" sz="1400" dirty="0"/>
          </a:p>
        </p:txBody>
      </p:sp>
      <p:sp>
        <p:nvSpPr>
          <p:cNvPr id="25" name="Follow-up card"/>
          <p:cNvSpPr/>
          <p:nvPr/>
        </p:nvSpPr>
        <p:spPr>
          <a:xfrm>
            <a:off x="6217920" y="4526280"/>
            <a:ext cx="5394960" cy="1417320"/>
          </a:xfrm>
          <a:prstGeom prst="roundRect">
            <a:avLst>
              <a:gd name="adj" fmla="val 7742"/>
            </a:avLst>
          </a:prstGeom>
          <a:solidFill>
            <a:schemeClr val="bg2"/>
          </a:solidFill>
          <a:ln/>
        </p:spPr>
      </p:sp>
      <p:sp>
        <p:nvSpPr>
          <p:cNvPr id="26" name="Follow-up icon circle"/>
          <p:cNvSpPr/>
          <p:nvPr/>
        </p:nvSpPr>
        <p:spPr>
          <a:xfrm>
            <a:off x="6446520" y="4892040"/>
            <a:ext cx="685800" cy="685800"/>
          </a:xfrm>
          <a:prstGeom prst="ellipse">
            <a:avLst/>
          </a:prstGeom>
          <a:solidFill>
            <a:schemeClr val="accent1"/>
          </a:solidFill>
          <a:ln/>
        </p:spPr>
      </p:sp>
      <p:pic>
        <p:nvPicPr>
          <p:cNvPr id="27" name="Follow-up icon" descr="Follow-up icon">    </p:cNvPr>
          <p:cNvPicPr>
            <a:picLocks noChangeAspect="1"/>
          </p:cNvPicPr>
          <p:nvPr/>
        </p:nvPicPr>
        <p:blipFill>
          <a:blip r:embed="rId6"/>
          <a:stretch>
            <a:fillRect/>
          </a:stretch>
        </p:blipFill>
        <p:spPr>
          <a:xfrm>
            <a:off x="6611112" y="5056632"/>
            <a:ext cx="356616" cy="356616"/>
          </a:xfrm>
          <a:prstGeom prst="rect">
            <a:avLst/>
          </a:prstGeom>
        </p:spPr>
      </p:pic>
      <p:sp>
        <p:nvSpPr>
          <p:cNvPr id="28" name="Text 20"/>
          <p:cNvSpPr txBox="1"/>
          <p:nvPr/>
        </p:nvSpPr>
        <p:spPr>
          <a:xfrm>
            <a:off x="7315200" y="46360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Follow-up</a:t>
            </a:r>
            <a:endParaRPr lang="en-US" sz="1400" dirty="0"/>
          </a:p>
          <a:p>
            <a:pPr indent="0" marL="0">
              <a:buNone/>
            </a:pPr>
            <a:r>
              <a:rPr lang="en-US" sz="1400" dirty="0">
                <a:solidFill>
                  <a:schemeClr val="tx1"/>
                </a:solidFill>
              </a:rPr>
              <a:t>Every crew member followed for at least 10 weeks, whatever their test result</a:t>
            </a:r>
            <a:r>
              <a:rPr lang="en-US" sz="1400" baseline="30000" dirty="0">
                <a:solidFill>
                  <a:schemeClr val="tx1"/>
                </a:solidFill>
              </a:rPr>
              <a:t>1</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Recommendations: What to Do Next</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5   </a:t>
            </a:r>
            <a:r>
              <a:rPr lang="en-US" sz="1100" b="1" spc="100" kern="0" dirty="0">
                <a:solidFill>
                  <a:schemeClr val="accent6"/>
                </a:solidFill>
              </a:rPr>
              <a:t>WHAT WAS DONE, AND WHAT NEXT?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Recommendations are the student's own.</a:t>
            </a:r>
            <a:endParaRPr lang="en-US" sz="1000" dirty="0"/>
          </a:p>
        </p:txBody>
      </p:sp>
      <p:sp>
        <p:nvSpPr>
          <p:cNvPr id="5" name="Immediate control card"/>
          <p:cNvSpPr/>
          <p:nvPr/>
        </p:nvSpPr>
        <p:spPr>
          <a:xfrm>
            <a:off x="548640" y="1325880"/>
            <a:ext cx="5394960" cy="1463040"/>
          </a:xfrm>
          <a:prstGeom prst="roundRect">
            <a:avLst>
              <a:gd name="adj" fmla="val 7500"/>
            </a:avLst>
          </a:prstGeom>
          <a:solidFill>
            <a:schemeClr val="bg2"/>
          </a:solidFill>
          <a:ln/>
        </p:spPr>
      </p:sp>
      <p:sp>
        <p:nvSpPr>
          <p:cNvPr id="6" name="Immediate control icon circle"/>
          <p:cNvSpPr/>
          <p:nvPr/>
        </p:nvSpPr>
        <p:spPr>
          <a:xfrm>
            <a:off x="777240" y="1709928"/>
            <a:ext cx="685800" cy="685800"/>
          </a:xfrm>
          <a:prstGeom prst="ellipse">
            <a:avLst/>
          </a:prstGeom>
          <a:solidFill>
            <a:schemeClr val="accent2"/>
          </a:solidFill>
          <a:ln/>
        </p:spPr>
      </p:sp>
      <p:pic>
        <p:nvPicPr>
          <p:cNvPr id="7" name="Immediate control icon" descr="Immediate control icon">    </p:cNvPr>
          <p:cNvPicPr>
            <a:picLocks noChangeAspect="1"/>
          </p:cNvPicPr>
          <p:nvPr/>
        </p:nvPicPr>
        <p:blipFill>
          <a:blip r:embed="rId1"/>
          <a:stretch>
            <a:fillRect/>
          </a:stretch>
        </p:blipFill>
        <p:spPr>
          <a:xfrm>
            <a:off x="941832" y="1874520"/>
            <a:ext cx="356616" cy="356616"/>
          </a:xfrm>
          <a:prstGeom prst="rect">
            <a:avLst/>
          </a:prstGeom>
        </p:spPr>
      </p:pic>
      <p:sp>
        <p:nvSpPr>
          <p:cNvPr id="8" name="Text 5"/>
          <p:cNvSpPr txBox="1"/>
          <p:nvPr/>
        </p:nvSpPr>
        <p:spPr>
          <a:xfrm>
            <a:off x="1645920" y="141732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Immediate control</a:t>
            </a:r>
            <a:endParaRPr lang="en-US" sz="1350" dirty="0"/>
          </a:p>
          <a:p>
            <a:pPr indent="0" marL="0">
              <a:buNone/>
            </a:pPr>
            <a:r>
              <a:rPr lang="en-US" sz="1350" dirty="0">
                <a:solidFill>
                  <a:schemeClr val="tx1"/>
                </a:solidFill>
              </a:rPr>
              <a:t>Test everyone, not just symptomatic people, because 77% of cases had no symptoms when they tested positive</a:t>
            </a:r>
            <a:r>
              <a:rPr lang="en-US" sz="1350" baseline="30000" dirty="0">
                <a:solidFill>
                  <a:schemeClr val="tx1"/>
                </a:solidFill>
              </a:rPr>
              <a:t>1</a:t>
            </a:r>
            <a:r>
              <a:rPr lang="en-US" sz="1350" dirty="0">
                <a:solidFill>
                  <a:schemeClr val="tx1"/>
                </a:solidFill>
              </a:rPr>
              <a:t>; isolate off-ship in single rooms</a:t>
            </a:r>
            <a:endParaRPr lang="en-US" sz="1350" dirty="0"/>
          </a:p>
        </p:txBody>
      </p:sp>
      <p:sp>
        <p:nvSpPr>
          <p:cNvPr id="9" name="Prevention card"/>
          <p:cNvSpPr/>
          <p:nvPr/>
        </p:nvSpPr>
        <p:spPr>
          <a:xfrm>
            <a:off x="548640" y="2971800"/>
            <a:ext cx="5394960" cy="1463040"/>
          </a:xfrm>
          <a:prstGeom prst="roundRect">
            <a:avLst>
              <a:gd name="adj" fmla="val 7500"/>
            </a:avLst>
          </a:prstGeom>
          <a:solidFill>
            <a:schemeClr val="bg2"/>
          </a:solidFill>
          <a:ln/>
        </p:spPr>
      </p:sp>
      <p:sp>
        <p:nvSpPr>
          <p:cNvPr id="10" name="Prevention icon circle"/>
          <p:cNvSpPr/>
          <p:nvPr/>
        </p:nvSpPr>
        <p:spPr>
          <a:xfrm>
            <a:off x="777240" y="3355848"/>
            <a:ext cx="685800" cy="685800"/>
          </a:xfrm>
          <a:prstGeom prst="ellipse">
            <a:avLst/>
          </a:prstGeom>
          <a:solidFill>
            <a:schemeClr val="accent1"/>
          </a:solidFill>
          <a:ln/>
        </p:spPr>
      </p:sp>
      <p:pic>
        <p:nvPicPr>
          <p:cNvPr id="11" name="Prevention icon" descr="Prevention icon">    </p:cNvPr>
          <p:cNvPicPr>
            <a:picLocks noChangeAspect="1"/>
          </p:cNvPicPr>
          <p:nvPr/>
        </p:nvPicPr>
        <p:blipFill>
          <a:blip r:embed="rId2"/>
          <a:stretch>
            <a:fillRect/>
          </a:stretch>
        </p:blipFill>
        <p:spPr>
          <a:xfrm>
            <a:off x="941832" y="3520440"/>
            <a:ext cx="356616" cy="356616"/>
          </a:xfrm>
          <a:prstGeom prst="rect">
            <a:avLst/>
          </a:prstGeom>
        </p:spPr>
      </p:pic>
      <p:sp>
        <p:nvSpPr>
          <p:cNvPr id="12" name="Text 8"/>
          <p:cNvSpPr txBox="1"/>
          <p:nvPr/>
        </p:nvSpPr>
        <p:spPr>
          <a:xfrm>
            <a:off x="1645920" y="306324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Prevention</a:t>
            </a:r>
            <a:endParaRPr lang="en-US" sz="1350" dirty="0"/>
          </a:p>
          <a:p>
            <a:pPr indent="0" marL="0">
              <a:buNone/>
            </a:pPr>
            <a:r>
              <a:rPr lang="en-US" sz="1350" dirty="0">
                <a:solidFill>
                  <a:schemeClr val="tx1"/>
                </a:solidFill>
              </a:rPr>
              <a:t>14-day restriction of movement plus PCR before deployment (Navy policy</a:t>
            </a:r>
            <a:r>
              <a:rPr lang="en-US" sz="1350" baseline="30000" dirty="0">
                <a:solidFill>
                  <a:schemeClr val="tx1"/>
                </a:solidFill>
              </a:rPr>
              <a:t>1</a:t>
            </a:r>
            <a:r>
              <a:rPr lang="en-US" sz="1350" dirty="0">
                <a:solidFill>
                  <a:schemeClr val="tx1"/>
                </a:solidFill>
              </a:rPr>
              <a:t>); masks, small cohorts and better ventilation in confined departments (RR 2.6)</a:t>
            </a:r>
            <a:endParaRPr lang="en-US" sz="1350" dirty="0"/>
          </a:p>
        </p:txBody>
      </p:sp>
      <p:sp>
        <p:nvSpPr>
          <p:cNvPr id="13" name="Surveillance card"/>
          <p:cNvSpPr/>
          <p:nvPr/>
        </p:nvSpPr>
        <p:spPr>
          <a:xfrm>
            <a:off x="548640" y="4617720"/>
            <a:ext cx="5394960" cy="1463040"/>
          </a:xfrm>
          <a:prstGeom prst="roundRect">
            <a:avLst>
              <a:gd name="adj" fmla="val 7500"/>
            </a:avLst>
          </a:prstGeom>
          <a:solidFill>
            <a:schemeClr val="bg2"/>
          </a:solidFill>
          <a:ln/>
        </p:spPr>
      </p:sp>
      <p:sp>
        <p:nvSpPr>
          <p:cNvPr id="14" name="Surveillance icon circle"/>
          <p:cNvSpPr/>
          <p:nvPr/>
        </p:nvSpPr>
        <p:spPr>
          <a:xfrm>
            <a:off x="777240" y="5001768"/>
            <a:ext cx="685800" cy="685800"/>
          </a:xfrm>
          <a:prstGeom prst="ellipse">
            <a:avLst/>
          </a:prstGeom>
          <a:solidFill>
            <a:schemeClr val="accent1"/>
          </a:solidFill>
          <a:ln/>
        </p:spPr>
      </p:sp>
      <p:pic>
        <p:nvPicPr>
          <p:cNvPr id="15" name="Surveillance icon" descr="Surveillance icon">    </p:cNvPr>
          <p:cNvPicPr>
            <a:picLocks noChangeAspect="1"/>
          </p:cNvPicPr>
          <p:nvPr/>
        </p:nvPicPr>
        <p:blipFill>
          <a:blip r:embed="rId3"/>
          <a:stretch>
            <a:fillRect/>
          </a:stretch>
        </p:blipFill>
        <p:spPr>
          <a:xfrm>
            <a:off x="941832" y="5166360"/>
            <a:ext cx="356616" cy="356616"/>
          </a:xfrm>
          <a:prstGeom prst="rect">
            <a:avLst/>
          </a:prstGeom>
        </p:spPr>
      </p:pic>
      <p:sp>
        <p:nvSpPr>
          <p:cNvPr id="16" name="Text 11"/>
          <p:cNvSpPr txBox="1"/>
          <p:nvPr/>
        </p:nvSpPr>
        <p:spPr>
          <a:xfrm>
            <a:off x="1645920" y="470916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Surveillance</a:t>
            </a:r>
            <a:endParaRPr lang="en-US" sz="1350" dirty="0"/>
          </a:p>
          <a:p>
            <a:pPr indent="0" marL="0">
              <a:buNone/>
            </a:pPr>
            <a:r>
              <a:rPr lang="en-US" sz="1350" dirty="0">
                <a:solidFill>
                  <a:schemeClr val="tx1"/>
                </a:solidFill>
              </a:rPr>
              <a:t>Routine PCR or pooled screening at sea; do not rely on temperature checks, since only 13% of symptomatic cases reported fever</a:t>
            </a:r>
            <a:r>
              <a:rPr lang="en-US" sz="1350" baseline="30000" dirty="0">
                <a:solidFill>
                  <a:schemeClr val="tx1"/>
                </a:solidFill>
              </a:rPr>
              <a:t>1</a:t>
            </a:r>
            <a:endParaRPr lang="en-US" sz="1350" dirty="0"/>
          </a:p>
        </p:txBody>
      </p:sp>
      <p:sp>
        <p:nvSpPr>
          <p:cNvPr id="17" name="Communication card"/>
          <p:cNvSpPr/>
          <p:nvPr/>
        </p:nvSpPr>
        <p:spPr>
          <a:xfrm>
            <a:off x="6217920" y="1325880"/>
            <a:ext cx="5394960" cy="1463040"/>
          </a:xfrm>
          <a:prstGeom prst="roundRect">
            <a:avLst>
              <a:gd name="adj" fmla="val 7500"/>
            </a:avLst>
          </a:prstGeom>
          <a:solidFill>
            <a:schemeClr val="bg2"/>
          </a:solidFill>
          <a:ln/>
        </p:spPr>
      </p:sp>
      <p:sp>
        <p:nvSpPr>
          <p:cNvPr id="18" name="Communication icon circle"/>
          <p:cNvSpPr/>
          <p:nvPr/>
        </p:nvSpPr>
        <p:spPr>
          <a:xfrm>
            <a:off x="6446520" y="1709928"/>
            <a:ext cx="685800" cy="685800"/>
          </a:xfrm>
          <a:prstGeom prst="ellipse">
            <a:avLst/>
          </a:prstGeom>
          <a:solidFill>
            <a:schemeClr val="accent1"/>
          </a:solidFill>
          <a:ln/>
        </p:spPr>
      </p:sp>
      <p:pic>
        <p:nvPicPr>
          <p:cNvPr id="19" name="Communication icon" descr="Communication icon">    </p:cNvPr>
          <p:cNvPicPr>
            <a:picLocks noChangeAspect="1"/>
          </p:cNvPicPr>
          <p:nvPr/>
        </p:nvPicPr>
        <p:blipFill>
          <a:blip r:embed="rId4"/>
          <a:stretch>
            <a:fillRect/>
          </a:stretch>
        </p:blipFill>
        <p:spPr>
          <a:xfrm>
            <a:off x="6611112" y="1874520"/>
            <a:ext cx="356616" cy="356616"/>
          </a:xfrm>
          <a:prstGeom prst="rect">
            <a:avLst/>
          </a:prstGeom>
        </p:spPr>
      </p:pic>
      <p:sp>
        <p:nvSpPr>
          <p:cNvPr id="20" name="Text 14"/>
          <p:cNvSpPr txBox="1"/>
          <p:nvPr/>
        </p:nvSpPr>
        <p:spPr>
          <a:xfrm>
            <a:off x="7315200" y="141732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Communication</a:t>
            </a:r>
            <a:endParaRPr lang="en-US" sz="1350" dirty="0"/>
          </a:p>
          <a:p>
            <a:pPr indent="0" marL="0">
              <a:buNone/>
            </a:pPr>
            <a:r>
              <a:rPr lang="en-US" sz="1350" dirty="0">
                <a:solidFill>
                  <a:schemeClr val="tx1"/>
                </a:solidFill>
              </a:rPr>
              <a:t>Tell crews that feeling well does not mean uninfected; brief medical staff on common symptoms such as headache and altered taste or smell</a:t>
            </a:r>
            <a:r>
              <a:rPr lang="en-US" sz="1350" baseline="30000" dirty="0">
                <a:solidFill>
                  <a:schemeClr val="tx1"/>
                </a:solidFill>
              </a:rPr>
              <a:t>1</a:t>
            </a:r>
            <a:endParaRPr lang="en-US" sz="1350" dirty="0"/>
          </a:p>
        </p:txBody>
      </p:sp>
      <p:sp>
        <p:nvSpPr>
          <p:cNvPr id="21" name="Future investigations card"/>
          <p:cNvSpPr/>
          <p:nvPr/>
        </p:nvSpPr>
        <p:spPr>
          <a:xfrm>
            <a:off x="6217920" y="2971800"/>
            <a:ext cx="5394960" cy="1463040"/>
          </a:xfrm>
          <a:prstGeom prst="roundRect">
            <a:avLst>
              <a:gd name="adj" fmla="val 7500"/>
            </a:avLst>
          </a:prstGeom>
          <a:solidFill>
            <a:schemeClr val="bg2"/>
          </a:solidFill>
          <a:ln/>
        </p:spPr>
      </p:sp>
      <p:sp>
        <p:nvSpPr>
          <p:cNvPr id="22" name="Future investigations icon circle"/>
          <p:cNvSpPr/>
          <p:nvPr/>
        </p:nvSpPr>
        <p:spPr>
          <a:xfrm>
            <a:off x="6446520" y="3355848"/>
            <a:ext cx="685800" cy="685800"/>
          </a:xfrm>
          <a:prstGeom prst="ellipse">
            <a:avLst/>
          </a:prstGeom>
          <a:solidFill>
            <a:schemeClr val="accent1"/>
          </a:solidFill>
          <a:ln/>
        </p:spPr>
      </p:sp>
      <p:pic>
        <p:nvPicPr>
          <p:cNvPr id="23" name="Future investigations icon" descr="Future investigations icon">    </p:cNvPr>
          <p:cNvPicPr>
            <a:picLocks noChangeAspect="1"/>
          </p:cNvPicPr>
          <p:nvPr/>
        </p:nvPicPr>
        <p:blipFill>
          <a:blip r:embed="rId5"/>
          <a:stretch>
            <a:fillRect/>
          </a:stretch>
        </p:blipFill>
        <p:spPr>
          <a:xfrm>
            <a:off x="6611112" y="3520440"/>
            <a:ext cx="356616" cy="356616"/>
          </a:xfrm>
          <a:prstGeom prst="rect">
            <a:avLst/>
          </a:prstGeom>
        </p:spPr>
      </p:pic>
      <p:sp>
        <p:nvSpPr>
          <p:cNvPr id="24" name="Text 17"/>
          <p:cNvSpPr txBox="1"/>
          <p:nvPr/>
        </p:nvSpPr>
        <p:spPr>
          <a:xfrm>
            <a:off x="7315200" y="306324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Future investigations</a:t>
            </a:r>
            <a:endParaRPr lang="en-US" sz="1350" dirty="0"/>
          </a:p>
          <a:p>
            <a:pPr indent="0" marL="0">
              <a:buNone/>
            </a:pPr>
            <a:r>
              <a:rPr lang="en-US" sz="1350" dirty="0">
                <a:solidFill>
                  <a:schemeClr val="tx1"/>
                </a:solidFill>
              </a:rPr>
              <a:t>Sequence isolates to trace introductions and chains; assess ventilation; fit adjusted models and report RRs for cohort data</a:t>
            </a:r>
            <a:endParaRPr lang="en-US" sz="1350" dirty="0"/>
          </a:p>
        </p:txBody>
      </p:sp>
      <p:sp>
        <p:nvSpPr>
          <p:cNvPr id="25" name="navy outcome"/>
          <p:cNvSpPr/>
          <p:nvPr/>
        </p:nvSpPr>
        <p:spPr>
          <a:xfrm>
            <a:off x="6217920" y="4617720"/>
            <a:ext cx="5394960" cy="1463040"/>
          </a:xfrm>
          <a:prstGeom prst="roundRect">
            <a:avLst>
              <a:gd name="adj" fmla="val 7500"/>
            </a:avLst>
          </a:prstGeom>
          <a:solidFill>
            <a:schemeClr val="tx2"/>
          </a:solidFill>
          <a:ln/>
        </p:spPr>
      </p:sp>
      <p:sp>
        <p:nvSpPr>
          <p:cNvPr id="26" name="Text 19"/>
          <p:cNvSpPr txBox="1"/>
          <p:nvPr/>
        </p:nvSpPr>
        <p:spPr>
          <a:xfrm>
            <a:off x="6446520" y="4709160"/>
            <a:ext cx="4937760" cy="1280160"/>
          </a:xfrm>
          <a:prstGeom prst="rect">
            <a:avLst/>
          </a:prstGeom>
          <a:noFill/>
          <a:ln/>
        </p:spPr>
        <p:txBody>
          <a:bodyPr wrap="square" lIns="635" tIns="635" rIns="635" bIns="635" rtlCol="0" anchor="ctr"/>
          <a:lstStyle/>
          <a:p>
            <a:pPr indent="0" marL="0">
              <a:buNone/>
            </a:pPr>
            <a:r>
              <a:rPr lang="en-US" sz="1400" b="1" dirty="0">
                <a:solidFill>
                  <a:schemeClr val="accent4"/>
                </a:solidFill>
              </a:rPr>
              <a:t>Navy experience: </a:t>
            </a:r>
            <a:r>
              <a:rPr lang="en-US" sz="1400" dirty="0">
                <a:solidFill>
                  <a:schemeClr val="bg1"/>
                </a:solidFill>
              </a:rPr>
              <a:t>after adding pre-deployment restriction of movement with exit PCR, cutting shore leave at foreign ports, and enforcing masks, distancing and cohorting, the Navy deployed multiple ships without another serious outbreak.</a:t>
            </a:r>
            <a:r>
              <a:rPr lang="en-US" sz="1400" baseline="30000" dirty="0">
                <a:solidFill>
                  <a:schemeClr val="bg1"/>
                </a:solidFill>
              </a:rPr>
              <a:t>1</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11480"/>
            <a:ext cx="10698480" cy="822960"/>
          </a:xfrm>
          <a:prstGeom prst="rect">
            <a:avLst/>
          </a:prstGeom>
          <a:noFill/>
          <a:ln/>
        </p:spPr>
        <p:txBody>
          <a:bodyPr wrap="square" lIns="635" tIns="635" rIns="635" bIns="635"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Conclusion</a:t>
            </a:r>
            <a:endParaRPr lang="en-US" sz="3600" dirty="0"/>
          </a:p>
        </p:txBody>
      </p:sp>
      <p:sp>
        <p:nvSpPr>
          <p:cNvPr id="3" name="Text 1"/>
          <p:cNvSpPr txBox="1"/>
          <p:nvPr/>
        </p:nvSpPr>
        <p:spPr>
          <a:xfrm>
            <a:off x="731520" y="1417320"/>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What happened</a:t>
            </a:r>
            <a:endParaRPr lang="en-US" sz="1700" dirty="0"/>
          </a:p>
        </p:txBody>
      </p:sp>
      <p:sp>
        <p:nvSpPr>
          <p:cNvPr id="4" name="Text 2"/>
          <p:cNvSpPr txBox="1"/>
          <p:nvPr/>
        </p:nvSpPr>
        <p:spPr>
          <a:xfrm>
            <a:off x="2926080" y="1417320"/>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SARS-CoV-2 infected 27% of a 4,779-person carrier crew in 8 weeks</a:t>
            </a:r>
            <a:r>
              <a:rPr lang="en-US" sz="1700" baseline="30000" dirty="0">
                <a:solidFill>
                  <a:schemeClr val="bg1"/>
                </a:solidFill>
              </a:rPr>
              <a:t>1</a:t>
            </a:r>
            <a:endParaRPr lang="en-US" sz="1700" dirty="0"/>
          </a:p>
        </p:txBody>
      </p:sp>
      <p:sp>
        <p:nvSpPr>
          <p:cNvPr id="5" name="Text 3"/>
          <p:cNvSpPr txBox="1"/>
          <p:nvPr/>
        </p:nvSpPr>
        <p:spPr>
          <a:xfrm>
            <a:off x="731520" y="2130552"/>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Who</a:t>
            </a:r>
            <a:endParaRPr lang="en-US" sz="1700" dirty="0"/>
          </a:p>
        </p:txBody>
      </p:sp>
      <p:sp>
        <p:nvSpPr>
          <p:cNvPr id="6" name="Text 4"/>
          <p:cNvSpPr txBox="1"/>
          <p:nvPr/>
        </p:nvSpPr>
        <p:spPr>
          <a:xfrm>
            <a:off x="2926080" y="2130552"/>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Young, healthy sailors; enlisted crew and those in confined spaces were at higher risk</a:t>
            </a:r>
            <a:endParaRPr lang="en-US" sz="1700" dirty="0"/>
          </a:p>
        </p:txBody>
      </p:sp>
      <p:sp>
        <p:nvSpPr>
          <p:cNvPr id="7" name="Text 5"/>
          <p:cNvSpPr txBox="1"/>
          <p:nvPr/>
        </p:nvSpPr>
        <p:spPr>
          <a:xfrm>
            <a:off x="731520" y="2843784"/>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How</a:t>
            </a:r>
            <a:endParaRPr lang="en-US" sz="1700" dirty="0"/>
          </a:p>
        </p:txBody>
      </p:sp>
      <p:sp>
        <p:nvSpPr>
          <p:cNvPr id="8" name="Text 6"/>
          <p:cNvSpPr txBox="1"/>
          <p:nvPr/>
        </p:nvSpPr>
        <p:spPr>
          <a:xfrm>
            <a:off x="2926080" y="2843784"/>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Propagated person-to-person respiratory spread, made worse by crowding</a:t>
            </a:r>
            <a:endParaRPr lang="en-US" sz="1700" dirty="0"/>
          </a:p>
        </p:txBody>
      </p:sp>
      <p:sp>
        <p:nvSpPr>
          <p:cNvPr id="9" name="Text 7"/>
          <p:cNvSpPr txBox="1"/>
          <p:nvPr/>
        </p:nvSpPr>
        <p:spPr>
          <a:xfrm>
            <a:off x="731520" y="3557016"/>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Evidence</a:t>
            </a:r>
            <a:endParaRPr lang="en-US" sz="1700" dirty="0"/>
          </a:p>
        </p:txBody>
      </p:sp>
      <p:sp>
        <p:nvSpPr>
          <p:cNvPr id="10" name="Text 8"/>
          <p:cNvSpPr txBox="1"/>
          <p:nvPr/>
        </p:nvSpPr>
        <p:spPr>
          <a:xfrm>
            <a:off x="2926080" y="3557016"/>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Universal testing, a propagated curve, and higher attack rates in crowded, confined settings</a:t>
            </a:r>
            <a:endParaRPr lang="en-US" sz="1700" dirty="0"/>
          </a:p>
        </p:txBody>
      </p:sp>
      <p:sp>
        <p:nvSpPr>
          <p:cNvPr id="11" name="Text 9"/>
          <p:cNvSpPr txBox="1"/>
          <p:nvPr/>
        </p:nvSpPr>
        <p:spPr>
          <a:xfrm>
            <a:off x="731520" y="4270248"/>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Key finding</a:t>
            </a:r>
            <a:endParaRPr lang="en-US" sz="1700" dirty="0"/>
          </a:p>
        </p:txBody>
      </p:sp>
      <p:sp>
        <p:nvSpPr>
          <p:cNvPr id="12" name="Text 10"/>
          <p:cNvSpPr txBox="1"/>
          <p:nvPr/>
        </p:nvSpPr>
        <p:spPr>
          <a:xfrm>
            <a:off x="2926080" y="4270248"/>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77% had no symptoms when they tested positive</a:t>
            </a:r>
            <a:r>
              <a:rPr lang="en-US" sz="1700" baseline="30000" dirty="0">
                <a:solidFill>
                  <a:schemeClr val="bg1"/>
                </a:solidFill>
              </a:rPr>
              <a:t>1</a:t>
            </a:r>
            <a:r>
              <a:rPr lang="en-US" sz="1700" dirty="0">
                <a:solidFill>
                  <a:schemeClr val="bg1"/>
                </a:solidFill>
              </a:rPr>
              <a:t>; 45% never had symptoms (student calculation)</a:t>
            </a:r>
            <a:endParaRPr lang="en-US" sz="1700" dirty="0"/>
          </a:p>
        </p:txBody>
      </p:sp>
      <p:sp>
        <p:nvSpPr>
          <p:cNvPr id="13" name="Text 11"/>
          <p:cNvSpPr txBox="1"/>
          <p:nvPr/>
        </p:nvSpPr>
        <p:spPr>
          <a:xfrm>
            <a:off x="731520" y="6355080"/>
            <a:ext cx="10058400" cy="320040"/>
          </a:xfrm>
          <a:prstGeom prst="rect">
            <a:avLst/>
          </a:prstGeom>
          <a:noFill/>
          <a:ln/>
        </p:spPr>
        <p:txBody>
          <a:bodyPr wrap="square" lIns="0" tIns="0" rIns="0" bIns="0" rtlCol="0" anchor="ctr"/>
          <a:lstStyle/>
          <a:p>
            <a:pPr indent="0" marL="0">
              <a:buNone/>
            </a:pPr>
            <a:r>
              <a:rPr lang="en-US" sz="1000" i="1" dirty="0">
                <a:solidFill>
                  <a:schemeClr val="accent3"/>
                </a:solidFill>
              </a:rPr>
              <a:t>1. Kasper MR, Geibe JR, Sears CL, et al. N Engl J Med. 2020;383(25):2417-2426. 45%: student calculation from reference 1 data.</a:t>
            </a:r>
            <a:endParaRPr lang="en-US" sz="1000" dirty="0"/>
          </a:p>
        </p:txBody>
      </p:sp>
      <p:sp>
        <p:nvSpPr>
          <p:cNvPr id="14" name="lesson panel"/>
          <p:cNvSpPr/>
          <p:nvPr/>
        </p:nvSpPr>
        <p:spPr>
          <a:xfrm>
            <a:off x="731520" y="5120640"/>
            <a:ext cx="10698480" cy="1143000"/>
          </a:xfrm>
          <a:prstGeom prst="roundRect">
            <a:avLst>
              <a:gd name="adj" fmla="val 9600"/>
            </a:avLst>
          </a:prstGeom>
          <a:solidFill>
            <a:schemeClr val="accent5"/>
          </a:solidFill>
          <a:ln/>
        </p:spPr>
      </p:sp>
      <p:sp>
        <p:nvSpPr>
          <p:cNvPr id="15" name="Text 13"/>
          <p:cNvSpPr txBox="1"/>
          <p:nvPr/>
        </p:nvSpPr>
        <p:spPr>
          <a:xfrm>
            <a:off x="960120" y="5166360"/>
            <a:ext cx="10241280" cy="1051560"/>
          </a:xfrm>
          <a:prstGeom prst="rect">
            <a:avLst/>
          </a:prstGeom>
          <a:noFill/>
          <a:ln/>
        </p:spPr>
        <p:txBody>
          <a:bodyPr wrap="square" lIns="635" tIns="635" rIns="635" bIns="635" rtlCol="0" anchor="ctr"/>
          <a:lstStyle/>
          <a:p>
            <a:pPr indent="0" marL="0">
              <a:buNone/>
            </a:pPr>
            <a:r>
              <a:rPr lang="en-US" sz="1700" b="1" dirty="0">
                <a:solidFill>
                  <a:schemeClr val="accent4"/>
                </a:solidFill>
              </a:rPr>
              <a:t>Lesson for public health: </a:t>
            </a:r>
            <a:r>
              <a:rPr lang="en-US" sz="1700" dirty="0">
                <a:solidFill>
                  <a:schemeClr val="bg1"/>
                </a:solidFill>
              </a:rPr>
              <a:t>in any crowded setting, assume the virus is already present and spreading silently.</a:t>
            </a:r>
            <a:r>
              <a:rPr lang="en-US" sz="1700" baseline="30000" dirty="0">
                <a:solidFill>
                  <a:schemeClr val="bg1"/>
                </a:solidFill>
              </a:rPr>
              <a:t>1</a:t>
            </a:r>
            <a:r>
              <a:rPr lang="en-US" sz="1700" dirty="0">
                <a:solidFill>
                  <a:schemeClr val="bg1"/>
                </a:solidFill>
              </a:rPr>
              <a:t> Control has to rely on testing, cohorting and ventilation, not on waiting for symptoms.</a:t>
            </a:r>
            <a:endParaRPr lang="en-US" sz="1700" dirty="0"/>
          </a:p>
        </p:txBody>
      </p:sp>
      <p:sp>
        <p:nvSpPr>
          <p:cNvPr id="17"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endParaRPr lang="en-US" sz="4000" dirty="0"/>
          </a:p>
        </p:txBody>
      </p:sp>
      <p:sp>
        <p:nvSpPr>
          <p:cNvPr id="18"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References</a:t>
            </a:r>
            <a:endParaRPr lang="en-US" sz="3400" dirty="0"/>
          </a:p>
        </p:txBody>
      </p:sp>
      <p:sp>
        <p:nvSpPr>
          <p:cNvPr id="3" name="Text 1"/>
          <p:cNvSpPr txBox="1"/>
          <p:nvPr/>
        </p:nvSpPr>
        <p:spPr>
          <a:xfrm>
            <a:off x="548640" y="1325880"/>
            <a:ext cx="11064240" cy="4846320"/>
          </a:xfrm>
          <a:prstGeom prst="rect">
            <a:avLst/>
          </a:prstGeom>
          <a:noFill/>
          <a:ln/>
        </p:spPr>
        <p:txBody>
          <a:bodyPr wrap="square" lIns="635" tIns="635" rIns="635" bIns="635" rtlCol="0" anchor="t"/>
          <a:lstStyle/>
          <a:p>
            <a:pPr marL="342900" indent="-342900">
              <a:spcAft>
                <a:spcPts val="1200"/>
              </a:spcAft>
              <a:buSzPct val="100000"/>
              <a:buFont typeface="+mj-lt"/>
              <a:buAutoNum type="arabicPeriod" startAt="1"/>
            </a:pPr>
            <a:r>
              <a:rPr lang="en-US" sz="1500" dirty="0">
                <a:solidFill>
                  <a:schemeClr val="tx1"/>
                </a:solidFill>
              </a:rPr>
              <a:t>Kasper MR, Geibe JR, Sears CL, et al. An outbreak of Covid-19 on an aircraft carrier. </a:t>
            </a:r>
            <a:r>
              <a:rPr lang="en-US" sz="1500" i="1" dirty="0">
                <a:solidFill>
                  <a:schemeClr val="tx1"/>
                </a:solidFill>
              </a:rPr>
              <a:t>N Engl J Med</a:t>
            </a:r>
            <a:r>
              <a:rPr lang="en-US" sz="1500" dirty="0">
                <a:solidFill>
                  <a:schemeClr val="tx1"/>
                </a:solidFill>
              </a:rPr>
              <a:t>. 2020;383(25):2417-2426. doi:10.1056/NEJMoa2019375</a:t>
            </a:r>
            <a:endParaRPr lang="en-US" sz="1500" dirty="0"/>
          </a:p>
          <a:p>
            <a:pPr marL="342900" indent="-342900">
              <a:spcAft>
                <a:spcPts val="1200"/>
              </a:spcAft>
              <a:buSzPct val="100000"/>
              <a:buFont typeface="+mj-lt"/>
              <a:buAutoNum type="arabicPeriod" startAt="1"/>
            </a:pPr>
            <a:r>
              <a:rPr lang="en-US" sz="1500" dirty="0">
                <a:solidFill>
                  <a:schemeClr val="tx1"/>
                </a:solidFill>
              </a:rPr>
              <a:t>Hu B, Guo H, Zhou P, Shi ZL. Characteristics of SARS-CoV-2 and COVID-19. </a:t>
            </a:r>
            <a:r>
              <a:rPr lang="en-US" sz="1500" i="1" dirty="0">
                <a:solidFill>
                  <a:schemeClr val="tx1"/>
                </a:solidFill>
              </a:rPr>
              <a:t>Nat Rev Microbiol</a:t>
            </a:r>
            <a:r>
              <a:rPr lang="en-US" sz="1500" dirty="0">
                <a:solidFill>
                  <a:schemeClr val="tx1"/>
                </a:solidFill>
              </a:rPr>
              <a:t>. 2021;19(3):141-154. doi:10.1038/s41579-020-00459-7</a:t>
            </a:r>
            <a:endParaRPr lang="en-US" sz="1500" dirty="0"/>
          </a:p>
          <a:p>
            <a:pPr marL="342900" indent="-342900">
              <a:spcAft>
                <a:spcPts val="1200"/>
              </a:spcAft>
              <a:buSzPct val="100000"/>
              <a:buFont typeface="+mj-lt"/>
              <a:buAutoNum type="arabicPeriod" startAt="1"/>
            </a:pPr>
            <a:r>
              <a:rPr lang="en-US" sz="1500" dirty="0">
                <a:solidFill>
                  <a:schemeClr val="tx1"/>
                </a:solidFill>
              </a:rPr>
              <a:t>Lauer SA, Grantz KH, Bi Q, et al. The incubation period of coronavirus disease 2019 (COVID-19) from publicly reported confirmed cases: estimation and application. </a:t>
            </a:r>
            <a:r>
              <a:rPr lang="en-US" sz="1500" i="1" dirty="0">
                <a:solidFill>
                  <a:schemeClr val="tx1"/>
                </a:solidFill>
              </a:rPr>
              <a:t>Ann Intern Med</a:t>
            </a:r>
            <a:r>
              <a:rPr lang="en-US" sz="1500" dirty="0">
                <a:solidFill>
                  <a:schemeClr val="tx1"/>
                </a:solidFill>
              </a:rPr>
              <a:t>. 2020;172(9):577-582. doi:10.7326/M20-0504</a:t>
            </a:r>
            <a:endParaRPr lang="en-US" sz="1500" dirty="0"/>
          </a:p>
          <a:p>
            <a:pPr marL="342900" indent="-342900">
              <a:spcAft>
                <a:spcPts val="1200"/>
              </a:spcAft>
              <a:buSzPct val="100000"/>
              <a:buFont typeface="+mj-lt"/>
              <a:buAutoNum type="arabicPeriod" startAt="1"/>
            </a:pPr>
            <a:r>
              <a:rPr lang="en-US" sz="1500" dirty="0">
                <a:solidFill>
                  <a:schemeClr val="tx1"/>
                </a:solidFill>
              </a:rPr>
              <a:t>He X, Lau EHY, Wu P, et al. Temporal dynamics in viral shedding and transmissibility of COVID-19. </a:t>
            </a:r>
            <a:r>
              <a:rPr lang="en-US" sz="1500" i="1" dirty="0">
                <a:solidFill>
                  <a:schemeClr val="tx1"/>
                </a:solidFill>
              </a:rPr>
              <a:t>Nat Med</a:t>
            </a:r>
            <a:r>
              <a:rPr lang="en-US" sz="1500" dirty="0">
                <a:solidFill>
                  <a:schemeClr val="tx1"/>
                </a:solidFill>
              </a:rPr>
              <a:t>. 2020;26(5):672-675. doi:10.1038/s41591-020-0869-5. Published correction appears in </a:t>
            </a:r>
            <a:r>
              <a:rPr lang="en-US" sz="1500" i="1" dirty="0">
                <a:solidFill>
                  <a:schemeClr val="tx1"/>
                </a:solidFill>
              </a:rPr>
              <a:t>Nat Med</a:t>
            </a:r>
            <a:r>
              <a:rPr lang="en-US" sz="1500" dirty="0">
                <a:solidFill>
                  <a:schemeClr val="tx1"/>
                </a:solidFill>
              </a:rPr>
              <a:t>. 2020;26(9):1491-1493.</a:t>
            </a:r>
            <a:endParaRPr lang="en-US" sz="1500" dirty="0"/>
          </a:p>
          <a:p>
            <a:pPr marL="342900" indent="-342900">
              <a:spcAft>
                <a:spcPts val="1200"/>
              </a:spcAft>
              <a:buSzPct val="100000"/>
              <a:buFont typeface="+mj-lt"/>
              <a:buAutoNum type="arabicPeriod" startAt="1"/>
            </a:pPr>
            <a:r>
              <a:rPr lang="en-US" sz="1500" dirty="0">
                <a:solidFill>
                  <a:schemeClr val="tx1"/>
                </a:solidFill>
              </a:rPr>
              <a:t>Payne DC, Smith-Jeffcoat SE, Nowak G, et al; CDC COVID-19 Surge Laboratory Group. SARS-CoV-2 infections and serologic responses from a sample of U.S. Navy service members — USS Theodore Roosevelt, April 2020. </a:t>
            </a:r>
            <a:r>
              <a:rPr lang="en-US" sz="1500" i="1" dirty="0">
                <a:solidFill>
                  <a:schemeClr val="tx1"/>
                </a:solidFill>
              </a:rPr>
              <a:t>MMWR Morb Mortal Wkly Rep</a:t>
            </a:r>
            <a:r>
              <a:rPr lang="en-US" sz="1500" dirty="0">
                <a:solidFill>
                  <a:schemeClr val="tx1"/>
                </a:solidFill>
              </a:rPr>
              <a:t>. 2020;69(23):714-721. doi:10.15585/mmwr.mm6923e4</a:t>
            </a:r>
            <a:endParaRPr lang="en-US" sz="1500" dirty="0"/>
          </a:p>
        </p:txBody>
      </p:sp>
      <p:sp>
        <p:nvSpPr>
          <p:cNvPr id="4"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endParaRPr lang="en-US" sz="1100" dirty="0"/>
          </a:p>
        </p:txBody>
      </p:sp>
      <p:sp>
        <p:nvSpPr>
          <p:cNvPr id="5"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Carrier Outbreak">
  <a:themeElements>
    <a:clrScheme name="Carrier Outbreak">
      <a:dk1>
        <a:srgbClr val="1B1B1E"/>
      </a:dk1>
      <a:lt1>
        <a:srgbClr val="FFFFFF"/>
      </a:lt1>
      <a:dk2>
        <a:srgbClr val="0B2545"/>
      </a:dk2>
      <a:lt2>
        <a:srgbClr val="EEF4FA"/>
      </a:lt2>
      <a:accent1>
        <a:srgbClr val="0B2545"/>
      </a:accent1>
      <a:accent2>
        <a:srgbClr val="D1495B"/>
      </a:accent2>
      <a:accent3>
        <a:srgbClr val="8DA9C4"/>
      </a:accent3>
      <a:accent4>
        <a:srgbClr val="EDAE49"/>
      </a:accent4>
      <a:accent5>
        <a:srgbClr val="13315C"/>
      </a:accent5>
      <a:accent6>
        <a:srgbClr val="5C6B7A"/>
      </a:accent6>
      <a:hlink>
        <a:srgbClr val="1F5FA8"/>
      </a:hlink>
      <a:folHlink>
        <a:srgbClr val="6B4E9B"/>
      </a:folHlink>
    </a:clrScheme>
    <a:fontScheme name="Carrier Outbrea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Outbreak of Covid-19 on an Aircraft Carrier</dc:title>
  <dc:subject>PptxGenJS Presentation</dc:subject>
  <dc:creator>Praise Shobayo</dc:creator>
  <cp:lastModifiedBy>Praise Shobayo</cp:lastModifiedBy>
  <cp:revision>1</cp:revision>
  <dcterms:created xsi:type="dcterms:W3CDTF">2026-10-06T18:21:07Z</dcterms:created>
  <dcterms:modified xsi:type="dcterms:W3CDTF">2026-10-06T18:21:07Z</dcterms:modified>
</cp:coreProperties>
</file>