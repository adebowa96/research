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5bea024c-9e4e-e598-1edc-a8cb0d936bb1}">
          <p14:sldIdLst>
            <p14:sldId id="256"/>
          </p14:sldIdLst>
        </p14:section>
        <p14:section name="1 · What happened, and what caused it?" id="{7e480aca-b4ce-620b-07d6-85e30ac118b2}">
          <p14:sldIdLst>
            <p14:sldId id="257"/>
            <p14:sldId id="258"/>
            <p14:sldId id="259"/>
            <p14:sldId id="260"/>
            <p14:sldId id="261"/>
          </p14:sldIdLst>
        </p14:section>
        <p14:section name="2 · How did investigators find the cases?" id="{5174bb18-bf0d-dd37-1bd1-1ffe6212cf74}">
          <p14:sldIdLst>
            <p14:sldId id="262"/>
            <p14:sldId id="263"/>
            <p14:sldId id="264"/>
          </p14:sldIdLst>
        </p14:section>
        <p14:section name="3 · Who, where and when?" id="{304f2e7e-796c-6f30-7b3e-c458f3e79a21}">
          <p14:sldIdLst>
            <p14:sldId id="265"/>
            <p14:sldId id="266"/>
            <p14:sldId id="267"/>
            <p14:sldId id="268"/>
          </p14:sldIdLst>
        </p14:section>
        <p14:section name="4 · How did it spread, and how sure are we?" id="{98159271-9935-84f7-9bb4-8258a997e265}">
          <p14:sldIdLst>
            <p14:sldId id="269"/>
            <p14:sldId id="270"/>
            <p14:sldId id="271"/>
          </p14:sldIdLst>
        </p14:section>
        <p14:section name="5 · What was done, and what next?" id="{f30eb45b-dbc7-8045-97f2-43bbc75fbb25}">
          <p14:sldIdLst>
            <p14:sldId id="272"/>
            <p14:sldId id="273"/>
          </p14:sldIdLst>
        </p14:section>
        <p14:section name="Conclusion" id="{c56d5f69-5bf5-c5e4-3cf9-1543fe0c38f3}">
          <p14:sldIdLst>
            <p14:sldId id="274"/>
          </p14:sldIdLst>
        </p14:section>
        <p14:section name="References" id="{49cd840e-3933-1fbe-33ae-4abd39619436}">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B1E"/>
                </a:solidFill>
                <a:latin typeface="+mn-lt"/>
              </a:defRPr>
            </a:pPr>
            <a:r>
              <a:rPr sz="1400" b="0" i="0" u="none" strike="noStrike">
                <a:solidFill>
                  <a:srgbClr val="1B1B1E"/>
                </a:solidFill>
                <a:latin typeface="+mn-lt"/>
              </a:rPr>
              <a:t>Selected symptoms ever reported, % of sailors with symptoms (confirmed or suspected)¹</a:t>
            </a:r>
          </a:p>
        </c:rich>
      </c:tx>
      <c:layout/>
      <c:overlay val="0"/>
    </c:title>
    <c:autoTitleDeleted val="0"/>
    <c:plotArea>
      <c:layout/>
      <c:barChart>
        <c:barDir val="bar"/>
        <c:grouping val="clustered"/>
        <c:varyColors val="0"/>
        <c:ser>
          <c:idx val="0"/>
          <c:order val="0"/>
          <c:tx>
            <c:strRef>
              <c:f>Sheet1!$B$1</c:f>
              <c:strCache>
                <c:ptCount val="1"/>
                <c:pt idx="0">
                  <c:v>Ever reported (%)</c:v>
                </c:pt>
              </c:strCache>
            </c:strRef>
          </c:tx>
          <c:spPr>
            <a:solidFill>
              <a:srgbClr val="0B2545"/>
            </a:solidFill>
            <a:effectLst/>
          </c:spPr>
          <c:invertIfNegative val="0"/>
          <c:dLbls>
            <c:numFmt formatCode="0.0" sourceLinked="0"/>
            <c:txPr>
              <a:bodyPr/>
              <a:lstStyle/>
              <a:p>
                <a:pPr>
                  <a:defRPr b="0" i="0" strike="noStrike" sz="1200" u="none">
                    <a:solidFill>
                      <a:srgbClr val="1B1B1E"/>
                    </a:solidFill>
                    <a:latin typeface="+mn-lt"/>
                  </a:defRPr>
                </a:pPr>
              </a:p>
            </c:txPr>
            <c:showLegendKey val="0"/>
            <c:showVal val="1"/>
            <c:showCatName val="0"/>
            <c:showSerName val="0"/>
            <c:showPercent val="0"/>
            <c:showBubbleSize val="0"/>
            <c:showLeaderLines val="0"/>
          </c:dLbls>
          <c:cat>
            <c:multiLvlStrRef>
              <c:f>Sheet1!$A$2:$A$8</c:f>
              <c:multiLvlStrCache>
                <c:ptCount val="7"/>
                <c:lvl>
                  <c:pt idx="0">
                    <c:v>Fever</c:v>
                  </c:pt>
                  <c:pt idx="1">
                    <c:v>Shortness of breath</c:v>
                  </c:pt>
                  <c:pt idx="2">
                    <c:v>Chest pain/pressure</c:v>
                  </c:pt>
                  <c:pt idx="3">
                    <c:v>Altered taste or smell</c:v>
                  </c:pt>
                  <c:pt idx="4">
                    <c:v>Nasal/sinus congestion</c:v>
                  </c:pt>
                  <c:pt idx="5">
                    <c:v>Cough</c:v>
                  </c:pt>
                  <c:pt idx="6">
                    <c:v>Headache</c:v>
                  </c:pt>
                </c:lvl>
              </c:multiLvlStrCache>
            </c:multiLvlStrRef>
          </c:cat>
          <c:val>
            <c:numRef>
              <c:f>Sheet1!$B$2:$B$8</c:f>
              <c:numCache>
                <c:formatCode>General</c:formatCode>
                <c:ptCount val="7"/>
                <c:pt idx="0">
                  <c:v>13.2</c:v>
                </c:pt>
                <c:pt idx="1">
                  <c:v>20.3</c:v>
                </c:pt>
                <c:pt idx="2">
                  <c:v>26.2</c:v>
                </c:pt>
                <c:pt idx="3">
                  <c:v>42.3</c:v>
                </c:pt>
                <c:pt idx="4">
                  <c:v>43.8</c:v>
                </c:pt>
                <c:pt idx="5">
                  <c:v>59.5</c:v>
                </c:pt>
                <c:pt idx="6">
                  <c:v>68</c:v>
                </c:pt>
              </c:numCache>
            </c:numRef>
          </c:val>
        </c:ser>
        <c:dLbls>
          <c:numFmt formatCode="0.0" sourceLinked="0"/>
          <c:txPr>
            <a:bodyPr/>
            <a:lstStyle/>
            <a:p>
              <a:pPr>
                <a:defRPr b="0" i="0" strike="noStrike" sz="1200" u="none">
                  <a:solidFill>
                    <a:srgbClr val="1B1B1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1B1E"/>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b"/>
        <c:majorGridlines>
          <c:spPr>
            <a:ln w="6350" cap="flat">
              <a:solidFill>
                <a:srgbClr val="D9E2EC"/>
              </a:solidFill>
              <a:prstDash val="solid"/>
              <a:round/>
            </a:ln>
          </c:spPr>
        </c:majorGridlines>
        <c:title>
          <c:tx>
            <c:rich>
              <a:bodyPr/>
              <a:lstStyle/>
              <a:p>
                <a:pPr>
                  <a:defRPr sz="1200" b="0" i="0" u="none" strike="noStrike">
                    <a:solidFill>
                      <a:srgbClr val="5C6B7A"/>
                    </a:solidFill>
                    <a:latin typeface="Arial"/>
                  </a:defRPr>
                </a:pPr>
                <a:r>
                  <a:rPr sz="1200" b="0" i="0" u="none" strike="noStrike">
                    <a:solidFill>
                      <a:srgbClr val="5C6B7A"/>
                    </a:solidFill>
                    <a:latin typeface="Arial"/>
                  </a:rPr>
                  <a:t>Percent of symptomatic cases</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C6B7A"/>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B1E"/>
                </a:solidFill>
                <a:latin typeface="+mn-lt"/>
              </a:defRPr>
            </a:pPr>
            <a:r>
              <a:rPr sz="1400" b="0" i="0" u="none" strike="noStrike">
                <a:solidFill>
                  <a:srgbClr val="1B1B1E"/>
                </a:solidFill>
                <a:latin typeface="+mn-lt"/>
              </a:rPr>
              <a:t>Out of every 100 sailors in each group, how many were confirmed or suspected cases¹</a:t>
            </a:r>
          </a:p>
        </c:rich>
      </c:tx>
      <c:layout/>
      <c:overlay val="0"/>
    </c:title>
    <c:autoTitleDeleted val="0"/>
    <c:plotArea>
      <c:layout/>
      <c:barChart>
        <c:barDir val="bar"/>
        <c:grouping val="stacked"/>
        <c:varyColors val="0"/>
        <c:ser>
          <c:idx val="0"/>
          <c:order val="0"/>
          <c:tx>
            <c:strRef>
              <c:f>Sheet1!$B$1</c:f>
              <c:strCache>
                <c:ptCount val="1"/>
                <c:pt idx="0">
                  <c:v>Comparison groups</c:v>
                </c:pt>
              </c:strCache>
            </c:strRef>
          </c:tx>
          <c:spPr>
            <a:solidFill>
              <a:srgbClr val="0B2545"/>
            </a:solidFill>
            <a:effectLst/>
          </c:spPr>
          <c:invertIfNegative val="0"/>
          <c:dLbls>
            <c:numFmt formatCode="0.0;;;" sourceLinked="0"/>
            <c:txPr>
              <a:bodyPr/>
              <a:lstStyle/>
              <a:p>
                <a:pPr>
                  <a:defRPr b="1" i="0" strike="noStrike" sz="13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BMI under 25 (389 of 1,524)</c:v>
                  </c:pt>
                  <c:pt idx="1">
                    <c:v>Obese (267 of 851)</c:v>
                  </c:pt>
                  <c:pt idx="2">
                    <c:v>Officers (98 of 461)</c:v>
                  </c:pt>
                  <c:pt idx="3">
                    <c:v>Enlisted (1,231 of 4,311)</c:v>
                  </c:pt>
                  <c:pt idx="4">
                    <c:v>Men (1,042 of 3,733)</c:v>
                  </c:pt>
                  <c:pt idx="5">
                    <c:v>Women (289 of 1,046)</c:v>
                  </c:pt>
                </c:lvl>
              </c:multiLvlStrCache>
            </c:multiLvlStrRef>
          </c:cat>
          <c:val>
            <c:numRef>
              <c:f>Sheet1!$B$2:$B$7</c:f>
              <c:numCache>
                <c:formatCode>General</c:formatCode>
                <c:ptCount val="6"/>
                <c:pt idx="0">
                  <c:v>25.5</c:v>
                </c:pt>
                <c:pt idx="1">
                  <c:v>0</c:v>
                </c:pt>
                <c:pt idx="2">
                  <c:v>21.3</c:v>
                </c:pt>
                <c:pt idx="3">
                  <c:v>0</c:v>
                </c:pt>
                <c:pt idx="4">
                  <c:v>27.9</c:v>
                </c:pt>
                <c:pt idx="5">
                  <c:v>27.6</c:v>
                </c:pt>
              </c:numCache>
            </c:numRef>
          </c:val>
        </c:ser>
        <c:ser>
          <c:idx val="1"/>
          <c:order val="1"/>
          <c:tx>
            <c:strRef>
              <c:f>Sheet1!$C$1</c:f>
              <c:strCache>
                <c:ptCount val="1"/>
                <c:pt idx="0">
                  <c:v>Higher-risk groups</c:v>
                </c:pt>
              </c:strCache>
            </c:strRef>
          </c:tx>
          <c:spPr>
            <a:solidFill>
              <a:srgbClr val="D1495B"/>
            </a:solidFill>
            <a:effectLst/>
          </c:spPr>
          <c:invertIfNegative val="0"/>
          <c:dLbls>
            <c:numFmt formatCode="0.0;;;" sourceLinked="0"/>
            <c:txPr>
              <a:bodyPr/>
              <a:lstStyle/>
              <a:p>
                <a:pPr>
                  <a:defRPr b="1" i="0" strike="noStrike" sz="13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BMI under 25 (389 of 1,524)</c:v>
                  </c:pt>
                  <c:pt idx="1">
                    <c:v>Obese (267 of 851)</c:v>
                  </c:pt>
                  <c:pt idx="2">
                    <c:v>Officers (98 of 461)</c:v>
                  </c:pt>
                  <c:pt idx="3">
                    <c:v>Enlisted (1,231 of 4,311)</c:v>
                  </c:pt>
                  <c:pt idx="4">
                    <c:v>Men (1,042 of 3,733)</c:v>
                  </c:pt>
                  <c:pt idx="5">
                    <c:v>Women (289 of 1,046)</c:v>
                  </c:pt>
                </c:lvl>
              </c:multiLvlStrCache>
            </c:multiLvlStrRef>
          </c:cat>
          <c:val>
            <c:numRef>
              <c:f>Sheet1!$C$2:$C$7</c:f>
              <c:numCache>
                <c:formatCode>General</c:formatCode>
                <c:ptCount val="6"/>
                <c:pt idx="0">
                  <c:v>0</c:v>
                </c:pt>
                <c:pt idx="1">
                  <c:v>31.4</c:v>
                </c:pt>
                <c:pt idx="2">
                  <c:v>0</c:v>
                </c:pt>
                <c:pt idx="3">
                  <c:v>28.6</c:v>
                </c:pt>
                <c:pt idx="4">
                  <c:v>0</c:v>
                </c:pt>
                <c:pt idx="5">
                  <c:v>0</c:v>
                </c:pt>
              </c:numCache>
            </c:numRef>
          </c:val>
        </c:ser>
        <c:dLbls>
          <c:numFmt formatCode="0.0;;;" sourceLinked="0"/>
          <c:txPr>
            <a:bodyPr/>
            <a:lstStyle/>
            <a:p>
              <a:pPr>
                <a:defRPr b="1" i="0" strike="noStrike" sz="1300" u="none">
                  <a:solidFill>
                    <a:srgbClr val="FFFFFF"/>
                  </a:solidFill>
                  <a:latin typeface="+mn-lt"/>
                </a:defRPr>
              </a:pPr>
            </a:p>
          </c:txPr>
          <c:dLblPos val="inEnd"/>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50" b="0" i="0" u="none" strike="noStrike">
                <a:solidFill>
                  <a:srgbClr val="1B1B1E"/>
                </a:solidFill>
                <a:latin typeface="+mn-lt"/>
              </a:defRPr>
            </a:pPr>
            <a:endParaRPr lang="en-US"/>
          </a:p>
        </c:txPr>
        <c:crossAx val="2094734552"/>
        <c:crosses val="autoZero"/>
        <c:auto val="1"/>
        <c:lblAlgn val="ctr"/>
        <c:noMultiLvlLbl val="1"/>
      </c:catAx>
      <c:valAx>
        <c:axId val="2094734552"/>
        <c:scaling>
          <c:orientation val="minMax"/>
          <c:max val="40"/>
          <c:min val="0"/>
        </c:scaling>
        <c:delete val="0"/>
        <c:axPos val="b"/>
        <c:majorGridlines>
          <c:spPr>
            <a:ln w="6350" cap="flat">
              <a:solidFill>
                <a:srgbClr val="D9E2EC"/>
              </a:solidFill>
              <a:prstDash val="solid"/>
              <a:round/>
            </a:ln>
          </c:spPr>
        </c:majorGridlines>
        <c:title>
          <c:tx>
            <c:rich>
              <a:bodyPr/>
              <a:lstStyle/>
              <a:p>
                <a:pPr>
                  <a:defRPr sz="1200" b="0" i="0" u="none" strike="noStrike">
                    <a:solidFill>
                      <a:srgbClr val="5C6B7A"/>
                    </a:solidFill>
                    <a:latin typeface="Arial"/>
                  </a:defRPr>
                </a:pPr>
                <a:r>
                  <a:rPr sz="1200" b="0" i="0" u="none" strike="noStrike">
                    <a:solidFill>
                      <a:srgbClr val="5C6B7A"/>
                    </a:solidFill>
                    <a:latin typeface="Arial"/>
                  </a:rPr>
                  <a:t>Cases per 100 sailors (attack rate)</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C6B7A"/>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B1E"/>
                </a:solidFill>
                <a:latin typeface="+mn-lt"/>
              </a:defRPr>
            </a:pPr>
            <a:r>
              <a:rPr sz="1400" b="0" i="0" u="none" strike="noStrike">
                <a:solidFill>
                  <a:srgbClr val="1B1B1E"/>
                </a:solidFill>
                <a:latin typeface="+mn-lt"/>
              </a:rPr>
              <a:t>Out of every 100 sailors in each department, how many were confirmed or suspected cases¹</a:t>
            </a:r>
          </a:p>
        </c:rich>
      </c:tx>
      <c:layout/>
      <c:overlay val="0"/>
    </c:title>
    <c:autoTitleDeleted val="0"/>
    <c:plotArea>
      <c:layout/>
      <c:barChart>
        <c:barDir val="bar"/>
        <c:grouping val="clustered"/>
        <c:varyColors val="0"/>
        <c:ser>
          <c:idx val="0"/>
          <c:order val="0"/>
          <c:tx>
            <c:strRef>
              <c:f>Sheet1!$B$1</c:f>
              <c:strCache>
                <c:ptCount val="1"/>
                <c:pt idx="0">
                  <c:v>Infected per 100</c:v>
                </c:pt>
              </c:strCache>
            </c:strRef>
          </c:tx>
          <c:spPr>
            <a:solidFill>
              <a:srgbClr val="3B6EA5"/>
            </a:solidFill>
            <a:effectLst/>
          </c:spPr>
          <c:invertIfNegative val="0"/>
          <c:dLbls>
            <c:numFmt formatCode="0" sourceLinked="0"/>
            <c:txPr>
              <a:bodyPr/>
              <a:lstStyle/>
              <a:p>
                <a:pPr>
                  <a:defRPr b="1" i="0" strike="noStrike" sz="1300" u="none">
                    <a:solidFill>
                      <a:srgbClr val="1B1B1E"/>
                    </a:solidFill>
                    <a:latin typeface="+mn-lt"/>
                  </a:defRPr>
                </a:pPr>
              </a:p>
            </c:txPr>
            <c:showLegendKey val="0"/>
            <c:showVal val="1"/>
            <c:showCatName val="0"/>
            <c:showSerName val="0"/>
            <c:showPercent val="0"/>
            <c:showBubbleSize val="0"/>
            <c:showLeaderLines val="0"/>
          </c:dLbls>
          <c:dPt>
            <c:idx val="0"/>
            <c:invertIfNegative val="0"/>
            <c:bubble3D val="0"/>
            <c:spPr>
              <a:solidFill>
                <a:srgbClr val="3B6EA5"/>
              </a:solidFill>
              <a:effectLst/>
            </c:spPr>
          </c:dPt>
          <c:dPt>
            <c:idx val="1"/>
            <c:invertIfNegative val="0"/>
            <c:bubble3D val="0"/>
            <c:spPr>
              <a:solidFill>
                <a:srgbClr val="3B6EA5"/>
              </a:solidFill>
              <a:effectLst/>
            </c:spPr>
          </c:dPt>
          <c:dPt>
            <c:idx val="2"/>
            <c:invertIfNegative val="0"/>
            <c:bubble3D val="0"/>
            <c:spPr>
              <a:solidFill>
                <a:srgbClr val="EDAE49"/>
              </a:solidFill>
              <a:effectLst/>
            </c:spPr>
          </c:dPt>
          <c:dPt>
            <c:idx val="3"/>
            <c:invertIfNegative val="0"/>
            <c:bubble3D val="0"/>
            <c:spPr>
              <a:solidFill>
                <a:srgbClr val="D1495B"/>
              </a:solidFill>
              <a:effectLst/>
            </c:spPr>
          </c:dPt>
          <c:dPt>
            <c:idx val="4"/>
            <c:invertIfNegative val="0"/>
            <c:bubble3D val="0"/>
            <c:spPr>
              <a:solidFill>
                <a:srgbClr val="D1495B"/>
              </a:solidFill>
              <a:effectLst/>
            </c:spPr>
          </c:dPt>
          <c:dPt>
            <c:idx val="5"/>
            <c:invertIfNegative val="0"/>
            <c:bubble3D val="0"/>
            <c:spPr>
              <a:solidFill>
                <a:srgbClr val="D1495B"/>
              </a:solidFill>
              <a:effectLst/>
            </c:spPr>
          </c:dPt>
          <c:dPt>
            <c:idx val="6"/>
            <c:invertIfNegative val="0"/>
            <c:bubble3D val="0"/>
            <c:spPr>
              <a:solidFill>
                <a:srgbClr val="D1495B"/>
              </a:solidFill>
              <a:effectLst/>
            </c:spPr>
          </c:dPt>
          <c:dPt>
            <c:idx val="7"/>
            <c:invertIfNegative val="0"/>
            <c:bubble3D val="0"/>
            <c:spPr>
              <a:solidFill>
                <a:srgbClr val="D1495B"/>
              </a:solidFill>
              <a:effectLst/>
            </c:spPr>
          </c:dPt>
          <c:cat>
            <c:multiLvlStrRef>
              <c:f>Sheet1!$A$2:$A$9</c:f>
              <c:multiLvlStrCache>
                <c:ptCount val="8"/>
                <c:lvl>
                  <c:pt idx="0">
                    <c:v>Deck (4 of 86)</c:v>
                  </c:pt>
                  <c:pt idx="1">
                    <c:v>Air (65 of 459)</c:v>
                  </c:pt>
                  <c:pt idx="2">
                    <c:v>Medical (8 of 48)</c:v>
                  </c:pt>
                  <c:pt idx="3">
                    <c:v>Combat support (38 of 202)</c:v>
                  </c:pt>
                  <c:pt idx="4">
                    <c:v>Reactor (138 of 440)</c:v>
                  </c:pt>
                  <c:pt idx="5">
                    <c:v>Engineering (67 of 204)</c:v>
                  </c:pt>
                  <c:pt idx="6">
                    <c:v>Supply (139 of 358)</c:v>
                  </c:pt>
                  <c:pt idx="7">
                    <c:v>Weapons (94 of 226)</c:v>
                  </c:pt>
                </c:lvl>
              </c:multiLvlStrCache>
            </c:multiLvlStrRef>
          </c:cat>
          <c:val>
            <c:numRef>
              <c:f>Sheet1!$B$2:$B$9</c:f>
              <c:numCache>
                <c:formatCode>General</c:formatCode>
                <c:ptCount val="8"/>
                <c:pt idx="0">
                  <c:v>4.7</c:v>
                </c:pt>
                <c:pt idx="1">
                  <c:v>14.2</c:v>
                </c:pt>
                <c:pt idx="2">
                  <c:v>16.7</c:v>
                </c:pt>
                <c:pt idx="3">
                  <c:v>18.8</c:v>
                </c:pt>
                <c:pt idx="4">
                  <c:v>31.4</c:v>
                </c:pt>
                <c:pt idx="5">
                  <c:v>32.8</c:v>
                </c:pt>
                <c:pt idx="6">
                  <c:v>38.8</c:v>
                </c:pt>
                <c:pt idx="7">
                  <c:v>41.6</c:v>
                </c:pt>
              </c:numCache>
            </c:numRef>
          </c:val>
        </c:ser>
        <c:dLbls>
          <c:numFmt formatCode="0" sourceLinked="0"/>
          <c:txPr>
            <a:bodyPr/>
            <a:lstStyle/>
            <a:p>
              <a:pPr>
                <a:defRPr b="1" i="0" strike="noStrike" sz="1300" u="none">
                  <a:solidFill>
                    <a:srgbClr val="1B1B1E"/>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50" b="0" i="0" u="none" strike="noStrike">
                <a:solidFill>
                  <a:srgbClr val="1B1B1E"/>
                </a:solidFill>
                <a:latin typeface="+mn-lt"/>
              </a:defRPr>
            </a:pPr>
            <a:endParaRPr lang="en-US"/>
          </a:p>
        </c:txPr>
        <c:crossAx val="2094734552"/>
        <c:crosses val="autoZero"/>
        <c:auto val="1"/>
        <c:lblAlgn val="ctr"/>
        <c:noMultiLvlLbl val="1"/>
      </c:catAx>
      <c:valAx>
        <c:axId val="2094734552"/>
        <c:scaling>
          <c:orientation val="minMax"/>
          <c:max val="50"/>
          <c:min val="0"/>
        </c:scaling>
        <c:delete val="0"/>
        <c:axPos val="b"/>
        <c:majorGridlines>
          <c:spPr>
            <a:ln w="6350" cap="flat">
              <a:solidFill>
                <a:srgbClr val="D9E2EC"/>
              </a:solidFill>
              <a:prstDash val="solid"/>
              <a:round/>
            </a:ln>
          </c:spPr>
        </c:majorGridlines>
        <c:title>
          <c:tx>
            <c:rich>
              <a:bodyPr/>
              <a:lstStyle/>
              <a:p>
                <a:pPr>
                  <a:defRPr sz="1200" b="0" i="0" u="none" strike="noStrike">
                    <a:solidFill>
                      <a:srgbClr val="5C6B7A"/>
                    </a:solidFill>
                    <a:latin typeface="Arial"/>
                  </a:defRPr>
                </a:pPr>
                <a:r>
                  <a:rPr sz="1200" b="0" i="0" u="none" strike="noStrike">
                    <a:solidFill>
                      <a:srgbClr val="5C6B7A"/>
                    </a:solidFill>
                    <a:latin typeface="Arial"/>
                  </a:rPr>
                  <a:t>Cases per 100 sailors (attack rate)</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C6B7A"/>
                </a:solidFill>
                <a:latin typeface="+mn-lt"/>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today I will tell the story of one Covid-19 outbreak on a U.S. Navy aircraft carrier. The Navy tested every sailor and followed everyone for at least 10 weeks, which gives an unusually complete picture. I will tell it in five parts, shown by the small label at the top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in spring 2020, Covid-19 spread through a U.S. Navy aircraft carrier. Of 4,779 sailors, 1,271 tested positive, about 1 in 4. Twenty-three were hospitalized, four were admitted to intensive care, and one died. Because the Navy tested everyone, infections without symptoms were counted too. Look at the 100 little people: 27 are red. That is the share of the crew that tested 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the article describes enlisted sailors sleeping in open bays packed with dozens of tightly spaced bunks, working in crowded areas, and gathering in gyms and galleys. The authors say these conditions probably helped the virus spread. The outbreak was noticed after 13 days at sea, when three sailors felt sick and tested positive. The two photos come from the article's supplementary appendix: an unoccupied berthing area and the main mess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looking back, the earliest symptoms started on March 11, but the first positive tests came on March 23, twelve days later by my count. The ship docked in Guam on March 27, four days after the first positive test. Infected sailors were isolated and test-negative sailors were quarantined, but the outbreak continued for at least six more weeks. The port-visit dates are my reading of the bracket on the article's Figure 2; the text gives no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Covid-19 is caused by the SARS-CoV-2 virus. It spreads in droplets when people talk, and tiny particles from speech could also linger in the air. In a lab test it stayed infectious in the air for the full three hours tested. People can pass it on before they feel sick, or without ever feeling sick. The authors conclude that close quarters and infected sailors without symptoms helped it spread on the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few sailors became seriously ill: 23 of 1,331 cases were hospitalized. Headache and cough were the most common symptoms. Only about 1 in 8 sailors with symptoms ever had a fever, and only 2.8% of all sailors with Covid-19 had a recorded temperature of 100°F or higher. In a study of Marine recruits, daily temperature and symptom checks found none of the infections; scheduled PCR tests found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investigators needed a rule for who counts as a case. A confirmed case has a positive lab test. A suspected case has Covid-like symptoms but no positive test. Among confirmed cases, some never felt sick, some felt fine at first and got sick later, and some were already sick when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sensitivity means how many true cases a definition catches; specificity means how well it leaves out people who do not have the disease. Was this a good rule? Mostly yes: everyone was tested, and only 60 of 1,331 cases were suspected rather than confirmed. One caution is that a single swab can miss an infection, especially before symptoms start, and the official definition changed in April.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the Navy did not wait for people to report symptoms. They traced close contacts, tested every sailor, linked the results to each person's records, and compared sailors who were infected with those who were not. No air or surface testing was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this chart shows how many sailors' symptoms started on each day. An outbreak from one shared meal would make one short spike. This curve is long and uneven, with several peaks over about 10 weeks, which fits person-to-person spread, a continuing source, or both. Calling it a propagated curve is my reading of the figure, using the textbook definitions. The earliest symptoms started just after the port visit, on days when COD arrivals brought people, supplies and mail aboard, and cases kept appearing for weeks after the ship docked. The curve only shows sailors who got symptoms, and many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of the sailors who tested positive, about 3 in 4 had no symptoms on the day of the test, and nearly half never had symptoms at all. The 100 little people show it: 45 never had symptoms, 32 had none when tested but got them later, and 23 already had symptoms. The authors suggest that sailors without symptoms, or with mild symptoms, played an important role in the fast spread. Other settings show the same pattern: on the Diamond Princess cruise ship, nearly half of the people who tested positive had no symptoms when tested, and a CDC model estimates that at least half of all spread comes from people without symptoms. 'Silent carrier' is my own shorthand, not the article's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men and women, and different racial and ethnic groups, had about the same rates of confirmed or suspected Covid-19. Enlisted sailors had a higher rate than officers, and the authors say crowded enlisted sleeping, working and gathering conditions probably contributed. Obese sailors also had a higher rate than sailors with a BMI under 25. The red bars mark the groups that the article's odds ratios show as more likely to be cases. The rates are my calculation from the article's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where sailors worked mattered. The article groups departments by how confined their workspaces are. Weapons, supply, engineering and reactor crews, who work in more confined spaces, had the highest rates. Air and deck crews, who work in a mix of open air and confined spaces, had lower rates. Combat support, also classed as confined, had a lower rate. Using the counts in Table 1, I calculated that confined-space crews were about 2.6 times as likely to be a confirmed or suspected case as air and deck crews. Relative risk means how many times as likely. Medical staff wore protective gear and had a somewhat lower rate than the crew overall.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here are the key numbers in one place. About 1 in 4 sailors tested positive, 23 were hospitalized, and one died. About 3 in 4 sailors who tested positive had no symptoms at the time. Confined-space crews were about 2.6 times as likely to be a confirmed or suspected case as air and deck crews. The last column shows which numbers the authors reported and which I calculated from their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the authors conclude that close quarters and sailors without symptoms helped the virus spread. The article does not say where the virus came from; its timeline marks a port visit before the first symptoms, and COD arrivals of personnel, supplies and mail on the same days as the earliest symptoms. To judge whether crowding caused infections, I used Bradford Hill's viewpoints. For: the difference in risk is large, a Navy–CDC survey on the same ship found more infection among sailors who shared a berth with someone who tested positive, sequencing pointed to spread between roommates among Marine recruits, and spread in close quarters fits how the virus travels. Against: the article reports no measure of crowding, the comparisons were not adjusted for other factors such as rank, and many comparisons were made without correction. So the link is strong, but not proof of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the big strength is that everyone was tested and followed for at least 10 weeks, so infections without symptoms were counted. The limits: early records were of lower quality, the case definition changed in April, comparisons were not adjusted for other factors, and symptoms were self-reported. A single swab can also miss an infection. No air-flow testing or gene sequencing is described, so the article cannot show exactly who infected whom.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once the outbreak was found, the Navy isolated infected sailors, put test-negative sailors without symptoms in single hotel rooms, and tested again before anyone was released. Essential uninfected crew stayed on the ship. The ship reached Guam four days after the first positive test, but the outbreak continued for at least six weeks after docking.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these recommendations are my own, but each rests on cited evidence. Test everyone, because most sailors who tested positive had no symptoms at the time. Quarantine before deploying and test at the end of quarantine, which the Navy adopted after this outbreak, according to the 2020 article. In a Navy–CDC survey of 382 volunteers from this ship, those who reported wearing face coverings were less often infected. Improve air flow in enclosed spaces. Test on a schedule instead of waiting for symptoms or fevers. For future outbreaks, sequence the virus to find clusters of linked cases, measure ventilation, and adjust comparisons for likely confounders.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simple words: between March 23 and May 18, 2020, about 1 in 4 sailors on the carrier tested positive. The virus can spread before people feel sick, and most sailors who tested positive had no symptoms at the time. Enlisted crews and most confined-space departments had higher rates. The authors conclude that close quarters and sailors without symptoms helped the virus spread. Their lesson: organizations may benefit from assuming the virus will be introduced, because people may not know they are infected. My own recommendation is to test early and not wait for symptoms.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54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10698480" cy="17373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429000"/>
            <a:ext cx="10698480" cy="2377440"/>
          </a:xfrm>
          <a:prstGeom prst="rect">
            <a:avLst/>
          </a:prstGeom>
          <a:noFill/>
          <a:ln/>
        </p:spPr>
        <p:txBody>
          <a:bodyPr wrap="square" rtlCol="0"/>
          <a:lstStyle>
            <a:lvl1pPr indent="0" marL="0">
              <a:buNone/>
              <a:defRPr lang="en-US" sz="1800" dirty="0">
                <a:solidFill>
                  <a:schemeClr val="accent3"/>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tx2"/>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3" name="Text 0"/>
          <p:cNvSpPr/>
          <p:nvPr>
            <p:ph idx="101" type="body" hasCustomPrompt="1"/>
          </p:nvPr>
        </p:nvSpPr>
        <p:spPr>
          <a:xfrm>
            <a:off x="548640" y="73152"/>
            <a:ext cx="11064240" cy="274320"/>
          </a:xfrm>
          <a:prstGeom prst="rect">
            <a:avLst/>
          </a:prstGeom>
          <a:noFill/>
          <a:ln/>
        </p:spPr>
        <p:txBody>
          <a:bodyPr wrap="square" rtlCol="0"/>
          <a:lstStyle>
            <a:lvl1pPr algn="ctr" indent="0" marL="0">
              <a:buNone/>
              <a:defRPr lang="en-US" sz="1100" b="1" dirty="0">
                <a:solidFill>
                  <a:schemeClr val="accent6"/>
                </a:solidFill>
              </a:defRPr>
            </a:lvl1pPr>
          </a:lstStyle>
          <a:p>
            <a:pPr algn="ctr" indent="0" marL="0">
              <a:buNone/>
            </a:pPr>
            <a:endParaRPr lang="en-US" sz="1100" dirty="0"/>
          </a:p>
        </p:txBody>
      </p:sp>
      <p:sp>
        <p:nvSpPr>
          <p:cNvPr id="4" name="Text 0"/>
          <p:cNvSpPr/>
          <p:nvPr>
            <p:ph idx="102" type="body" hasCustomPrompt="1"/>
          </p:nvPr>
        </p:nvSpPr>
        <p:spPr>
          <a:xfrm>
            <a:off x="548640" y="6355080"/>
            <a:ext cx="9875520" cy="320040"/>
          </a:xfrm>
          <a:prstGeom prst="rect">
            <a:avLst/>
          </a:prstGeom>
          <a:noFill/>
          <a:ln/>
        </p:spPr>
        <p:txBody>
          <a:bodyPr wrap="square" rtlCol="0"/>
          <a:lstStyle>
            <a:lvl1pPr indent="0" marL="0">
              <a:buNone/>
              <a:defRPr lang="en-US" sz="1000" i="1" dirty="0">
                <a:solidFill>
                  <a:schemeClr val="accent6"/>
                </a:solidFill>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jpg"/><Relationship Id="rId6" Type="http://schemas.openxmlformats.org/officeDocument/2006/relationships/image" Target="../media/image-3-6.jp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2-1.png"/><Relationship Id="rId3" Type="http://schemas.openxmlformats.org/officeDocument/2006/relationships/image" Target="../media/image-12-2.png"/><Relationship Id="rId4" Type="http://schemas.openxmlformats.org/officeDocument/2006/relationships/image" Target="../media/image-12-3.jp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3.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10698480" cy="173736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An Outbreak of Covid-19 on an Aircraft Carrier</a:t>
            </a:r>
            <a:endParaRPr lang="en-US" sz="4000" dirty="0"/>
          </a:p>
        </p:txBody>
      </p:sp>
      <p:sp>
        <p:nvSpPr>
          <p:cNvPr id="3" name="Text 0"/>
          <p:cNvSpPr/>
          <p:nvPr>
            <p:ph idx="101" type="body" hasCustomPrompt="1"/>
          </p:nvPr>
        </p:nvSpPr>
        <p:spPr>
          <a:xfrm>
            <a:off x="731520" y="3429000"/>
            <a:ext cx="10698480" cy="2377440"/>
          </a:xfrm>
          <a:prstGeom prst="rect">
            <a:avLst/>
          </a:prstGeom>
          <a:noFill/>
          <a:ln/>
        </p:spPr>
        <p:txBody>
          <a:bodyPr wrap="square" rtlCol="0" anchor="t"/>
          <a:lstStyle/>
          <a:p>
            <a:pPr indent="0" marL="0">
              <a:buNone/>
            </a:pPr>
            <a:r>
              <a:rPr lang="en-US" sz="2200" dirty="0">
                <a:solidFill>
                  <a:schemeClr val="bg1"/>
                </a:solidFill>
              </a:rPr>
              <a:t>U.S.S. Theodore Roosevelt, March–May 2020</a:t>
            </a:r>
            <a:endParaRPr lang="en-US" sz="1800" dirty="0"/>
          </a:p>
          <a:p>
            <a:pPr indent="0" marL="0">
              <a:buNone/>
            </a:pPr>
            <a:r>
              <a:rPr lang="en-US" sz="1000" dirty="0">
                <a:solidFill>
                  <a:schemeClr val="accent3"/>
                </a:solidFill>
              </a:rPr>
              <a:t> </a:t>
            </a:r>
            <a:endParaRPr lang="en-US" sz="1800" dirty="0"/>
          </a:p>
          <a:p>
            <a:pPr indent="0" marL="0">
              <a:buNone/>
            </a:pPr>
            <a:r>
              <a:rPr lang="en-US" sz="1800" b="1" dirty="0">
                <a:solidFill>
                  <a:schemeClr val="accent3"/>
                </a:solidFill>
              </a:rPr>
              <a:t>Praise Shobayo</a:t>
            </a:r>
            <a:endParaRPr lang="en-US" sz="1800" dirty="0"/>
          </a:p>
          <a:p>
            <a:pPr indent="0" marL="0">
              <a:buNone/>
            </a:pPr>
            <a:r>
              <a:rPr lang="en-US" sz="1800" dirty="0">
                <a:solidFill>
                  <a:schemeClr val="accent3"/>
                </a:solidFill>
              </a:rPr>
              <a:t>Liberty University</a:t>
            </a:r>
            <a:endParaRPr lang="en-US" sz="1800" dirty="0"/>
          </a:p>
          <a:p>
            <a:pPr indent="0" marL="0">
              <a:buNone/>
            </a:pPr>
            <a:r>
              <a:rPr lang="en-US" sz="1800" dirty="0">
                <a:solidFill>
                  <a:schemeClr val="accent3"/>
                </a:solidFill>
              </a:rPr>
              <a:t>HLTH650: Field Epidemiology</a:t>
            </a:r>
            <a:endParaRPr lang="en-US" sz="1800" dirty="0"/>
          </a:p>
          <a:p>
            <a:pPr indent="0" marL="0">
              <a:buNone/>
            </a:pPr>
            <a:r>
              <a:rPr lang="en-US" sz="1800" dirty="0">
                <a:solidFill>
                  <a:schemeClr val="accent3"/>
                </a:solidFill>
              </a:rPr>
              <a:t>Week 8 Presentation</a:t>
            </a:r>
            <a:endParaRPr lang="en-US" sz="1800" dirty="0"/>
          </a:p>
        </p:txBody>
      </p:sp>
      <p:sp>
        <p:nvSpPr>
          <p:cNvPr id="4" name="ship icon circle"/>
          <p:cNvSpPr/>
          <p:nvPr/>
        </p:nvSpPr>
        <p:spPr>
          <a:xfrm>
            <a:off x="9692640" y="3931920"/>
            <a:ext cx="1737360" cy="1737360"/>
          </a:xfrm>
          <a:prstGeom prst="ellipse">
            <a:avLst/>
          </a:prstGeom>
          <a:solidFill>
            <a:schemeClr val="accent5"/>
          </a:solidFill>
          <a:ln/>
        </p:spPr>
      </p:sp>
      <p:pic>
        <p:nvPicPr>
          <p:cNvPr id="5" name="ship icon" descr="Ship icon">    </p:cNvPr>
          <p:cNvPicPr>
            <a:picLocks noChangeAspect="1"/>
          </p:cNvPicPr>
          <p:nvPr/>
        </p:nvPicPr>
        <p:blipFill>
          <a:blip r:embed="rId1"/>
          <a:stretch>
            <a:fillRect/>
          </a:stretch>
        </p:blipFill>
        <p:spPr>
          <a:xfrm>
            <a:off x="10104120" y="4343400"/>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What Happened: The Outbreak in Numbers</a:t>
            </a:r>
            <a:endParaRPr lang="en-US" sz="3400" dirty="0"/>
          </a:p>
        </p:txBody>
      </p:sp>
      <p:sp>
        <p:nvSpPr>
          <p:cNvPr id="3" name="Text 0"/>
          <p:cNvSpPr/>
          <p:nvPr>
            <p:ph idx="101" type="body" hasCustomPrompt="1"/>
          </p:nvPr>
        </p:nvSpPr>
        <p:spPr>
          <a:xfrm>
            <a:off x="548640" y="73152"/>
            <a:ext cx="11064240"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1   </a:t>
            </a:r>
            <a:r>
              <a:rPr lang="en-US" sz="1100" b="1" spc="100" kern="0" dirty="0">
                <a:solidFill>
                  <a:schemeClr val="accent6"/>
                </a:solidFill>
              </a:rPr>
              <a:t>WHAT HAPPENED, AND WHAT CAUSED IT?</a:t>
            </a:r>
            <a:endParaRPr lang="en-US" sz="1100" dirty="0"/>
          </a:p>
        </p:txBody>
      </p:sp>
      <p:sp>
        <p:nvSpPr>
          <p:cNvPr id="4" name="pictograph card"/>
          <p:cNvSpPr/>
          <p:nvPr/>
        </p:nvSpPr>
        <p:spPr>
          <a:xfrm>
            <a:off x="548640" y="1325880"/>
            <a:ext cx="4846320" cy="4846320"/>
          </a:xfrm>
          <a:prstGeom prst="roundRect">
            <a:avLst>
              <a:gd name="adj" fmla="val 2264"/>
            </a:avLst>
          </a:prstGeom>
          <a:solidFill>
            <a:schemeClr val="bg2"/>
          </a:solidFill>
          <a:ln/>
        </p:spPr>
      </p:sp>
      <p:sp>
        <p:nvSpPr>
          <p:cNvPr id="5" name="Text 3"/>
          <p:cNvSpPr txBox="1"/>
          <p:nvPr/>
        </p:nvSpPr>
        <p:spPr>
          <a:xfrm>
            <a:off x="777240" y="1417320"/>
            <a:ext cx="4389120" cy="457200"/>
          </a:xfrm>
          <a:prstGeom prst="rect">
            <a:avLst/>
          </a:prstGeom>
          <a:noFill/>
          <a:ln/>
        </p:spPr>
        <p:txBody>
          <a:bodyPr wrap="square" lIns="635" tIns="635" rIns="635" bIns="635" rtlCol="0" anchor="t"/>
          <a:lstStyle/>
          <a:p>
            <a:pPr indent="0" marL="0">
              <a:buNone/>
            </a:pPr>
            <a:r>
              <a:rPr lang="en-US" sz="1900" b="1" dirty="0">
                <a:solidFill>
                  <a:schemeClr val="tx2"/>
                </a:solidFill>
                <a:latin typeface="Cambria" pitchFamily="34" charset="0"/>
                <a:ea typeface="Cambria" pitchFamily="34" charset="-122"/>
                <a:cs typeface="Cambria" pitchFamily="34" charset="-120"/>
              </a:rPr>
              <a:t>If the crew were 100 sailors...</a:t>
            </a:r>
            <a:endParaRPr lang="en-US" sz="1900" dirty="0"/>
          </a:p>
        </p:txBody>
      </p:sp>
      <p:pic>
        <p:nvPicPr>
          <p:cNvPr id="6" name="100 sailors pictograph" descr="Ten by ten grid of 100 people: 27 in red tested positive and 73 in blue did not (the 73 include the 60 suspected cases)">    </p:cNvPr>
          <p:cNvPicPr>
            <a:picLocks noChangeAspect="1"/>
          </p:cNvPicPr>
          <p:nvPr/>
        </p:nvPicPr>
        <p:blipFill>
          <a:blip r:embed="rId1"/>
          <a:stretch>
            <a:fillRect/>
          </a:stretch>
        </p:blipFill>
        <p:spPr>
          <a:xfrm>
            <a:off x="1051560" y="1920240"/>
            <a:ext cx="3291840" cy="3621024"/>
          </a:xfrm>
          <a:prstGeom prst="rect">
            <a:avLst/>
          </a:prstGeom>
        </p:spPr>
      </p:pic>
      <p:sp>
        <p:nvSpPr>
          <p:cNvPr id="7" name="legend swatch 27 tested positive (1,271)"/>
          <p:cNvSpPr/>
          <p:nvPr/>
        </p:nvSpPr>
        <p:spPr>
          <a:xfrm>
            <a:off x="868680" y="5669280"/>
            <a:ext cx="182880" cy="182880"/>
          </a:xfrm>
          <a:prstGeom prst="rect">
            <a:avLst/>
          </a:prstGeom>
          <a:solidFill>
            <a:srgbClr val="D1495B"/>
          </a:solidFill>
          <a:ln/>
        </p:spPr>
      </p:sp>
      <p:sp>
        <p:nvSpPr>
          <p:cNvPr id="8" name="Text 5"/>
          <p:cNvSpPr txBox="1"/>
          <p:nvPr/>
        </p:nvSpPr>
        <p:spPr>
          <a:xfrm>
            <a:off x="1115568" y="5577840"/>
            <a:ext cx="2286000" cy="365760"/>
          </a:xfrm>
          <a:prstGeom prst="rect">
            <a:avLst/>
          </a:prstGeom>
          <a:noFill/>
          <a:ln/>
        </p:spPr>
        <p:txBody>
          <a:bodyPr wrap="square" lIns="0" tIns="0" rIns="0" bIns="0" rtlCol="0" anchor="ctr"/>
          <a:lstStyle/>
          <a:p>
            <a:pPr indent="0" marL="0">
              <a:buNone/>
            </a:pPr>
            <a:r>
              <a:rPr lang="en-US" sz="1300" dirty="0">
                <a:solidFill>
                  <a:schemeClr val="tx1"/>
                </a:solidFill>
              </a:rPr>
              <a:t>27 tested positive (1,271)</a:t>
            </a:r>
            <a:endParaRPr lang="en-US" sz="1300" dirty="0"/>
          </a:p>
        </p:txBody>
      </p:sp>
      <p:sp>
        <p:nvSpPr>
          <p:cNvPr id="9" name="legend swatch 73 did not"/>
          <p:cNvSpPr/>
          <p:nvPr/>
        </p:nvSpPr>
        <p:spPr>
          <a:xfrm>
            <a:off x="3337560" y="5669280"/>
            <a:ext cx="182880" cy="182880"/>
          </a:xfrm>
          <a:prstGeom prst="rect">
            <a:avLst/>
          </a:prstGeom>
          <a:solidFill>
            <a:srgbClr val="8DA9C4"/>
          </a:solidFill>
          <a:ln/>
        </p:spPr>
      </p:sp>
      <p:sp>
        <p:nvSpPr>
          <p:cNvPr id="10" name="Text 7"/>
          <p:cNvSpPr txBox="1"/>
          <p:nvPr/>
        </p:nvSpPr>
        <p:spPr>
          <a:xfrm>
            <a:off x="3584448" y="5577840"/>
            <a:ext cx="1737360" cy="365760"/>
          </a:xfrm>
          <a:prstGeom prst="rect">
            <a:avLst/>
          </a:prstGeom>
          <a:noFill/>
          <a:ln/>
        </p:spPr>
        <p:txBody>
          <a:bodyPr wrap="square" lIns="0" tIns="0" rIns="0" bIns="0" rtlCol="0" anchor="ctr"/>
          <a:lstStyle/>
          <a:p>
            <a:pPr indent="0" marL="0">
              <a:buNone/>
            </a:pPr>
            <a:r>
              <a:rPr lang="en-US" sz="1300" dirty="0">
                <a:solidFill>
                  <a:schemeClr val="tx1"/>
                </a:solidFill>
              </a:rPr>
              <a:t>73 did not</a:t>
            </a:r>
            <a:endParaRPr lang="en-US" sz="1300" dirty="0"/>
          </a:p>
        </p:txBody>
      </p:sp>
      <p:sp>
        <p:nvSpPr>
          <p:cNvPr id="11" name="stat card 1"/>
          <p:cNvSpPr/>
          <p:nvPr/>
        </p:nvSpPr>
        <p:spPr>
          <a:xfrm>
            <a:off x="5623560" y="1325880"/>
            <a:ext cx="2880360" cy="2331720"/>
          </a:xfrm>
          <a:prstGeom prst="roundRect">
            <a:avLst>
              <a:gd name="adj" fmla="val 4706"/>
            </a:avLst>
          </a:prstGeom>
          <a:solidFill>
            <a:schemeClr val="bg2"/>
          </a:solidFill>
          <a:ln/>
        </p:spPr>
      </p:sp>
      <p:sp>
        <p:nvSpPr>
          <p:cNvPr id="12" name="stat icon 1 circle"/>
          <p:cNvSpPr/>
          <p:nvPr/>
        </p:nvSpPr>
        <p:spPr>
          <a:xfrm>
            <a:off x="5852160" y="1554480"/>
            <a:ext cx="566928" cy="566928"/>
          </a:xfrm>
          <a:prstGeom prst="ellipse">
            <a:avLst/>
          </a:prstGeom>
          <a:solidFill>
            <a:schemeClr val="accent1"/>
          </a:solidFill>
          <a:ln/>
        </p:spPr>
      </p:sp>
      <p:pic>
        <p:nvPicPr>
          <p:cNvPr id="13" name="stat icon 1" descr="stat icon 1">    </p:cNvPr>
          <p:cNvPicPr>
            <a:picLocks noChangeAspect="1"/>
          </p:cNvPicPr>
          <p:nvPr/>
        </p:nvPicPr>
        <p:blipFill>
          <a:blip r:embed="rId2"/>
          <a:stretch>
            <a:fillRect/>
          </a:stretch>
        </p:blipFill>
        <p:spPr>
          <a:xfrm>
            <a:off x="5988223" y="1690543"/>
            <a:ext cx="294803" cy="294803"/>
          </a:xfrm>
          <a:prstGeom prst="rect">
            <a:avLst/>
          </a:prstGeom>
        </p:spPr>
      </p:pic>
      <p:sp>
        <p:nvSpPr>
          <p:cNvPr id="14" name="Text 10"/>
          <p:cNvSpPr txBox="1"/>
          <p:nvPr/>
        </p:nvSpPr>
        <p:spPr>
          <a:xfrm>
            <a:off x="6492240" y="1463040"/>
            <a:ext cx="1920240" cy="777240"/>
          </a:xfrm>
          <a:prstGeom prst="rect">
            <a:avLst/>
          </a:prstGeom>
          <a:noFill/>
          <a:ln/>
        </p:spPr>
        <p:txBody>
          <a:bodyPr wrap="square" lIns="635" tIns="635" rIns="635" bIns="635"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4,779</a:t>
            </a:r>
            <a:endParaRPr lang="en-US" sz="4000" dirty="0"/>
          </a:p>
        </p:txBody>
      </p:sp>
      <p:sp>
        <p:nvSpPr>
          <p:cNvPr id="15" name="Text 11"/>
          <p:cNvSpPr txBox="1"/>
          <p:nvPr/>
        </p:nvSpPr>
        <p:spPr>
          <a:xfrm>
            <a:off x="5852160" y="2331720"/>
            <a:ext cx="2468880" cy="1280160"/>
          </a:xfrm>
          <a:prstGeom prst="rect">
            <a:avLst/>
          </a:prstGeom>
          <a:noFill/>
          <a:ln/>
        </p:spPr>
        <p:txBody>
          <a:bodyPr wrap="square" lIns="635" tIns="635" rIns="635" bIns="635" rtlCol="0" anchor="t"/>
          <a:lstStyle/>
          <a:p>
            <a:pPr indent="0" marL="0">
              <a:buNone/>
            </a:pPr>
            <a:r>
              <a:rPr lang="en-US" sz="1400" dirty="0">
                <a:solidFill>
                  <a:schemeClr val="tx1"/>
                </a:solidFill>
              </a:rPr>
              <a:t>sailors on board the U.S.S. Theodore Roosevelt</a:t>
            </a:r>
            <a:r>
              <a:rPr lang="en-US" sz="1400" baseline="30000" dirty="0">
                <a:solidFill>
                  <a:schemeClr val="tx1"/>
                </a:solidFill>
              </a:rPr>
              <a:t>1</a:t>
            </a:r>
            <a:endParaRPr lang="en-US" sz="1400" dirty="0"/>
          </a:p>
        </p:txBody>
      </p:sp>
      <p:sp>
        <p:nvSpPr>
          <p:cNvPr id="16" name="stat card 2"/>
          <p:cNvSpPr/>
          <p:nvPr/>
        </p:nvSpPr>
        <p:spPr>
          <a:xfrm>
            <a:off x="8732520" y="1325880"/>
            <a:ext cx="2880360" cy="2331720"/>
          </a:xfrm>
          <a:prstGeom prst="roundRect">
            <a:avLst>
              <a:gd name="adj" fmla="val 4706"/>
            </a:avLst>
          </a:prstGeom>
          <a:solidFill>
            <a:schemeClr val="bg2"/>
          </a:solidFill>
          <a:ln/>
        </p:spPr>
      </p:sp>
      <p:sp>
        <p:nvSpPr>
          <p:cNvPr id="17" name="stat icon 2 circle"/>
          <p:cNvSpPr/>
          <p:nvPr/>
        </p:nvSpPr>
        <p:spPr>
          <a:xfrm>
            <a:off x="8961120" y="1554480"/>
            <a:ext cx="566928" cy="566928"/>
          </a:xfrm>
          <a:prstGeom prst="ellipse">
            <a:avLst/>
          </a:prstGeom>
          <a:solidFill>
            <a:schemeClr val="accent2"/>
          </a:solidFill>
          <a:ln/>
        </p:spPr>
      </p:sp>
      <p:pic>
        <p:nvPicPr>
          <p:cNvPr id="18" name="stat icon 2" descr="stat icon 2">    </p:cNvPr>
          <p:cNvPicPr>
            <a:picLocks noChangeAspect="1"/>
          </p:cNvPicPr>
          <p:nvPr/>
        </p:nvPicPr>
        <p:blipFill>
          <a:blip r:embed="rId3"/>
          <a:stretch>
            <a:fillRect/>
          </a:stretch>
        </p:blipFill>
        <p:spPr>
          <a:xfrm>
            <a:off x="9097183" y="1690543"/>
            <a:ext cx="294803" cy="294803"/>
          </a:xfrm>
          <a:prstGeom prst="rect">
            <a:avLst/>
          </a:prstGeom>
        </p:spPr>
      </p:pic>
      <p:sp>
        <p:nvSpPr>
          <p:cNvPr id="19" name="Text 14"/>
          <p:cNvSpPr txBox="1"/>
          <p:nvPr/>
        </p:nvSpPr>
        <p:spPr>
          <a:xfrm>
            <a:off x="9601200" y="1463040"/>
            <a:ext cx="1920240" cy="777240"/>
          </a:xfrm>
          <a:prstGeom prst="rect">
            <a:avLst/>
          </a:prstGeom>
          <a:noFill/>
          <a:ln/>
        </p:spPr>
        <p:txBody>
          <a:bodyPr wrap="square" lIns="635" tIns="635" rIns="635" bIns="635"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1,271</a:t>
            </a:r>
            <a:endParaRPr lang="en-US" sz="4000" dirty="0"/>
          </a:p>
        </p:txBody>
      </p:sp>
      <p:sp>
        <p:nvSpPr>
          <p:cNvPr id="20" name="Text 15"/>
          <p:cNvSpPr txBox="1"/>
          <p:nvPr/>
        </p:nvSpPr>
        <p:spPr>
          <a:xfrm>
            <a:off x="8961120" y="2331720"/>
            <a:ext cx="2468880" cy="1280160"/>
          </a:xfrm>
          <a:prstGeom prst="rect">
            <a:avLst/>
          </a:prstGeom>
          <a:noFill/>
          <a:ln/>
        </p:spPr>
        <p:txBody>
          <a:bodyPr wrap="square" lIns="635" tIns="635" rIns="635" bIns="635" rtlCol="0" anchor="t"/>
          <a:lstStyle/>
          <a:p>
            <a:pPr indent="0" marL="0">
              <a:buNone/>
            </a:pPr>
            <a:r>
              <a:rPr lang="en-US" sz="1400" dirty="0">
                <a:solidFill>
                  <a:schemeClr val="tx1"/>
                </a:solidFill>
              </a:rPr>
              <a:t>tested positive: about 1 in 4 sailors. 60 more had Covid-like symptoms but no positive test</a:t>
            </a:r>
            <a:r>
              <a:rPr lang="en-US" sz="1400" baseline="30000" dirty="0">
                <a:solidFill>
                  <a:schemeClr val="tx1"/>
                </a:solidFill>
              </a:rPr>
              <a:t>1</a:t>
            </a:r>
            <a:endParaRPr lang="en-US" sz="1400" dirty="0"/>
          </a:p>
        </p:txBody>
      </p:sp>
      <p:sp>
        <p:nvSpPr>
          <p:cNvPr id="21" name="stat card 3"/>
          <p:cNvSpPr/>
          <p:nvPr/>
        </p:nvSpPr>
        <p:spPr>
          <a:xfrm>
            <a:off x="5623560" y="3794760"/>
            <a:ext cx="2880360" cy="2331720"/>
          </a:xfrm>
          <a:prstGeom prst="roundRect">
            <a:avLst>
              <a:gd name="adj" fmla="val 4706"/>
            </a:avLst>
          </a:prstGeom>
          <a:solidFill>
            <a:schemeClr val="bg2"/>
          </a:solidFill>
          <a:ln/>
        </p:spPr>
      </p:sp>
      <p:sp>
        <p:nvSpPr>
          <p:cNvPr id="22" name="stat icon 3 circle"/>
          <p:cNvSpPr/>
          <p:nvPr/>
        </p:nvSpPr>
        <p:spPr>
          <a:xfrm>
            <a:off x="5852160" y="4023360"/>
            <a:ext cx="566928" cy="566928"/>
          </a:xfrm>
          <a:prstGeom prst="ellipse">
            <a:avLst/>
          </a:prstGeom>
          <a:solidFill>
            <a:schemeClr val="accent5"/>
          </a:solidFill>
          <a:ln/>
        </p:spPr>
      </p:sp>
      <p:pic>
        <p:nvPicPr>
          <p:cNvPr id="23" name="stat icon 3" descr="stat icon 3">    </p:cNvPr>
          <p:cNvPicPr>
            <a:picLocks noChangeAspect="1"/>
          </p:cNvPicPr>
          <p:nvPr/>
        </p:nvPicPr>
        <p:blipFill>
          <a:blip r:embed="rId4"/>
          <a:stretch>
            <a:fillRect/>
          </a:stretch>
        </p:blipFill>
        <p:spPr>
          <a:xfrm>
            <a:off x="5988223" y="4159423"/>
            <a:ext cx="294803" cy="294803"/>
          </a:xfrm>
          <a:prstGeom prst="rect">
            <a:avLst/>
          </a:prstGeom>
        </p:spPr>
      </p:pic>
      <p:sp>
        <p:nvSpPr>
          <p:cNvPr id="24" name="Text 18"/>
          <p:cNvSpPr txBox="1"/>
          <p:nvPr/>
        </p:nvSpPr>
        <p:spPr>
          <a:xfrm>
            <a:off x="6492240" y="3931920"/>
            <a:ext cx="1920240" cy="777240"/>
          </a:xfrm>
          <a:prstGeom prst="rect">
            <a:avLst/>
          </a:prstGeom>
          <a:noFill/>
          <a:ln/>
        </p:spPr>
        <p:txBody>
          <a:bodyPr wrap="square" lIns="635" tIns="635" rIns="635" bIns="635" rtlCol="0" anchor="ctr"/>
          <a:lstStyle/>
          <a:p>
            <a:pPr indent="0" marL="0">
              <a:buNone/>
            </a:pPr>
            <a:r>
              <a:rPr lang="en-US" sz="4000" b="1" dirty="0">
                <a:solidFill>
                  <a:schemeClr val="accent5"/>
                </a:solidFill>
                <a:latin typeface="Cambria" pitchFamily="34" charset="0"/>
                <a:ea typeface="Cambria" pitchFamily="34" charset="-122"/>
                <a:cs typeface="Cambria" pitchFamily="34" charset="-120"/>
              </a:rPr>
              <a:t>23</a:t>
            </a:r>
            <a:endParaRPr lang="en-US" sz="4000" dirty="0"/>
          </a:p>
        </p:txBody>
      </p:sp>
      <p:sp>
        <p:nvSpPr>
          <p:cNvPr id="25" name="Text 19"/>
          <p:cNvSpPr txBox="1"/>
          <p:nvPr/>
        </p:nvSpPr>
        <p:spPr>
          <a:xfrm>
            <a:off x="5852160" y="4800600"/>
            <a:ext cx="2468880" cy="1280160"/>
          </a:xfrm>
          <a:prstGeom prst="rect">
            <a:avLst/>
          </a:prstGeom>
          <a:noFill/>
          <a:ln/>
        </p:spPr>
        <p:txBody>
          <a:bodyPr wrap="square" lIns="635" tIns="635" rIns="635" bIns="635" rtlCol="0" anchor="t"/>
          <a:lstStyle/>
          <a:p>
            <a:pPr indent="0" marL="0">
              <a:buNone/>
            </a:pPr>
            <a:r>
              <a:rPr lang="en-US" sz="1400" dirty="0">
                <a:solidFill>
                  <a:schemeClr val="tx1"/>
                </a:solidFill>
              </a:rPr>
              <a:t>were hospitalized: about 2 of every 100 confirmed or suspected cases. 4 were admitted to intensive care</a:t>
            </a:r>
            <a:r>
              <a:rPr lang="en-US" sz="1400" baseline="30000" dirty="0">
                <a:solidFill>
                  <a:schemeClr val="tx1"/>
                </a:solidFill>
              </a:rPr>
              <a:t>1</a:t>
            </a:r>
            <a:endParaRPr lang="en-US" sz="1400" dirty="0"/>
          </a:p>
        </p:txBody>
      </p:sp>
      <p:sp>
        <p:nvSpPr>
          <p:cNvPr id="26" name="stat card 4"/>
          <p:cNvSpPr/>
          <p:nvPr/>
        </p:nvSpPr>
        <p:spPr>
          <a:xfrm>
            <a:off x="8732520" y="3794760"/>
            <a:ext cx="2880360" cy="2331720"/>
          </a:xfrm>
          <a:prstGeom prst="roundRect">
            <a:avLst>
              <a:gd name="adj" fmla="val 4706"/>
            </a:avLst>
          </a:prstGeom>
          <a:solidFill>
            <a:schemeClr val="bg2"/>
          </a:solidFill>
          <a:ln/>
        </p:spPr>
      </p:sp>
      <p:sp>
        <p:nvSpPr>
          <p:cNvPr id="27" name="stat icon 4 circle"/>
          <p:cNvSpPr/>
          <p:nvPr/>
        </p:nvSpPr>
        <p:spPr>
          <a:xfrm>
            <a:off x="8961120" y="4023360"/>
            <a:ext cx="566928" cy="566928"/>
          </a:xfrm>
          <a:prstGeom prst="ellipse">
            <a:avLst/>
          </a:prstGeom>
          <a:solidFill>
            <a:schemeClr val="accent2"/>
          </a:solidFill>
          <a:ln/>
        </p:spPr>
      </p:sp>
      <p:pic>
        <p:nvPicPr>
          <p:cNvPr id="28" name="stat icon 4" descr="stat icon 4">    </p:cNvPr>
          <p:cNvPicPr>
            <a:picLocks noChangeAspect="1"/>
          </p:cNvPicPr>
          <p:nvPr/>
        </p:nvPicPr>
        <p:blipFill>
          <a:blip r:embed="rId5"/>
          <a:stretch>
            <a:fillRect/>
          </a:stretch>
        </p:blipFill>
        <p:spPr>
          <a:xfrm>
            <a:off x="9097183" y="4159423"/>
            <a:ext cx="294803" cy="294803"/>
          </a:xfrm>
          <a:prstGeom prst="rect">
            <a:avLst/>
          </a:prstGeom>
        </p:spPr>
      </p:pic>
      <p:sp>
        <p:nvSpPr>
          <p:cNvPr id="29" name="Text 22"/>
          <p:cNvSpPr txBox="1"/>
          <p:nvPr/>
        </p:nvSpPr>
        <p:spPr>
          <a:xfrm>
            <a:off x="9601200" y="3931920"/>
            <a:ext cx="1920240" cy="777240"/>
          </a:xfrm>
          <a:prstGeom prst="rect">
            <a:avLst/>
          </a:prstGeom>
          <a:noFill/>
          <a:ln/>
        </p:spPr>
        <p:txBody>
          <a:bodyPr wrap="square" lIns="635" tIns="635" rIns="635" bIns="635"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1</a:t>
            </a:r>
            <a:endParaRPr lang="en-US" sz="4000" dirty="0"/>
          </a:p>
        </p:txBody>
      </p:sp>
      <p:sp>
        <p:nvSpPr>
          <p:cNvPr id="30" name="Text 23"/>
          <p:cNvSpPr txBox="1"/>
          <p:nvPr/>
        </p:nvSpPr>
        <p:spPr>
          <a:xfrm>
            <a:off x="8961120" y="4800600"/>
            <a:ext cx="2468880" cy="1280160"/>
          </a:xfrm>
          <a:prstGeom prst="rect">
            <a:avLst/>
          </a:prstGeom>
          <a:noFill/>
          <a:ln/>
        </p:spPr>
        <p:txBody>
          <a:bodyPr wrap="square" lIns="635" tIns="635" rIns="635" bIns="635" rtlCol="0" anchor="t"/>
          <a:lstStyle/>
          <a:p>
            <a:pPr indent="0" marL="0">
              <a:buNone/>
            </a:pPr>
            <a:r>
              <a:rPr lang="en-US" sz="1400" dirty="0">
                <a:solidFill>
                  <a:schemeClr val="tx1"/>
                </a:solidFill>
              </a:rPr>
              <a:t>sailor died, from Covid-19–related cardiovascular complications</a:t>
            </a:r>
            <a:r>
              <a:rPr lang="en-US" sz="1400" baseline="30000" dirty="0">
                <a:solidFill>
                  <a:schemeClr val="tx1"/>
                </a:solidFill>
              </a:rPr>
              <a:t>1</a:t>
            </a:r>
            <a:endParaRPr lang="en-US" sz="1400" dirty="0"/>
          </a:p>
        </p:txBody>
      </p:sp>
      <p:sp>
        <p:nvSpPr>
          <p:cNvPr id="32" name="Text 0"/>
          <p:cNvSpPr/>
          <p:nvPr>
            <p:ph idx="102" type="body" hasCustomPrompt="1"/>
          </p:nvPr>
        </p:nvSpPr>
        <p:spPr>
          <a:xfrm>
            <a:off x="548640" y="6355080"/>
            <a:ext cx="9875520" cy="320040"/>
          </a:xfrm>
          <a:prstGeom prst="rect">
            <a:avLst/>
          </a:prstGeom>
          <a:noFill/>
          <a:ln/>
        </p:spPr>
        <p:txBody>
          <a:bodyPr wrap="square" lIns="0" tIns="0" rIns="0" bIns="0" rtlCol="0" anchor="ctr"/>
          <a:lstStyle/>
          <a:p>
            <a:pPr indent="0" marL="0">
              <a:buNone/>
            </a:pPr>
            <a:r>
              <a:rPr lang="en-US" sz="1000" i="1" dirty="0">
                <a:solidFill>
                  <a:schemeClr val="accent6"/>
                </a:solidFill>
              </a:rPr>
              <a:t>Sources: 1 Kasper et al, 2020 (full list at the end).   Pictograph = my rounding of 26.6%; the 73 include the 60 suspected cases.</a:t>
            </a: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The Setting: Close Quarters at Sea</a:t>
            </a:r>
            <a:endParaRPr lang="en-US" sz="3400" dirty="0"/>
          </a:p>
        </p:txBody>
      </p:sp>
      <p:sp>
        <p:nvSpPr>
          <p:cNvPr id="3" name="Text 0"/>
          <p:cNvSpPr/>
          <p:nvPr>
            <p:ph idx="101" type="body" hasCustomPrompt="1"/>
          </p:nvPr>
        </p:nvSpPr>
        <p:spPr>
          <a:xfrm>
            <a:off x="548640" y="73152"/>
            <a:ext cx="11064240"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1   </a:t>
            </a:r>
            <a:r>
              <a:rPr lang="en-US" sz="1100" b="1" spc="100" kern="0" dirty="0">
                <a:solidFill>
                  <a:schemeClr val="accent6"/>
                </a:solidFill>
              </a:rPr>
              <a:t>WHAT HAPPENED, AND WHAT CAUSED IT?</a:t>
            </a:r>
            <a:endParaRPr lang="en-US" sz="1100" dirty="0"/>
          </a:p>
        </p:txBody>
      </p:sp>
      <p:sp>
        <p:nvSpPr>
          <p:cNvPr id="4" name="Setting icon circle"/>
          <p:cNvSpPr/>
          <p:nvPr/>
        </p:nvSpPr>
        <p:spPr>
          <a:xfrm>
            <a:off x="548640" y="1463040"/>
            <a:ext cx="685800" cy="685800"/>
          </a:xfrm>
          <a:prstGeom prst="ellipse">
            <a:avLst/>
          </a:prstGeom>
          <a:solidFill>
            <a:schemeClr val="accent1"/>
          </a:solidFill>
          <a:ln/>
        </p:spPr>
      </p:sp>
      <p:pic>
        <p:nvPicPr>
          <p:cNvPr id="5" name="Setting icon" descr="Setting icon">    </p:cNvPr>
          <p:cNvPicPr>
            <a:picLocks noChangeAspect="1"/>
          </p:cNvPicPr>
          <p:nvPr/>
        </p:nvPicPr>
        <p:blipFill>
          <a:blip r:embed="rId1"/>
          <a:stretch>
            <a:fillRect/>
          </a:stretch>
        </p:blipFill>
        <p:spPr>
          <a:xfrm>
            <a:off x="713232" y="1627632"/>
            <a:ext cx="356616" cy="356616"/>
          </a:xfrm>
          <a:prstGeom prst="rect">
            <a:avLst/>
          </a:prstGeom>
        </p:spPr>
      </p:pic>
      <p:sp>
        <p:nvSpPr>
          <p:cNvPr id="6" name="Text 3"/>
          <p:cNvSpPr txBox="1"/>
          <p:nvPr/>
        </p:nvSpPr>
        <p:spPr>
          <a:xfrm>
            <a:off x="1371600" y="1371600"/>
            <a:ext cx="3749040" cy="1097280"/>
          </a:xfrm>
          <a:prstGeom prst="rect">
            <a:avLst/>
          </a:prstGeom>
          <a:noFill/>
          <a:ln/>
        </p:spPr>
        <p:txBody>
          <a:bodyPr wrap="square" lIns="635" tIns="635" rIns="635" bIns="635" rtlCol="0" anchor="ctr"/>
          <a:lstStyle/>
          <a:p>
            <a:pPr indent="0" marL="0">
              <a:buNone/>
            </a:pPr>
            <a:r>
              <a:rPr lang="en-US" sz="1700" b="1" dirty="0">
                <a:solidFill>
                  <a:schemeClr val="tx2"/>
                </a:solidFill>
              </a:rPr>
              <a:t>Setting</a:t>
            </a:r>
            <a:endParaRPr lang="en-US" sz="1450" dirty="0"/>
          </a:p>
          <a:p>
            <a:pPr indent="0" marL="0">
              <a:buNone/>
            </a:pPr>
            <a:r>
              <a:rPr lang="en-US" sz="1450" dirty="0">
                <a:solidFill>
                  <a:schemeClr val="tx1"/>
                </a:solidFill>
              </a:rPr>
              <a:t>A nuclear-powered carrier at sea in the Western Pacific. Later it docked at U.S. Naval Base Guam</a:t>
            </a:r>
            <a:r>
              <a:rPr lang="en-US" sz="1450" baseline="30000" dirty="0">
                <a:solidFill>
                  <a:schemeClr val="tx1"/>
                </a:solidFill>
              </a:rPr>
              <a:t>1</a:t>
            </a:r>
            <a:endParaRPr lang="en-US" sz="1450" dirty="0"/>
          </a:p>
        </p:txBody>
      </p:sp>
      <p:sp>
        <p:nvSpPr>
          <p:cNvPr id="7" name="Living conditions icon circle"/>
          <p:cNvSpPr/>
          <p:nvPr/>
        </p:nvSpPr>
        <p:spPr>
          <a:xfrm>
            <a:off x="548640" y="2651760"/>
            <a:ext cx="685800" cy="685800"/>
          </a:xfrm>
          <a:prstGeom prst="ellipse">
            <a:avLst/>
          </a:prstGeom>
          <a:solidFill>
            <a:schemeClr val="accent1"/>
          </a:solidFill>
          <a:ln/>
        </p:spPr>
      </p:sp>
      <p:pic>
        <p:nvPicPr>
          <p:cNvPr id="8" name="Living conditions icon" descr="Living conditions icon">    </p:cNvPr>
          <p:cNvPicPr>
            <a:picLocks noChangeAspect="1"/>
          </p:cNvPicPr>
          <p:nvPr/>
        </p:nvPicPr>
        <p:blipFill>
          <a:blip r:embed="rId2"/>
          <a:stretch>
            <a:fillRect/>
          </a:stretch>
        </p:blipFill>
        <p:spPr>
          <a:xfrm>
            <a:off x="713232" y="2816352"/>
            <a:ext cx="356616" cy="356616"/>
          </a:xfrm>
          <a:prstGeom prst="rect">
            <a:avLst/>
          </a:prstGeom>
        </p:spPr>
      </p:pic>
      <p:sp>
        <p:nvSpPr>
          <p:cNvPr id="9" name="Text 5"/>
          <p:cNvSpPr txBox="1"/>
          <p:nvPr/>
        </p:nvSpPr>
        <p:spPr>
          <a:xfrm>
            <a:off x="1371600" y="2560320"/>
            <a:ext cx="3749040" cy="1097280"/>
          </a:xfrm>
          <a:prstGeom prst="rect">
            <a:avLst/>
          </a:prstGeom>
          <a:noFill/>
          <a:ln/>
        </p:spPr>
        <p:txBody>
          <a:bodyPr wrap="square" lIns="635" tIns="635" rIns="635" bIns="635" rtlCol="0" anchor="ctr"/>
          <a:lstStyle/>
          <a:p>
            <a:pPr indent="0" marL="0">
              <a:buNone/>
            </a:pPr>
            <a:r>
              <a:rPr lang="en-US" sz="1700" b="1" dirty="0">
                <a:solidFill>
                  <a:schemeClr val="tx2"/>
                </a:solidFill>
              </a:rPr>
              <a:t>Living conditions</a:t>
            </a:r>
            <a:endParaRPr lang="en-US" sz="1450" dirty="0"/>
          </a:p>
          <a:p>
            <a:pPr indent="0" marL="0">
              <a:buNone/>
            </a:pPr>
            <a:r>
              <a:rPr lang="en-US" sz="1450" dirty="0">
                <a:solidFill>
                  <a:schemeClr val="tx1"/>
                </a:solidFill>
              </a:rPr>
              <a:t>Enlisted sailors typically sleep in open bays packed with dozens of tightly spaced bunks, work in crowded areas and gather in gyms and galleys</a:t>
            </a:r>
            <a:r>
              <a:rPr lang="en-US" sz="1450" baseline="30000" dirty="0">
                <a:solidFill>
                  <a:schemeClr val="tx1"/>
                </a:solidFill>
              </a:rPr>
              <a:t>1</a:t>
            </a:r>
            <a:endParaRPr lang="en-US" sz="1450" dirty="0"/>
          </a:p>
        </p:txBody>
      </p:sp>
      <p:sp>
        <p:nvSpPr>
          <p:cNvPr id="10" name="Population icon circle"/>
          <p:cNvSpPr/>
          <p:nvPr/>
        </p:nvSpPr>
        <p:spPr>
          <a:xfrm>
            <a:off x="548640" y="3840480"/>
            <a:ext cx="685800" cy="685800"/>
          </a:xfrm>
          <a:prstGeom prst="ellipse">
            <a:avLst/>
          </a:prstGeom>
          <a:solidFill>
            <a:schemeClr val="accent1"/>
          </a:solidFill>
          <a:ln/>
        </p:spPr>
      </p:sp>
      <p:pic>
        <p:nvPicPr>
          <p:cNvPr id="11" name="Population icon" descr="Population icon">    </p:cNvPr>
          <p:cNvPicPr>
            <a:picLocks noChangeAspect="1"/>
          </p:cNvPicPr>
          <p:nvPr/>
        </p:nvPicPr>
        <p:blipFill>
          <a:blip r:embed="rId3"/>
          <a:stretch>
            <a:fillRect/>
          </a:stretch>
        </p:blipFill>
        <p:spPr>
          <a:xfrm>
            <a:off x="713232" y="4005072"/>
            <a:ext cx="356616" cy="356616"/>
          </a:xfrm>
          <a:prstGeom prst="rect">
            <a:avLst/>
          </a:prstGeom>
        </p:spPr>
      </p:pic>
      <p:sp>
        <p:nvSpPr>
          <p:cNvPr id="12" name="Text 7"/>
          <p:cNvSpPr txBox="1"/>
          <p:nvPr/>
        </p:nvSpPr>
        <p:spPr>
          <a:xfrm>
            <a:off x="1371600" y="3749040"/>
            <a:ext cx="3749040" cy="1097280"/>
          </a:xfrm>
          <a:prstGeom prst="rect">
            <a:avLst/>
          </a:prstGeom>
          <a:noFill/>
          <a:ln/>
        </p:spPr>
        <p:txBody>
          <a:bodyPr wrap="square" lIns="635" tIns="635" rIns="635" bIns="635" rtlCol="0" anchor="ctr"/>
          <a:lstStyle/>
          <a:p>
            <a:pPr indent="0" marL="0">
              <a:buNone/>
            </a:pPr>
            <a:r>
              <a:rPr lang="en-US" sz="1700" b="1" dirty="0">
                <a:solidFill>
                  <a:schemeClr val="tx2"/>
                </a:solidFill>
              </a:rPr>
              <a:t>Population</a:t>
            </a:r>
            <a:endParaRPr lang="en-US" sz="1450" dirty="0"/>
          </a:p>
          <a:p>
            <a:pPr indent="0" marL="0">
              <a:buNone/>
            </a:pPr>
            <a:r>
              <a:rPr lang="en-US" sz="1450" dirty="0">
                <a:solidFill>
                  <a:schemeClr val="tx1"/>
                </a:solidFill>
              </a:rPr>
              <a:t>4,779 crew, average age 27, about 8 in 10 men, all fit for sea duty</a:t>
            </a:r>
            <a:r>
              <a:rPr lang="en-US" sz="1450" baseline="30000" dirty="0">
                <a:solidFill>
                  <a:schemeClr val="tx1"/>
                </a:solidFill>
              </a:rPr>
              <a:t>1</a:t>
            </a:r>
            <a:endParaRPr lang="en-US" sz="1450" dirty="0"/>
          </a:p>
        </p:txBody>
      </p:sp>
      <p:sp>
        <p:nvSpPr>
          <p:cNvPr id="13" name="Detection icon circle"/>
          <p:cNvSpPr/>
          <p:nvPr/>
        </p:nvSpPr>
        <p:spPr>
          <a:xfrm>
            <a:off x="548640" y="5029200"/>
            <a:ext cx="685800" cy="685800"/>
          </a:xfrm>
          <a:prstGeom prst="ellipse">
            <a:avLst/>
          </a:prstGeom>
          <a:solidFill>
            <a:schemeClr val="accent1"/>
          </a:solidFill>
          <a:ln/>
        </p:spPr>
      </p:sp>
      <p:pic>
        <p:nvPicPr>
          <p:cNvPr id="14" name="Detection icon" descr="Detection icon">    </p:cNvPr>
          <p:cNvPicPr>
            <a:picLocks noChangeAspect="1"/>
          </p:cNvPicPr>
          <p:nvPr/>
        </p:nvPicPr>
        <p:blipFill>
          <a:blip r:embed="rId4"/>
          <a:stretch>
            <a:fillRect/>
          </a:stretch>
        </p:blipFill>
        <p:spPr>
          <a:xfrm>
            <a:off x="713232" y="5193792"/>
            <a:ext cx="356616" cy="356616"/>
          </a:xfrm>
          <a:prstGeom prst="rect">
            <a:avLst/>
          </a:prstGeom>
        </p:spPr>
      </p:pic>
      <p:sp>
        <p:nvSpPr>
          <p:cNvPr id="15" name="Text 9"/>
          <p:cNvSpPr txBox="1"/>
          <p:nvPr/>
        </p:nvSpPr>
        <p:spPr>
          <a:xfrm>
            <a:off x="1371600" y="4937760"/>
            <a:ext cx="3749040" cy="1097280"/>
          </a:xfrm>
          <a:prstGeom prst="rect">
            <a:avLst/>
          </a:prstGeom>
          <a:noFill/>
          <a:ln/>
        </p:spPr>
        <p:txBody>
          <a:bodyPr wrap="square" lIns="635" tIns="635" rIns="635" bIns="635" rtlCol="0" anchor="ctr"/>
          <a:lstStyle/>
          <a:p>
            <a:pPr indent="0" marL="0">
              <a:buNone/>
            </a:pPr>
            <a:r>
              <a:rPr lang="en-US" sz="1700" b="1" dirty="0">
                <a:solidFill>
                  <a:schemeClr val="tx2"/>
                </a:solidFill>
              </a:rPr>
              <a:t>Detection</a:t>
            </a:r>
            <a:endParaRPr lang="en-US" sz="1450" dirty="0"/>
          </a:p>
          <a:p>
            <a:pPr indent="0" marL="0">
              <a:buNone/>
            </a:pPr>
            <a:r>
              <a:rPr lang="en-US" sz="1450" dirty="0">
                <a:solidFill>
                  <a:schemeClr val="tx1"/>
                </a:solidFill>
              </a:rPr>
              <a:t>After 13 days at sea, 3 sailors felt sick and tested positive (March 23, 2020)</a:t>
            </a:r>
            <a:r>
              <a:rPr lang="en-US" sz="1450" baseline="30000" dirty="0">
                <a:solidFill>
                  <a:schemeClr val="tx1"/>
                </a:solidFill>
              </a:rPr>
              <a:t>1</a:t>
            </a:r>
            <a:endParaRPr lang="en-US" sz="1450" dirty="0"/>
          </a:p>
        </p:txBody>
      </p:sp>
      <p:pic>
        <p:nvPicPr>
          <p:cNvPr id="16" name="photo of an unoccupied berthing area (article Figure S1)" descr="photo of an unoccupied berthing area (article Figure S1)">    </p:cNvPr>
          <p:cNvPicPr>
            <a:picLocks noChangeAspect="1"/>
          </p:cNvPicPr>
          <p:nvPr/>
        </p:nvPicPr>
        <p:blipFill>
          <a:blip r:embed="rId5"/>
          <a:stretch>
            <a:fillRect/>
          </a:stretch>
        </p:blipFill>
        <p:spPr>
          <a:xfrm>
            <a:off x="5349240" y="1325880"/>
            <a:ext cx="3063240" cy="2039112"/>
          </a:xfrm>
          <a:prstGeom prst="rect">
            <a:avLst/>
          </a:prstGeom>
        </p:spPr>
      </p:pic>
      <p:sp>
        <p:nvSpPr>
          <p:cNvPr id="17" name="photo of an unoccupied berthing area (article Figure S1) caption band"/>
          <p:cNvSpPr/>
          <p:nvPr/>
        </p:nvSpPr>
        <p:spPr>
          <a:xfrm>
            <a:off x="5349240" y="2862072"/>
            <a:ext cx="3063240" cy="502920"/>
          </a:xfrm>
          <a:prstGeom prst="rect">
            <a:avLst/>
          </a:prstGeom>
          <a:solidFill>
            <a:srgbClr val="0B2545">
              <a:alpha val="80000"/>
            </a:srgbClr>
          </a:solidFill>
          <a:ln/>
        </p:spPr>
      </p:sp>
      <p:sp>
        <p:nvSpPr>
          <p:cNvPr id="18" name="Text 11"/>
          <p:cNvSpPr txBox="1"/>
          <p:nvPr/>
        </p:nvSpPr>
        <p:spPr>
          <a:xfrm>
            <a:off x="5422392" y="2862072"/>
            <a:ext cx="2916936" cy="502920"/>
          </a:xfrm>
          <a:prstGeom prst="rect">
            <a:avLst/>
          </a:prstGeom>
          <a:noFill/>
          <a:ln/>
        </p:spPr>
        <p:txBody>
          <a:bodyPr wrap="square" lIns="254" tIns="254" rIns="254" bIns="254" rtlCol="0" anchor="ctr"/>
          <a:lstStyle/>
          <a:p>
            <a:pPr indent="0" marL="0">
              <a:buNone/>
            </a:pPr>
            <a:r>
              <a:rPr lang="en-US" sz="1200" dirty="0">
                <a:solidFill>
                  <a:srgbClr val="FFFFFF"/>
                </a:solidFill>
              </a:rPr>
              <a:t>“An unoccupied berthing aboard the aircraft carrier”</a:t>
            </a:r>
            <a:r>
              <a:rPr lang="en-US" sz="1200" baseline="30000" dirty="0">
                <a:solidFill>
                  <a:srgbClr val="FFFFFF"/>
                </a:solidFill>
              </a:rPr>
              <a:t>1</a:t>
            </a:r>
            <a:endParaRPr lang="en-US" sz="1200" dirty="0"/>
          </a:p>
        </p:txBody>
      </p:sp>
      <p:pic>
        <p:nvPicPr>
          <p:cNvPr id="19" name="photo of the main mess deck" descr="photo of the main mess deck">    </p:cNvPr>
          <p:cNvPicPr>
            <a:picLocks noChangeAspect="1"/>
          </p:cNvPicPr>
          <p:nvPr/>
        </p:nvPicPr>
        <p:blipFill>
          <a:blip r:embed="rId6"/>
          <a:stretch>
            <a:fillRect/>
          </a:stretch>
        </p:blipFill>
        <p:spPr>
          <a:xfrm>
            <a:off x="8549640" y="1325880"/>
            <a:ext cx="3063240" cy="2039112"/>
          </a:xfrm>
          <a:prstGeom prst="rect">
            <a:avLst/>
          </a:prstGeom>
        </p:spPr>
      </p:pic>
      <p:sp>
        <p:nvSpPr>
          <p:cNvPr id="20" name="photo of the main mess deck caption band"/>
          <p:cNvSpPr/>
          <p:nvPr/>
        </p:nvSpPr>
        <p:spPr>
          <a:xfrm>
            <a:off x="8549640" y="2862072"/>
            <a:ext cx="3063240" cy="502920"/>
          </a:xfrm>
          <a:prstGeom prst="rect">
            <a:avLst/>
          </a:prstGeom>
          <a:solidFill>
            <a:srgbClr val="0B2545">
              <a:alpha val="80000"/>
            </a:srgbClr>
          </a:solidFill>
          <a:ln/>
        </p:spPr>
      </p:sp>
      <p:sp>
        <p:nvSpPr>
          <p:cNvPr id="21" name="Text 13"/>
          <p:cNvSpPr txBox="1"/>
          <p:nvPr/>
        </p:nvSpPr>
        <p:spPr>
          <a:xfrm>
            <a:off x="8622792" y="2862072"/>
            <a:ext cx="2916936" cy="502920"/>
          </a:xfrm>
          <a:prstGeom prst="rect">
            <a:avLst/>
          </a:prstGeom>
          <a:noFill/>
          <a:ln/>
        </p:spPr>
        <p:txBody>
          <a:bodyPr wrap="square" lIns="254" tIns="254" rIns="254" bIns="254" rtlCol="0" anchor="ctr"/>
          <a:lstStyle/>
          <a:p>
            <a:pPr indent="0" marL="0">
              <a:buNone/>
            </a:pPr>
            <a:r>
              <a:rPr lang="en-US" sz="1200" dirty="0">
                <a:solidFill>
                  <a:srgbClr val="FFFFFF"/>
                </a:solidFill>
              </a:rPr>
              <a:t>“The main mess decks aboard the aircraft carrier”</a:t>
            </a:r>
            <a:r>
              <a:rPr lang="en-US" sz="1200" baseline="30000" dirty="0">
                <a:solidFill>
                  <a:srgbClr val="FFFFFF"/>
                </a:solidFill>
              </a:rPr>
              <a:t>1</a:t>
            </a:r>
            <a:endParaRPr lang="en-US" sz="1200" dirty="0"/>
          </a:p>
        </p:txBody>
      </p:sp>
      <p:sp>
        <p:nvSpPr>
          <p:cNvPr id="22" name="significance panel"/>
          <p:cNvSpPr/>
          <p:nvPr/>
        </p:nvSpPr>
        <p:spPr>
          <a:xfrm>
            <a:off x="5349240" y="3566160"/>
            <a:ext cx="6263640" cy="2606040"/>
          </a:xfrm>
          <a:prstGeom prst="roundRect">
            <a:avLst>
              <a:gd name="adj" fmla="val 4211"/>
            </a:avLst>
          </a:prstGeom>
          <a:solidFill>
            <a:schemeClr val="tx2"/>
          </a:solidFill>
          <a:ln/>
        </p:spPr>
      </p:sp>
      <p:sp>
        <p:nvSpPr>
          <p:cNvPr id="23" name="Text 15"/>
          <p:cNvSpPr txBox="1"/>
          <p:nvPr/>
        </p:nvSpPr>
        <p:spPr>
          <a:xfrm>
            <a:off x="5577840" y="3657600"/>
            <a:ext cx="5852160" cy="457200"/>
          </a:xfrm>
          <a:prstGeom prst="rect">
            <a:avLst/>
          </a:prstGeom>
          <a:noFill/>
          <a:ln/>
        </p:spPr>
        <p:txBody>
          <a:bodyPr wrap="square" lIns="635" tIns="635" rIns="635" bIns="635" rtlCol="0" anchor="t"/>
          <a:lstStyle/>
          <a:p>
            <a:pPr indent="0" marL="0">
              <a:buNone/>
            </a:pPr>
            <a:r>
              <a:rPr lang="en-US" sz="1900" b="1" dirty="0">
                <a:solidFill>
                  <a:schemeClr val="bg1"/>
                </a:solidFill>
                <a:latin typeface="Cambria" pitchFamily="34" charset="0"/>
                <a:ea typeface="Cambria" pitchFamily="34" charset="-122"/>
                <a:cs typeface="Cambria" pitchFamily="34" charset="-120"/>
              </a:rPr>
              <a:t>Why it matters epidemiologically</a:t>
            </a:r>
            <a:endParaRPr lang="en-US" sz="1900" dirty="0"/>
          </a:p>
        </p:txBody>
      </p:sp>
      <p:sp>
        <p:nvSpPr>
          <p:cNvPr id="24" name="Text 16"/>
          <p:cNvSpPr txBox="1"/>
          <p:nvPr/>
        </p:nvSpPr>
        <p:spPr>
          <a:xfrm>
            <a:off x="5577840" y="4160520"/>
            <a:ext cx="5852160" cy="1920240"/>
          </a:xfrm>
          <a:prstGeom prst="rect">
            <a:avLst/>
          </a:prstGeom>
          <a:noFill/>
          <a:ln/>
        </p:spPr>
        <p:txBody>
          <a:bodyPr wrap="square" lIns="635" tIns="635" rIns="635" bIns="635" rtlCol="0" anchor="t"/>
          <a:lstStyle/>
          <a:p>
            <a:pPr marL="203200" indent="-203200">
              <a:spcAft>
                <a:spcPts val="600"/>
              </a:spcAft>
              <a:buSzPct val="100000"/>
              <a:buChar char="•"/>
            </a:pPr>
            <a:r>
              <a:rPr lang="en-US" sz="1500" dirty="0">
                <a:solidFill>
                  <a:schemeClr val="bg1"/>
                </a:solidFill>
              </a:rPr>
              <a:t>Every crew member was tested and followed for at least 10 weeks, which the authors note is hard to achieve in civilian groups</a:t>
            </a:r>
            <a:r>
              <a:rPr lang="en-US" sz="1500" baseline="30000" dirty="0">
                <a:solidFill>
                  <a:schemeClr val="bg1"/>
                </a:solidFill>
              </a:rPr>
              <a:t>1</a:t>
            </a:r>
            <a:endParaRPr lang="en-US" sz="1500" dirty="0"/>
          </a:p>
          <a:p>
            <a:pPr marL="203200" indent="-203200">
              <a:spcAft>
                <a:spcPts val="600"/>
              </a:spcAft>
              <a:buSzPct val="100000"/>
              <a:buChar char="•"/>
            </a:pPr>
            <a:r>
              <a:rPr lang="en-US" sz="1500" dirty="0">
                <a:solidFill>
                  <a:schemeClr val="bg1"/>
                </a:solidFill>
              </a:rPr>
              <a:t>Covid-19 in young, healthy adults had not been studied extensively</a:t>
            </a:r>
            <a:r>
              <a:rPr lang="en-US" sz="1500" baseline="30000" dirty="0">
                <a:solidFill>
                  <a:schemeClr val="bg1"/>
                </a:solidFill>
              </a:rPr>
              <a:t>1</a:t>
            </a:r>
            <a:endParaRPr lang="en-US" sz="1500" dirty="0"/>
          </a:p>
          <a:p>
            <a:pPr marL="203200" indent="-203200">
              <a:spcAft>
                <a:spcPts val="600"/>
              </a:spcAft>
              <a:buSzPct val="100000"/>
              <a:buChar char="•"/>
            </a:pPr>
            <a:r>
              <a:rPr lang="en-US" sz="1500" dirty="0">
                <a:solidFill>
                  <a:schemeClr val="bg1"/>
                </a:solidFill>
              </a:rPr>
              <a:t>The outbreak diverted a deployed carrier to U.S. Naval Base Guam</a:t>
            </a:r>
            <a:r>
              <a:rPr lang="en-US" sz="1500" baseline="30000" dirty="0">
                <a:solidFill>
                  <a:schemeClr val="bg1"/>
                </a:solidFill>
              </a:rPr>
              <a:t>1</a:t>
            </a:r>
            <a:endParaRPr lang="en-US" sz="1500" dirty="0"/>
          </a:p>
        </p:txBody>
      </p:sp>
      <p:sp>
        <p:nvSpPr>
          <p:cNvPr id="26" name="Text 0"/>
          <p:cNvSpPr/>
          <p:nvPr>
            <p:ph idx="102" type="body" hasCustomPrompt="1"/>
          </p:nvPr>
        </p:nvSpPr>
        <p:spPr>
          <a:xfrm>
            <a:off x="548640" y="6355080"/>
            <a:ext cx="9875520" cy="320040"/>
          </a:xfrm>
          <a:prstGeom prst="rect">
            <a:avLst/>
          </a:prstGeom>
          <a:noFill/>
          <a:ln/>
        </p:spPr>
        <p:txBody>
          <a:bodyPr wrap="square" lIns="0" tIns="0" rIns="0" bIns="0" rtlCol="0" anchor="ctr"/>
          <a:lstStyle/>
          <a:p>
            <a:pPr indent="0" marL="0">
              <a:buNone/>
            </a:pPr>
            <a:r>
              <a:rPr lang="en-US" sz="1000" i="1" dirty="0">
                <a:solidFill>
                  <a:schemeClr val="accent6"/>
                </a:solidFill>
              </a:rPr>
              <a:t>Sources: 1 Kasper et al, 2020 (full list at the end).   Photos: Figures S1 and S2 of the article's Supplementary Appendix, © 2020 Massachusetts Medical Society.</a:t>
            </a: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Symptoms 12 Days Before a Positive Test</a:t>
            </a:r>
            <a:endParaRPr lang="en-US" sz="3400" dirty="0"/>
          </a:p>
        </p:txBody>
      </p:sp>
      <p:sp>
        <p:nvSpPr>
          <p:cNvPr id="3" name="Text 0"/>
          <p:cNvSpPr/>
          <p:nvPr>
            <p:ph idx="101" type="body" hasCustomPrompt="1"/>
          </p:nvPr>
        </p:nvSpPr>
        <p:spPr>
          <a:xfrm>
            <a:off x="548640" y="73152"/>
            <a:ext cx="11064240"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1   </a:t>
            </a:r>
            <a:r>
              <a:rPr lang="en-US" sz="1100" b="1" spc="100" kern="0" dirty="0">
                <a:solidFill>
                  <a:schemeClr val="accent6"/>
                </a:solidFill>
              </a:rPr>
              <a:t>WHAT HAPPENED, AND WHAT CAUSED IT?</a:t>
            </a:r>
            <a:endParaRPr lang="en-US" sz="1100" dirty="0"/>
          </a:p>
        </p:txBody>
      </p:sp>
      <p:sp>
        <p:nvSpPr>
          <p:cNvPr id="4" name="timeline axis"/>
          <p:cNvSpPr/>
          <p:nvPr/>
        </p:nvSpPr>
        <p:spPr>
          <a:xfrm>
            <a:off x="1280160" y="3063240"/>
            <a:ext cx="9601200" cy="0"/>
          </a:xfrm>
          <a:prstGeom prst="line">
            <a:avLst/>
          </a:prstGeom>
          <a:noFill/>
          <a:ln w="38100">
            <a:solidFill>
              <a:srgbClr val="8DA9C4"/>
            </a:solidFill>
            <a:prstDash val="solid"/>
          </a:ln>
        </p:spPr>
      </p:sp>
      <p:sp>
        <p:nvSpPr>
          <p:cNvPr id="5" name="milestone 1"/>
          <p:cNvSpPr/>
          <p:nvPr/>
        </p:nvSpPr>
        <p:spPr>
          <a:xfrm>
            <a:off x="1124712" y="2907792"/>
            <a:ext cx="310896" cy="310896"/>
          </a:xfrm>
          <a:prstGeom prst="ellipse">
            <a:avLst/>
          </a:prstGeom>
          <a:solidFill>
            <a:schemeClr val="accent5"/>
          </a:solidFill>
          <a:ln w="25400">
            <a:solidFill>
              <a:srgbClr val="FFFFFF"/>
            </a:solidFill>
            <a:prstDash val="solid"/>
          </a:ln>
        </p:spPr>
      </p:sp>
      <p:sp>
        <p:nvSpPr>
          <p:cNvPr id="6" name="Text 4"/>
          <p:cNvSpPr txBox="1"/>
          <p:nvPr/>
        </p:nvSpPr>
        <p:spPr>
          <a:xfrm>
            <a:off x="411480" y="1463040"/>
            <a:ext cx="1737360" cy="411480"/>
          </a:xfrm>
          <a:prstGeom prst="rect">
            <a:avLst/>
          </a:prstGeom>
          <a:noFill/>
          <a:ln/>
        </p:spPr>
        <p:txBody>
          <a:bodyPr wrap="square" lIns="635" tIns="635" rIns="635" bIns="635" rtlCol="0" anchor="t"/>
          <a:lstStyle/>
          <a:p>
            <a:pPr algn="ctr" indent="0" marL="0">
              <a:buNone/>
            </a:pPr>
            <a:r>
              <a:rPr lang="en-US" sz="1800" b="1" dirty="0">
                <a:solidFill>
                  <a:schemeClr val="accent5"/>
                </a:solidFill>
                <a:latin typeface="Cambria" pitchFamily="34" charset="0"/>
                <a:ea typeface="Cambria" pitchFamily="34" charset="-122"/>
                <a:cs typeface="Cambria" pitchFamily="34" charset="-120"/>
              </a:rPr>
              <a:t>Mar 5–10</a:t>
            </a:r>
            <a:endParaRPr lang="en-US" sz="1800" dirty="0"/>
          </a:p>
        </p:txBody>
      </p:sp>
      <p:sp>
        <p:nvSpPr>
          <p:cNvPr id="7" name="Text 5"/>
          <p:cNvSpPr txBox="1"/>
          <p:nvPr/>
        </p:nvSpPr>
        <p:spPr>
          <a:xfrm>
            <a:off x="411480" y="1874520"/>
            <a:ext cx="1737360" cy="1051560"/>
          </a:xfrm>
          <a:prstGeom prst="rect">
            <a:avLst/>
          </a:prstGeom>
          <a:noFill/>
          <a:ln/>
        </p:spPr>
        <p:txBody>
          <a:bodyPr wrap="square" lIns="635" tIns="635" rIns="635" bIns="635" rtlCol="0" anchor="t"/>
          <a:lstStyle/>
          <a:p>
            <a:pPr algn="ctr" indent="0" marL="0">
              <a:buNone/>
            </a:pPr>
            <a:r>
              <a:rPr lang="en-US" sz="1250" dirty="0">
                <a:solidFill>
                  <a:schemeClr val="tx1"/>
                </a:solidFill>
              </a:rPr>
              <a:t>Port visit (bracket on the article's Figure 2; dates approximate)</a:t>
            </a:r>
            <a:r>
              <a:rPr lang="en-US" sz="1250" baseline="30000" dirty="0">
                <a:solidFill>
                  <a:schemeClr val="tx1"/>
                </a:solidFill>
              </a:rPr>
              <a:t>1</a:t>
            </a:r>
            <a:endParaRPr lang="en-US" sz="1250" dirty="0"/>
          </a:p>
        </p:txBody>
      </p:sp>
      <p:sp>
        <p:nvSpPr>
          <p:cNvPr id="8" name="milestone 2"/>
          <p:cNvSpPr/>
          <p:nvPr/>
        </p:nvSpPr>
        <p:spPr>
          <a:xfrm>
            <a:off x="3044952" y="2907792"/>
            <a:ext cx="310896" cy="310896"/>
          </a:xfrm>
          <a:prstGeom prst="ellipse">
            <a:avLst/>
          </a:prstGeom>
          <a:solidFill>
            <a:schemeClr val="accent5"/>
          </a:solidFill>
          <a:ln w="25400">
            <a:solidFill>
              <a:srgbClr val="FFFFFF"/>
            </a:solidFill>
            <a:prstDash val="solid"/>
          </a:ln>
        </p:spPr>
      </p:sp>
      <p:sp>
        <p:nvSpPr>
          <p:cNvPr id="9" name="Text 7"/>
          <p:cNvSpPr txBox="1"/>
          <p:nvPr/>
        </p:nvSpPr>
        <p:spPr>
          <a:xfrm>
            <a:off x="2331720" y="3383280"/>
            <a:ext cx="1737360" cy="411480"/>
          </a:xfrm>
          <a:prstGeom prst="rect">
            <a:avLst/>
          </a:prstGeom>
          <a:noFill/>
          <a:ln/>
        </p:spPr>
        <p:txBody>
          <a:bodyPr wrap="square" lIns="635" tIns="635" rIns="635" bIns="635" rtlCol="0" anchor="t"/>
          <a:lstStyle/>
          <a:p>
            <a:pPr algn="ctr" indent="0" marL="0">
              <a:buNone/>
            </a:pPr>
            <a:r>
              <a:rPr lang="en-US" sz="1800" b="1" dirty="0">
                <a:solidFill>
                  <a:schemeClr val="accent5"/>
                </a:solidFill>
                <a:latin typeface="Cambria" pitchFamily="34" charset="0"/>
                <a:ea typeface="Cambria" pitchFamily="34" charset="-122"/>
                <a:cs typeface="Cambria" pitchFamily="34" charset="-120"/>
              </a:rPr>
              <a:t>Mar 11</a:t>
            </a:r>
            <a:endParaRPr lang="en-US" sz="1800" dirty="0"/>
          </a:p>
        </p:txBody>
      </p:sp>
      <p:sp>
        <p:nvSpPr>
          <p:cNvPr id="10" name="Text 8"/>
          <p:cNvSpPr txBox="1"/>
          <p:nvPr/>
        </p:nvSpPr>
        <p:spPr>
          <a:xfrm>
            <a:off x="2331720" y="3767328"/>
            <a:ext cx="1737360" cy="1261872"/>
          </a:xfrm>
          <a:prstGeom prst="rect">
            <a:avLst/>
          </a:prstGeom>
          <a:noFill/>
          <a:ln/>
        </p:spPr>
        <p:txBody>
          <a:bodyPr wrap="square" lIns="635" tIns="635" rIns="635" bIns="635" rtlCol="0" anchor="t"/>
          <a:lstStyle/>
          <a:p>
            <a:pPr algn="ctr" indent="0" marL="0">
              <a:buNone/>
            </a:pPr>
            <a:r>
              <a:rPr lang="en-US" sz="1250" dirty="0">
                <a:solidFill>
                  <a:schemeClr val="tx1"/>
                </a:solidFill>
              </a:rPr>
              <a:t>Earliest symptom onset (found later). On Mar 11, 12, 13 and 16, COD arrivals brought personnel, supplies and mail</a:t>
            </a:r>
            <a:r>
              <a:rPr lang="en-US" sz="1250" baseline="30000" dirty="0">
                <a:solidFill>
                  <a:schemeClr val="tx1"/>
                </a:solidFill>
              </a:rPr>
              <a:t>1</a:t>
            </a:r>
            <a:endParaRPr lang="en-US" sz="1250" dirty="0"/>
          </a:p>
        </p:txBody>
      </p:sp>
      <p:sp>
        <p:nvSpPr>
          <p:cNvPr id="11" name="milestone 3"/>
          <p:cNvSpPr/>
          <p:nvPr/>
        </p:nvSpPr>
        <p:spPr>
          <a:xfrm>
            <a:off x="4965192" y="2907792"/>
            <a:ext cx="310896" cy="310896"/>
          </a:xfrm>
          <a:prstGeom prst="ellipse">
            <a:avLst/>
          </a:prstGeom>
          <a:solidFill>
            <a:schemeClr val="accent2"/>
          </a:solidFill>
          <a:ln w="25400">
            <a:solidFill>
              <a:srgbClr val="FFFFFF"/>
            </a:solidFill>
            <a:prstDash val="solid"/>
          </a:ln>
        </p:spPr>
      </p:sp>
      <p:sp>
        <p:nvSpPr>
          <p:cNvPr id="12" name="Text 10"/>
          <p:cNvSpPr txBox="1"/>
          <p:nvPr/>
        </p:nvSpPr>
        <p:spPr>
          <a:xfrm>
            <a:off x="4251960" y="1463040"/>
            <a:ext cx="1737360" cy="411480"/>
          </a:xfrm>
          <a:prstGeom prst="rect">
            <a:avLst/>
          </a:prstGeom>
          <a:noFill/>
          <a:ln/>
        </p:spPr>
        <p:txBody>
          <a:bodyPr wrap="square" lIns="635" tIns="635" rIns="635" bIns="635" rtlCol="0" anchor="t"/>
          <a:lstStyle/>
          <a:p>
            <a:pPr algn="ctr" indent="0" marL="0">
              <a:buNone/>
            </a:pPr>
            <a:r>
              <a:rPr lang="en-US" sz="1800" b="1" dirty="0">
                <a:solidFill>
                  <a:schemeClr val="accent2"/>
                </a:solidFill>
                <a:latin typeface="Cambria" pitchFamily="34" charset="0"/>
                <a:ea typeface="Cambria" pitchFamily="34" charset="-122"/>
                <a:cs typeface="Cambria" pitchFamily="34" charset="-120"/>
              </a:rPr>
              <a:t>Mar 23</a:t>
            </a:r>
            <a:endParaRPr lang="en-US" sz="1800" dirty="0"/>
          </a:p>
        </p:txBody>
      </p:sp>
      <p:sp>
        <p:nvSpPr>
          <p:cNvPr id="13" name="Text 11"/>
          <p:cNvSpPr txBox="1"/>
          <p:nvPr/>
        </p:nvSpPr>
        <p:spPr>
          <a:xfrm>
            <a:off x="4251960" y="1874520"/>
            <a:ext cx="1737360" cy="1051560"/>
          </a:xfrm>
          <a:prstGeom prst="rect">
            <a:avLst/>
          </a:prstGeom>
          <a:noFill/>
          <a:ln/>
        </p:spPr>
        <p:txBody>
          <a:bodyPr wrap="square" lIns="635" tIns="635" rIns="635" bIns="635" rtlCol="0" anchor="t"/>
          <a:lstStyle/>
          <a:p>
            <a:pPr algn="ctr" indent="0" marL="0">
              <a:buNone/>
            </a:pPr>
            <a:r>
              <a:rPr lang="en-US" sz="1250" dirty="0">
                <a:solidFill>
                  <a:schemeClr val="tx1"/>
                </a:solidFill>
              </a:rPr>
              <a:t>First 3 positive tests; ~400 close contacts traced within 24 h</a:t>
            </a:r>
            <a:r>
              <a:rPr lang="en-US" sz="1250" baseline="30000" dirty="0">
                <a:solidFill>
                  <a:schemeClr val="tx1"/>
                </a:solidFill>
              </a:rPr>
              <a:t>1</a:t>
            </a:r>
            <a:endParaRPr lang="en-US" sz="1250" dirty="0"/>
          </a:p>
        </p:txBody>
      </p:sp>
      <p:sp>
        <p:nvSpPr>
          <p:cNvPr id="14" name="milestone 4"/>
          <p:cNvSpPr/>
          <p:nvPr/>
        </p:nvSpPr>
        <p:spPr>
          <a:xfrm>
            <a:off x="6885432" y="2907792"/>
            <a:ext cx="310896" cy="310896"/>
          </a:xfrm>
          <a:prstGeom prst="ellipse">
            <a:avLst/>
          </a:prstGeom>
          <a:solidFill>
            <a:schemeClr val="accent1"/>
          </a:solidFill>
          <a:ln w="25400">
            <a:solidFill>
              <a:srgbClr val="FFFFFF"/>
            </a:solidFill>
            <a:prstDash val="solid"/>
          </a:ln>
        </p:spPr>
      </p:sp>
      <p:sp>
        <p:nvSpPr>
          <p:cNvPr id="15" name="Text 13"/>
          <p:cNvSpPr txBox="1"/>
          <p:nvPr/>
        </p:nvSpPr>
        <p:spPr>
          <a:xfrm>
            <a:off x="6172200" y="3383280"/>
            <a:ext cx="1737360" cy="411480"/>
          </a:xfrm>
          <a:prstGeom prst="rect">
            <a:avLst/>
          </a:prstGeom>
          <a:noFill/>
          <a:ln/>
        </p:spPr>
        <p:txBody>
          <a:bodyPr wrap="square" lIns="635" tIns="635" rIns="635" bIns="635" rtlCol="0" anchor="t"/>
          <a:lstStyle/>
          <a:p>
            <a:pPr algn="ctr" indent="0" marL="0">
              <a:buNone/>
            </a:pPr>
            <a:r>
              <a:rPr lang="en-US" sz="1800" b="1" dirty="0">
                <a:solidFill>
                  <a:schemeClr val="accent1"/>
                </a:solidFill>
                <a:latin typeface="Cambria" pitchFamily="34" charset="0"/>
                <a:ea typeface="Cambria" pitchFamily="34" charset="-122"/>
                <a:cs typeface="Cambria" pitchFamily="34" charset="-120"/>
              </a:rPr>
              <a:t>Mar 27</a:t>
            </a:r>
            <a:endParaRPr lang="en-US" sz="1800" dirty="0"/>
          </a:p>
        </p:txBody>
      </p:sp>
      <p:sp>
        <p:nvSpPr>
          <p:cNvPr id="16" name="Text 14"/>
          <p:cNvSpPr txBox="1"/>
          <p:nvPr/>
        </p:nvSpPr>
        <p:spPr>
          <a:xfrm>
            <a:off x="6172200" y="3767328"/>
            <a:ext cx="1737360" cy="1261872"/>
          </a:xfrm>
          <a:prstGeom prst="rect">
            <a:avLst/>
          </a:prstGeom>
          <a:noFill/>
          <a:ln/>
        </p:spPr>
        <p:txBody>
          <a:bodyPr wrap="square" lIns="635" tIns="635" rIns="635" bIns="635" rtlCol="0" anchor="t"/>
          <a:lstStyle/>
          <a:p>
            <a:pPr algn="ctr" indent="0" marL="0">
              <a:buNone/>
            </a:pPr>
            <a:r>
              <a:rPr lang="en-US" sz="1250" dirty="0">
                <a:solidFill>
                  <a:schemeClr val="tx1"/>
                </a:solidFill>
              </a:rPr>
              <a:t>Ship docks in Guam, 4 days after the first positive test</a:t>
            </a:r>
            <a:r>
              <a:rPr lang="en-US" sz="1250" baseline="30000" dirty="0">
                <a:solidFill>
                  <a:schemeClr val="tx1"/>
                </a:solidFill>
              </a:rPr>
              <a:t>1</a:t>
            </a:r>
            <a:endParaRPr lang="en-US" sz="1250" dirty="0"/>
          </a:p>
        </p:txBody>
      </p:sp>
      <p:sp>
        <p:nvSpPr>
          <p:cNvPr id="17" name="milestone 5"/>
          <p:cNvSpPr/>
          <p:nvPr/>
        </p:nvSpPr>
        <p:spPr>
          <a:xfrm>
            <a:off x="8805672" y="2907792"/>
            <a:ext cx="310896" cy="310896"/>
          </a:xfrm>
          <a:prstGeom prst="ellipse">
            <a:avLst/>
          </a:prstGeom>
          <a:solidFill>
            <a:schemeClr val="accent1"/>
          </a:solidFill>
          <a:ln w="25400">
            <a:solidFill>
              <a:srgbClr val="FFFFFF"/>
            </a:solidFill>
            <a:prstDash val="solid"/>
          </a:ln>
        </p:spPr>
      </p:sp>
      <p:sp>
        <p:nvSpPr>
          <p:cNvPr id="18" name="Text 16"/>
          <p:cNvSpPr txBox="1"/>
          <p:nvPr/>
        </p:nvSpPr>
        <p:spPr>
          <a:xfrm>
            <a:off x="8092440" y="1463040"/>
            <a:ext cx="1737360" cy="411480"/>
          </a:xfrm>
          <a:prstGeom prst="rect">
            <a:avLst/>
          </a:prstGeom>
          <a:noFill/>
          <a:ln/>
        </p:spPr>
        <p:txBody>
          <a:bodyPr wrap="square" lIns="635" tIns="635" rIns="635" bIns="635" rtlCol="0" anchor="t"/>
          <a:lstStyle/>
          <a:p>
            <a:pPr algn="ctr" indent="0" marL="0">
              <a:buNone/>
            </a:pPr>
            <a:r>
              <a:rPr lang="en-US" sz="1800" b="1" dirty="0">
                <a:solidFill>
                  <a:schemeClr val="accent1"/>
                </a:solidFill>
                <a:latin typeface="Cambria" pitchFamily="34" charset="0"/>
                <a:ea typeface="Cambria" pitchFamily="34" charset="-122"/>
                <a:cs typeface="Cambria" pitchFamily="34" charset="-120"/>
              </a:rPr>
              <a:t>Ashore</a:t>
            </a:r>
            <a:endParaRPr lang="en-US" sz="1800" dirty="0"/>
          </a:p>
        </p:txBody>
      </p:sp>
      <p:sp>
        <p:nvSpPr>
          <p:cNvPr id="19" name="Text 17"/>
          <p:cNvSpPr txBox="1"/>
          <p:nvPr/>
        </p:nvSpPr>
        <p:spPr>
          <a:xfrm>
            <a:off x="8092440" y="1874520"/>
            <a:ext cx="1737360" cy="1051560"/>
          </a:xfrm>
          <a:prstGeom prst="rect">
            <a:avLst/>
          </a:prstGeom>
          <a:noFill/>
          <a:ln/>
        </p:spPr>
        <p:txBody>
          <a:bodyPr wrap="square" lIns="635" tIns="635" rIns="635" bIns="635" rtlCol="0" anchor="t"/>
          <a:lstStyle/>
          <a:p>
            <a:pPr algn="ctr" indent="0" marL="0">
              <a:buNone/>
            </a:pPr>
            <a:r>
              <a:rPr lang="en-US" sz="1250" dirty="0">
                <a:solidFill>
                  <a:schemeClr val="tx1"/>
                </a:solidFill>
              </a:rPr>
              <a:t>4,079 test-negative crew quarantined in single rooms in 11 hotels (start date not given)</a:t>
            </a:r>
            <a:r>
              <a:rPr lang="en-US" sz="1250" baseline="30000" dirty="0">
                <a:solidFill>
                  <a:schemeClr val="tx1"/>
                </a:solidFill>
              </a:rPr>
              <a:t>1</a:t>
            </a:r>
            <a:endParaRPr lang="en-US" sz="1250" dirty="0"/>
          </a:p>
        </p:txBody>
      </p:sp>
      <p:sp>
        <p:nvSpPr>
          <p:cNvPr id="20" name="milestone 6"/>
          <p:cNvSpPr/>
          <p:nvPr/>
        </p:nvSpPr>
        <p:spPr>
          <a:xfrm>
            <a:off x="10725912" y="2907792"/>
            <a:ext cx="310896" cy="310896"/>
          </a:xfrm>
          <a:prstGeom prst="ellipse">
            <a:avLst/>
          </a:prstGeom>
          <a:solidFill>
            <a:schemeClr val="accent1"/>
          </a:solidFill>
          <a:ln w="25400">
            <a:solidFill>
              <a:srgbClr val="FFFFFF"/>
            </a:solidFill>
            <a:prstDash val="solid"/>
          </a:ln>
        </p:spPr>
      </p:sp>
      <p:sp>
        <p:nvSpPr>
          <p:cNvPr id="21" name="Text 19"/>
          <p:cNvSpPr txBox="1"/>
          <p:nvPr/>
        </p:nvSpPr>
        <p:spPr>
          <a:xfrm>
            <a:off x="10012680" y="3383280"/>
            <a:ext cx="1737360" cy="411480"/>
          </a:xfrm>
          <a:prstGeom prst="rect">
            <a:avLst/>
          </a:prstGeom>
          <a:noFill/>
          <a:ln/>
        </p:spPr>
        <p:txBody>
          <a:bodyPr wrap="square" lIns="635" tIns="635" rIns="635" bIns="635" rtlCol="0" anchor="t"/>
          <a:lstStyle/>
          <a:p>
            <a:pPr algn="ctr" indent="0" marL="0">
              <a:buNone/>
            </a:pPr>
            <a:r>
              <a:rPr lang="en-US" sz="1800" b="1" dirty="0">
                <a:solidFill>
                  <a:schemeClr val="accent1"/>
                </a:solidFill>
                <a:latin typeface="Cambria" pitchFamily="34" charset="0"/>
                <a:ea typeface="Cambria" pitchFamily="34" charset="-122"/>
                <a:cs typeface="Cambria" pitchFamily="34" charset="-120"/>
              </a:rPr>
              <a:t>May 18</a:t>
            </a:r>
            <a:endParaRPr lang="en-US" sz="1800" dirty="0"/>
          </a:p>
        </p:txBody>
      </p:sp>
      <p:sp>
        <p:nvSpPr>
          <p:cNvPr id="22" name="Text 20"/>
          <p:cNvSpPr txBox="1"/>
          <p:nvPr/>
        </p:nvSpPr>
        <p:spPr>
          <a:xfrm>
            <a:off x="10012680" y="3767328"/>
            <a:ext cx="1737360" cy="1261872"/>
          </a:xfrm>
          <a:prstGeom prst="rect">
            <a:avLst/>
          </a:prstGeom>
          <a:noFill/>
          <a:ln/>
        </p:spPr>
        <p:txBody>
          <a:bodyPr wrap="square" lIns="635" tIns="635" rIns="635" bIns="635" rtlCol="0" anchor="t"/>
          <a:lstStyle/>
          <a:p>
            <a:pPr algn="ctr" indent="0" marL="0">
              <a:buNone/>
            </a:pPr>
            <a:r>
              <a:rPr lang="en-US" sz="1250" dirty="0">
                <a:solidFill>
                  <a:schemeClr val="tx1"/>
                </a:solidFill>
              </a:rPr>
              <a:t>End of analysis; cases continued at least 6 weeks after docking</a:t>
            </a:r>
            <a:r>
              <a:rPr lang="en-US" sz="1250" baseline="30000" dirty="0">
                <a:solidFill>
                  <a:schemeClr val="tx1"/>
                </a:solidFill>
              </a:rPr>
              <a:t>1</a:t>
            </a:r>
            <a:endParaRPr lang="en-US" sz="1250" dirty="0"/>
          </a:p>
        </p:txBody>
      </p:sp>
      <p:sp>
        <p:nvSpPr>
          <p:cNvPr id="23" name="takeaway"/>
          <p:cNvSpPr/>
          <p:nvPr/>
        </p:nvSpPr>
        <p:spPr>
          <a:xfrm>
            <a:off x="548640" y="5074920"/>
            <a:ext cx="11064240" cy="1051560"/>
          </a:xfrm>
          <a:prstGeom prst="roundRect">
            <a:avLst>
              <a:gd name="adj" fmla="val 10435"/>
            </a:avLst>
          </a:prstGeom>
          <a:solidFill>
            <a:schemeClr val="bg2"/>
          </a:solidFill>
          <a:ln/>
        </p:spPr>
      </p:sp>
      <p:sp>
        <p:nvSpPr>
          <p:cNvPr id="24" name="Text 22"/>
          <p:cNvSpPr txBox="1"/>
          <p:nvPr/>
        </p:nvSpPr>
        <p:spPr>
          <a:xfrm>
            <a:off x="777240" y="5166360"/>
            <a:ext cx="10607040" cy="868680"/>
          </a:xfrm>
          <a:prstGeom prst="rect">
            <a:avLst/>
          </a:prstGeom>
          <a:noFill/>
          <a:ln/>
        </p:spPr>
        <p:txBody>
          <a:bodyPr wrap="square" lIns="635" tIns="635" rIns="635" bIns="635" rtlCol="0" anchor="ctr"/>
          <a:lstStyle/>
          <a:p>
            <a:pPr indent="0" marL="0">
              <a:buNone/>
            </a:pPr>
            <a:r>
              <a:rPr lang="en-US" sz="1600" b="1" dirty="0">
                <a:solidFill>
                  <a:schemeClr val="accent2"/>
                </a:solidFill>
              </a:rPr>
              <a:t>Key point: </a:t>
            </a:r>
            <a:r>
              <a:rPr lang="en-US" sz="1600" dirty="0">
                <a:solidFill>
                  <a:schemeClr val="tx1"/>
                </a:solidFill>
              </a:rPr>
              <a:t>symptoms began as early as March 11, but the first positive test came on March 23. The outbreak continued for at least 6 weeks after the ship docked in Guam.</a:t>
            </a:r>
            <a:r>
              <a:rPr lang="en-US" sz="1600" baseline="30000" dirty="0">
                <a:solidFill>
                  <a:schemeClr val="tx1"/>
                </a:solidFill>
              </a:rPr>
              <a:t>1</a:t>
            </a:r>
            <a:endParaRPr lang="en-US" sz="1600" dirty="0"/>
          </a:p>
        </p:txBody>
      </p:sp>
      <p:sp>
        <p:nvSpPr>
          <p:cNvPr id="26" name="Text 0"/>
          <p:cNvSpPr/>
          <p:nvPr>
            <p:ph idx="102" type="body" hasCustomPrompt="1"/>
          </p:nvPr>
        </p:nvSpPr>
        <p:spPr>
          <a:xfrm>
            <a:off x="548640" y="6355080"/>
            <a:ext cx="9875520" cy="320040"/>
          </a:xfrm>
          <a:prstGeom prst="rect">
            <a:avLst/>
          </a:prstGeom>
          <a:noFill/>
          <a:ln/>
        </p:spPr>
        <p:txBody>
          <a:bodyPr wrap="square" lIns="0" tIns="0" rIns="0" bIns="0" rtlCol="0" anchor="ctr"/>
          <a:lstStyle/>
          <a:p>
            <a:pPr indent="0" marL="0">
              <a:buNone/>
            </a:pPr>
            <a:r>
              <a:rPr lang="en-US" sz="1000" i="1" dirty="0">
                <a:solidFill>
                  <a:schemeClr val="accent6"/>
                </a:solidFill>
              </a:rPr>
              <a:t>Sources: 1 Kasper et al, 2020 (full list at the end).   12 days = my count, March 11 to March 23. Port-visit dates are read from the bracket on Figure 2.</a:t>
            </a: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The Agent: A Virus That Spreads Silently</a:t>
            </a:r>
            <a:endParaRPr lang="en-US" sz="3400" dirty="0"/>
          </a:p>
        </p:txBody>
      </p:sp>
      <p:sp>
        <p:nvSpPr>
          <p:cNvPr id="3" name="Text 0"/>
          <p:cNvSpPr/>
          <p:nvPr>
            <p:ph idx="101" type="body" hasCustomPrompt="1"/>
          </p:nvPr>
        </p:nvSpPr>
        <p:spPr>
          <a:xfrm>
            <a:off x="548640" y="73152"/>
            <a:ext cx="11064240"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1   </a:t>
            </a:r>
            <a:r>
              <a:rPr lang="en-US" sz="1100" b="1" spc="100" kern="0" dirty="0">
                <a:solidFill>
                  <a:schemeClr val="accent6"/>
                </a:solidFill>
              </a:rPr>
              <a:t>WHAT HAPPENED, AND WHAT CAUSED IT?</a:t>
            </a:r>
            <a:endParaRPr lang="en-US" sz="1100" dirty="0"/>
          </a:p>
        </p:txBody>
      </p:sp>
      <p:sp>
        <p:nvSpPr>
          <p:cNvPr id="4" name="Classification &amp; biology card"/>
          <p:cNvSpPr/>
          <p:nvPr/>
        </p:nvSpPr>
        <p:spPr>
          <a:xfrm>
            <a:off x="548640" y="1325880"/>
            <a:ext cx="3520440" cy="4023360"/>
          </a:xfrm>
          <a:prstGeom prst="roundRect">
            <a:avLst>
              <a:gd name="adj" fmla="val 3117"/>
            </a:avLst>
          </a:prstGeom>
          <a:solidFill>
            <a:schemeClr val="bg2"/>
          </a:solidFill>
          <a:ln/>
        </p:spPr>
      </p:sp>
      <p:pic>
        <p:nvPicPr>
          <p:cNvPr id="5" name="coronavirus illustration" descr="Illustration of a coronavirus particle covered in spikes">    </p:cNvPr>
          <p:cNvPicPr>
            <a:picLocks noChangeAspect="1"/>
          </p:cNvPicPr>
          <p:nvPr/>
        </p:nvPicPr>
        <p:blipFill>
          <a:blip r:embed="rId1"/>
          <a:stretch>
            <a:fillRect/>
          </a:stretch>
        </p:blipFill>
        <p:spPr>
          <a:xfrm>
            <a:off x="685800" y="1371600"/>
            <a:ext cx="1005840" cy="1005840"/>
          </a:xfrm>
          <a:prstGeom prst="rect">
            <a:avLst/>
          </a:prstGeom>
        </p:spPr>
      </p:pic>
      <p:sp>
        <p:nvSpPr>
          <p:cNvPr id="6" name="Text 3"/>
          <p:cNvSpPr txBox="1"/>
          <p:nvPr/>
        </p:nvSpPr>
        <p:spPr>
          <a:xfrm>
            <a:off x="1783080" y="1600200"/>
            <a:ext cx="2148840" cy="548640"/>
          </a:xfrm>
          <a:prstGeom prst="rect">
            <a:avLst/>
          </a:prstGeom>
          <a:noFill/>
          <a:ln/>
        </p:spPr>
        <p:txBody>
          <a:bodyPr wrap="square" lIns="635" tIns="635" rIns="635" bIns="635"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Classification &amp; biology</a:t>
            </a:r>
            <a:endParaRPr lang="en-US" sz="1800" dirty="0"/>
          </a:p>
        </p:txBody>
      </p:sp>
      <p:sp>
        <p:nvSpPr>
          <p:cNvPr id="7" name="Text 4"/>
          <p:cNvSpPr txBox="1"/>
          <p:nvPr/>
        </p:nvSpPr>
        <p:spPr>
          <a:xfrm>
            <a:off x="777240" y="2514600"/>
            <a:ext cx="3108960" cy="2743200"/>
          </a:xfrm>
          <a:prstGeom prst="rect">
            <a:avLst/>
          </a:prstGeom>
          <a:noFill/>
          <a:ln/>
        </p:spPr>
        <p:txBody>
          <a:bodyPr wrap="square" lIns="635" tIns="635" rIns="635" bIns="635" rtlCol="0" anchor="t"/>
          <a:lstStyle/>
          <a:p>
            <a:pPr marL="203200" indent="-203200">
              <a:spcAft>
                <a:spcPts val="600"/>
              </a:spcAft>
              <a:buSzPct val="100000"/>
              <a:buChar char="•"/>
            </a:pPr>
            <a:r>
              <a:rPr lang="en-US" sz="1450" dirty="0">
                <a:solidFill>
                  <a:schemeClr val="tx1"/>
                </a:solidFill>
              </a:rPr>
              <a:t>SARS-CoV-2, a coronavirus</a:t>
            </a:r>
            <a:r>
              <a:rPr lang="en-US" sz="1450" baseline="30000" dirty="0">
                <a:solidFill>
                  <a:schemeClr val="tx1"/>
                </a:solidFill>
              </a:rPr>
              <a:t>2</a:t>
            </a:r>
            <a:endParaRPr lang="en-US" sz="1500" dirty="0"/>
          </a:p>
          <a:p>
            <a:pPr marL="203200" indent="-203200">
              <a:spcAft>
                <a:spcPts val="600"/>
              </a:spcAft>
              <a:buSzPct val="100000"/>
              <a:buChar char="•"/>
            </a:pPr>
            <a:r>
              <a:rPr lang="en-US" sz="1450" dirty="0">
                <a:solidFill>
                  <a:schemeClr val="tx1"/>
                </a:solidFill>
              </a:rPr>
              <a:t>Its spike protein attaches to ACE2 receptors, docking points on human cells</a:t>
            </a:r>
            <a:r>
              <a:rPr lang="en-US" sz="1450" baseline="30000" dirty="0">
                <a:solidFill>
                  <a:schemeClr val="tx1"/>
                </a:solidFill>
              </a:rPr>
              <a:t>2</a:t>
            </a:r>
            <a:endParaRPr lang="en-US" sz="1500" dirty="0"/>
          </a:p>
          <a:p>
            <a:pPr marL="203200" indent="-203200">
              <a:spcAft>
                <a:spcPts val="600"/>
              </a:spcAft>
              <a:buSzPct val="100000"/>
              <a:buChar char="•"/>
            </a:pPr>
            <a:r>
              <a:rPr lang="en-US" sz="1450" dirty="0">
                <a:solidFill>
                  <a:schemeClr val="tx1"/>
                </a:solidFill>
              </a:rPr>
              <a:t>Closely related to coronaviruses found in bats and pangolins</a:t>
            </a:r>
            <a:r>
              <a:rPr lang="en-US" sz="1450" baseline="30000" dirty="0">
                <a:solidFill>
                  <a:schemeClr val="tx1"/>
                </a:solidFill>
              </a:rPr>
              <a:t>2</a:t>
            </a:r>
            <a:endParaRPr lang="en-US" sz="1500" dirty="0"/>
          </a:p>
          <a:p>
            <a:pPr marL="203200" indent="-203200">
              <a:spcAft>
                <a:spcPts val="600"/>
              </a:spcAft>
              <a:buSzPct val="100000"/>
              <a:buChar char="•"/>
            </a:pPr>
            <a:r>
              <a:rPr lang="en-US" sz="1450" dirty="0">
                <a:solidFill>
                  <a:schemeClr val="tx1"/>
                </a:solidFill>
              </a:rPr>
              <a:t>Lab test: PCR on a nasopharyngeal swab detects the virus's N gene</a:t>
            </a:r>
            <a:r>
              <a:rPr lang="en-US" sz="1450" baseline="30000" dirty="0">
                <a:solidFill>
                  <a:schemeClr val="tx1"/>
                </a:solidFill>
              </a:rPr>
              <a:t>1</a:t>
            </a:r>
            <a:endParaRPr lang="en-US" sz="1500" dirty="0"/>
          </a:p>
        </p:txBody>
      </p:sp>
      <p:sp>
        <p:nvSpPr>
          <p:cNvPr id="8" name="Transmission card"/>
          <p:cNvSpPr/>
          <p:nvPr/>
        </p:nvSpPr>
        <p:spPr>
          <a:xfrm>
            <a:off x="4297680" y="1325880"/>
            <a:ext cx="3520440" cy="4023360"/>
          </a:xfrm>
          <a:prstGeom prst="roundRect">
            <a:avLst>
              <a:gd name="adj" fmla="val 3117"/>
            </a:avLst>
          </a:prstGeom>
          <a:solidFill>
            <a:schemeClr val="bg2"/>
          </a:solidFill>
          <a:ln/>
        </p:spPr>
      </p:sp>
      <p:sp>
        <p:nvSpPr>
          <p:cNvPr id="9" name="Transmission icon circle"/>
          <p:cNvSpPr/>
          <p:nvPr/>
        </p:nvSpPr>
        <p:spPr>
          <a:xfrm>
            <a:off x="4572000" y="1554480"/>
            <a:ext cx="640080" cy="640080"/>
          </a:xfrm>
          <a:prstGeom prst="ellipse">
            <a:avLst/>
          </a:prstGeom>
          <a:solidFill>
            <a:schemeClr val="accent1"/>
          </a:solidFill>
          <a:ln/>
        </p:spPr>
      </p:sp>
      <p:pic>
        <p:nvPicPr>
          <p:cNvPr id="10" name="Transmission icon" descr="Transmission icon">    </p:cNvPr>
          <p:cNvPicPr>
            <a:picLocks noChangeAspect="1"/>
          </p:cNvPicPr>
          <p:nvPr/>
        </p:nvPicPr>
        <p:blipFill>
          <a:blip r:embed="rId2"/>
          <a:stretch>
            <a:fillRect/>
          </a:stretch>
        </p:blipFill>
        <p:spPr>
          <a:xfrm>
            <a:off x="4725619" y="1708099"/>
            <a:ext cx="332842" cy="332842"/>
          </a:xfrm>
          <a:prstGeom prst="rect">
            <a:avLst/>
          </a:prstGeom>
        </p:spPr>
      </p:pic>
      <p:sp>
        <p:nvSpPr>
          <p:cNvPr id="11" name="Text 7"/>
          <p:cNvSpPr txBox="1"/>
          <p:nvPr/>
        </p:nvSpPr>
        <p:spPr>
          <a:xfrm>
            <a:off x="5303520" y="1600200"/>
            <a:ext cx="2377440" cy="548640"/>
          </a:xfrm>
          <a:prstGeom prst="rect">
            <a:avLst/>
          </a:prstGeom>
          <a:noFill/>
          <a:ln/>
        </p:spPr>
        <p:txBody>
          <a:bodyPr wrap="square" lIns="635" tIns="635" rIns="635" bIns="635"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Transmission</a:t>
            </a:r>
            <a:endParaRPr lang="en-US" sz="1800" dirty="0"/>
          </a:p>
        </p:txBody>
      </p:sp>
      <p:sp>
        <p:nvSpPr>
          <p:cNvPr id="12" name="Text 8"/>
          <p:cNvSpPr txBox="1"/>
          <p:nvPr/>
        </p:nvSpPr>
        <p:spPr>
          <a:xfrm>
            <a:off x="4526280" y="2331720"/>
            <a:ext cx="3108960" cy="2743200"/>
          </a:xfrm>
          <a:prstGeom prst="rect">
            <a:avLst/>
          </a:prstGeom>
          <a:noFill/>
          <a:ln/>
        </p:spPr>
        <p:txBody>
          <a:bodyPr wrap="square" lIns="635" tIns="635" rIns="635" bIns="635" rtlCol="0" anchor="t"/>
          <a:lstStyle/>
          <a:p>
            <a:pPr marL="203200" indent="-203200">
              <a:spcAft>
                <a:spcPts val="600"/>
              </a:spcAft>
              <a:buSzPct val="100000"/>
              <a:buChar char="•"/>
            </a:pPr>
            <a:r>
              <a:rPr lang="en-US" sz="1450" dirty="0">
                <a:solidFill>
                  <a:schemeClr val="tx1"/>
                </a:solidFill>
              </a:rPr>
              <a:t>Droplets released when people talk</a:t>
            </a:r>
            <a:r>
              <a:rPr lang="en-US" sz="1450" baseline="30000" dirty="0">
                <a:solidFill>
                  <a:schemeClr val="tx1"/>
                </a:solidFill>
              </a:rPr>
              <a:t>2</a:t>
            </a:r>
            <a:endParaRPr lang="en-US" sz="1500" dirty="0"/>
          </a:p>
          <a:p>
            <a:pPr marL="203200" indent="-203200">
              <a:spcAft>
                <a:spcPts val="600"/>
              </a:spcAft>
              <a:buSzPct val="100000"/>
              <a:buChar char="•"/>
            </a:pPr>
            <a:r>
              <a:rPr lang="en-US" sz="1450" dirty="0">
                <a:solidFill>
                  <a:schemeClr val="tx1"/>
                </a:solidFill>
              </a:rPr>
              <a:t>Lab test: the virus stayed infectious in the air for the full 3 hours tested</a:t>
            </a:r>
            <a:r>
              <a:rPr lang="en-US" sz="1450" baseline="30000" dirty="0">
                <a:solidFill>
                  <a:schemeClr val="tx1"/>
                </a:solidFill>
              </a:rPr>
              <a:t>3</a:t>
            </a:r>
            <a:endParaRPr lang="en-US" sz="1500" dirty="0"/>
          </a:p>
          <a:p>
            <a:pPr marL="203200" indent="-203200">
              <a:spcAft>
                <a:spcPts val="600"/>
              </a:spcAft>
              <a:buSzPct val="100000"/>
              <a:buChar char="•"/>
            </a:pPr>
            <a:r>
              <a:rPr lang="en-US" sz="1450" dirty="0">
                <a:solidFill>
                  <a:schemeClr val="tx1"/>
                </a:solidFill>
              </a:rPr>
              <a:t>Same lab test: small amounts of live virus on plastic and steel up to 3 days</a:t>
            </a:r>
            <a:r>
              <a:rPr lang="en-US" sz="1450" baseline="30000" dirty="0">
                <a:solidFill>
                  <a:schemeClr val="tx1"/>
                </a:solidFill>
              </a:rPr>
              <a:t>3</a:t>
            </a:r>
            <a:endParaRPr lang="en-US" sz="1500" dirty="0"/>
          </a:p>
          <a:p>
            <a:pPr marL="203200" indent="-203200">
              <a:spcAft>
                <a:spcPts val="600"/>
              </a:spcAft>
              <a:buSzPct val="100000"/>
              <a:buChar char="•"/>
            </a:pPr>
            <a:r>
              <a:rPr lang="en-US" sz="1450" dirty="0">
                <a:solidFill>
                  <a:schemeClr val="tx1"/>
                </a:solidFill>
              </a:rPr>
              <a:t>People with mild or no symptoms can pass it on</a:t>
            </a:r>
            <a:r>
              <a:rPr lang="en-US" sz="1450" baseline="30000" dirty="0">
                <a:solidFill>
                  <a:schemeClr val="tx1"/>
                </a:solidFill>
              </a:rPr>
              <a:t>4</a:t>
            </a:r>
            <a:endParaRPr lang="en-US" sz="1500" dirty="0"/>
          </a:p>
        </p:txBody>
      </p:sp>
      <p:sp>
        <p:nvSpPr>
          <p:cNvPr id="13" name="Natural history card"/>
          <p:cNvSpPr/>
          <p:nvPr/>
        </p:nvSpPr>
        <p:spPr>
          <a:xfrm>
            <a:off x="8046720" y="1325880"/>
            <a:ext cx="3520440" cy="4023360"/>
          </a:xfrm>
          <a:prstGeom prst="roundRect">
            <a:avLst>
              <a:gd name="adj" fmla="val 3117"/>
            </a:avLst>
          </a:prstGeom>
          <a:solidFill>
            <a:schemeClr val="bg2"/>
          </a:solidFill>
          <a:ln/>
        </p:spPr>
      </p:sp>
      <p:sp>
        <p:nvSpPr>
          <p:cNvPr id="14" name="Natural history icon circle"/>
          <p:cNvSpPr/>
          <p:nvPr/>
        </p:nvSpPr>
        <p:spPr>
          <a:xfrm>
            <a:off x="8321040" y="1554480"/>
            <a:ext cx="640080" cy="640080"/>
          </a:xfrm>
          <a:prstGeom prst="ellipse">
            <a:avLst/>
          </a:prstGeom>
          <a:solidFill>
            <a:schemeClr val="accent1"/>
          </a:solidFill>
          <a:ln/>
        </p:spPr>
      </p:sp>
      <p:pic>
        <p:nvPicPr>
          <p:cNvPr id="15" name="Natural history icon" descr="Natural history icon">    </p:cNvPr>
          <p:cNvPicPr>
            <a:picLocks noChangeAspect="1"/>
          </p:cNvPicPr>
          <p:nvPr/>
        </p:nvPicPr>
        <p:blipFill>
          <a:blip r:embed="rId3"/>
          <a:stretch>
            <a:fillRect/>
          </a:stretch>
        </p:blipFill>
        <p:spPr>
          <a:xfrm>
            <a:off x="8474659" y="1708099"/>
            <a:ext cx="332842" cy="332842"/>
          </a:xfrm>
          <a:prstGeom prst="rect">
            <a:avLst/>
          </a:prstGeom>
        </p:spPr>
      </p:pic>
      <p:sp>
        <p:nvSpPr>
          <p:cNvPr id="16" name="Text 11"/>
          <p:cNvSpPr txBox="1"/>
          <p:nvPr/>
        </p:nvSpPr>
        <p:spPr>
          <a:xfrm>
            <a:off x="9052560" y="1600200"/>
            <a:ext cx="2377440" cy="548640"/>
          </a:xfrm>
          <a:prstGeom prst="rect">
            <a:avLst/>
          </a:prstGeom>
          <a:noFill/>
          <a:ln/>
        </p:spPr>
        <p:txBody>
          <a:bodyPr wrap="square" lIns="635" tIns="635" rIns="635" bIns="635"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Natural history</a:t>
            </a:r>
            <a:endParaRPr lang="en-US" sz="1800" dirty="0"/>
          </a:p>
        </p:txBody>
      </p:sp>
      <p:sp>
        <p:nvSpPr>
          <p:cNvPr id="17" name="Text 12"/>
          <p:cNvSpPr txBox="1"/>
          <p:nvPr/>
        </p:nvSpPr>
        <p:spPr>
          <a:xfrm>
            <a:off x="8275320" y="2331720"/>
            <a:ext cx="3108960" cy="2743200"/>
          </a:xfrm>
          <a:prstGeom prst="rect">
            <a:avLst/>
          </a:prstGeom>
          <a:noFill/>
          <a:ln/>
        </p:spPr>
        <p:txBody>
          <a:bodyPr wrap="square" lIns="635" tIns="635" rIns="635" bIns="635" rtlCol="0" anchor="t"/>
          <a:lstStyle/>
          <a:p>
            <a:pPr marL="203200" indent="-203200">
              <a:spcAft>
                <a:spcPts val="600"/>
              </a:spcAft>
              <a:buSzPct val="100000"/>
              <a:buChar char="•"/>
            </a:pPr>
            <a:r>
              <a:rPr lang="en-US" sz="1450" dirty="0">
                <a:solidFill>
                  <a:schemeClr val="tx1"/>
                </a:solidFill>
              </a:rPr>
              <a:t>Incubation period (catching it to feeling sick): about 5 days</a:t>
            </a:r>
            <a:r>
              <a:rPr lang="en-US" sz="1450" dirty="0">
                <a:solidFill>
                  <a:schemeClr val="tx1"/>
                </a:solidFill>
              </a:rPr>
              <a:t>,</a:t>
            </a:r>
            <a:r>
              <a:rPr lang="en-US" sz="1450" baseline="30000" dirty="0">
                <a:solidFill>
                  <a:schemeClr val="tx1"/>
                </a:solidFill>
              </a:rPr>
              <a:t>5</a:t>
            </a:r>
            <a:r>
              <a:rPr lang="en-US" sz="1450" dirty="0">
                <a:solidFill>
                  <a:schemeClr val="tx1"/>
                </a:solidFill>
              </a:rPr>
              <a:t> mostly within 2 weeks</a:t>
            </a:r>
            <a:r>
              <a:rPr lang="en-US" sz="1450" baseline="30000" dirty="0">
                <a:solidFill>
                  <a:schemeClr val="tx1"/>
                </a:solidFill>
              </a:rPr>
              <a:t>2</a:t>
            </a:r>
            <a:endParaRPr lang="en-US" sz="1500" dirty="0"/>
          </a:p>
          <a:p>
            <a:pPr marL="203200" indent="-203200">
              <a:spcAft>
                <a:spcPts val="600"/>
              </a:spcAft>
              <a:buSzPct val="100000"/>
              <a:buChar char="•"/>
            </a:pPr>
            <a:r>
              <a:rPr lang="en-US" sz="1450" dirty="0">
                <a:solidFill>
                  <a:schemeClr val="tx1"/>
                </a:solidFill>
              </a:rPr>
              <a:t>Estimated infectiousness starts to rise substantially about 5–6 days before symptoms</a:t>
            </a:r>
            <a:r>
              <a:rPr lang="en-US" sz="1450" baseline="30000" dirty="0">
                <a:solidFill>
                  <a:schemeClr val="tx1"/>
                </a:solidFill>
              </a:rPr>
              <a:t>6</a:t>
            </a:r>
            <a:endParaRPr lang="en-US" sz="1500" dirty="0"/>
          </a:p>
          <a:p>
            <a:pPr marL="203200" indent="-203200">
              <a:spcAft>
                <a:spcPts val="600"/>
              </a:spcAft>
              <a:buSzPct val="100000"/>
              <a:buChar char="•"/>
            </a:pPr>
            <a:r>
              <a:rPr lang="en-US" sz="1450" dirty="0">
                <a:solidFill>
                  <a:schemeClr val="tx1"/>
                </a:solidFill>
              </a:rPr>
              <a:t>One study estimated that 44% of spread came before symptoms</a:t>
            </a:r>
            <a:r>
              <a:rPr lang="en-US" sz="1450" baseline="30000" dirty="0">
                <a:solidFill>
                  <a:schemeClr val="tx1"/>
                </a:solidFill>
              </a:rPr>
              <a:t>6</a:t>
            </a:r>
            <a:endParaRPr lang="en-US" sz="1500" dirty="0"/>
          </a:p>
        </p:txBody>
      </p:sp>
      <p:sp>
        <p:nvSpPr>
          <p:cNvPr id="18" name="Text 13"/>
          <p:cNvSpPr txBox="1"/>
          <p:nvPr/>
        </p:nvSpPr>
        <p:spPr>
          <a:xfrm>
            <a:off x="548640" y="5532120"/>
            <a:ext cx="11064240" cy="640080"/>
          </a:xfrm>
          <a:prstGeom prst="rect">
            <a:avLst/>
          </a:prstGeom>
          <a:noFill/>
          <a:ln/>
        </p:spPr>
        <p:txBody>
          <a:bodyPr wrap="square" lIns="635" tIns="635" rIns="635" bIns="635" rtlCol="0" anchor="ctr"/>
          <a:lstStyle/>
          <a:p>
            <a:pPr indent="0" marL="0">
              <a:buNone/>
            </a:pPr>
            <a:r>
              <a:rPr lang="en-US" sz="1600" b="1" dirty="0">
                <a:solidFill>
                  <a:schemeClr val="accent2"/>
                </a:solidFill>
              </a:rPr>
              <a:t>Relevance to this outbreak: </a:t>
            </a:r>
            <a:r>
              <a:rPr lang="en-US" sz="1600" dirty="0">
                <a:solidFill>
                  <a:schemeClr val="tx1"/>
                </a:solidFill>
              </a:rPr>
              <a:t>the authors conclude that spread on the ship was helped by close-quarters conditions and by infected sailors who had no symptoms.</a:t>
            </a:r>
            <a:r>
              <a:rPr lang="en-US" sz="1600" baseline="30000" dirty="0">
                <a:solidFill>
                  <a:schemeClr val="tx1"/>
                </a:solidFill>
              </a:rPr>
              <a:t>1</a:t>
            </a:r>
            <a:endParaRPr lang="en-US" sz="1600" dirty="0"/>
          </a:p>
        </p:txBody>
      </p:sp>
      <p:sp>
        <p:nvSpPr>
          <p:cNvPr id="20" name="Text 0"/>
          <p:cNvSpPr/>
          <p:nvPr>
            <p:ph idx="102" type="body" hasCustomPrompt="1"/>
          </p:nvPr>
        </p:nvSpPr>
        <p:spPr>
          <a:xfrm>
            <a:off x="548640" y="6355080"/>
            <a:ext cx="9875520" cy="320040"/>
          </a:xfrm>
          <a:prstGeom prst="rect">
            <a:avLst/>
          </a:prstGeom>
          <a:noFill/>
          <a:ln/>
        </p:spPr>
        <p:txBody>
          <a:bodyPr wrap="square" lIns="0" tIns="0" rIns="0" bIns="0" rtlCol="0" anchor="ctr"/>
          <a:lstStyle/>
          <a:p>
            <a:pPr indent="0" marL="0">
              <a:buNone/>
            </a:pPr>
            <a:r>
              <a:rPr lang="en-US" sz="1000" i="1" dirty="0">
                <a:solidFill>
                  <a:schemeClr val="accent6"/>
                </a:solidFill>
              </a:rPr>
              <a:t>Sources: 1 Kasper et al, 2020; 2 Hu et al, 2021; 3 van Doremalen et al, 2020; 4 Johansson et al, 2021; 5 Lauer et al, 2020; 6 He et al, 2020 (full list at the end).</a:t>
            </a: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Headache Common, Fever Uncommon</a:t>
            </a:r>
            <a:endParaRPr lang="en-US" sz="3400" dirty="0"/>
          </a:p>
        </p:txBody>
      </p:sp>
      <p:sp>
        <p:nvSpPr>
          <p:cNvPr id="3" name="Text 0"/>
          <p:cNvSpPr/>
          <p:nvPr>
            <p:ph idx="101" type="body" hasCustomPrompt="1"/>
          </p:nvPr>
        </p:nvSpPr>
        <p:spPr>
          <a:xfrm>
            <a:off x="548640" y="73152"/>
            <a:ext cx="11064240"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1   </a:t>
            </a:r>
            <a:r>
              <a:rPr lang="en-US" sz="1100" b="1" spc="100" kern="0" dirty="0">
                <a:solidFill>
                  <a:schemeClr val="accent6"/>
                </a:solidFill>
              </a:rPr>
              <a:t>WHAT HAPPENED, AND WHAT CAUSED IT?</a:t>
            </a:r>
            <a:endParaRPr lang="en-US" sz="1100" dirty="0"/>
          </a:p>
        </p:txBody>
      </p:sp>
      <p:graphicFrame>
        <p:nvGraphicFramePr>
          <p:cNvPr id="4" name="Chart 0" descr=""/>
          <p:cNvGraphicFramePr/>
          <p:nvPr/>
        </p:nvGraphicFramePr>
        <p:xfrm>
          <a:off x="548640" y="1280160"/>
          <a:ext cx="6675120" cy="4434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760720"/>
            <a:ext cx="6675120" cy="457200"/>
          </a:xfrm>
          <a:prstGeom prst="rect">
            <a:avLst/>
          </a:prstGeom>
          <a:noFill/>
          <a:ln/>
        </p:spPr>
        <p:txBody>
          <a:bodyPr wrap="square" lIns="635" tIns="635" rIns="635" bIns="635" rtlCol="0" anchor="t"/>
          <a:lstStyle/>
          <a:p>
            <a:pPr indent="0" marL="0">
              <a:buNone/>
            </a:pPr>
            <a:r>
              <a:rPr lang="en-US" sz="1150" i="1" dirty="0">
                <a:solidFill>
                  <a:schemeClr val="accent6"/>
                </a:solidFill>
              </a:rPr>
              <a:t>Percentages as stated in the article's text (denominator not given). Figure 3 also shows sore throat and body aches as common, with no exact figures</a:t>
            </a:r>
            <a:r>
              <a:rPr lang="en-US" sz="1150" i="1" baseline="30000" dirty="0">
                <a:solidFill>
                  <a:schemeClr val="accent6"/>
                </a:solidFill>
              </a:rPr>
              <a:t>1</a:t>
            </a:r>
            <a:endParaRPr lang="en-US" sz="1150" dirty="0"/>
          </a:p>
        </p:txBody>
      </p:sp>
      <p:sp>
        <p:nvSpPr>
          <p:cNvPr id="6" name="fever callout"/>
          <p:cNvSpPr/>
          <p:nvPr/>
        </p:nvSpPr>
        <p:spPr>
          <a:xfrm>
            <a:off x="7589520" y="1325880"/>
            <a:ext cx="4023360" cy="2148840"/>
          </a:xfrm>
          <a:prstGeom prst="roundRect">
            <a:avLst>
              <a:gd name="adj" fmla="val 5106"/>
            </a:avLst>
          </a:prstGeom>
          <a:solidFill>
            <a:schemeClr val="bg2"/>
          </a:solidFill>
          <a:ln/>
        </p:spPr>
      </p:sp>
      <p:sp>
        <p:nvSpPr>
          <p:cNvPr id="7" name="Text 4"/>
          <p:cNvSpPr txBox="1"/>
          <p:nvPr/>
        </p:nvSpPr>
        <p:spPr>
          <a:xfrm>
            <a:off x="7818120" y="1463040"/>
            <a:ext cx="3566160" cy="822960"/>
          </a:xfrm>
          <a:prstGeom prst="rect">
            <a:avLst/>
          </a:prstGeom>
          <a:noFill/>
          <a:ln/>
        </p:spPr>
        <p:txBody>
          <a:bodyPr wrap="square" lIns="635" tIns="635" rIns="635" bIns="635"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13.2%</a:t>
            </a:r>
            <a:endParaRPr lang="en-US" sz="4800" dirty="0"/>
          </a:p>
        </p:txBody>
      </p:sp>
      <p:sp>
        <p:nvSpPr>
          <p:cNvPr id="8" name="Text 5"/>
          <p:cNvSpPr txBox="1"/>
          <p:nvPr/>
        </p:nvSpPr>
        <p:spPr>
          <a:xfrm>
            <a:off x="7818120" y="2286000"/>
            <a:ext cx="3566160" cy="1097280"/>
          </a:xfrm>
          <a:prstGeom prst="rect">
            <a:avLst/>
          </a:prstGeom>
          <a:noFill/>
          <a:ln/>
        </p:spPr>
        <p:txBody>
          <a:bodyPr wrap="square" lIns="635" tIns="635" rIns="635" bIns="635" rtlCol="0" anchor="t"/>
          <a:lstStyle/>
          <a:p>
            <a:pPr indent="0" marL="0">
              <a:buNone/>
            </a:pPr>
            <a:r>
              <a:rPr lang="en-US" sz="1450" dirty="0">
                <a:solidFill>
                  <a:schemeClr val="tx1"/>
                </a:solidFill>
              </a:rPr>
              <a:t>of sick sailors ever had a fever (about 1 in 8), and only 5.3% at the start of their illness</a:t>
            </a:r>
            <a:r>
              <a:rPr lang="en-US" sz="1450" baseline="30000" dirty="0">
                <a:solidFill>
                  <a:schemeClr val="tx1"/>
                </a:solidFill>
              </a:rPr>
              <a:t>1</a:t>
            </a:r>
            <a:endParaRPr lang="en-US" sz="1450" dirty="0"/>
          </a:p>
        </p:txBody>
      </p:sp>
      <p:sp>
        <p:nvSpPr>
          <p:cNvPr id="9" name="severity callout"/>
          <p:cNvSpPr/>
          <p:nvPr/>
        </p:nvSpPr>
        <p:spPr>
          <a:xfrm>
            <a:off x="7589520" y="3657600"/>
            <a:ext cx="4023360" cy="2468880"/>
          </a:xfrm>
          <a:prstGeom prst="roundRect">
            <a:avLst>
              <a:gd name="adj" fmla="val 4444"/>
            </a:avLst>
          </a:prstGeom>
          <a:solidFill>
            <a:schemeClr val="bg2"/>
          </a:solidFill>
          <a:ln/>
        </p:spPr>
      </p:sp>
      <p:sp>
        <p:nvSpPr>
          <p:cNvPr id="10" name="Text 7"/>
          <p:cNvSpPr txBox="1"/>
          <p:nvPr/>
        </p:nvSpPr>
        <p:spPr>
          <a:xfrm>
            <a:off x="7772400" y="3767328"/>
            <a:ext cx="3703320" cy="2286000"/>
          </a:xfrm>
          <a:prstGeom prst="rect">
            <a:avLst/>
          </a:prstGeom>
          <a:noFill/>
          <a:ln/>
        </p:spPr>
        <p:txBody>
          <a:bodyPr wrap="square" lIns="635" tIns="635" rIns="635" bIns="635" rtlCol="0" anchor="t"/>
          <a:lstStyle/>
          <a:p>
            <a:pPr marL="203200" indent="-203200">
              <a:spcAft>
                <a:spcPts val="600"/>
              </a:spcAft>
              <a:buSzPct val="100000"/>
              <a:buChar char="•"/>
            </a:pPr>
            <a:r>
              <a:rPr lang="en-US" sz="1350" dirty="0">
                <a:solidFill>
                  <a:schemeClr val="tx1"/>
                </a:solidFill>
              </a:rPr>
              <a:t>Of all sailors with Covid-19, only 2.8% had a recorded temperature of 100.0°F or higher, vs 0.3% of sailors without it</a:t>
            </a:r>
            <a:r>
              <a:rPr lang="en-US" sz="1350" baseline="30000" dirty="0">
                <a:solidFill>
                  <a:schemeClr val="tx1"/>
                </a:solidFill>
              </a:rPr>
              <a:t>1</a:t>
            </a:r>
            <a:endParaRPr lang="en-US" sz="1500" dirty="0"/>
          </a:p>
          <a:p>
            <a:pPr marL="203200" indent="-203200">
              <a:spcAft>
                <a:spcPts val="600"/>
              </a:spcAft>
              <a:buSzPct val="100000"/>
              <a:buChar char="•"/>
            </a:pPr>
            <a:r>
              <a:rPr lang="en-US" sz="1350" dirty="0">
                <a:solidFill>
                  <a:schemeClr val="tx1"/>
                </a:solidFill>
              </a:rPr>
              <a:t>Of sailors with Covid-19 who had pulse-oximetry data, about 0.5% read below 95% and none below 90% on room air</a:t>
            </a:r>
            <a:r>
              <a:rPr lang="en-US" sz="1350" baseline="30000" dirty="0">
                <a:solidFill>
                  <a:schemeClr val="tx1"/>
                </a:solidFill>
              </a:rPr>
              <a:t>1</a:t>
            </a:r>
            <a:endParaRPr lang="en-US" sz="1500" dirty="0"/>
          </a:p>
          <a:p>
            <a:pPr marL="203200" indent="-203200">
              <a:spcAft>
                <a:spcPts val="600"/>
              </a:spcAft>
              <a:buSzPct val="100000"/>
              <a:buChar char="•"/>
            </a:pPr>
            <a:r>
              <a:rPr lang="en-US" sz="1350" dirty="0">
                <a:solidFill>
                  <a:schemeClr val="tx1"/>
                </a:solidFill>
              </a:rPr>
              <a:t>In Marine recruits, daily temperature and symptom checks found none of the infections; scheduled PCR tests found them</a:t>
            </a:r>
            <a:r>
              <a:rPr lang="en-US" sz="1350" baseline="30000" dirty="0">
                <a:solidFill>
                  <a:schemeClr val="tx1"/>
                </a:solidFill>
              </a:rPr>
              <a:t>7</a:t>
            </a:r>
            <a:endParaRPr lang="en-US" sz="1500" dirty="0"/>
          </a:p>
        </p:txBody>
      </p:sp>
      <p:sp>
        <p:nvSpPr>
          <p:cNvPr id="12" name="Text 0"/>
          <p:cNvSpPr/>
          <p:nvPr>
            <p:ph idx="102" type="body" hasCustomPrompt="1"/>
          </p:nvPr>
        </p:nvSpPr>
        <p:spPr>
          <a:xfrm>
            <a:off x="548640" y="6355080"/>
            <a:ext cx="9875520" cy="320040"/>
          </a:xfrm>
          <a:prstGeom prst="rect">
            <a:avLst/>
          </a:prstGeom>
          <a:noFill/>
          <a:ln/>
        </p:spPr>
        <p:txBody>
          <a:bodyPr wrap="square" lIns="0" tIns="0" rIns="0" bIns="0" rtlCol="0" anchor="ctr"/>
          <a:lstStyle/>
          <a:p>
            <a:pPr indent="0" marL="0">
              <a:buNone/>
            </a:pPr>
            <a:r>
              <a:rPr lang="en-US" sz="1000" i="1" dirty="0">
                <a:solidFill>
                  <a:schemeClr val="accent6"/>
                </a:solidFill>
              </a:rPr>
              <a:t>Sources: 1 Kasper et al, 2020; 7 Letizia et al, 2020 (full list at the end).</a:t>
            </a: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Who Counts as a Case?</a:t>
            </a:r>
            <a:endParaRPr lang="en-US" sz="3400" dirty="0"/>
          </a:p>
        </p:txBody>
      </p:sp>
      <p:sp>
        <p:nvSpPr>
          <p:cNvPr id="3" name="Text 0"/>
          <p:cNvSpPr/>
          <p:nvPr>
            <p:ph idx="101" type="body" hasCustomPrompt="1"/>
          </p:nvPr>
        </p:nvSpPr>
        <p:spPr>
          <a:xfrm>
            <a:off x="548640" y="73152"/>
            <a:ext cx="11064240"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2   </a:t>
            </a:r>
            <a:r>
              <a:rPr lang="en-US" sz="1100" b="1" spc="100" kern="0" dirty="0">
                <a:solidFill>
                  <a:schemeClr val="accent6"/>
                </a:solidFill>
              </a:rPr>
              <a:t>HOW DID INVESTIGATORS FIND THE CASES?</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914400"/>
        </p:xfrm>
        <a:graphic>
          <a:graphicData uri="http://schemas.openxmlformats.org/drawingml/2006/table">
            <a:tbl>
              <a:tblPr/>
              <a:tblGrid>
                <a:gridCol w="1920240"/>
                <a:gridCol w="4206240"/>
                <a:gridCol w="822960"/>
              </a:tblGrid>
              <a:tr h="566928">
                <a:tc>
                  <a:txBody>
                    <a:bodyPr/>
                    <a:lstStyle/>
                    <a:p>
                      <a:pPr indent="0" marL="0">
                        <a:buNone/>
                      </a:pPr>
                      <a:r>
                        <a:rPr lang="en-US" sz="1500" b="1" dirty="0">
                          <a:solidFill>
                            <a:srgbClr val="FFFFFF"/>
                          </a:solidFill>
                        </a:rPr>
                        <a:t>Category</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rPr>
                        <a:t>Definition</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rPr>
                        <a:t>Count</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0B2545"/>
                    </a:solidFill>
                  </a:tcPr>
                </a:tc>
              </a:tr>
              <a:tr h="566928">
                <a:tc>
                  <a:txBody>
                    <a:bodyPr/>
                    <a:lstStyle/>
                    <a:p>
                      <a:pPr indent="0" marL="0">
                        <a:buNone/>
                      </a:pPr>
                      <a:r>
                        <a:rPr lang="en-US" sz="1450" b="1" dirty="0">
                          <a:solidFill>
                            <a:srgbClr val="1B1B1E"/>
                          </a:solidFill>
                        </a:rPr>
                        <a:t>Confirmed</a:t>
                      </a:r>
                      <a:endParaRPr lang="en-US" sz="145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450" dirty="0">
                          <a:solidFill>
                            <a:srgbClr val="1B1B1E"/>
                          </a:solidFill>
                        </a:rPr>
                        <a:t>Nasopharyngeal swab positive for SARS-CoV-2 by rRT-PCR</a:t>
                      </a:r>
                      <a:endParaRPr lang="en-US" sz="145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450" dirty="0">
                          <a:solidFill>
                            <a:srgbClr val="1B1B1E"/>
                          </a:solidFill>
                        </a:rPr>
                        <a:t>1,271</a:t>
                      </a:r>
                      <a:endParaRPr lang="en-US" sz="145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r>
              <a:tr h="566928">
                <a:tc>
                  <a:txBody>
                    <a:bodyPr/>
                    <a:lstStyle/>
                    <a:p>
                      <a:pPr indent="0" marL="0">
                        <a:buNone/>
                      </a:pPr>
                      <a:r>
                        <a:rPr lang="en-US" sz="1450" dirty="0">
                          <a:solidFill>
                            <a:srgbClr val="5C6B7A"/>
                          </a:solidFill>
                        </a:rPr>
                        <a:t>   Symptomatic</a:t>
                      </a:r>
                      <a:endParaRPr lang="en-US" sz="145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450" dirty="0">
                          <a:solidFill>
                            <a:srgbClr val="1B1B1E"/>
                          </a:solidFill>
                        </a:rPr>
                        <a:t>Symptom onset before first positive test</a:t>
                      </a:r>
                      <a:endParaRPr lang="en-US" sz="145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450" dirty="0">
                          <a:solidFill>
                            <a:srgbClr val="1B1B1E"/>
                          </a:solidFill>
                        </a:rPr>
                        <a:t>293</a:t>
                      </a:r>
                      <a:endParaRPr lang="en-US" sz="145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r>
              <a:tr h="566928">
                <a:tc>
                  <a:txBody>
                    <a:bodyPr/>
                    <a:lstStyle/>
                    <a:p>
                      <a:pPr indent="0" marL="0">
                        <a:buNone/>
                      </a:pPr>
                      <a:r>
                        <a:rPr lang="en-US" sz="1450" dirty="0">
                          <a:solidFill>
                            <a:srgbClr val="5C6B7A"/>
                          </a:solidFill>
                        </a:rPr>
                        <a:t>   Presymptomatic</a:t>
                      </a:r>
                      <a:endParaRPr lang="en-US" sz="145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450" dirty="0">
                          <a:solidFill>
                            <a:srgbClr val="1B1B1E"/>
                          </a:solidFill>
                        </a:rPr>
                        <a:t>Positive test first; symptoms developed afterward</a:t>
                      </a:r>
                      <a:endParaRPr lang="en-US" sz="145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450" dirty="0">
                          <a:solidFill>
                            <a:srgbClr val="1B1B1E"/>
                          </a:solidFill>
                        </a:rPr>
                        <a:t>406</a:t>
                      </a:r>
                      <a:endParaRPr lang="en-US" sz="145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r>
              <a:tr h="566928">
                <a:tc>
                  <a:txBody>
                    <a:bodyPr/>
                    <a:lstStyle/>
                    <a:p>
                      <a:pPr indent="0" marL="0">
                        <a:buNone/>
                      </a:pPr>
                      <a:r>
                        <a:rPr lang="en-US" sz="1450" dirty="0">
                          <a:solidFill>
                            <a:srgbClr val="5C6B7A"/>
                          </a:solidFill>
                        </a:rPr>
                        <a:t>   Asymptomatic</a:t>
                      </a:r>
                      <a:endParaRPr lang="en-US" sz="145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450" dirty="0">
                          <a:solidFill>
                            <a:srgbClr val="1B1B1E"/>
                          </a:solidFill>
                        </a:rPr>
                        <a:t>Positive test; clinical criteria never met</a:t>
                      </a:r>
                      <a:endParaRPr lang="en-US" sz="145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450" dirty="0">
                          <a:solidFill>
                            <a:srgbClr val="1B1B1E"/>
                          </a:solidFill>
                        </a:rPr>
                        <a:t>572</a:t>
                      </a:r>
                      <a:endParaRPr lang="en-US" sz="145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r>
              <a:tr h="566928">
                <a:tc>
                  <a:txBody>
                    <a:bodyPr/>
                    <a:lstStyle/>
                    <a:p>
                      <a:pPr indent="0" marL="0">
                        <a:buNone/>
                      </a:pPr>
                      <a:r>
                        <a:rPr lang="en-US" sz="1450" b="1" dirty="0">
                          <a:solidFill>
                            <a:srgbClr val="1B1B1E"/>
                          </a:solidFill>
                        </a:rPr>
                        <a:t>Suspected</a:t>
                      </a:r>
                      <a:endParaRPr lang="en-US" sz="145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450" dirty="0">
                          <a:solidFill>
                            <a:srgbClr val="1B1B1E"/>
                          </a:solidFill>
                        </a:rPr>
                        <a:t>Met CSTE clinical criteria for Covid-19 without a positive test</a:t>
                      </a:r>
                      <a:endParaRPr lang="en-US" sz="145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450" dirty="0">
                          <a:solidFill>
                            <a:srgbClr val="1B1B1E"/>
                          </a:solidFill>
                        </a:rPr>
                        <a:t>60</a:t>
                      </a:r>
                      <a:endParaRPr lang="en-US" sz="145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r>
              <a:tr h="566928">
                <a:tc>
                  <a:txBody>
                    <a:bodyPr/>
                    <a:lstStyle/>
                    <a:p>
                      <a:pPr indent="0" marL="0">
                        <a:buNone/>
                      </a:pPr>
                      <a:r>
                        <a:rPr lang="en-US" sz="1450" b="1" dirty="0">
                          <a:solidFill>
                            <a:srgbClr val="1B1B1E"/>
                          </a:solidFill>
                        </a:rPr>
                        <a:t>Probable</a:t>
                      </a:r>
                      <a:endParaRPr lang="en-US" sz="145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450" dirty="0">
                          <a:solidFill>
                            <a:srgbClr val="1B1B1E"/>
                          </a:solidFill>
                        </a:rPr>
                        <a:t>Not described in the article</a:t>
                      </a:r>
                      <a:endParaRPr lang="en-US" sz="145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450" dirty="0">
                          <a:solidFill>
                            <a:srgbClr val="1B1B1E"/>
                          </a:solidFill>
                        </a:rPr>
                        <a:t>—</a:t>
                      </a:r>
                      <a:endParaRPr lang="en-US" sz="145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394960"/>
            <a:ext cx="6949440" cy="365760"/>
          </a:xfrm>
          <a:prstGeom prst="rect">
            <a:avLst/>
          </a:prstGeom>
          <a:noFill/>
          <a:ln/>
        </p:spPr>
        <p:txBody>
          <a:bodyPr wrap="square" lIns="635" tIns="635" rIns="635" bIns="635" rtlCol="0" anchor="t"/>
          <a:lstStyle/>
          <a:p>
            <a:pPr indent="0" marL="0">
              <a:buNone/>
            </a:pPr>
            <a:r>
              <a:rPr lang="en-US" sz="1200" i="1" dirty="0">
                <a:solidFill>
                  <a:schemeClr val="accent6"/>
                </a:solidFill>
              </a:rPr>
              <a:t>Table: case definitions and case counts as reported by Kasper et al</a:t>
            </a:r>
            <a:r>
              <a:rPr lang="en-US" sz="1200" i="1" baseline="30000" dirty="0">
                <a:solidFill>
                  <a:schemeClr val="accent6"/>
                </a:solidFill>
              </a:rPr>
              <a:t>1</a:t>
            </a:r>
            <a:endParaRPr lang="en-US" sz="1200" dirty="0"/>
          </a:p>
        </p:txBody>
      </p:sp>
      <p:sp>
        <p:nvSpPr>
          <p:cNvPr id="6" name="criteria card"/>
          <p:cNvSpPr/>
          <p:nvPr/>
        </p:nvSpPr>
        <p:spPr>
          <a:xfrm>
            <a:off x="7863840" y="1325880"/>
            <a:ext cx="3749040" cy="4526280"/>
          </a:xfrm>
          <a:prstGeom prst="roundRect">
            <a:avLst>
              <a:gd name="adj" fmla="val 2927"/>
            </a:avLst>
          </a:prstGeom>
          <a:solidFill>
            <a:schemeClr val="bg2"/>
          </a:solidFill>
          <a:ln/>
        </p:spPr>
      </p:sp>
      <p:sp>
        <p:nvSpPr>
          <p:cNvPr id="7" name="Text 4"/>
          <p:cNvSpPr txBox="1"/>
          <p:nvPr/>
        </p:nvSpPr>
        <p:spPr>
          <a:xfrm>
            <a:off x="8092440" y="1463040"/>
            <a:ext cx="3383280" cy="457200"/>
          </a:xfrm>
          <a:prstGeom prst="rect">
            <a:avLst/>
          </a:prstGeom>
          <a:noFill/>
          <a:ln/>
        </p:spPr>
        <p:txBody>
          <a:bodyPr wrap="square" lIns="635" tIns="635" rIns="635" bIns="635" rtlCol="0" anchor="t"/>
          <a:lstStyle/>
          <a:p>
            <a:pPr indent="0" marL="0">
              <a:buNone/>
            </a:pPr>
            <a:r>
              <a:rPr lang="en-US" sz="1800" b="1" dirty="0">
                <a:solidFill>
                  <a:schemeClr val="tx2"/>
                </a:solidFill>
                <a:latin typeface="Cambria" pitchFamily="34" charset="0"/>
                <a:ea typeface="Cambria" pitchFamily="34" charset="-122"/>
                <a:cs typeface="Cambria" pitchFamily="34" charset="-120"/>
              </a:rPr>
              <a:t>Person, place and time</a:t>
            </a:r>
            <a:endParaRPr lang="en-US" sz="1800" dirty="0"/>
          </a:p>
        </p:txBody>
      </p:sp>
      <p:sp>
        <p:nvSpPr>
          <p:cNvPr id="8" name="Text 5"/>
          <p:cNvSpPr txBox="1"/>
          <p:nvPr/>
        </p:nvSpPr>
        <p:spPr>
          <a:xfrm>
            <a:off x="8092440" y="1901952"/>
            <a:ext cx="3383280" cy="731520"/>
          </a:xfrm>
          <a:prstGeom prst="rect">
            <a:avLst/>
          </a:prstGeom>
          <a:noFill/>
          <a:ln/>
        </p:spPr>
        <p:txBody>
          <a:bodyPr wrap="square" lIns="635" tIns="635" rIns="635" bIns="635" rtlCol="0" anchor="t"/>
          <a:lstStyle/>
          <a:p>
            <a:pPr indent="0" marL="0">
              <a:buNone/>
            </a:pPr>
            <a:r>
              <a:rPr lang="en-US" sz="1250" i="1" dirty="0">
                <a:solidFill>
                  <a:schemeClr val="accent6"/>
                </a:solidFill>
              </a:rPr>
              <a:t>An outbreak case definition covers person, place and time, plus clinical and, where needed, lab criteria</a:t>
            </a:r>
            <a:r>
              <a:rPr lang="en-US" sz="1250" i="1" baseline="30000" dirty="0">
                <a:solidFill>
                  <a:schemeClr val="accent6"/>
                </a:solidFill>
              </a:rPr>
              <a:t>8</a:t>
            </a:r>
            <a:endParaRPr lang="en-US" sz="1250" dirty="0"/>
          </a:p>
        </p:txBody>
      </p:sp>
      <p:sp>
        <p:nvSpPr>
          <p:cNvPr id="9" name="Text 6"/>
          <p:cNvSpPr txBox="1"/>
          <p:nvPr/>
        </p:nvSpPr>
        <p:spPr>
          <a:xfrm>
            <a:off x="8092440" y="2651760"/>
            <a:ext cx="3383280" cy="3154680"/>
          </a:xfrm>
          <a:prstGeom prst="rect">
            <a:avLst/>
          </a:prstGeom>
          <a:noFill/>
          <a:ln/>
        </p:spPr>
        <p:txBody>
          <a:bodyPr wrap="square" lIns="635" tIns="635" rIns="635" bIns="635" rtlCol="0" anchor="t"/>
          <a:lstStyle/>
          <a:p>
            <a:pPr marL="203200" indent="-203200">
              <a:spcAft>
                <a:spcPts val="600"/>
              </a:spcAft>
              <a:buSzPct val="100000"/>
              <a:buChar char="•"/>
            </a:pPr>
            <a:r>
              <a:rPr lang="en-US" sz="1350" b="1" dirty="0">
                <a:solidFill>
                  <a:schemeClr val="tx1"/>
                </a:solidFill>
              </a:rPr>
              <a:t>Person: </a:t>
            </a:r>
            <a:r>
              <a:rPr lang="en-US" sz="1350" dirty="0">
                <a:solidFill>
                  <a:schemeClr val="tx1"/>
                </a:solidFill>
              </a:rPr>
              <a:t>military crew with a matched personnel ID; civilians excluded from analysis</a:t>
            </a:r>
            <a:r>
              <a:rPr lang="en-US" sz="1350" baseline="30000" dirty="0">
                <a:solidFill>
                  <a:schemeClr val="tx1"/>
                </a:solidFill>
              </a:rPr>
              <a:t>1</a:t>
            </a:r>
            <a:endParaRPr lang="en-US" sz="1500" dirty="0"/>
          </a:p>
          <a:p>
            <a:pPr marL="203200" indent="-203200">
              <a:spcAft>
                <a:spcPts val="600"/>
              </a:spcAft>
              <a:buSzPct val="100000"/>
              <a:buChar char="•"/>
            </a:pPr>
            <a:r>
              <a:rPr lang="en-US" sz="1350" b="1" dirty="0">
                <a:solidFill>
                  <a:schemeClr val="tx1"/>
                </a:solidFill>
              </a:rPr>
              <a:t>Place: </a:t>
            </a:r>
            <a:r>
              <a:rPr lang="en-US" sz="1350" dirty="0">
                <a:solidFill>
                  <a:schemeClr val="tx1"/>
                </a:solidFill>
              </a:rPr>
              <a:t>not stated; the analysis covered the ship's crew roster</a:t>
            </a:r>
            <a:r>
              <a:rPr lang="en-US" sz="1350" baseline="30000" dirty="0">
                <a:solidFill>
                  <a:schemeClr val="tx1"/>
                </a:solidFill>
              </a:rPr>
              <a:t>1</a:t>
            </a:r>
            <a:endParaRPr lang="en-US" sz="1500" dirty="0"/>
          </a:p>
          <a:p>
            <a:pPr marL="203200" indent="-203200">
              <a:spcAft>
                <a:spcPts val="600"/>
              </a:spcAft>
              <a:buSzPct val="100000"/>
              <a:buChar char="•"/>
            </a:pPr>
            <a:r>
              <a:rPr lang="en-US" sz="1350" b="1" dirty="0">
                <a:solidFill>
                  <a:schemeClr val="tx1"/>
                </a:solidFill>
              </a:rPr>
              <a:t>Time: </a:t>
            </a:r>
            <a:r>
              <a:rPr lang="en-US" sz="1350" dirty="0">
                <a:solidFill>
                  <a:schemeClr val="tx1"/>
                </a:solidFill>
              </a:rPr>
              <a:t>no window stated (positive tests span March 23 – May 18, 2020)</a:t>
            </a:r>
            <a:r>
              <a:rPr lang="en-US" sz="1350" baseline="30000" dirty="0">
                <a:solidFill>
                  <a:schemeClr val="tx1"/>
                </a:solidFill>
              </a:rPr>
              <a:t>1</a:t>
            </a:r>
            <a:endParaRPr lang="en-US" sz="1500" dirty="0"/>
          </a:p>
          <a:p>
            <a:pPr marL="203200" indent="-203200">
              <a:spcAft>
                <a:spcPts val="600"/>
              </a:spcAft>
              <a:buSzPct val="100000"/>
              <a:buChar char="•"/>
            </a:pPr>
            <a:r>
              <a:rPr lang="en-US" sz="1350" b="1" dirty="0">
                <a:solidFill>
                  <a:schemeClr val="tx1"/>
                </a:solidFill>
              </a:rPr>
              <a:t>Clinical: </a:t>
            </a:r>
            <a:r>
              <a:rPr lang="en-US" sz="1350" dirty="0">
                <a:solidFill>
                  <a:schemeClr val="tx1"/>
                </a:solidFill>
              </a:rPr>
              <a:t>CSTE criteria; fever = subjective or ≥100.0°F</a:t>
            </a:r>
            <a:r>
              <a:rPr lang="en-US" sz="1350" baseline="30000" dirty="0">
                <a:solidFill>
                  <a:schemeClr val="tx1"/>
                </a:solidFill>
              </a:rPr>
              <a:t>1</a:t>
            </a:r>
            <a:endParaRPr lang="en-US" sz="1500" dirty="0"/>
          </a:p>
          <a:p>
            <a:pPr marL="203200" indent="-203200">
              <a:spcAft>
                <a:spcPts val="600"/>
              </a:spcAft>
              <a:buSzPct val="100000"/>
              <a:buChar char="•"/>
            </a:pPr>
            <a:r>
              <a:rPr lang="en-US" sz="1350" b="1" dirty="0">
                <a:solidFill>
                  <a:schemeClr val="tx1"/>
                </a:solidFill>
              </a:rPr>
              <a:t>Laboratory: </a:t>
            </a:r>
            <a:r>
              <a:rPr lang="en-US" sz="1350" dirty="0">
                <a:solidFill>
                  <a:schemeClr val="tx1"/>
                </a:solidFill>
              </a:rPr>
              <a:t>rRT-PCR on a nasopharyngeal swab (N1 and N2 targets)</a:t>
            </a:r>
            <a:r>
              <a:rPr lang="en-US" sz="1350" baseline="30000" dirty="0">
                <a:solidFill>
                  <a:schemeClr val="tx1"/>
                </a:solidFill>
              </a:rPr>
              <a:t>1</a:t>
            </a:r>
            <a:endParaRPr lang="en-US" sz="1500" dirty="0"/>
          </a:p>
        </p:txBody>
      </p:sp>
      <p:sp>
        <p:nvSpPr>
          <p:cNvPr id="11" name="Text 0"/>
          <p:cNvSpPr/>
          <p:nvPr>
            <p:ph idx="102" type="body" hasCustomPrompt="1"/>
          </p:nvPr>
        </p:nvSpPr>
        <p:spPr>
          <a:xfrm>
            <a:off x="548640" y="6355080"/>
            <a:ext cx="9875520" cy="320040"/>
          </a:xfrm>
          <a:prstGeom prst="rect">
            <a:avLst/>
          </a:prstGeom>
          <a:noFill/>
          <a:ln/>
        </p:spPr>
        <p:txBody>
          <a:bodyPr wrap="square" lIns="0" tIns="0" rIns="0" bIns="0" rtlCol="0" anchor="ctr"/>
          <a:lstStyle/>
          <a:p>
            <a:pPr indent="0" marL="0">
              <a:buNone/>
            </a:pPr>
            <a:r>
              <a:rPr lang="en-US" sz="1000" i="1" dirty="0">
                <a:solidFill>
                  <a:schemeClr val="accent6"/>
                </a:solidFill>
              </a:rPr>
              <a:t>Sources: 1 Kasper et al, 2020; 8 Reintjes and Zanuzdana, 2010 (full list at the end).   Person, place and time = my reading of the article's methods; the article's definition gives only clinical and lab criteria.</a:t>
            </a: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Was the Case Definition Appropriate?</a:t>
            </a:r>
            <a:endParaRPr lang="en-US" sz="3400" dirty="0"/>
          </a:p>
        </p:txBody>
      </p:sp>
      <p:sp>
        <p:nvSpPr>
          <p:cNvPr id="3" name="Text 0"/>
          <p:cNvSpPr/>
          <p:nvPr>
            <p:ph idx="101" type="body" hasCustomPrompt="1"/>
          </p:nvPr>
        </p:nvSpPr>
        <p:spPr>
          <a:xfrm>
            <a:off x="548640" y="73152"/>
            <a:ext cx="11064240"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2   </a:t>
            </a:r>
            <a:r>
              <a:rPr lang="en-US" sz="1100" b="1" spc="100" kern="0" dirty="0">
                <a:solidFill>
                  <a:schemeClr val="accent6"/>
                </a:solidFill>
              </a:rPr>
              <a:t>HOW DID INVESTIGATORS FIND THE CASES?</a:t>
            </a:r>
            <a:endParaRPr lang="en-US" sz="1100" dirty="0"/>
          </a:p>
        </p:txBody>
      </p:sp>
      <p:sp>
        <p:nvSpPr>
          <p:cNvPr id="4" name="Sensitivity: high card"/>
          <p:cNvSpPr/>
          <p:nvPr/>
        </p:nvSpPr>
        <p:spPr>
          <a:xfrm>
            <a:off x="548640" y="1325880"/>
            <a:ext cx="3520440" cy="3611880"/>
          </a:xfrm>
          <a:prstGeom prst="roundRect">
            <a:avLst>
              <a:gd name="adj" fmla="val 3117"/>
            </a:avLst>
          </a:prstGeom>
          <a:solidFill>
            <a:schemeClr val="bg2"/>
          </a:solidFill>
          <a:ln/>
        </p:spPr>
      </p:sp>
      <p:sp>
        <p:nvSpPr>
          <p:cNvPr id="5" name="Sensitivity: high icon circle"/>
          <p:cNvSpPr/>
          <p:nvPr/>
        </p:nvSpPr>
        <p:spPr>
          <a:xfrm>
            <a:off x="822960" y="1554480"/>
            <a:ext cx="594360" cy="594360"/>
          </a:xfrm>
          <a:prstGeom prst="ellipse">
            <a:avLst/>
          </a:prstGeom>
          <a:solidFill>
            <a:schemeClr val="accent1"/>
          </a:solidFill>
          <a:ln/>
        </p:spPr>
      </p:sp>
      <p:pic>
        <p:nvPicPr>
          <p:cNvPr id="6" name="Sensitivity: high icon" descr="Sensitivity: high icon">    </p:cNvPr>
          <p:cNvPicPr>
            <a:picLocks noChangeAspect="1"/>
          </p:cNvPicPr>
          <p:nvPr/>
        </p:nvPicPr>
        <p:blipFill>
          <a:blip r:embed="rId1"/>
          <a:stretch>
            <a:fillRect/>
          </a:stretch>
        </p:blipFill>
        <p:spPr>
          <a:xfrm>
            <a:off x="965606" y="1697126"/>
            <a:ext cx="309067" cy="309067"/>
          </a:xfrm>
          <a:prstGeom prst="rect">
            <a:avLst/>
          </a:prstGeom>
        </p:spPr>
      </p:pic>
      <p:sp>
        <p:nvSpPr>
          <p:cNvPr id="7" name="Text 4"/>
          <p:cNvSpPr txBox="1"/>
          <p:nvPr/>
        </p:nvSpPr>
        <p:spPr>
          <a:xfrm>
            <a:off x="1508760" y="1554480"/>
            <a:ext cx="2468880" cy="594360"/>
          </a:xfrm>
          <a:prstGeom prst="rect">
            <a:avLst/>
          </a:prstGeom>
          <a:noFill/>
          <a:ln/>
        </p:spPr>
        <p:txBody>
          <a:bodyPr wrap="square" lIns="635" tIns="635" rIns="635" bIns="635"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Sensitivity: high</a:t>
            </a:r>
            <a:endParaRPr lang="en-US" sz="1700" dirty="0"/>
          </a:p>
        </p:txBody>
      </p:sp>
      <p:sp>
        <p:nvSpPr>
          <p:cNvPr id="8" name="Text 5"/>
          <p:cNvSpPr txBox="1"/>
          <p:nvPr/>
        </p:nvSpPr>
        <p:spPr>
          <a:xfrm>
            <a:off x="777240" y="2240280"/>
            <a:ext cx="3154680" cy="2651760"/>
          </a:xfrm>
          <a:prstGeom prst="rect">
            <a:avLst/>
          </a:prstGeom>
          <a:noFill/>
          <a:ln/>
        </p:spPr>
        <p:txBody>
          <a:bodyPr wrap="square" lIns="635" tIns="635" rIns="635" bIns="635" rtlCol="0" anchor="t"/>
          <a:lstStyle/>
          <a:p>
            <a:pPr marL="203200" indent="-203200">
              <a:spcAft>
                <a:spcPts val="600"/>
              </a:spcAft>
              <a:buSzPct val="100000"/>
              <a:buChar char="•"/>
            </a:pPr>
            <a:r>
              <a:rPr lang="en-US" sz="1250" b="1" dirty="0">
                <a:solidFill>
                  <a:schemeClr val="tx1"/>
                </a:solidFill>
              </a:rPr>
              <a:t>Sensitivity</a:t>
            </a:r>
            <a:r>
              <a:rPr lang="en-US" sz="1250" dirty="0">
                <a:solidFill>
                  <a:schemeClr val="tx1"/>
                </a:solidFill>
              </a:rPr>
              <a:t> = share of true cases correctly identified</a:t>
            </a:r>
            <a:r>
              <a:rPr lang="en-US" sz="1250" baseline="30000" dirty="0">
                <a:solidFill>
                  <a:schemeClr val="tx1"/>
                </a:solidFill>
              </a:rPr>
              <a:t>9</a:t>
            </a:r>
            <a:endParaRPr lang="en-US" sz="1500" dirty="0"/>
          </a:p>
          <a:p>
            <a:pPr marL="203200" indent="-203200">
              <a:spcAft>
                <a:spcPts val="600"/>
              </a:spcAft>
              <a:buSzPct val="100000"/>
              <a:buChar char="•"/>
            </a:pPr>
            <a:r>
              <a:rPr lang="en-US" sz="1250" dirty="0">
                <a:solidFill>
                  <a:schemeClr val="tx1"/>
                </a:solidFill>
              </a:rPr>
              <a:t>Every crew member was tested, whether or not they had symptoms, which found 572 infections that never caused symptoms</a:t>
            </a:r>
            <a:r>
              <a:rPr lang="en-US" sz="1250" baseline="30000" dirty="0">
                <a:solidFill>
                  <a:schemeClr val="tx1"/>
                </a:solidFill>
              </a:rPr>
              <a:t>1</a:t>
            </a:r>
            <a:endParaRPr lang="en-US" sz="1500" dirty="0"/>
          </a:p>
          <a:p>
            <a:pPr marL="203200" indent="-203200">
              <a:spcAft>
                <a:spcPts val="600"/>
              </a:spcAft>
              <a:buSzPct val="100000"/>
              <a:buChar char="•"/>
            </a:pPr>
            <a:r>
              <a:rPr lang="en-US" sz="1250" dirty="0">
                <a:solidFill>
                  <a:schemeClr val="tx1"/>
                </a:solidFill>
              </a:rPr>
              <a:t>Some cases could be missed: a model estimates one swab misses most infections before symptoms, and 1 in 5 even 3 days after onset</a:t>
            </a:r>
            <a:r>
              <a:rPr lang="en-US" sz="1250" baseline="30000" dirty="0">
                <a:solidFill>
                  <a:schemeClr val="tx1"/>
                </a:solidFill>
              </a:rPr>
              <a:t>10</a:t>
            </a:r>
            <a:endParaRPr lang="en-US" sz="1500" dirty="0"/>
          </a:p>
        </p:txBody>
      </p:sp>
      <p:sp>
        <p:nvSpPr>
          <p:cNvPr id="9" name="Specificity: mixed card"/>
          <p:cNvSpPr/>
          <p:nvPr/>
        </p:nvSpPr>
        <p:spPr>
          <a:xfrm>
            <a:off x="4297680" y="1325880"/>
            <a:ext cx="3520440" cy="3611880"/>
          </a:xfrm>
          <a:prstGeom prst="roundRect">
            <a:avLst>
              <a:gd name="adj" fmla="val 3117"/>
            </a:avLst>
          </a:prstGeom>
          <a:solidFill>
            <a:schemeClr val="bg2"/>
          </a:solidFill>
          <a:ln/>
        </p:spPr>
      </p:sp>
      <p:sp>
        <p:nvSpPr>
          <p:cNvPr id="10" name="Specificity: mixed icon circle"/>
          <p:cNvSpPr/>
          <p:nvPr/>
        </p:nvSpPr>
        <p:spPr>
          <a:xfrm>
            <a:off x="4572000" y="1554480"/>
            <a:ext cx="594360" cy="594360"/>
          </a:xfrm>
          <a:prstGeom prst="ellipse">
            <a:avLst/>
          </a:prstGeom>
          <a:solidFill>
            <a:schemeClr val="accent4"/>
          </a:solidFill>
          <a:ln/>
        </p:spPr>
      </p:sp>
      <p:pic>
        <p:nvPicPr>
          <p:cNvPr id="11" name="Specificity: mixed icon" descr="Specificity: mixed icon">    </p:cNvPr>
          <p:cNvPicPr>
            <a:picLocks noChangeAspect="1"/>
          </p:cNvPicPr>
          <p:nvPr/>
        </p:nvPicPr>
        <p:blipFill>
          <a:blip r:embed="rId2"/>
          <a:stretch>
            <a:fillRect/>
          </a:stretch>
        </p:blipFill>
        <p:spPr>
          <a:xfrm>
            <a:off x="4714646" y="1697126"/>
            <a:ext cx="309067" cy="309067"/>
          </a:xfrm>
          <a:prstGeom prst="rect">
            <a:avLst/>
          </a:prstGeom>
        </p:spPr>
      </p:pic>
      <p:sp>
        <p:nvSpPr>
          <p:cNvPr id="12" name="Text 8"/>
          <p:cNvSpPr txBox="1"/>
          <p:nvPr/>
        </p:nvSpPr>
        <p:spPr>
          <a:xfrm>
            <a:off x="5257800" y="1554480"/>
            <a:ext cx="2468880" cy="594360"/>
          </a:xfrm>
          <a:prstGeom prst="rect">
            <a:avLst/>
          </a:prstGeom>
          <a:noFill/>
          <a:ln/>
        </p:spPr>
        <p:txBody>
          <a:bodyPr wrap="square" lIns="635" tIns="635" rIns="635" bIns="635"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Specificity: mixed</a:t>
            </a:r>
            <a:endParaRPr lang="en-US" sz="1700" dirty="0"/>
          </a:p>
        </p:txBody>
      </p:sp>
      <p:sp>
        <p:nvSpPr>
          <p:cNvPr id="13" name="Text 9"/>
          <p:cNvSpPr txBox="1"/>
          <p:nvPr/>
        </p:nvSpPr>
        <p:spPr>
          <a:xfrm>
            <a:off x="4526280" y="2240280"/>
            <a:ext cx="3154680" cy="2651760"/>
          </a:xfrm>
          <a:prstGeom prst="rect">
            <a:avLst/>
          </a:prstGeom>
          <a:noFill/>
          <a:ln/>
        </p:spPr>
        <p:txBody>
          <a:bodyPr wrap="square" lIns="635" tIns="635" rIns="635" bIns="635" rtlCol="0" anchor="t"/>
          <a:lstStyle/>
          <a:p>
            <a:pPr marL="203200" indent="-203200">
              <a:spcAft>
                <a:spcPts val="600"/>
              </a:spcAft>
              <a:buSzPct val="100000"/>
              <a:buChar char="•"/>
            </a:pPr>
            <a:r>
              <a:rPr lang="en-US" sz="1250" b="1" dirty="0">
                <a:solidFill>
                  <a:schemeClr val="tx1"/>
                </a:solidFill>
              </a:rPr>
              <a:t>Specificity</a:t>
            </a:r>
            <a:r>
              <a:rPr lang="en-US" sz="1250" dirty="0">
                <a:solidFill>
                  <a:schemeClr val="tx1"/>
                </a:solidFill>
              </a:rPr>
              <a:t> = share of people without the disease correctly identified as not having it</a:t>
            </a:r>
            <a:r>
              <a:rPr lang="en-US" sz="1250" baseline="30000" dirty="0">
                <a:solidFill>
                  <a:schemeClr val="tx1"/>
                </a:solidFill>
              </a:rPr>
              <a:t>9</a:t>
            </a:r>
            <a:endParaRPr lang="en-US" sz="1500" dirty="0"/>
          </a:p>
          <a:p>
            <a:pPr marL="203200" indent="-203200">
              <a:spcAft>
                <a:spcPts val="600"/>
              </a:spcAft>
              <a:buSzPct val="100000"/>
              <a:buChar char="•"/>
            </a:pPr>
            <a:r>
              <a:rPr lang="en-US" sz="1250" dirty="0">
                <a:solidFill>
                  <a:schemeClr val="tx1"/>
                </a:solidFill>
              </a:rPr>
              <a:t>Suspected cases (no positive test) are less specific: rhinovirus/enterovirus, RSV and coronavirus OC43 were found aboard</a:t>
            </a:r>
            <a:r>
              <a:rPr lang="en-US" sz="1250" baseline="30000" dirty="0">
                <a:solidFill>
                  <a:schemeClr val="tx1"/>
                </a:solidFill>
              </a:rPr>
              <a:t>1</a:t>
            </a:r>
            <a:endParaRPr lang="en-US" sz="1500" dirty="0"/>
          </a:p>
          <a:p>
            <a:pPr marL="203200" indent="-203200">
              <a:spcAft>
                <a:spcPts val="600"/>
              </a:spcAft>
              <a:buSzPct val="100000"/>
              <a:buChar char="•"/>
            </a:pPr>
            <a:r>
              <a:rPr lang="en-US" sz="1250" dirty="0">
                <a:solidFill>
                  <a:schemeClr val="tx1"/>
                </a:solidFill>
              </a:rPr>
              <a:t>Most cases were PCR-confirmed, so the authors judge this effect limited. Only 60 of 1,331 cases were suspected</a:t>
            </a:r>
            <a:r>
              <a:rPr lang="en-US" sz="1250" baseline="30000" dirty="0">
                <a:solidFill>
                  <a:schemeClr val="tx1"/>
                </a:solidFill>
              </a:rPr>
              <a:t>1</a:t>
            </a:r>
            <a:r>
              <a:rPr lang="en-US" sz="1250" dirty="0">
                <a:solidFill>
                  <a:schemeClr val="tx1"/>
                </a:solidFill>
              </a:rPr>
              <a:t> (4.5%, my calculation)</a:t>
            </a:r>
            <a:endParaRPr lang="en-US" sz="1500" dirty="0"/>
          </a:p>
        </p:txBody>
      </p:sp>
      <p:sp>
        <p:nvSpPr>
          <p:cNvPr id="14" name="Changed during investigation card"/>
          <p:cNvSpPr/>
          <p:nvPr/>
        </p:nvSpPr>
        <p:spPr>
          <a:xfrm>
            <a:off x="8046720" y="1325880"/>
            <a:ext cx="3520440" cy="3611880"/>
          </a:xfrm>
          <a:prstGeom prst="roundRect">
            <a:avLst>
              <a:gd name="adj" fmla="val 3117"/>
            </a:avLst>
          </a:prstGeom>
          <a:solidFill>
            <a:schemeClr val="bg2"/>
          </a:solidFill>
          <a:ln/>
        </p:spPr>
      </p:sp>
      <p:sp>
        <p:nvSpPr>
          <p:cNvPr id="15" name="Changed during investigation icon circle"/>
          <p:cNvSpPr/>
          <p:nvPr/>
        </p:nvSpPr>
        <p:spPr>
          <a:xfrm>
            <a:off x="8321040" y="1554480"/>
            <a:ext cx="594360" cy="594360"/>
          </a:xfrm>
          <a:prstGeom prst="ellipse">
            <a:avLst/>
          </a:prstGeom>
          <a:solidFill>
            <a:schemeClr val="accent2"/>
          </a:solidFill>
          <a:ln/>
        </p:spPr>
      </p:sp>
      <p:pic>
        <p:nvPicPr>
          <p:cNvPr id="16" name="Changed during investigation icon" descr="Changed during investigation icon">    </p:cNvPr>
          <p:cNvPicPr>
            <a:picLocks noChangeAspect="1"/>
          </p:cNvPicPr>
          <p:nvPr/>
        </p:nvPicPr>
        <p:blipFill>
          <a:blip r:embed="rId3"/>
          <a:stretch>
            <a:fillRect/>
          </a:stretch>
        </p:blipFill>
        <p:spPr>
          <a:xfrm>
            <a:off x="8463686" y="1697126"/>
            <a:ext cx="309067" cy="309067"/>
          </a:xfrm>
          <a:prstGeom prst="rect">
            <a:avLst/>
          </a:prstGeom>
        </p:spPr>
      </p:pic>
      <p:sp>
        <p:nvSpPr>
          <p:cNvPr id="17" name="Text 12"/>
          <p:cNvSpPr txBox="1"/>
          <p:nvPr/>
        </p:nvSpPr>
        <p:spPr>
          <a:xfrm>
            <a:off x="9006840" y="1554480"/>
            <a:ext cx="2468880" cy="594360"/>
          </a:xfrm>
          <a:prstGeom prst="rect">
            <a:avLst/>
          </a:prstGeom>
          <a:noFill/>
          <a:ln/>
        </p:spPr>
        <p:txBody>
          <a:bodyPr wrap="square" lIns="635" tIns="635" rIns="635" bIns="635"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Changed during investigation</a:t>
            </a:r>
            <a:endParaRPr lang="en-US" sz="1700" dirty="0"/>
          </a:p>
        </p:txBody>
      </p:sp>
      <p:sp>
        <p:nvSpPr>
          <p:cNvPr id="18" name="Text 13"/>
          <p:cNvSpPr txBox="1"/>
          <p:nvPr/>
        </p:nvSpPr>
        <p:spPr>
          <a:xfrm>
            <a:off x="8275320" y="2240280"/>
            <a:ext cx="3154680" cy="2651760"/>
          </a:xfrm>
          <a:prstGeom prst="rect">
            <a:avLst/>
          </a:prstGeom>
          <a:noFill/>
          <a:ln/>
        </p:spPr>
        <p:txBody>
          <a:bodyPr wrap="square" lIns="635" tIns="635" rIns="635" bIns="635" rtlCol="0" anchor="t"/>
          <a:lstStyle/>
          <a:p>
            <a:pPr marL="203200" indent="-203200">
              <a:spcAft>
                <a:spcPts val="600"/>
              </a:spcAft>
              <a:buSzPct val="100000"/>
              <a:buChar char="•"/>
            </a:pPr>
            <a:r>
              <a:rPr lang="en-US" sz="1250" dirty="0">
                <a:solidFill>
                  <a:schemeClr val="tx1"/>
                </a:solidFill>
              </a:rPr>
              <a:t>Early case definitions can be broad, then refined as the investigation goes on</a:t>
            </a:r>
            <a:r>
              <a:rPr lang="en-US" sz="1250" baseline="30000" dirty="0">
                <a:solidFill>
                  <a:schemeClr val="tx1"/>
                </a:solidFill>
              </a:rPr>
              <a:t>8</a:t>
            </a:r>
            <a:endParaRPr lang="en-US" sz="1500" dirty="0"/>
          </a:p>
          <a:p>
            <a:pPr marL="203200" indent="-203200">
              <a:spcAft>
                <a:spcPts val="600"/>
              </a:spcAft>
              <a:buSzPct val="100000"/>
              <a:buChar char="•"/>
            </a:pPr>
            <a:r>
              <a:rPr lang="en-US" sz="1250" dirty="0">
                <a:solidFill>
                  <a:schemeClr val="tx1"/>
                </a:solidFill>
              </a:rPr>
              <a:t>Here, the CDC case definition changed in April 2020, mid-outbreak</a:t>
            </a:r>
            <a:r>
              <a:rPr lang="en-US" sz="1250" baseline="30000" dirty="0">
                <a:solidFill>
                  <a:schemeClr val="tx1"/>
                </a:solidFill>
              </a:rPr>
              <a:t>1</a:t>
            </a:r>
            <a:endParaRPr lang="en-US" sz="1500" dirty="0"/>
          </a:p>
          <a:p>
            <a:pPr marL="203200" indent="-203200">
              <a:spcAft>
                <a:spcPts val="600"/>
              </a:spcAft>
              <a:buSzPct val="100000"/>
              <a:buChar char="•"/>
            </a:pPr>
            <a:r>
              <a:rPr lang="en-US" sz="1250" dirty="0">
                <a:solidFill>
                  <a:schemeClr val="tx1"/>
                </a:solidFill>
              </a:rPr>
              <a:t>Symptoms other than fever were self-reported, and early records were of lower quality</a:t>
            </a:r>
            <a:r>
              <a:rPr lang="en-US" sz="1250" baseline="30000" dirty="0">
                <a:solidFill>
                  <a:schemeClr val="tx1"/>
                </a:solidFill>
              </a:rPr>
              <a:t>1</a:t>
            </a:r>
            <a:endParaRPr lang="en-US" sz="1500" dirty="0"/>
          </a:p>
        </p:txBody>
      </p:sp>
      <p:sp>
        <p:nvSpPr>
          <p:cNvPr id="19" name="own analysis"/>
          <p:cNvSpPr/>
          <p:nvPr/>
        </p:nvSpPr>
        <p:spPr>
          <a:xfrm>
            <a:off x="548640" y="5120640"/>
            <a:ext cx="11064240" cy="1051560"/>
          </a:xfrm>
          <a:prstGeom prst="roundRect">
            <a:avLst>
              <a:gd name="adj" fmla="val 10435"/>
            </a:avLst>
          </a:prstGeom>
          <a:solidFill>
            <a:schemeClr val="tx2"/>
          </a:solidFill>
          <a:ln/>
        </p:spPr>
      </p:sp>
      <p:sp>
        <p:nvSpPr>
          <p:cNvPr id="20" name="Text 15"/>
          <p:cNvSpPr txBox="1"/>
          <p:nvPr/>
        </p:nvSpPr>
        <p:spPr>
          <a:xfrm>
            <a:off x="777240" y="5166360"/>
            <a:ext cx="10607040" cy="960120"/>
          </a:xfrm>
          <a:prstGeom prst="rect">
            <a:avLst/>
          </a:prstGeom>
          <a:noFill/>
          <a:ln/>
        </p:spPr>
        <p:txBody>
          <a:bodyPr wrap="square" lIns="635" tIns="635" rIns="635" bIns="635" rtlCol="0" anchor="ctr"/>
          <a:lstStyle/>
          <a:p>
            <a:pPr indent="0" marL="0">
              <a:buNone/>
            </a:pPr>
            <a:r>
              <a:rPr lang="en-US" sz="1450" b="1" dirty="0">
                <a:solidFill>
                  <a:schemeClr val="accent4"/>
                </a:solidFill>
              </a:rPr>
              <a:t>My verdict: </a:t>
            </a:r>
            <a:r>
              <a:rPr lang="en-US" sz="1450" dirty="0">
                <a:solidFill>
                  <a:schemeClr val="bg1"/>
                </a:solidFill>
              </a:rPr>
              <a:t>appropriate for this setting. Everyone was tested, 1,271 of 1,331 cases were PCR-confirmed, and only 60 rested on symptoms alone.</a:t>
            </a:r>
            <a:r>
              <a:rPr lang="en-US" sz="1450" baseline="30000" dirty="0">
                <a:solidFill>
                  <a:schemeClr val="bg1"/>
                </a:solidFill>
              </a:rPr>
              <a:t>1</a:t>
            </a:r>
            <a:r>
              <a:rPr lang="en-US" sz="1450" dirty="0">
                <a:solidFill>
                  <a:schemeClr val="bg1"/>
                </a:solidFill>
              </a:rPr>
              <a:t> By my calculation, that is 95.5% and 4.5%.</a:t>
            </a:r>
            <a:endParaRPr lang="en-US" sz="1450" dirty="0"/>
          </a:p>
        </p:txBody>
      </p:sp>
      <p:sp>
        <p:nvSpPr>
          <p:cNvPr id="22" name="Text 0"/>
          <p:cNvSpPr/>
          <p:nvPr>
            <p:ph idx="102" type="body" hasCustomPrompt="1"/>
          </p:nvPr>
        </p:nvSpPr>
        <p:spPr>
          <a:xfrm>
            <a:off x="548640" y="6355080"/>
            <a:ext cx="9875520" cy="320040"/>
          </a:xfrm>
          <a:prstGeom prst="rect">
            <a:avLst/>
          </a:prstGeom>
          <a:noFill/>
          <a:ln/>
        </p:spPr>
        <p:txBody>
          <a:bodyPr wrap="square" lIns="0" tIns="0" rIns="0" bIns="0" rtlCol="0" anchor="ctr"/>
          <a:lstStyle/>
          <a:p>
            <a:pPr indent="0" marL="0">
              <a:buNone/>
            </a:pPr>
            <a:r>
              <a:rPr lang="en-US" sz="1000" i="1" dirty="0">
                <a:solidFill>
                  <a:schemeClr val="accent6"/>
                </a:solidFill>
              </a:rPr>
              <a:t>Sources: 1 Kasper et al, 2020; 8 Reintjes and Zanuzdana, 2010; 9 Trevethan, 2017; 10 Kucirka et al, 2020 (full list at the end).   Appraisal and percentages are my own.</a:t>
            </a: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The Investigation: Test Everyone</a:t>
            </a:r>
            <a:endParaRPr lang="en-US" sz="3400" dirty="0"/>
          </a:p>
        </p:txBody>
      </p:sp>
      <p:sp>
        <p:nvSpPr>
          <p:cNvPr id="3" name="Text 0"/>
          <p:cNvSpPr/>
          <p:nvPr>
            <p:ph idx="101" type="body" hasCustomPrompt="1"/>
          </p:nvPr>
        </p:nvSpPr>
        <p:spPr>
          <a:xfrm>
            <a:off x="548640" y="73152"/>
            <a:ext cx="11064240"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2   </a:t>
            </a:r>
            <a:r>
              <a:rPr lang="en-US" sz="1100" b="1" spc="100" kern="0" dirty="0">
                <a:solidFill>
                  <a:schemeClr val="accent6"/>
                </a:solidFill>
              </a:rPr>
              <a:t>HOW DID INVESTIGATORS FIND THE CASES?</a:t>
            </a:r>
            <a:endParaRPr lang="en-US" sz="1100" dirty="0"/>
          </a:p>
        </p:txBody>
      </p:sp>
      <p:sp>
        <p:nvSpPr>
          <p:cNvPr id="4" name="Detection step"/>
          <p:cNvSpPr/>
          <p:nvPr/>
        </p:nvSpPr>
        <p:spPr>
          <a:xfrm>
            <a:off x="548640" y="1371600"/>
            <a:ext cx="2057400" cy="3291840"/>
          </a:xfrm>
          <a:prstGeom prst="roundRect">
            <a:avLst>
              <a:gd name="adj" fmla="val 5333"/>
            </a:avLst>
          </a:prstGeom>
          <a:solidFill>
            <a:schemeClr val="bg2"/>
          </a:solidFill>
          <a:ln/>
        </p:spPr>
      </p:sp>
      <p:sp>
        <p:nvSpPr>
          <p:cNvPr id="5" name="Detection icon circle"/>
          <p:cNvSpPr/>
          <p:nvPr/>
        </p:nvSpPr>
        <p:spPr>
          <a:xfrm>
            <a:off x="1211580" y="1600200"/>
            <a:ext cx="731520" cy="731520"/>
          </a:xfrm>
          <a:prstGeom prst="ellipse">
            <a:avLst/>
          </a:prstGeom>
          <a:solidFill>
            <a:schemeClr val="accent1"/>
          </a:solidFill>
          <a:ln/>
        </p:spPr>
      </p:sp>
      <p:pic>
        <p:nvPicPr>
          <p:cNvPr id="6" name="Detection icon" descr="Detection icon">    </p:cNvPr>
          <p:cNvPicPr>
            <a:picLocks noChangeAspect="1"/>
          </p:cNvPicPr>
          <p:nvPr/>
        </p:nvPicPr>
        <p:blipFill>
          <a:blip r:embed="rId1"/>
          <a:stretch>
            <a:fillRect/>
          </a:stretch>
        </p:blipFill>
        <p:spPr>
          <a:xfrm>
            <a:off x="1387145" y="1775765"/>
            <a:ext cx="380390" cy="380390"/>
          </a:xfrm>
          <a:prstGeom prst="rect">
            <a:avLst/>
          </a:prstGeom>
        </p:spPr>
      </p:pic>
      <p:sp>
        <p:nvSpPr>
          <p:cNvPr id="7" name="Text 4"/>
          <p:cNvSpPr txBox="1"/>
          <p:nvPr/>
        </p:nvSpPr>
        <p:spPr>
          <a:xfrm>
            <a:off x="640080" y="2468880"/>
            <a:ext cx="1874520" cy="457200"/>
          </a:xfrm>
          <a:prstGeom prst="rect">
            <a:avLst/>
          </a:prstGeom>
          <a:noFill/>
          <a:ln/>
        </p:spPr>
        <p:txBody>
          <a:bodyPr wrap="square" lIns="635" tIns="635" rIns="635" bIns="635" rtlCol="0" anchor="t"/>
          <a:lstStyle/>
          <a:p>
            <a:pPr algn="ctr" indent="0" marL="0">
              <a:buNone/>
            </a:pPr>
            <a:r>
              <a:rPr lang="en-US" sz="1700" b="1" dirty="0">
                <a:solidFill>
                  <a:schemeClr val="tx2"/>
                </a:solidFill>
                <a:latin typeface="Cambria" pitchFamily="34" charset="0"/>
                <a:ea typeface="Cambria" pitchFamily="34" charset="-122"/>
                <a:cs typeface="Cambria" pitchFamily="34" charset="-120"/>
              </a:rPr>
              <a:t>Detection</a:t>
            </a:r>
            <a:endParaRPr lang="en-US" sz="1700" dirty="0"/>
          </a:p>
        </p:txBody>
      </p:sp>
      <p:sp>
        <p:nvSpPr>
          <p:cNvPr id="8" name="Text 5"/>
          <p:cNvSpPr txBox="1"/>
          <p:nvPr/>
        </p:nvSpPr>
        <p:spPr>
          <a:xfrm>
            <a:off x="685800" y="2926080"/>
            <a:ext cx="1783080" cy="1691640"/>
          </a:xfrm>
          <a:prstGeom prst="rect">
            <a:avLst/>
          </a:prstGeom>
          <a:noFill/>
          <a:ln/>
        </p:spPr>
        <p:txBody>
          <a:bodyPr wrap="square" lIns="635" tIns="635" rIns="635" bIns="635" rtlCol="0" anchor="t"/>
          <a:lstStyle/>
          <a:p>
            <a:pPr algn="ctr" indent="0" marL="0">
              <a:buNone/>
            </a:pPr>
            <a:r>
              <a:rPr lang="en-US" sz="1350" dirty="0">
                <a:solidFill>
                  <a:schemeClr val="tx1"/>
                </a:solidFill>
              </a:rPr>
              <a:t>3 sailors with symptoms tested positive after 13 days at sea</a:t>
            </a:r>
            <a:r>
              <a:rPr lang="en-US" sz="1350" baseline="30000" dirty="0">
                <a:solidFill>
                  <a:schemeClr val="tx1"/>
                </a:solidFill>
              </a:rPr>
              <a:t>1</a:t>
            </a:r>
            <a:endParaRPr lang="en-US" sz="1350" dirty="0"/>
          </a:p>
        </p:txBody>
      </p:sp>
      <p:sp>
        <p:nvSpPr>
          <p:cNvPr id="9" name="flow arrow 1"/>
          <p:cNvSpPr/>
          <p:nvPr/>
        </p:nvSpPr>
        <p:spPr>
          <a:xfrm>
            <a:off x="2633472" y="2880360"/>
            <a:ext cx="137160" cy="274320"/>
          </a:xfrm>
          <a:prstGeom prst="chevron">
            <a:avLst/>
          </a:prstGeom>
          <a:solidFill>
            <a:schemeClr val="accent3"/>
          </a:solidFill>
          <a:ln/>
        </p:spPr>
      </p:sp>
      <p:sp>
        <p:nvSpPr>
          <p:cNvPr id="10" name="Case finding step"/>
          <p:cNvSpPr/>
          <p:nvPr/>
        </p:nvSpPr>
        <p:spPr>
          <a:xfrm>
            <a:off x="2798064" y="1371600"/>
            <a:ext cx="2057400" cy="3291840"/>
          </a:xfrm>
          <a:prstGeom prst="roundRect">
            <a:avLst>
              <a:gd name="adj" fmla="val 5333"/>
            </a:avLst>
          </a:prstGeom>
          <a:solidFill>
            <a:schemeClr val="bg2"/>
          </a:solidFill>
          <a:ln/>
        </p:spPr>
      </p:sp>
      <p:sp>
        <p:nvSpPr>
          <p:cNvPr id="11" name="Case finding icon circle"/>
          <p:cNvSpPr/>
          <p:nvPr/>
        </p:nvSpPr>
        <p:spPr>
          <a:xfrm>
            <a:off x="3461004" y="1600200"/>
            <a:ext cx="731520" cy="731520"/>
          </a:xfrm>
          <a:prstGeom prst="ellipse">
            <a:avLst/>
          </a:prstGeom>
          <a:solidFill>
            <a:schemeClr val="accent1"/>
          </a:solidFill>
          <a:ln/>
        </p:spPr>
      </p:sp>
      <p:pic>
        <p:nvPicPr>
          <p:cNvPr id="12" name="Case finding icon" descr="Case finding icon">    </p:cNvPr>
          <p:cNvPicPr>
            <a:picLocks noChangeAspect="1"/>
          </p:cNvPicPr>
          <p:nvPr/>
        </p:nvPicPr>
        <p:blipFill>
          <a:blip r:embed="rId2"/>
          <a:stretch>
            <a:fillRect/>
          </a:stretch>
        </p:blipFill>
        <p:spPr>
          <a:xfrm>
            <a:off x="3636569" y="1775765"/>
            <a:ext cx="380390" cy="380390"/>
          </a:xfrm>
          <a:prstGeom prst="rect">
            <a:avLst/>
          </a:prstGeom>
        </p:spPr>
      </p:pic>
      <p:sp>
        <p:nvSpPr>
          <p:cNvPr id="13" name="Text 9"/>
          <p:cNvSpPr txBox="1"/>
          <p:nvPr/>
        </p:nvSpPr>
        <p:spPr>
          <a:xfrm>
            <a:off x="2889504" y="2468880"/>
            <a:ext cx="1874520" cy="457200"/>
          </a:xfrm>
          <a:prstGeom prst="rect">
            <a:avLst/>
          </a:prstGeom>
          <a:noFill/>
          <a:ln/>
        </p:spPr>
        <p:txBody>
          <a:bodyPr wrap="square" lIns="635" tIns="635" rIns="635" bIns="635" rtlCol="0" anchor="t"/>
          <a:lstStyle/>
          <a:p>
            <a:pPr algn="ctr" indent="0" marL="0">
              <a:buNone/>
            </a:pPr>
            <a:r>
              <a:rPr lang="en-US" sz="1700" b="1" dirty="0">
                <a:solidFill>
                  <a:schemeClr val="tx2"/>
                </a:solidFill>
                <a:latin typeface="Cambria" pitchFamily="34" charset="0"/>
                <a:ea typeface="Cambria" pitchFamily="34" charset="-122"/>
                <a:cs typeface="Cambria" pitchFamily="34" charset="-120"/>
              </a:rPr>
              <a:t>Case finding</a:t>
            </a:r>
            <a:endParaRPr lang="en-US" sz="1700" dirty="0"/>
          </a:p>
        </p:txBody>
      </p:sp>
      <p:sp>
        <p:nvSpPr>
          <p:cNvPr id="14" name="Text 10"/>
          <p:cNvSpPr txBox="1"/>
          <p:nvPr/>
        </p:nvSpPr>
        <p:spPr>
          <a:xfrm>
            <a:off x="2935224" y="2926080"/>
            <a:ext cx="1783080" cy="1691640"/>
          </a:xfrm>
          <a:prstGeom prst="rect">
            <a:avLst/>
          </a:prstGeom>
          <a:noFill/>
          <a:ln/>
        </p:spPr>
        <p:txBody>
          <a:bodyPr wrap="square" lIns="635" tIns="635" rIns="635" bIns="635" rtlCol="0" anchor="t"/>
          <a:lstStyle/>
          <a:p>
            <a:pPr algn="ctr" indent="0" marL="0">
              <a:buNone/>
            </a:pPr>
            <a:r>
              <a:rPr lang="en-US" sz="1350" dirty="0">
                <a:solidFill>
                  <a:schemeClr val="tx1"/>
                </a:solidFill>
              </a:rPr>
              <a:t>Traced about 400 close contacts in 24 hours, then tested all 4,779 crew without waiting for symptoms</a:t>
            </a:r>
            <a:r>
              <a:rPr lang="en-US" sz="1350" baseline="30000" dirty="0">
                <a:solidFill>
                  <a:schemeClr val="tx1"/>
                </a:solidFill>
              </a:rPr>
              <a:t>1</a:t>
            </a:r>
            <a:endParaRPr lang="en-US" sz="1350" dirty="0"/>
          </a:p>
        </p:txBody>
      </p:sp>
      <p:sp>
        <p:nvSpPr>
          <p:cNvPr id="15" name="flow arrow 2"/>
          <p:cNvSpPr/>
          <p:nvPr/>
        </p:nvSpPr>
        <p:spPr>
          <a:xfrm>
            <a:off x="4882896" y="2880360"/>
            <a:ext cx="137160" cy="274320"/>
          </a:xfrm>
          <a:prstGeom prst="chevron">
            <a:avLst/>
          </a:prstGeom>
          <a:solidFill>
            <a:schemeClr val="accent3"/>
          </a:solidFill>
          <a:ln/>
        </p:spPr>
      </p:sp>
      <p:sp>
        <p:nvSpPr>
          <p:cNvPr id="16" name="Descriptive epi step"/>
          <p:cNvSpPr/>
          <p:nvPr/>
        </p:nvSpPr>
        <p:spPr>
          <a:xfrm>
            <a:off x="5047488" y="1371600"/>
            <a:ext cx="2057400" cy="3291840"/>
          </a:xfrm>
          <a:prstGeom prst="roundRect">
            <a:avLst>
              <a:gd name="adj" fmla="val 5333"/>
            </a:avLst>
          </a:prstGeom>
          <a:solidFill>
            <a:schemeClr val="bg2"/>
          </a:solidFill>
          <a:ln/>
        </p:spPr>
      </p:sp>
      <p:sp>
        <p:nvSpPr>
          <p:cNvPr id="17" name="Descriptive epi icon circle"/>
          <p:cNvSpPr/>
          <p:nvPr/>
        </p:nvSpPr>
        <p:spPr>
          <a:xfrm>
            <a:off x="5710428" y="1600200"/>
            <a:ext cx="731520" cy="731520"/>
          </a:xfrm>
          <a:prstGeom prst="ellipse">
            <a:avLst/>
          </a:prstGeom>
          <a:solidFill>
            <a:schemeClr val="accent1"/>
          </a:solidFill>
          <a:ln/>
        </p:spPr>
      </p:sp>
      <p:pic>
        <p:nvPicPr>
          <p:cNvPr id="18" name="Descriptive epi icon" descr="Descriptive epi icon">    </p:cNvPr>
          <p:cNvPicPr>
            <a:picLocks noChangeAspect="1"/>
          </p:cNvPicPr>
          <p:nvPr/>
        </p:nvPicPr>
        <p:blipFill>
          <a:blip r:embed="rId3"/>
          <a:stretch>
            <a:fillRect/>
          </a:stretch>
        </p:blipFill>
        <p:spPr>
          <a:xfrm>
            <a:off x="5885993" y="1775765"/>
            <a:ext cx="380390" cy="380390"/>
          </a:xfrm>
          <a:prstGeom prst="rect">
            <a:avLst/>
          </a:prstGeom>
        </p:spPr>
      </p:pic>
      <p:sp>
        <p:nvSpPr>
          <p:cNvPr id="19" name="Text 14"/>
          <p:cNvSpPr txBox="1"/>
          <p:nvPr/>
        </p:nvSpPr>
        <p:spPr>
          <a:xfrm>
            <a:off x="5138928" y="2468880"/>
            <a:ext cx="1874520" cy="457200"/>
          </a:xfrm>
          <a:prstGeom prst="rect">
            <a:avLst/>
          </a:prstGeom>
          <a:noFill/>
          <a:ln/>
        </p:spPr>
        <p:txBody>
          <a:bodyPr wrap="square" lIns="635" tIns="635" rIns="635" bIns="635" rtlCol="0" anchor="t"/>
          <a:lstStyle/>
          <a:p>
            <a:pPr algn="ctr" indent="0" marL="0">
              <a:buNone/>
            </a:pPr>
            <a:r>
              <a:rPr lang="en-US" sz="1700" b="1" dirty="0">
                <a:solidFill>
                  <a:schemeClr val="tx2"/>
                </a:solidFill>
                <a:latin typeface="Cambria" pitchFamily="34" charset="0"/>
                <a:ea typeface="Cambria" pitchFamily="34" charset="-122"/>
                <a:cs typeface="Cambria" pitchFamily="34" charset="-120"/>
              </a:rPr>
              <a:t>Descriptive epi</a:t>
            </a:r>
            <a:endParaRPr lang="en-US" sz="1700" dirty="0"/>
          </a:p>
        </p:txBody>
      </p:sp>
      <p:sp>
        <p:nvSpPr>
          <p:cNvPr id="20" name="Text 15"/>
          <p:cNvSpPr txBox="1"/>
          <p:nvPr/>
        </p:nvSpPr>
        <p:spPr>
          <a:xfrm>
            <a:off x="5184648" y="2926080"/>
            <a:ext cx="1783080" cy="1691640"/>
          </a:xfrm>
          <a:prstGeom prst="rect">
            <a:avLst/>
          </a:prstGeom>
          <a:noFill/>
          <a:ln/>
        </p:spPr>
        <p:txBody>
          <a:bodyPr wrap="square" lIns="635" tIns="635" rIns="635" bIns="635" rtlCol="0" anchor="t"/>
          <a:lstStyle/>
          <a:p>
            <a:pPr algn="ctr" indent="0" marL="0">
              <a:buNone/>
            </a:pPr>
            <a:r>
              <a:rPr lang="en-US" sz="1350" dirty="0">
                <a:solidFill>
                  <a:schemeClr val="tx1"/>
                </a:solidFill>
              </a:rPr>
              <a:t>Linked results to age, job, health and symptoms: who, where and when</a:t>
            </a:r>
            <a:r>
              <a:rPr lang="en-US" sz="1350" baseline="30000" dirty="0">
                <a:solidFill>
                  <a:schemeClr val="tx1"/>
                </a:solidFill>
              </a:rPr>
              <a:t>1</a:t>
            </a:r>
            <a:endParaRPr lang="en-US" sz="1350" dirty="0"/>
          </a:p>
        </p:txBody>
      </p:sp>
      <p:sp>
        <p:nvSpPr>
          <p:cNvPr id="21" name="flow arrow 3"/>
          <p:cNvSpPr/>
          <p:nvPr/>
        </p:nvSpPr>
        <p:spPr>
          <a:xfrm>
            <a:off x="7132320" y="2880360"/>
            <a:ext cx="137160" cy="274320"/>
          </a:xfrm>
          <a:prstGeom prst="chevron">
            <a:avLst/>
          </a:prstGeom>
          <a:solidFill>
            <a:schemeClr val="accent3"/>
          </a:solidFill>
          <a:ln/>
        </p:spPr>
      </p:sp>
      <p:sp>
        <p:nvSpPr>
          <p:cNvPr id="22" name="Laboratory step"/>
          <p:cNvSpPr/>
          <p:nvPr/>
        </p:nvSpPr>
        <p:spPr>
          <a:xfrm>
            <a:off x="7296912" y="1371600"/>
            <a:ext cx="2057400" cy="3291840"/>
          </a:xfrm>
          <a:prstGeom prst="roundRect">
            <a:avLst>
              <a:gd name="adj" fmla="val 5333"/>
            </a:avLst>
          </a:prstGeom>
          <a:solidFill>
            <a:schemeClr val="bg2"/>
          </a:solidFill>
          <a:ln/>
        </p:spPr>
      </p:sp>
      <p:sp>
        <p:nvSpPr>
          <p:cNvPr id="23" name="Laboratory icon circle"/>
          <p:cNvSpPr/>
          <p:nvPr/>
        </p:nvSpPr>
        <p:spPr>
          <a:xfrm>
            <a:off x="7959852" y="1600200"/>
            <a:ext cx="731520" cy="731520"/>
          </a:xfrm>
          <a:prstGeom prst="ellipse">
            <a:avLst/>
          </a:prstGeom>
          <a:solidFill>
            <a:schemeClr val="accent1"/>
          </a:solidFill>
          <a:ln/>
        </p:spPr>
      </p:sp>
      <p:pic>
        <p:nvPicPr>
          <p:cNvPr id="24" name="Laboratory icon" descr="Laboratory icon">    </p:cNvPr>
          <p:cNvPicPr>
            <a:picLocks noChangeAspect="1"/>
          </p:cNvPicPr>
          <p:nvPr/>
        </p:nvPicPr>
        <p:blipFill>
          <a:blip r:embed="rId4"/>
          <a:stretch>
            <a:fillRect/>
          </a:stretch>
        </p:blipFill>
        <p:spPr>
          <a:xfrm>
            <a:off x="8135417" y="1775765"/>
            <a:ext cx="380390" cy="380390"/>
          </a:xfrm>
          <a:prstGeom prst="rect">
            <a:avLst/>
          </a:prstGeom>
        </p:spPr>
      </p:pic>
      <p:sp>
        <p:nvSpPr>
          <p:cNvPr id="25" name="Text 19"/>
          <p:cNvSpPr txBox="1"/>
          <p:nvPr/>
        </p:nvSpPr>
        <p:spPr>
          <a:xfrm>
            <a:off x="7388352" y="2468880"/>
            <a:ext cx="1874520" cy="457200"/>
          </a:xfrm>
          <a:prstGeom prst="rect">
            <a:avLst/>
          </a:prstGeom>
          <a:noFill/>
          <a:ln/>
        </p:spPr>
        <p:txBody>
          <a:bodyPr wrap="square" lIns="635" tIns="635" rIns="635" bIns="635" rtlCol="0" anchor="t"/>
          <a:lstStyle/>
          <a:p>
            <a:pPr algn="ctr" indent="0" marL="0">
              <a:buNone/>
            </a:pPr>
            <a:r>
              <a:rPr lang="en-US" sz="1700" b="1" dirty="0">
                <a:solidFill>
                  <a:schemeClr val="tx2"/>
                </a:solidFill>
                <a:latin typeface="Cambria" pitchFamily="34" charset="0"/>
                <a:ea typeface="Cambria" pitchFamily="34" charset="-122"/>
                <a:cs typeface="Cambria" pitchFamily="34" charset="-120"/>
              </a:rPr>
              <a:t>Laboratory</a:t>
            </a:r>
            <a:endParaRPr lang="en-US" sz="1700" dirty="0"/>
          </a:p>
        </p:txBody>
      </p:sp>
      <p:sp>
        <p:nvSpPr>
          <p:cNvPr id="26" name="Text 20"/>
          <p:cNvSpPr txBox="1"/>
          <p:nvPr/>
        </p:nvSpPr>
        <p:spPr>
          <a:xfrm>
            <a:off x="7434072" y="2926080"/>
            <a:ext cx="1783080" cy="1691640"/>
          </a:xfrm>
          <a:prstGeom prst="rect">
            <a:avLst/>
          </a:prstGeom>
          <a:noFill/>
          <a:ln/>
        </p:spPr>
        <p:txBody>
          <a:bodyPr wrap="square" lIns="635" tIns="635" rIns="635" bIns="635" rtlCol="0" anchor="t"/>
          <a:lstStyle/>
          <a:p>
            <a:pPr algn="ctr" indent="0" marL="0">
              <a:buNone/>
            </a:pPr>
            <a:r>
              <a:rPr lang="en-US" sz="1350" dirty="0">
                <a:solidFill>
                  <a:schemeClr val="tx1"/>
                </a:solidFill>
              </a:rPr>
              <a:t>PCR tests on swabs from the back of the nose (nasopharyngeal), plus a panel test for other respiratory viruses</a:t>
            </a:r>
            <a:r>
              <a:rPr lang="en-US" sz="1350" baseline="30000" dirty="0">
                <a:solidFill>
                  <a:schemeClr val="tx1"/>
                </a:solidFill>
              </a:rPr>
              <a:t>1</a:t>
            </a:r>
            <a:endParaRPr lang="en-US" sz="1350" dirty="0"/>
          </a:p>
        </p:txBody>
      </p:sp>
      <p:sp>
        <p:nvSpPr>
          <p:cNvPr id="27" name="flow arrow 4"/>
          <p:cNvSpPr/>
          <p:nvPr/>
        </p:nvSpPr>
        <p:spPr>
          <a:xfrm>
            <a:off x="9381744" y="2880360"/>
            <a:ext cx="137160" cy="274320"/>
          </a:xfrm>
          <a:prstGeom prst="chevron">
            <a:avLst/>
          </a:prstGeom>
          <a:solidFill>
            <a:schemeClr val="accent3"/>
          </a:solidFill>
          <a:ln/>
        </p:spPr>
      </p:sp>
      <p:sp>
        <p:nvSpPr>
          <p:cNvPr id="28" name="Analytic epi step"/>
          <p:cNvSpPr/>
          <p:nvPr/>
        </p:nvSpPr>
        <p:spPr>
          <a:xfrm>
            <a:off x="9546336" y="1371600"/>
            <a:ext cx="2057400" cy="3291840"/>
          </a:xfrm>
          <a:prstGeom prst="roundRect">
            <a:avLst>
              <a:gd name="adj" fmla="val 5333"/>
            </a:avLst>
          </a:prstGeom>
          <a:solidFill>
            <a:schemeClr val="bg2"/>
          </a:solidFill>
          <a:ln/>
        </p:spPr>
      </p:sp>
      <p:sp>
        <p:nvSpPr>
          <p:cNvPr id="29" name="Analytic epi icon circle"/>
          <p:cNvSpPr/>
          <p:nvPr/>
        </p:nvSpPr>
        <p:spPr>
          <a:xfrm>
            <a:off x="10209276" y="1600200"/>
            <a:ext cx="731520" cy="731520"/>
          </a:xfrm>
          <a:prstGeom prst="ellipse">
            <a:avLst/>
          </a:prstGeom>
          <a:solidFill>
            <a:schemeClr val="accent1"/>
          </a:solidFill>
          <a:ln/>
        </p:spPr>
      </p:sp>
      <p:pic>
        <p:nvPicPr>
          <p:cNvPr id="30" name="Analytic epi icon" descr="Analytic epi icon">    </p:cNvPr>
          <p:cNvPicPr>
            <a:picLocks noChangeAspect="1"/>
          </p:cNvPicPr>
          <p:nvPr/>
        </p:nvPicPr>
        <p:blipFill>
          <a:blip r:embed="rId5"/>
          <a:stretch>
            <a:fillRect/>
          </a:stretch>
        </p:blipFill>
        <p:spPr>
          <a:xfrm>
            <a:off x="10384841" y="1775765"/>
            <a:ext cx="380390" cy="380390"/>
          </a:xfrm>
          <a:prstGeom prst="rect">
            <a:avLst/>
          </a:prstGeom>
        </p:spPr>
      </p:pic>
      <p:sp>
        <p:nvSpPr>
          <p:cNvPr id="31" name="Text 24"/>
          <p:cNvSpPr txBox="1"/>
          <p:nvPr/>
        </p:nvSpPr>
        <p:spPr>
          <a:xfrm>
            <a:off x="9637776" y="2468880"/>
            <a:ext cx="1874520" cy="457200"/>
          </a:xfrm>
          <a:prstGeom prst="rect">
            <a:avLst/>
          </a:prstGeom>
          <a:noFill/>
          <a:ln/>
        </p:spPr>
        <p:txBody>
          <a:bodyPr wrap="square" lIns="635" tIns="635" rIns="635" bIns="635" rtlCol="0" anchor="t"/>
          <a:lstStyle/>
          <a:p>
            <a:pPr algn="ctr" indent="0" marL="0">
              <a:buNone/>
            </a:pPr>
            <a:r>
              <a:rPr lang="en-US" sz="1700" b="1" dirty="0">
                <a:solidFill>
                  <a:schemeClr val="tx2"/>
                </a:solidFill>
                <a:latin typeface="Cambria" pitchFamily="34" charset="0"/>
                <a:ea typeface="Cambria" pitchFamily="34" charset="-122"/>
                <a:cs typeface="Cambria" pitchFamily="34" charset="-120"/>
              </a:rPr>
              <a:t>Analytic epi</a:t>
            </a:r>
            <a:endParaRPr lang="en-US" sz="1700" dirty="0"/>
          </a:p>
        </p:txBody>
      </p:sp>
      <p:sp>
        <p:nvSpPr>
          <p:cNvPr id="32" name="Text 25"/>
          <p:cNvSpPr txBox="1"/>
          <p:nvPr/>
        </p:nvSpPr>
        <p:spPr>
          <a:xfrm>
            <a:off x="9683496" y="2926080"/>
            <a:ext cx="1783080" cy="1691640"/>
          </a:xfrm>
          <a:prstGeom prst="rect">
            <a:avLst/>
          </a:prstGeom>
          <a:noFill/>
          <a:ln/>
        </p:spPr>
        <p:txBody>
          <a:bodyPr wrap="square" lIns="635" tIns="635" rIns="635" bIns="635" rtlCol="0" anchor="t"/>
          <a:lstStyle/>
          <a:p>
            <a:pPr algn="ctr" indent="0" marL="0">
              <a:buNone/>
            </a:pPr>
            <a:r>
              <a:rPr lang="en-US" sz="1350" dirty="0">
                <a:solidFill>
                  <a:schemeClr val="tx1"/>
                </a:solidFill>
              </a:rPr>
              <a:t>Compared infected and uninfected sailors</a:t>
            </a:r>
            <a:r>
              <a:rPr lang="en-US" sz="1350" dirty="0">
                <a:solidFill>
                  <a:schemeClr val="tx1"/>
                </a:solidFill>
              </a:rPr>
              <a:t>.</a:t>
            </a:r>
            <a:r>
              <a:rPr lang="en-US" sz="1350" baseline="30000" dirty="0">
                <a:solidFill>
                  <a:schemeClr val="tx1"/>
                </a:solidFill>
              </a:rPr>
              <a:t>1</a:t>
            </a:r>
            <a:r>
              <a:rPr lang="en-US" sz="1350" dirty="0">
                <a:solidFill>
                  <a:schemeClr val="tx1"/>
                </a:solidFill>
              </a:rPr>
              <a:t> A closed group like a crew can be studied as one whole cohort</a:t>
            </a:r>
            <a:r>
              <a:rPr lang="en-US" sz="1350" baseline="30000" dirty="0">
                <a:solidFill>
                  <a:schemeClr val="tx1"/>
                </a:solidFill>
              </a:rPr>
              <a:t>8</a:t>
            </a:r>
            <a:endParaRPr lang="en-US" sz="1350" dirty="0"/>
          </a:p>
        </p:txBody>
      </p:sp>
      <p:sp>
        <p:nvSpPr>
          <p:cNvPr id="33" name="surveillance note"/>
          <p:cNvSpPr/>
          <p:nvPr/>
        </p:nvSpPr>
        <p:spPr>
          <a:xfrm>
            <a:off x="548640" y="4892040"/>
            <a:ext cx="5394960" cy="1280160"/>
          </a:xfrm>
          <a:prstGeom prst="roundRect">
            <a:avLst>
              <a:gd name="adj" fmla="val 8571"/>
            </a:avLst>
          </a:prstGeom>
          <a:solidFill>
            <a:schemeClr val="bg2"/>
          </a:solidFill>
          <a:ln/>
        </p:spPr>
      </p:sp>
      <p:sp>
        <p:nvSpPr>
          <p:cNvPr id="34" name="Text 27"/>
          <p:cNvSpPr txBox="1"/>
          <p:nvPr/>
        </p:nvSpPr>
        <p:spPr>
          <a:xfrm>
            <a:off x="777240" y="4983480"/>
            <a:ext cx="4983480" cy="1097280"/>
          </a:xfrm>
          <a:prstGeom prst="rect">
            <a:avLst/>
          </a:prstGeom>
          <a:noFill/>
          <a:ln/>
        </p:spPr>
        <p:txBody>
          <a:bodyPr wrap="square" lIns="635" tIns="635" rIns="635" bIns="635" rtlCol="0" anchor="ctr"/>
          <a:lstStyle/>
          <a:p>
            <a:pPr indent="0" marL="0">
              <a:buNone/>
            </a:pPr>
            <a:r>
              <a:rPr lang="en-US" sz="1400" b="1" dirty="0">
                <a:solidFill>
                  <a:schemeClr val="tx2"/>
                </a:solidFill>
              </a:rPr>
              <a:t>Surveillance: </a:t>
            </a:r>
            <a:r>
              <a:rPr lang="en-US" sz="1400" dirty="0">
                <a:solidFill>
                  <a:schemeClr val="tx1"/>
                </a:solidFill>
              </a:rPr>
              <a:t>in-person health screenings plus the MySymptoms self-report app, reviewed every morning and evening; isolated cases also had twice-daily temperature and pulse-oximetry checks</a:t>
            </a:r>
            <a:r>
              <a:rPr lang="en-US" sz="1400" baseline="30000" dirty="0">
                <a:solidFill>
                  <a:schemeClr val="tx1"/>
                </a:solidFill>
              </a:rPr>
              <a:t>1</a:t>
            </a:r>
            <a:endParaRPr lang="en-US" sz="1400" dirty="0"/>
          </a:p>
        </p:txBody>
      </p:sp>
      <p:sp>
        <p:nvSpPr>
          <p:cNvPr id="35" name="environmental note"/>
          <p:cNvSpPr/>
          <p:nvPr/>
        </p:nvSpPr>
        <p:spPr>
          <a:xfrm>
            <a:off x="6217920" y="4892040"/>
            <a:ext cx="5394960" cy="1280160"/>
          </a:xfrm>
          <a:prstGeom prst="roundRect">
            <a:avLst>
              <a:gd name="adj" fmla="val 8571"/>
            </a:avLst>
          </a:prstGeom>
          <a:solidFill>
            <a:schemeClr val="bg2"/>
          </a:solidFill>
          <a:ln/>
        </p:spPr>
      </p:sp>
      <p:sp>
        <p:nvSpPr>
          <p:cNvPr id="36" name="Text 29"/>
          <p:cNvSpPr txBox="1"/>
          <p:nvPr/>
        </p:nvSpPr>
        <p:spPr>
          <a:xfrm>
            <a:off x="6446520" y="4983480"/>
            <a:ext cx="4983480" cy="1097280"/>
          </a:xfrm>
          <a:prstGeom prst="rect">
            <a:avLst/>
          </a:prstGeom>
          <a:noFill/>
          <a:ln/>
        </p:spPr>
        <p:txBody>
          <a:bodyPr wrap="square" lIns="635" tIns="635" rIns="635" bIns="635" rtlCol="0" anchor="ctr"/>
          <a:lstStyle/>
          <a:p>
            <a:pPr indent="0" marL="0">
              <a:buNone/>
            </a:pPr>
            <a:r>
              <a:rPr lang="en-US" sz="1400" b="1" dirty="0">
                <a:solidFill>
                  <a:schemeClr val="accent2"/>
                </a:solidFill>
              </a:rPr>
              <a:t>Environmental investigation: </a:t>
            </a:r>
            <a:r>
              <a:rPr lang="en-US" sz="1400" dirty="0">
                <a:solidFill>
                  <a:schemeClr val="tx1"/>
                </a:solidFill>
              </a:rPr>
              <a:t>none is described in the article. No air, surface or ventilation testing is reported</a:t>
            </a:r>
            <a:r>
              <a:rPr lang="en-US" sz="1400" dirty="0">
                <a:solidFill>
                  <a:schemeClr val="tx1"/>
                </a:solidFill>
              </a:rPr>
              <a:t>.</a:t>
            </a:r>
            <a:r>
              <a:rPr lang="en-US" sz="1400" baseline="30000" dirty="0">
                <a:solidFill>
                  <a:schemeClr val="tx1"/>
                </a:solidFill>
              </a:rPr>
              <a:t>1</a:t>
            </a:r>
            <a:endParaRPr lang="en-US" sz="1400" dirty="0"/>
          </a:p>
        </p:txBody>
      </p:sp>
      <p:sp>
        <p:nvSpPr>
          <p:cNvPr id="38" name="Text 0"/>
          <p:cNvSpPr/>
          <p:nvPr>
            <p:ph idx="102" type="body" hasCustomPrompt="1"/>
          </p:nvPr>
        </p:nvSpPr>
        <p:spPr>
          <a:xfrm>
            <a:off x="548640" y="6355080"/>
            <a:ext cx="9875520" cy="320040"/>
          </a:xfrm>
          <a:prstGeom prst="rect">
            <a:avLst/>
          </a:prstGeom>
          <a:noFill/>
          <a:ln/>
        </p:spPr>
        <p:txBody>
          <a:bodyPr wrap="square" lIns="0" tIns="0" rIns="0" bIns="0" rtlCol="0" anchor="ctr"/>
          <a:lstStyle/>
          <a:p>
            <a:pPr indent="0" marL="0">
              <a:buNone/>
            </a:pPr>
            <a:r>
              <a:rPr lang="en-US" sz="1000" i="1" dirty="0">
                <a:solidFill>
                  <a:schemeClr val="accent6"/>
                </a:solidFill>
              </a:rPr>
              <a:t>Sources: 1 Kasper et al, 2020; 8 Reintjes and Zanuzdana, 2010 (full list at the end).</a:t>
            </a: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Time: A Drawn-Out Epidemic Curve</a:t>
            </a:r>
            <a:endParaRPr lang="en-US" sz="3400" dirty="0"/>
          </a:p>
        </p:txBody>
      </p:sp>
      <p:sp>
        <p:nvSpPr>
          <p:cNvPr id="3" name="Text 0"/>
          <p:cNvSpPr/>
          <p:nvPr>
            <p:ph idx="101" type="body" hasCustomPrompt="1"/>
          </p:nvPr>
        </p:nvSpPr>
        <p:spPr>
          <a:xfrm>
            <a:off x="548640" y="73152"/>
            <a:ext cx="11064240"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3   </a:t>
            </a:r>
            <a:r>
              <a:rPr lang="en-US" sz="1100" b="1" spc="100" kern="0" dirty="0">
                <a:solidFill>
                  <a:schemeClr val="accent6"/>
                </a:solidFill>
              </a:rPr>
              <a:t>WHO, WHERE AND WHEN?</a:t>
            </a:r>
            <a:endParaRPr lang="en-US" sz="1100" dirty="0"/>
          </a:p>
        </p:txBody>
      </p:sp>
      <p:pic>
        <p:nvPicPr>
          <p:cNvPr id="4" name="epidemic curve" descr="Epidemic curve of symptomatic Covid-19 cases by onset date, March 1 to May 18, 2020">    </p:cNvPr>
          <p:cNvPicPr>
            <a:picLocks noChangeAspect="1"/>
          </p:cNvPicPr>
          <p:nvPr/>
        </p:nvPicPr>
        <p:blipFill>
          <a:blip r:embed="rId1"/>
          <a:stretch>
            <a:fillRect/>
          </a:stretch>
        </p:blipFill>
        <p:spPr>
          <a:xfrm>
            <a:off x="548640" y="1280160"/>
            <a:ext cx="7086600" cy="3867912"/>
          </a:xfrm>
          <a:prstGeom prst="rect">
            <a:avLst/>
          </a:prstGeom>
        </p:spPr>
      </p:pic>
      <p:sp>
        <p:nvSpPr>
          <p:cNvPr id="5" name="Text 2"/>
          <p:cNvSpPr txBox="1"/>
          <p:nvPr/>
        </p:nvSpPr>
        <p:spPr>
          <a:xfrm>
            <a:off x="548640" y="5212080"/>
            <a:ext cx="7086600" cy="502920"/>
          </a:xfrm>
          <a:prstGeom prst="rect">
            <a:avLst/>
          </a:prstGeom>
          <a:noFill/>
          <a:ln/>
        </p:spPr>
        <p:txBody>
          <a:bodyPr wrap="square" lIns="635" tIns="635" rIns="635" bIns="635" rtlCol="0" anchor="t"/>
          <a:lstStyle/>
          <a:p>
            <a:pPr indent="0" marL="0">
              <a:buNone/>
            </a:pPr>
            <a:r>
              <a:rPr lang="en-US" sz="1200" i="1" dirty="0">
                <a:solidFill>
                  <a:schemeClr val="accent6"/>
                </a:solidFill>
              </a:rPr>
              <a:t>Figure: symptomatic confirmed or suspected cases by date of onset (n = 759, my count: 699 + 60); asymptomatic cases not shown. Reproduced from Kasper et al</a:t>
            </a:r>
            <a:r>
              <a:rPr lang="en-US" sz="1200" i="1" baseline="30000" dirty="0">
                <a:solidFill>
                  <a:schemeClr val="accent6"/>
                </a:solidFill>
              </a:rPr>
              <a:t>1</a:t>
            </a:r>
            <a:r>
              <a:rPr lang="en-US" sz="1200" i="1" dirty="0">
                <a:solidFill>
                  <a:schemeClr val="accent6"/>
                </a:solidFill>
              </a:rPr>
              <a:t> (Figure 2).</a:t>
            </a:r>
            <a:endParaRPr lang="en-US" sz="1200" dirty="0"/>
          </a:p>
        </p:txBody>
      </p:sp>
      <p:sp>
        <p:nvSpPr>
          <p:cNvPr id="6" name="curve interpretation"/>
          <p:cNvSpPr/>
          <p:nvPr/>
        </p:nvSpPr>
        <p:spPr>
          <a:xfrm>
            <a:off x="7955280" y="1325880"/>
            <a:ext cx="3657600" cy="4846320"/>
          </a:xfrm>
          <a:prstGeom prst="roundRect">
            <a:avLst>
              <a:gd name="adj" fmla="val 3000"/>
            </a:avLst>
          </a:prstGeom>
          <a:solidFill>
            <a:schemeClr val="bg2"/>
          </a:solidFill>
          <a:ln/>
        </p:spPr>
      </p:sp>
      <p:sp>
        <p:nvSpPr>
          <p:cNvPr id="7" name="Text 4"/>
          <p:cNvSpPr txBox="1"/>
          <p:nvPr/>
        </p:nvSpPr>
        <p:spPr>
          <a:xfrm>
            <a:off x="8183880" y="1463040"/>
            <a:ext cx="3200400" cy="457200"/>
          </a:xfrm>
          <a:prstGeom prst="rect">
            <a:avLst/>
          </a:prstGeom>
          <a:noFill/>
          <a:ln/>
        </p:spPr>
        <p:txBody>
          <a:bodyPr wrap="square" lIns="635" tIns="635" rIns="635" bIns="635" rtlCol="0" anchor="t"/>
          <a:lstStyle/>
          <a:p>
            <a:pPr indent="0" marL="0">
              <a:buNone/>
            </a:pPr>
            <a:r>
              <a:rPr lang="en-US" sz="1800" b="1" dirty="0">
                <a:solidFill>
                  <a:schemeClr val="tx2"/>
                </a:solidFill>
                <a:latin typeface="Cambria" pitchFamily="34" charset="0"/>
                <a:ea typeface="Cambria" pitchFamily="34" charset="-122"/>
                <a:cs typeface="Cambria" pitchFamily="34" charset="-120"/>
              </a:rPr>
              <a:t>Reading the curve</a:t>
            </a:r>
            <a:endParaRPr lang="en-US" sz="1800" dirty="0"/>
          </a:p>
        </p:txBody>
      </p:sp>
      <p:sp>
        <p:nvSpPr>
          <p:cNvPr id="8" name="Text 5"/>
          <p:cNvSpPr txBox="1"/>
          <p:nvPr/>
        </p:nvSpPr>
        <p:spPr>
          <a:xfrm>
            <a:off x="8183880" y="1920240"/>
            <a:ext cx="3246120" cy="4206240"/>
          </a:xfrm>
          <a:prstGeom prst="rect">
            <a:avLst/>
          </a:prstGeom>
          <a:noFill/>
          <a:ln/>
        </p:spPr>
        <p:txBody>
          <a:bodyPr wrap="square" lIns="635" tIns="635" rIns="635" bIns="635" rtlCol="0" anchor="t"/>
          <a:lstStyle/>
          <a:p>
            <a:pPr marL="203200" indent="-203200">
              <a:spcAft>
                <a:spcPts val="600"/>
              </a:spcAft>
              <a:buSzPct val="100000"/>
              <a:buChar char="•"/>
            </a:pPr>
            <a:r>
              <a:rPr lang="en-US" sz="1300" b="1" dirty="0">
                <a:solidFill>
                  <a:schemeClr val="tx1"/>
                </a:solidFill>
              </a:rPr>
              <a:t>Epidemic curve: </a:t>
            </a:r>
            <a:r>
              <a:rPr lang="en-US" sz="1300" dirty="0">
                <a:solidFill>
                  <a:schemeClr val="tx1"/>
                </a:solidFill>
              </a:rPr>
              <a:t>each bar is the number of sailors whose symptoms started that day</a:t>
            </a:r>
            <a:r>
              <a:rPr lang="en-US" sz="1300" baseline="30000" dirty="0">
                <a:solidFill>
                  <a:schemeClr val="tx1"/>
                </a:solidFill>
              </a:rPr>
              <a:t>1</a:t>
            </a:r>
            <a:endParaRPr lang="en-US" sz="1500" dirty="0"/>
          </a:p>
          <a:p>
            <a:pPr marL="203200" indent="-203200">
              <a:spcAft>
                <a:spcPts val="600"/>
              </a:spcAft>
              <a:buSzPct val="100000"/>
              <a:buChar char="•"/>
            </a:pPr>
            <a:r>
              <a:rPr lang="en-US" sz="1300" b="1" dirty="0">
                <a:solidFill>
                  <a:schemeClr val="tx1"/>
                </a:solidFill>
              </a:rPr>
              <a:t>My reading: </a:t>
            </a:r>
            <a:r>
              <a:rPr lang="en-US" sz="1300" dirty="0">
                <a:solidFill>
                  <a:schemeClr val="tx1"/>
                </a:solidFill>
              </a:rPr>
              <a:t>a long, uneven curve with several peaks over about 10 weeks, not one short spike</a:t>
            </a:r>
            <a:endParaRPr lang="en-US" sz="1500" dirty="0"/>
          </a:p>
          <a:p>
            <a:pPr marL="203200" indent="-203200">
              <a:spcAft>
                <a:spcPts val="600"/>
              </a:spcAft>
              <a:buSzPct val="100000"/>
              <a:buChar char="•"/>
            </a:pPr>
            <a:r>
              <a:rPr lang="en-US" sz="1300" dirty="0">
                <a:solidFill>
                  <a:schemeClr val="tx1"/>
                </a:solidFill>
              </a:rPr>
              <a:t>A single shared exposure, like a bad meal, makes cases rise suddenly and fall. A propagated curve reflects person-to-person spread or a continuing source</a:t>
            </a:r>
            <a:r>
              <a:rPr lang="en-US" sz="1300" baseline="30000" dirty="0">
                <a:solidFill>
                  <a:schemeClr val="tx1"/>
                </a:solidFill>
              </a:rPr>
              <a:t>8</a:t>
            </a:r>
            <a:endParaRPr lang="en-US" sz="1500" dirty="0"/>
          </a:p>
          <a:p>
            <a:pPr marL="203200" indent="-203200">
              <a:spcAft>
                <a:spcPts val="600"/>
              </a:spcAft>
              <a:buSzPct val="100000"/>
              <a:buChar char="•"/>
            </a:pPr>
            <a:r>
              <a:rPr lang="en-US" sz="1300" dirty="0">
                <a:solidFill>
                  <a:schemeClr val="tx1"/>
                </a:solidFill>
              </a:rPr>
              <a:t>Earliest onsets (Mar 11–12) came after the port visit, on COD arrival days</a:t>
            </a:r>
            <a:r>
              <a:rPr lang="en-US" sz="1300" baseline="30000" dirty="0">
                <a:solidFill>
                  <a:schemeClr val="tx1"/>
                </a:solidFill>
              </a:rPr>
              <a:t>1</a:t>
            </a:r>
            <a:endParaRPr lang="en-US" sz="1500" dirty="0"/>
          </a:p>
          <a:p>
            <a:pPr marL="203200" indent="-203200">
              <a:spcAft>
                <a:spcPts val="600"/>
              </a:spcAft>
              <a:buSzPct val="100000"/>
              <a:buChar char="•"/>
            </a:pPr>
            <a:r>
              <a:rPr lang="en-US" sz="1300" dirty="0">
                <a:solidFill>
                  <a:schemeClr val="tx1"/>
                </a:solidFill>
              </a:rPr>
              <a:t>Cases kept coming for at least 6 weeks after the ship docked (Mar 27)</a:t>
            </a:r>
            <a:r>
              <a:rPr lang="en-US" sz="1300" baseline="30000" dirty="0">
                <a:solidFill>
                  <a:schemeClr val="tx1"/>
                </a:solidFill>
              </a:rPr>
              <a:t>1</a:t>
            </a:r>
            <a:endParaRPr lang="en-US" sz="1500" dirty="0"/>
          </a:p>
          <a:p>
            <a:pPr marL="203200" indent="-203200">
              <a:spcAft>
                <a:spcPts val="600"/>
              </a:spcAft>
              <a:buSzPct val="100000"/>
              <a:buChar char="•"/>
            </a:pPr>
            <a:r>
              <a:rPr lang="en-US" sz="1300" b="1" dirty="0">
                <a:solidFill>
                  <a:schemeClr val="tx1"/>
                </a:solidFill>
              </a:rPr>
              <a:t>Not shown: </a:t>
            </a:r>
            <a:r>
              <a:rPr lang="en-US" sz="1300" dirty="0">
                <a:solidFill>
                  <a:schemeClr val="tx1"/>
                </a:solidFill>
              </a:rPr>
              <a:t>the 572 sailors who never had symptoms</a:t>
            </a:r>
            <a:r>
              <a:rPr lang="en-US" sz="1300" baseline="30000" dirty="0">
                <a:solidFill>
                  <a:schemeClr val="tx1"/>
                </a:solidFill>
              </a:rPr>
              <a:t>1</a:t>
            </a:r>
            <a:endParaRPr lang="en-US" sz="1500" dirty="0"/>
          </a:p>
        </p:txBody>
      </p:sp>
      <p:sp>
        <p:nvSpPr>
          <p:cNvPr id="10" name="Text 0"/>
          <p:cNvSpPr/>
          <p:nvPr>
            <p:ph idx="102" type="body" hasCustomPrompt="1"/>
          </p:nvPr>
        </p:nvSpPr>
        <p:spPr>
          <a:xfrm>
            <a:off x="548640" y="6355080"/>
            <a:ext cx="9875520" cy="320040"/>
          </a:xfrm>
          <a:prstGeom prst="rect">
            <a:avLst/>
          </a:prstGeom>
          <a:noFill/>
          <a:ln/>
        </p:spPr>
        <p:txBody>
          <a:bodyPr wrap="square" lIns="0" tIns="0" rIns="0" bIns="0" rtlCol="0" anchor="ctr"/>
          <a:lstStyle/>
          <a:p>
            <a:pPr indent="0" marL="0">
              <a:buNone/>
            </a:pPr>
            <a:r>
              <a:rPr lang="en-US" sz="1000" i="1" dirty="0">
                <a:solidFill>
                  <a:schemeClr val="accent6"/>
                </a:solidFill>
              </a:rPr>
              <a:t>Sources: 1 Kasper et al, 2020; 8 Reintjes and Zanuzdana, 2010 (full list at the end).   Reading of the curve (shape, about 10 weeks, propagated) is my own. Figure © 2020 Massachusetts Medical Society.</a:t>
            </a: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Most Had No Symptoms When Tested</a:t>
            </a:r>
            <a:endParaRPr lang="en-US" sz="3400" dirty="0"/>
          </a:p>
        </p:txBody>
      </p:sp>
      <p:sp>
        <p:nvSpPr>
          <p:cNvPr id="3" name="Text 0"/>
          <p:cNvSpPr/>
          <p:nvPr>
            <p:ph idx="101" type="body" hasCustomPrompt="1"/>
          </p:nvPr>
        </p:nvSpPr>
        <p:spPr>
          <a:xfrm>
            <a:off x="548640" y="73152"/>
            <a:ext cx="11064240"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3   </a:t>
            </a:r>
            <a:r>
              <a:rPr lang="en-US" sz="1100" b="1" spc="100" kern="0" dirty="0">
                <a:solidFill>
                  <a:schemeClr val="accent6"/>
                </a:solidFill>
              </a:rPr>
              <a:t>WHO, WHERE AND WHEN?</a:t>
            </a:r>
            <a:endParaRPr lang="en-US" sz="1100" dirty="0"/>
          </a:p>
        </p:txBody>
      </p:sp>
      <p:sp>
        <p:nvSpPr>
          <p:cNvPr id="4" name="pictograph card"/>
          <p:cNvSpPr/>
          <p:nvPr/>
        </p:nvSpPr>
        <p:spPr>
          <a:xfrm>
            <a:off x="548640" y="1325880"/>
            <a:ext cx="5760720" cy="4846320"/>
          </a:xfrm>
          <a:prstGeom prst="roundRect">
            <a:avLst>
              <a:gd name="adj" fmla="val 2264"/>
            </a:avLst>
          </a:prstGeom>
          <a:solidFill>
            <a:schemeClr val="bg2"/>
          </a:solidFill>
          <a:ln/>
        </p:spPr>
      </p:sp>
      <p:sp>
        <p:nvSpPr>
          <p:cNvPr id="5" name="Text 3"/>
          <p:cNvSpPr txBox="1"/>
          <p:nvPr/>
        </p:nvSpPr>
        <p:spPr>
          <a:xfrm>
            <a:off x="777240" y="1417320"/>
            <a:ext cx="5303520" cy="457200"/>
          </a:xfrm>
          <a:prstGeom prst="rect">
            <a:avLst/>
          </a:prstGeom>
          <a:noFill/>
          <a:ln/>
        </p:spPr>
        <p:txBody>
          <a:bodyPr wrap="square" lIns="635" tIns="635" rIns="635" bIns="635" rtlCol="0" anchor="t"/>
          <a:lstStyle/>
          <a:p>
            <a:pPr indent="0" marL="0">
              <a:buNone/>
            </a:pPr>
            <a:r>
              <a:rPr lang="en-US" sz="1900" b="1" dirty="0">
                <a:solidFill>
                  <a:schemeClr val="tx2"/>
                </a:solidFill>
                <a:latin typeface="Cambria" pitchFamily="34" charset="0"/>
                <a:ea typeface="Cambria" pitchFamily="34" charset="-122"/>
                <a:cs typeface="Cambria" pitchFamily="34" charset="-120"/>
              </a:rPr>
              <a:t>Of every 100 who tested positive...</a:t>
            </a:r>
            <a:endParaRPr lang="en-US" sz="1900" dirty="0"/>
          </a:p>
        </p:txBody>
      </p:sp>
      <p:pic>
        <p:nvPicPr>
          <p:cNvPr id="6" name="case status pictograph" descr="Ten by ten grid of 100 people: 45 navy never felt sick, 32 blue felt fine then got sick, 23 red were already sick when tested">    </p:cNvPr>
          <p:cNvPicPr>
            <a:picLocks noChangeAspect="1"/>
          </p:cNvPicPr>
          <p:nvPr/>
        </p:nvPicPr>
        <p:blipFill>
          <a:blip r:embed="rId1"/>
          <a:stretch>
            <a:fillRect/>
          </a:stretch>
        </p:blipFill>
        <p:spPr>
          <a:xfrm>
            <a:off x="822960" y="1920240"/>
            <a:ext cx="2743200" cy="3017520"/>
          </a:xfrm>
          <a:prstGeom prst="rect">
            <a:avLst/>
          </a:prstGeom>
        </p:spPr>
      </p:pic>
      <p:sp>
        <p:nvSpPr>
          <p:cNvPr id="7" name="legend swatch 1"/>
          <p:cNvSpPr/>
          <p:nvPr/>
        </p:nvSpPr>
        <p:spPr>
          <a:xfrm>
            <a:off x="3794760" y="2130552"/>
            <a:ext cx="219456" cy="219456"/>
          </a:xfrm>
          <a:prstGeom prst="rect">
            <a:avLst/>
          </a:prstGeom>
          <a:solidFill>
            <a:srgbClr val="0B2545"/>
          </a:solidFill>
          <a:ln/>
        </p:spPr>
      </p:sp>
      <p:sp>
        <p:nvSpPr>
          <p:cNvPr id="8" name="Text 5"/>
          <p:cNvSpPr txBox="1"/>
          <p:nvPr/>
        </p:nvSpPr>
        <p:spPr>
          <a:xfrm>
            <a:off x="4114800" y="2057400"/>
            <a:ext cx="2103120" cy="868680"/>
          </a:xfrm>
          <a:prstGeom prst="rect">
            <a:avLst/>
          </a:prstGeom>
          <a:noFill/>
          <a:ln/>
        </p:spPr>
        <p:txBody>
          <a:bodyPr wrap="square" lIns="254" tIns="254" rIns="254" bIns="254" rtlCol="0" anchor="t"/>
          <a:lstStyle/>
          <a:p>
            <a:pPr indent="0" marL="0">
              <a:buNone/>
            </a:pPr>
            <a:r>
              <a:rPr lang="en-US" sz="1400" b="1" dirty="0">
                <a:solidFill>
                  <a:schemeClr val="tx1"/>
                </a:solidFill>
              </a:rPr>
              <a:t>45 never had symptoms</a:t>
            </a:r>
            <a:endParaRPr lang="en-US" sz="1400" dirty="0"/>
          </a:p>
          <a:p>
            <a:pPr indent="0" marL="0">
              <a:buNone/>
            </a:pPr>
            <a:r>
              <a:rPr lang="en-US" sz="1250" dirty="0">
                <a:solidFill>
                  <a:srgbClr val="5C6B7A"/>
                </a:solidFill>
              </a:rPr>
              <a:t>(asymptomatic)</a:t>
            </a:r>
            <a:endParaRPr lang="en-US" sz="1400" dirty="0"/>
          </a:p>
        </p:txBody>
      </p:sp>
      <p:sp>
        <p:nvSpPr>
          <p:cNvPr id="9" name="legend swatch 2"/>
          <p:cNvSpPr/>
          <p:nvPr/>
        </p:nvSpPr>
        <p:spPr>
          <a:xfrm>
            <a:off x="3794760" y="3090672"/>
            <a:ext cx="219456" cy="219456"/>
          </a:xfrm>
          <a:prstGeom prst="rect">
            <a:avLst/>
          </a:prstGeom>
          <a:solidFill>
            <a:srgbClr val="3B6EA5"/>
          </a:solidFill>
          <a:ln/>
        </p:spPr>
      </p:sp>
      <p:sp>
        <p:nvSpPr>
          <p:cNvPr id="10" name="Text 7"/>
          <p:cNvSpPr txBox="1"/>
          <p:nvPr/>
        </p:nvSpPr>
        <p:spPr>
          <a:xfrm>
            <a:off x="4114800" y="3017520"/>
            <a:ext cx="2103120" cy="868680"/>
          </a:xfrm>
          <a:prstGeom prst="rect">
            <a:avLst/>
          </a:prstGeom>
          <a:noFill/>
          <a:ln/>
        </p:spPr>
        <p:txBody>
          <a:bodyPr wrap="square" lIns="254" tIns="254" rIns="254" bIns="254" rtlCol="0" anchor="t"/>
          <a:lstStyle/>
          <a:p>
            <a:pPr indent="0" marL="0">
              <a:buNone/>
            </a:pPr>
            <a:r>
              <a:rPr lang="en-US" sz="1400" b="1" dirty="0">
                <a:solidFill>
                  <a:schemeClr val="tx1"/>
                </a:solidFill>
              </a:rPr>
              <a:t>32 had no symptoms when tested, then got them</a:t>
            </a:r>
            <a:endParaRPr lang="en-US" sz="1400" dirty="0"/>
          </a:p>
          <a:p>
            <a:pPr indent="0" marL="0">
              <a:buNone/>
            </a:pPr>
            <a:r>
              <a:rPr lang="en-US" sz="1250" dirty="0">
                <a:solidFill>
                  <a:srgbClr val="5C6B7A"/>
                </a:solidFill>
              </a:rPr>
              <a:t>(presymptomatic)</a:t>
            </a:r>
            <a:endParaRPr lang="en-US" sz="1400" dirty="0"/>
          </a:p>
        </p:txBody>
      </p:sp>
      <p:sp>
        <p:nvSpPr>
          <p:cNvPr id="11" name="legend swatch 3"/>
          <p:cNvSpPr/>
          <p:nvPr/>
        </p:nvSpPr>
        <p:spPr>
          <a:xfrm>
            <a:off x="3794760" y="4050792"/>
            <a:ext cx="219456" cy="219456"/>
          </a:xfrm>
          <a:prstGeom prst="rect">
            <a:avLst/>
          </a:prstGeom>
          <a:solidFill>
            <a:srgbClr val="D1495B"/>
          </a:solidFill>
          <a:ln/>
        </p:spPr>
      </p:sp>
      <p:sp>
        <p:nvSpPr>
          <p:cNvPr id="12" name="Text 9"/>
          <p:cNvSpPr txBox="1"/>
          <p:nvPr/>
        </p:nvSpPr>
        <p:spPr>
          <a:xfrm>
            <a:off x="4114800" y="3977640"/>
            <a:ext cx="2103120" cy="868680"/>
          </a:xfrm>
          <a:prstGeom prst="rect">
            <a:avLst/>
          </a:prstGeom>
          <a:noFill/>
          <a:ln/>
        </p:spPr>
        <p:txBody>
          <a:bodyPr wrap="square" lIns="254" tIns="254" rIns="254" bIns="254" rtlCol="0" anchor="t"/>
          <a:lstStyle/>
          <a:p>
            <a:pPr indent="0" marL="0">
              <a:buNone/>
            </a:pPr>
            <a:r>
              <a:rPr lang="en-US" sz="1400" b="1" dirty="0">
                <a:solidFill>
                  <a:schemeClr val="tx1"/>
                </a:solidFill>
              </a:rPr>
              <a:t>23 already had symptoms when tested</a:t>
            </a:r>
            <a:endParaRPr lang="en-US" sz="1400" dirty="0"/>
          </a:p>
          <a:p>
            <a:pPr indent="0" marL="0">
              <a:buNone/>
            </a:pPr>
            <a:r>
              <a:rPr lang="en-US" sz="1250" dirty="0">
                <a:solidFill>
                  <a:srgbClr val="5C6B7A"/>
                </a:solidFill>
              </a:rPr>
              <a:t>(symptomatic)</a:t>
            </a:r>
            <a:endParaRPr lang="en-US" sz="1400" dirty="0"/>
          </a:p>
        </p:txBody>
      </p:sp>
      <p:sp>
        <p:nvSpPr>
          <p:cNvPr id="13" name="Text 10"/>
          <p:cNvSpPr txBox="1"/>
          <p:nvPr/>
        </p:nvSpPr>
        <p:spPr>
          <a:xfrm>
            <a:off x="777240" y="5074920"/>
            <a:ext cx="5394960" cy="1005840"/>
          </a:xfrm>
          <a:prstGeom prst="rect">
            <a:avLst/>
          </a:prstGeom>
          <a:noFill/>
          <a:ln/>
        </p:spPr>
        <p:txBody>
          <a:bodyPr wrap="square" lIns="635" tIns="635" rIns="635" bIns="635" rtlCol="0" anchor="ctr"/>
          <a:lstStyle/>
          <a:p>
            <a:pPr indent="0" marL="0">
              <a:buNone/>
            </a:pPr>
            <a:r>
              <a:rPr lang="en-US" sz="1450" b="1" dirty="0">
                <a:solidFill>
                  <a:schemeClr val="accent2"/>
                </a:solidFill>
              </a:rPr>
              <a:t>“Silent carrier” (my shorthand) = </a:t>
            </a:r>
            <a:r>
              <a:rPr lang="en-US" sz="1450" dirty="0">
                <a:solidFill>
                  <a:schemeClr val="tx1"/>
                </a:solidFill>
              </a:rPr>
              <a:t>an infected person without symptoms, not yet or never; both can spread the virus</a:t>
            </a:r>
            <a:r>
              <a:rPr lang="en-US" sz="1450" dirty="0">
                <a:solidFill>
                  <a:schemeClr val="tx1"/>
                </a:solidFill>
              </a:rPr>
              <a:t>.</a:t>
            </a:r>
            <a:r>
              <a:rPr lang="en-US" sz="1450" baseline="30000" dirty="0">
                <a:solidFill>
                  <a:schemeClr val="tx1"/>
                </a:solidFill>
              </a:rPr>
              <a:t>4</a:t>
            </a:r>
            <a:endParaRPr lang="en-US" sz="1450" dirty="0"/>
          </a:p>
        </p:txBody>
      </p:sp>
      <p:sp>
        <p:nvSpPr>
          <p:cNvPr id="14" name="stat 77"/>
          <p:cNvSpPr/>
          <p:nvPr/>
        </p:nvSpPr>
        <p:spPr>
          <a:xfrm>
            <a:off x="6537960" y="1325880"/>
            <a:ext cx="5074920" cy="1691640"/>
          </a:xfrm>
          <a:prstGeom prst="roundRect">
            <a:avLst>
              <a:gd name="adj" fmla="val 6486"/>
            </a:avLst>
          </a:prstGeom>
          <a:solidFill>
            <a:schemeClr val="bg2"/>
          </a:solidFill>
          <a:ln/>
        </p:spPr>
      </p:sp>
      <p:sp>
        <p:nvSpPr>
          <p:cNvPr id="15" name="Text 12"/>
          <p:cNvSpPr txBox="1"/>
          <p:nvPr/>
        </p:nvSpPr>
        <p:spPr>
          <a:xfrm>
            <a:off x="6675120" y="1417320"/>
            <a:ext cx="1554480" cy="1508760"/>
          </a:xfrm>
          <a:prstGeom prst="rect">
            <a:avLst/>
          </a:prstGeom>
          <a:noFill/>
          <a:ln/>
        </p:spPr>
        <p:txBody>
          <a:bodyPr wrap="square" lIns="635" tIns="635" rIns="635" bIns="635" rtlCol="0" anchor="ctr"/>
          <a:lstStyle/>
          <a:p>
            <a:pPr algn="ctr" indent="0" marL="0">
              <a:buNone/>
            </a:pPr>
            <a:r>
              <a:rPr lang="en-US" sz="6000" b="1" dirty="0">
                <a:solidFill>
                  <a:schemeClr val="accent2"/>
                </a:solidFill>
                <a:latin typeface="Cambria" pitchFamily="34" charset="0"/>
                <a:ea typeface="Cambria" pitchFamily="34" charset="-122"/>
                <a:cs typeface="Cambria" pitchFamily="34" charset="-120"/>
              </a:rPr>
              <a:t>77</a:t>
            </a:r>
            <a:endParaRPr lang="en-US" sz="6000" dirty="0"/>
          </a:p>
        </p:txBody>
      </p:sp>
      <p:sp>
        <p:nvSpPr>
          <p:cNvPr id="16" name="Text 13"/>
          <p:cNvSpPr txBox="1"/>
          <p:nvPr/>
        </p:nvSpPr>
        <p:spPr>
          <a:xfrm>
            <a:off x="8275320" y="1417320"/>
            <a:ext cx="3200400" cy="1508760"/>
          </a:xfrm>
          <a:prstGeom prst="rect">
            <a:avLst/>
          </a:prstGeom>
          <a:noFill/>
          <a:ln/>
        </p:spPr>
        <p:txBody>
          <a:bodyPr wrap="square" lIns="635" tIns="635" rIns="635" bIns="635" rtlCol="0" anchor="ctr"/>
          <a:lstStyle/>
          <a:p>
            <a:pPr indent="0" marL="0">
              <a:buNone/>
            </a:pPr>
            <a:r>
              <a:rPr lang="en-US" sz="1500" dirty="0">
                <a:solidFill>
                  <a:schemeClr val="tx1"/>
                </a:solidFill>
              </a:rPr>
              <a:t>of every 100 sailors who tested positive had no symptoms on the day of their test (45 + 32), about 3 in 4 (article: 76.9%)</a:t>
            </a:r>
            <a:r>
              <a:rPr lang="en-US" sz="1500" baseline="30000" dirty="0">
                <a:solidFill>
                  <a:schemeClr val="tx1"/>
                </a:solidFill>
              </a:rPr>
              <a:t>1</a:t>
            </a:r>
            <a:endParaRPr lang="en-US" sz="1500" dirty="0"/>
          </a:p>
        </p:txBody>
      </p:sp>
      <p:sp>
        <p:nvSpPr>
          <p:cNvPr id="17" name="other settings"/>
          <p:cNvSpPr/>
          <p:nvPr/>
        </p:nvSpPr>
        <p:spPr>
          <a:xfrm>
            <a:off x="6537960" y="3154680"/>
            <a:ext cx="5074920" cy="1417320"/>
          </a:xfrm>
          <a:prstGeom prst="roundRect">
            <a:avLst>
              <a:gd name="adj" fmla="val 7742"/>
            </a:avLst>
          </a:prstGeom>
          <a:solidFill>
            <a:schemeClr val="bg2"/>
          </a:solidFill>
          <a:ln/>
        </p:spPr>
      </p:sp>
      <p:sp>
        <p:nvSpPr>
          <p:cNvPr id="18" name="other settings icon circle"/>
          <p:cNvSpPr/>
          <p:nvPr/>
        </p:nvSpPr>
        <p:spPr>
          <a:xfrm>
            <a:off x="6720840" y="3520440"/>
            <a:ext cx="685800" cy="685800"/>
          </a:xfrm>
          <a:prstGeom prst="ellipse">
            <a:avLst/>
          </a:prstGeom>
          <a:solidFill>
            <a:schemeClr val="accent1"/>
          </a:solidFill>
          <a:ln/>
        </p:spPr>
      </p:sp>
      <p:pic>
        <p:nvPicPr>
          <p:cNvPr id="19" name="other settings icon" descr="other settings icon">    </p:cNvPr>
          <p:cNvPicPr>
            <a:picLocks noChangeAspect="1"/>
          </p:cNvPicPr>
          <p:nvPr/>
        </p:nvPicPr>
        <p:blipFill>
          <a:blip r:embed="rId2"/>
          <a:stretch>
            <a:fillRect/>
          </a:stretch>
        </p:blipFill>
        <p:spPr>
          <a:xfrm>
            <a:off x="6885432" y="3685032"/>
            <a:ext cx="356616" cy="356616"/>
          </a:xfrm>
          <a:prstGeom prst="rect">
            <a:avLst/>
          </a:prstGeom>
        </p:spPr>
      </p:pic>
      <p:sp>
        <p:nvSpPr>
          <p:cNvPr id="20" name="Text 16"/>
          <p:cNvSpPr txBox="1"/>
          <p:nvPr/>
        </p:nvSpPr>
        <p:spPr>
          <a:xfrm>
            <a:off x="7589520" y="3200400"/>
            <a:ext cx="3886200" cy="1325880"/>
          </a:xfrm>
          <a:prstGeom prst="rect">
            <a:avLst/>
          </a:prstGeom>
          <a:noFill/>
          <a:ln/>
        </p:spPr>
        <p:txBody>
          <a:bodyPr wrap="square" lIns="635" tIns="635" rIns="635" bIns="635" rtlCol="0" anchor="ctr"/>
          <a:lstStyle/>
          <a:p>
            <a:pPr indent="0" marL="0">
              <a:buNone/>
            </a:pPr>
            <a:r>
              <a:rPr lang="en-US" sz="1350" b="1" dirty="0">
                <a:solidFill>
                  <a:schemeClr val="tx2"/>
                </a:solidFill>
              </a:rPr>
              <a:t>Not just this ship. </a:t>
            </a:r>
            <a:r>
              <a:rPr lang="en-US" sz="1350" dirty="0">
                <a:solidFill>
                  <a:schemeClr val="tx1"/>
                </a:solidFill>
              </a:rPr>
              <a:t>On the Diamond Princess cruise ship, 46.5% of people who tested positive had no symptoms when tested</a:t>
            </a:r>
            <a:r>
              <a:rPr lang="en-US" sz="1350" dirty="0">
                <a:solidFill>
                  <a:schemeClr val="tx1"/>
                </a:solidFill>
              </a:rPr>
              <a:t>.</a:t>
            </a:r>
            <a:r>
              <a:rPr lang="en-US" sz="1350" baseline="30000" dirty="0">
                <a:solidFill>
                  <a:schemeClr val="tx1"/>
                </a:solidFill>
              </a:rPr>
              <a:t>11</a:t>
            </a:r>
            <a:r>
              <a:rPr lang="en-US" sz="1350" dirty="0">
                <a:solidFill>
                  <a:schemeClr val="tx1"/>
                </a:solidFill>
              </a:rPr>
              <a:t> A review pooling 77 studies found about 4 in 10 confirmed cases had no symptoms when tested</a:t>
            </a:r>
            <a:r>
              <a:rPr lang="en-US" sz="1350" dirty="0">
                <a:solidFill>
                  <a:schemeClr val="tx1"/>
                </a:solidFill>
              </a:rPr>
              <a:t>.</a:t>
            </a:r>
            <a:r>
              <a:rPr lang="en-US" sz="1350" baseline="30000" dirty="0">
                <a:solidFill>
                  <a:schemeClr val="tx1"/>
                </a:solidFill>
              </a:rPr>
              <a:t>12</a:t>
            </a:r>
            <a:endParaRPr lang="en-US" sz="1350" dirty="0"/>
          </a:p>
        </p:txBody>
      </p:sp>
      <p:sp>
        <p:nvSpPr>
          <p:cNvPr id="21" name="so what"/>
          <p:cNvSpPr/>
          <p:nvPr/>
        </p:nvSpPr>
        <p:spPr>
          <a:xfrm>
            <a:off x="6537960" y="4709160"/>
            <a:ext cx="5074920" cy="1463040"/>
          </a:xfrm>
          <a:prstGeom prst="roundRect">
            <a:avLst>
              <a:gd name="adj" fmla="val 7500"/>
            </a:avLst>
          </a:prstGeom>
          <a:solidFill>
            <a:schemeClr val="tx2"/>
          </a:solidFill>
          <a:ln/>
        </p:spPr>
      </p:sp>
      <p:sp>
        <p:nvSpPr>
          <p:cNvPr id="22" name="Text 18"/>
          <p:cNvSpPr txBox="1"/>
          <p:nvPr/>
        </p:nvSpPr>
        <p:spPr>
          <a:xfrm>
            <a:off x="6720840" y="4754880"/>
            <a:ext cx="4709160" cy="1371600"/>
          </a:xfrm>
          <a:prstGeom prst="rect">
            <a:avLst/>
          </a:prstGeom>
          <a:noFill/>
          <a:ln/>
        </p:spPr>
        <p:txBody>
          <a:bodyPr wrap="square" lIns="635" tIns="635" rIns="635" bIns="635" rtlCol="0" anchor="ctr"/>
          <a:lstStyle/>
          <a:p>
            <a:pPr indent="0" marL="0">
              <a:buNone/>
            </a:pPr>
            <a:r>
              <a:rPr lang="en-US" sz="1350" b="1" dirty="0">
                <a:solidFill>
                  <a:schemeClr val="accent4"/>
                </a:solidFill>
              </a:rPr>
              <a:t>So what? </a:t>
            </a:r>
            <a:r>
              <a:rPr lang="en-US" sz="1350" dirty="0">
                <a:solidFill>
                  <a:schemeClr val="bg1"/>
                </a:solidFill>
              </a:rPr>
              <a:t>The authors suggest that sailors with no or mild symptoms played an important role in the rapid spread.</a:t>
            </a:r>
            <a:r>
              <a:rPr lang="en-US" sz="1350" baseline="30000" dirty="0">
                <a:solidFill>
                  <a:schemeClr val="bg1"/>
                </a:solidFill>
              </a:rPr>
              <a:t>1</a:t>
            </a:r>
            <a:r>
              <a:rPr lang="en-US" sz="1350" dirty="0">
                <a:solidFill>
                  <a:schemeClr val="bg1"/>
                </a:solidFill>
              </a:rPr>
              <a:t> A CDC model estimates that at least half of all spread comes from people without symptoms.</a:t>
            </a:r>
            <a:r>
              <a:rPr lang="en-US" sz="1350" baseline="30000" dirty="0">
                <a:solidFill>
                  <a:schemeClr val="bg1"/>
                </a:solidFill>
              </a:rPr>
              <a:t>4</a:t>
            </a:r>
            <a:endParaRPr lang="en-US" sz="1350" dirty="0"/>
          </a:p>
        </p:txBody>
      </p:sp>
      <p:sp>
        <p:nvSpPr>
          <p:cNvPr id="24" name="Text 0"/>
          <p:cNvSpPr/>
          <p:nvPr>
            <p:ph idx="102" type="body" hasCustomPrompt="1"/>
          </p:nvPr>
        </p:nvSpPr>
        <p:spPr>
          <a:xfrm>
            <a:off x="548640" y="6355080"/>
            <a:ext cx="9875520" cy="320040"/>
          </a:xfrm>
          <a:prstGeom prst="rect">
            <a:avLst/>
          </a:prstGeom>
          <a:noFill/>
          <a:ln/>
        </p:spPr>
        <p:txBody>
          <a:bodyPr wrap="square" lIns="0" tIns="0" rIns="0" bIns="0" rtlCol="0" anchor="ctr"/>
          <a:lstStyle/>
          <a:p>
            <a:pPr indent="0" marL="0">
              <a:buNone/>
            </a:pPr>
            <a:r>
              <a:rPr lang="en-US" sz="1000" i="1" dirty="0">
                <a:solidFill>
                  <a:schemeClr val="accent6"/>
                </a:solidFill>
              </a:rPr>
              <a:t>Sources: 1 Kasper et al, 2020; 4 Johansson et al, 2021; 11 Moriarty et al, 2020; 12 Ma et al, 2021 (full list at the end).   Out-of-100 figures = my calculation: 572, 406 and 293 ÷ 1,271. The paper's 43.0%, 30.5% and 22.0% divide by 1,331 (confirmed + suspected).</a:t>
            </a: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Person: Who Was Affected?</a:t>
            </a:r>
            <a:endParaRPr lang="en-US" sz="3400" dirty="0"/>
          </a:p>
        </p:txBody>
      </p:sp>
      <p:sp>
        <p:nvSpPr>
          <p:cNvPr id="3" name="Text 0"/>
          <p:cNvSpPr/>
          <p:nvPr>
            <p:ph idx="101" type="body" hasCustomPrompt="1"/>
          </p:nvPr>
        </p:nvSpPr>
        <p:spPr>
          <a:xfrm>
            <a:off x="548640" y="73152"/>
            <a:ext cx="11064240"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3   </a:t>
            </a:r>
            <a:r>
              <a:rPr lang="en-US" sz="1100" b="1" spc="100" kern="0" dirty="0">
                <a:solidFill>
                  <a:schemeClr val="accent6"/>
                </a:solidFill>
              </a:rPr>
              <a:t>WHO, WHERE AND WHEN?</a:t>
            </a:r>
            <a:endParaRPr lang="en-US" sz="1100" dirty="0"/>
          </a:p>
        </p:txBody>
      </p:sp>
      <p:graphicFrame>
        <p:nvGraphicFramePr>
          <p:cNvPr id="4" name="Chart 0" descr=""/>
          <p:cNvGraphicFramePr/>
          <p:nvPr/>
        </p:nvGraphicFramePr>
        <p:xfrm>
          <a:off x="548640" y="1325880"/>
          <a:ext cx="6949440" cy="4434840"/>
        </p:xfrm>
        <a:graphic xmlns:a="http://schemas.openxmlformats.org/drawingml/2006/main">
          <a:graphicData uri="http://schemas.openxmlformats.org/drawingml/2006/chart">
            <c:chart xmlns:c="http://schemas.openxmlformats.org/drawingml/2006/chart" r:id="rId1"/>
          </a:graphicData>
        </a:graphic>
      </p:graphicFrame>
      <p:sp>
        <p:nvSpPr>
          <p:cNvPr id="5" name="higher odds swatch"/>
          <p:cNvSpPr/>
          <p:nvPr/>
        </p:nvSpPr>
        <p:spPr>
          <a:xfrm>
            <a:off x="685800" y="5897880"/>
            <a:ext cx="201168" cy="201168"/>
          </a:xfrm>
          <a:prstGeom prst="rect">
            <a:avLst/>
          </a:prstGeom>
          <a:solidFill>
            <a:srgbClr val="D1495B"/>
          </a:solidFill>
          <a:ln/>
        </p:spPr>
      </p:sp>
      <p:sp>
        <p:nvSpPr>
          <p:cNvPr id="6" name="Text 3"/>
          <p:cNvSpPr txBox="1"/>
          <p:nvPr/>
        </p:nvSpPr>
        <p:spPr>
          <a:xfrm>
            <a:off x="960120" y="5779008"/>
            <a:ext cx="6537960" cy="457200"/>
          </a:xfrm>
          <a:prstGeom prst="rect">
            <a:avLst/>
          </a:prstGeom>
          <a:noFill/>
          <a:ln/>
        </p:spPr>
        <p:txBody>
          <a:bodyPr wrap="square" lIns="635" tIns="635" rIns="635" bIns="635" rtlCol="0" anchor="ctr"/>
          <a:lstStyle/>
          <a:p>
            <a:pPr indent="0" marL="0">
              <a:buNone/>
            </a:pPr>
            <a:r>
              <a:rPr lang="en-US" sz="1200" i="1" dirty="0">
                <a:solidFill>
                  <a:schemeClr val="accent6"/>
                </a:solidFill>
              </a:rPr>
              <a:t>Red = groups with higher odds of being a case than their comparison group (officers; BMI under 25), per the odds ratios the article reports</a:t>
            </a:r>
            <a:r>
              <a:rPr lang="en-US" sz="1200" i="1" baseline="30000" dirty="0">
                <a:solidFill>
                  <a:schemeClr val="accent6"/>
                </a:solidFill>
              </a:rPr>
              <a:t>1</a:t>
            </a:r>
            <a:endParaRPr lang="en-US" sz="1200" dirty="0"/>
          </a:p>
        </p:txBody>
      </p:sp>
      <p:sp>
        <p:nvSpPr>
          <p:cNvPr id="7" name="Sex and race card"/>
          <p:cNvSpPr/>
          <p:nvPr/>
        </p:nvSpPr>
        <p:spPr>
          <a:xfrm>
            <a:off x="7726680" y="1325880"/>
            <a:ext cx="3886200" cy="1508760"/>
          </a:xfrm>
          <a:prstGeom prst="roundRect">
            <a:avLst>
              <a:gd name="adj" fmla="val 7273"/>
            </a:avLst>
          </a:prstGeom>
          <a:solidFill>
            <a:schemeClr val="bg2"/>
          </a:solidFill>
          <a:ln/>
        </p:spPr>
      </p:sp>
      <p:sp>
        <p:nvSpPr>
          <p:cNvPr id="8" name="Sex and race icon circle"/>
          <p:cNvSpPr/>
          <p:nvPr/>
        </p:nvSpPr>
        <p:spPr>
          <a:xfrm>
            <a:off x="7955280" y="1760220"/>
            <a:ext cx="640080" cy="640080"/>
          </a:xfrm>
          <a:prstGeom prst="ellipse">
            <a:avLst/>
          </a:prstGeom>
          <a:solidFill>
            <a:schemeClr val="accent1"/>
          </a:solidFill>
          <a:ln/>
        </p:spPr>
      </p:sp>
      <p:pic>
        <p:nvPicPr>
          <p:cNvPr id="9" name="Sex and race icon" descr="Sex and race icon">    </p:cNvPr>
          <p:cNvPicPr>
            <a:picLocks noChangeAspect="1"/>
          </p:cNvPicPr>
          <p:nvPr/>
        </p:nvPicPr>
        <p:blipFill>
          <a:blip r:embed="rId2"/>
          <a:stretch>
            <a:fillRect/>
          </a:stretch>
        </p:blipFill>
        <p:spPr>
          <a:xfrm>
            <a:off x="8108899" y="1913839"/>
            <a:ext cx="332842" cy="332842"/>
          </a:xfrm>
          <a:prstGeom prst="rect">
            <a:avLst/>
          </a:prstGeom>
        </p:spPr>
      </p:pic>
      <p:sp>
        <p:nvSpPr>
          <p:cNvPr id="10" name="Text 6"/>
          <p:cNvSpPr txBox="1"/>
          <p:nvPr/>
        </p:nvSpPr>
        <p:spPr>
          <a:xfrm>
            <a:off x="8823960" y="1380744"/>
            <a:ext cx="2606040" cy="1399032"/>
          </a:xfrm>
          <a:prstGeom prst="rect">
            <a:avLst/>
          </a:prstGeom>
          <a:noFill/>
          <a:ln/>
        </p:spPr>
        <p:txBody>
          <a:bodyPr wrap="square" lIns="635" tIns="635" rIns="635" bIns="635" rtlCol="0" anchor="ctr"/>
          <a:lstStyle/>
          <a:p>
            <a:pPr indent="0" marL="0">
              <a:buNone/>
            </a:pPr>
            <a:r>
              <a:rPr lang="en-US" sz="1600" b="1" dirty="0">
                <a:solidFill>
                  <a:schemeClr val="tx2"/>
                </a:solidFill>
              </a:rPr>
              <a:t>Sex and race</a:t>
            </a:r>
            <a:endParaRPr lang="en-US" sz="1350" dirty="0"/>
          </a:p>
          <a:p>
            <a:pPr indent="0" marL="0">
              <a:buNone/>
            </a:pPr>
            <a:r>
              <a:rPr lang="en-US" sz="1350" dirty="0">
                <a:solidFill>
                  <a:schemeClr val="tx1"/>
                </a:solidFill>
              </a:rPr>
              <a:t>Little difference: about 28 of every 100 men and women, and 24 to 31 across racial and ethnic groups</a:t>
            </a:r>
            <a:r>
              <a:rPr lang="en-US" sz="1350" baseline="30000" dirty="0">
                <a:solidFill>
                  <a:schemeClr val="tx1"/>
                </a:solidFill>
              </a:rPr>
              <a:t>1</a:t>
            </a:r>
            <a:endParaRPr lang="en-US" sz="1350" dirty="0"/>
          </a:p>
        </p:txBody>
      </p:sp>
      <p:sp>
        <p:nvSpPr>
          <p:cNvPr id="11" name="Age card"/>
          <p:cNvSpPr/>
          <p:nvPr/>
        </p:nvSpPr>
        <p:spPr>
          <a:xfrm>
            <a:off x="7726680" y="2994660"/>
            <a:ext cx="3886200" cy="1508760"/>
          </a:xfrm>
          <a:prstGeom prst="roundRect">
            <a:avLst>
              <a:gd name="adj" fmla="val 7273"/>
            </a:avLst>
          </a:prstGeom>
          <a:solidFill>
            <a:schemeClr val="bg2"/>
          </a:solidFill>
          <a:ln/>
        </p:spPr>
      </p:sp>
      <p:sp>
        <p:nvSpPr>
          <p:cNvPr id="12" name="Age icon circle"/>
          <p:cNvSpPr/>
          <p:nvPr/>
        </p:nvSpPr>
        <p:spPr>
          <a:xfrm>
            <a:off x="7955280" y="3429000"/>
            <a:ext cx="640080" cy="640080"/>
          </a:xfrm>
          <a:prstGeom prst="ellipse">
            <a:avLst/>
          </a:prstGeom>
          <a:solidFill>
            <a:schemeClr val="accent1"/>
          </a:solidFill>
          <a:ln/>
        </p:spPr>
      </p:sp>
      <p:pic>
        <p:nvPicPr>
          <p:cNvPr id="13" name="Age icon" descr="Age icon">    </p:cNvPr>
          <p:cNvPicPr>
            <a:picLocks noChangeAspect="1"/>
          </p:cNvPicPr>
          <p:nvPr/>
        </p:nvPicPr>
        <p:blipFill>
          <a:blip r:embed="rId3"/>
          <a:stretch>
            <a:fillRect/>
          </a:stretch>
        </p:blipFill>
        <p:spPr>
          <a:xfrm>
            <a:off x="8108899" y="3582619"/>
            <a:ext cx="332842" cy="332842"/>
          </a:xfrm>
          <a:prstGeom prst="rect">
            <a:avLst/>
          </a:prstGeom>
        </p:spPr>
      </p:pic>
      <p:sp>
        <p:nvSpPr>
          <p:cNvPr id="14" name="Text 9"/>
          <p:cNvSpPr txBox="1"/>
          <p:nvPr/>
        </p:nvSpPr>
        <p:spPr>
          <a:xfrm>
            <a:off x="8823960" y="3049524"/>
            <a:ext cx="2606040" cy="1399032"/>
          </a:xfrm>
          <a:prstGeom prst="rect">
            <a:avLst/>
          </a:prstGeom>
          <a:noFill/>
          <a:ln/>
        </p:spPr>
        <p:txBody>
          <a:bodyPr wrap="square" lIns="635" tIns="635" rIns="635" bIns="635" rtlCol="0" anchor="ctr"/>
          <a:lstStyle/>
          <a:p>
            <a:pPr indent="0" marL="0">
              <a:buNone/>
            </a:pPr>
            <a:r>
              <a:rPr lang="en-US" sz="1600" b="1" dirty="0">
                <a:solidFill>
                  <a:schemeClr val="tx2"/>
                </a:solidFill>
              </a:rPr>
              <a:t>Age</a:t>
            </a:r>
            <a:endParaRPr lang="en-US" sz="1350" dirty="0"/>
          </a:p>
          <a:p>
            <a:pPr indent="0" marL="0">
              <a:buNone/>
            </a:pPr>
            <a:r>
              <a:rPr lang="en-US" sz="1350" dirty="0">
                <a:solidFill>
                  <a:schemeClr val="tx1"/>
                </a:solidFill>
              </a:rPr>
              <a:t>Average age was 27 for infected and uninfected sailors alike. No rates by age group were reported</a:t>
            </a:r>
            <a:r>
              <a:rPr lang="en-US" sz="1350" baseline="30000" dirty="0">
                <a:solidFill>
                  <a:schemeClr val="tx1"/>
                </a:solidFill>
              </a:rPr>
              <a:t>1</a:t>
            </a:r>
            <a:endParaRPr lang="en-US" sz="1350" dirty="0"/>
          </a:p>
        </p:txBody>
      </p:sp>
      <p:sp>
        <p:nvSpPr>
          <p:cNvPr id="15" name="rank card"/>
          <p:cNvSpPr/>
          <p:nvPr/>
        </p:nvSpPr>
        <p:spPr>
          <a:xfrm>
            <a:off x="7726680" y="4663440"/>
            <a:ext cx="3886200" cy="1508760"/>
          </a:xfrm>
          <a:prstGeom prst="roundRect">
            <a:avLst>
              <a:gd name="adj" fmla="val 7273"/>
            </a:avLst>
          </a:prstGeom>
          <a:solidFill>
            <a:schemeClr val="bg2"/>
          </a:solidFill>
          <a:ln/>
        </p:spPr>
      </p:sp>
      <p:pic>
        <p:nvPicPr>
          <p:cNvPr id="16" name="berthing thumbnail" descr="An unoccupied berthing aboard the carrier (article Figure S1)">    </p:cNvPr>
          <p:cNvPicPr>
            <a:picLocks noChangeAspect="1"/>
          </p:cNvPicPr>
          <p:nvPr/>
        </p:nvPicPr>
        <p:blipFill>
          <a:blip r:embed="rId4"/>
          <a:stretch>
            <a:fillRect/>
          </a:stretch>
        </p:blipFill>
        <p:spPr>
          <a:xfrm>
            <a:off x="7836408" y="4965192"/>
            <a:ext cx="1353312" cy="905256"/>
          </a:xfrm>
          <a:prstGeom prst="rect">
            <a:avLst/>
          </a:prstGeom>
        </p:spPr>
      </p:pic>
      <p:sp>
        <p:nvSpPr>
          <p:cNvPr id="17" name="Text 11"/>
          <p:cNvSpPr txBox="1"/>
          <p:nvPr/>
        </p:nvSpPr>
        <p:spPr>
          <a:xfrm>
            <a:off x="9281160" y="4718304"/>
            <a:ext cx="2194560" cy="1399032"/>
          </a:xfrm>
          <a:prstGeom prst="rect">
            <a:avLst/>
          </a:prstGeom>
          <a:noFill/>
          <a:ln/>
        </p:spPr>
        <p:txBody>
          <a:bodyPr wrap="square" lIns="635" tIns="635" rIns="635" bIns="635" rtlCol="0" anchor="ctr"/>
          <a:lstStyle/>
          <a:p>
            <a:pPr indent="0" marL="0">
              <a:buNone/>
            </a:pPr>
            <a:r>
              <a:rPr lang="en-US" sz="1600" b="1" dirty="0">
                <a:solidFill>
                  <a:schemeClr val="tx2"/>
                </a:solidFill>
              </a:rPr>
              <a:t>Rank</a:t>
            </a:r>
            <a:endParaRPr lang="en-US" sz="1300" dirty="0"/>
          </a:p>
          <a:p>
            <a:pPr indent="0" marL="0">
              <a:buNone/>
            </a:pPr>
            <a:r>
              <a:rPr lang="en-US" sz="1300" dirty="0">
                <a:solidFill>
                  <a:schemeClr val="tx1"/>
                </a:solidFill>
              </a:rPr>
              <a:t>Enlisted 29 of 100 vs officers 21 of 100. The authors say crowded enlisted sleeping, working and gathering conditions probably contributed</a:t>
            </a:r>
            <a:r>
              <a:rPr lang="en-US" sz="1300" baseline="30000" dirty="0">
                <a:solidFill>
                  <a:schemeClr val="tx1"/>
                </a:solidFill>
              </a:rPr>
              <a:t>1</a:t>
            </a:r>
            <a:endParaRPr lang="en-US" sz="1300" dirty="0"/>
          </a:p>
        </p:txBody>
      </p:sp>
      <p:sp>
        <p:nvSpPr>
          <p:cNvPr id="19" name="Text 0"/>
          <p:cNvSpPr/>
          <p:nvPr>
            <p:ph idx="102" type="body" hasCustomPrompt="1"/>
          </p:nvPr>
        </p:nvSpPr>
        <p:spPr>
          <a:xfrm>
            <a:off x="548640" y="6355080"/>
            <a:ext cx="9875520" cy="320040"/>
          </a:xfrm>
          <a:prstGeom prst="rect">
            <a:avLst/>
          </a:prstGeom>
          <a:noFill/>
          <a:ln/>
        </p:spPr>
        <p:txBody>
          <a:bodyPr wrap="square" lIns="0" tIns="0" rIns="0" bIns="0" rtlCol="0" anchor="ctr"/>
          <a:lstStyle/>
          <a:p>
            <a:pPr indent="0" marL="0">
              <a:buNone/>
            </a:pPr>
            <a:r>
              <a:rPr lang="en-US" sz="1000" i="1" dirty="0">
                <a:solidFill>
                  <a:schemeClr val="accent6"/>
                </a:solidFill>
              </a:rPr>
              <a:t>Sources: 1 Kasper et al, 2020 (full list at the end).   Rates = my calculation from Table 1 counts (confirmed or suspected cases ÷ group size).</a:t>
            </a: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Place: Where Sailors Worked Mattered</a:t>
            </a:r>
            <a:endParaRPr lang="en-US" sz="3400" dirty="0"/>
          </a:p>
        </p:txBody>
      </p:sp>
      <p:sp>
        <p:nvSpPr>
          <p:cNvPr id="3" name="Text 0"/>
          <p:cNvSpPr/>
          <p:nvPr>
            <p:ph idx="101" type="body" hasCustomPrompt="1"/>
          </p:nvPr>
        </p:nvSpPr>
        <p:spPr>
          <a:xfrm>
            <a:off x="548640" y="73152"/>
            <a:ext cx="11064240"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3   </a:t>
            </a:r>
            <a:r>
              <a:rPr lang="en-US" sz="1100" b="1" spc="100" kern="0" dirty="0">
                <a:solidFill>
                  <a:schemeClr val="accent6"/>
                </a:solidFill>
              </a:rPr>
              <a:t>WHO, WHERE AND WHEN?</a:t>
            </a:r>
            <a:endParaRPr lang="en-US" sz="1100" dirty="0"/>
          </a:p>
        </p:txBody>
      </p:sp>
      <p:graphicFrame>
        <p:nvGraphicFramePr>
          <p:cNvPr id="4" name="Chart 0" descr=""/>
          <p:cNvGraphicFramePr/>
          <p:nvPr/>
        </p:nvGraphicFramePr>
        <p:xfrm>
          <a:off x="548640" y="1280160"/>
          <a:ext cx="6858000" cy="4937760"/>
        </p:xfrm>
        <a:graphic xmlns:a="http://schemas.openxmlformats.org/drawingml/2006/main">
          <a:graphicData uri="http://schemas.openxmlformats.org/drawingml/2006/chart">
            <c:chart xmlns:c="http://schemas.openxmlformats.org/drawingml/2006/chart" r:id="rId1"/>
          </a:graphicData>
        </a:graphic>
      </p:graphicFrame>
      <p:sp>
        <p:nvSpPr>
          <p:cNvPr id="5" name="department groups card"/>
          <p:cNvSpPr/>
          <p:nvPr/>
        </p:nvSpPr>
        <p:spPr>
          <a:xfrm>
            <a:off x="7635240" y="1325880"/>
            <a:ext cx="3977640" cy="1920240"/>
          </a:xfrm>
          <a:prstGeom prst="roundRect">
            <a:avLst>
              <a:gd name="adj" fmla="val 5714"/>
            </a:avLst>
          </a:prstGeom>
          <a:solidFill>
            <a:schemeClr val="bg2"/>
          </a:solidFill>
          <a:ln/>
        </p:spPr>
      </p:sp>
      <p:sp>
        <p:nvSpPr>
          <p:cNvPr id="6" name="Text 3"/>
          <p:cNvSpPr txBox="1"/>
          <p:nvPr/>
        </p:nvSpPr>
        <p:spPr>
          <a:xfrm>
            <a:off x="7818120" y="1389888"/>
            <a:ext cx="3703320" cy="365760"/>
          </a:xfrm>
          <a:prstGeom prst="rect">
            <a:avLst/>
          </a:prstGeom>
          <a:noFill/>
          <a:ln/>
        </p:spPr>
        <p:txBody>
          <a:bodyPr wrap="square" lIns="635" tIns="635" rIns="635" bIns="635" rtlCol="0" anchor="ctr"/>
          <a:lstStyle/>
          <a:p>
            <a:pPr indent="0" marL="0">
              <a:buNone/>
            </a:pPr>
            <a:r>
              <a:rPr lang="en-US" sz="1350" b="1" dirty="0">
                <a:solidFill>
                  <a:schemeClr val="tx2"/>
                </a:solidFill>
              </a:rPr>
              <a:t>Department groups in the article</a:t>
            </a:r>
            <a:r>
              <a:rPr lang="en-US" sz="1350" b="1" baseline="30000" dirty="0">
                <a:solidFill>
                  <a:schemeClr val="tx2"/>
                </a:solidFill>
              </a:rPr>
              <a:t>1</a:t>
            </a:r>
            <a:endParaRPr lang="en-US" sz="1350" dirty="0"/>
          </a:p>
        </p:txBody>
      </p:sp>
      <p:sp>
        <p:nvSpPr>
          <p:cNvPr id="7" name="group swatch 1"/>
          <p:cNvSpPr/>
          <p:nvPr/>
        </p:nvSpPr>
        <p:spPr>
          <a:xfrm>
            <a:off x="7863840" y="1901952"/>
            <a:ext cx="237744" cy="237744"/>
          </a:xfrm>
          <a:prstGeom prst="rect">
            <a:avLst/>
          </a:prstGeom>
          <a:solidFill>
            <a:srgbClr val="D1495B"/>
          </a:solidFill>
          <a:ln/>
        </p:spPr>
      </p:sp>
      <p:sp>
        <p:nvSpPr>
          <p:cNvPr id="8" name="Text 5"/>
          <p:cNvSpPr txBox="1"/>
          <p:nvPr/>
        </p:nvSpPr>
        <p:spPr>
          <a:xfrm>
            <a:off x="8202168" y="1810512"/>
            <a:ext cx="3246120" cy="420624"/>
          </a:xfrm>
          <a:prstGeom prst="rect">
            <a:avLst/>
          </a:prstGeom>
          <a:noFill/>
          <a:ln/>
        </p:spPr>
        <p:txBody>
          <a:bodyPr wrap="square" lIns="254" tIns="254" rIns="254" bIns="254" rtlCol="0" anchor="ctr"/>
          <a:lstStyle/>
          <a:p>
            <a:pPr indent="0" marL="0">
              <a:buNone/>
            </a:pPr>
            <a:r>
              <a:rPr lang="en-US" sz="1350" dirty="0">
                <a:solidFill>
                  <a:schemeClr val="tx1"/>
                </a:solidFill>
              </a:rPr>
              <a:t>Work in more confined spaces</a:t>
            </a:r>
            <a:endParaRPr lang="en-US" sz="1350" dirty="0"/>
          </a:p>
        </p:txBody>
      </p:sp>
      <p:sp>
        <p:nvSpPr>
          <p:cNvPr id="9" name="group swatch 2"/>
          <p:cNvSpPr/>
          <p:nvPr/>
        </p:nvSpPr>
        <p:spPr>
          <a:xfrm>
            <a:off x="7863840" y="2359152"/>
            <a:ext cx="237744" cy="237744"/>
          </a:xfrm>
          <a:prstGeom prst="rect">
            <a:avLst/>
          </a:prstGeom>
          <a:solidFill>
            <a:srgbClr val="3B6EA5"/>
          </a:solidFill>
          <a:ln/>
        </p:spPr>
      </p:sp>
      <p:sp>
        <p:nvSpPr>
          <p:cNvPr id="10" name="Text 7"/>
          <p:cNvSpPr txBox="1"/>
          <p:nvPr/>
        </p:nvSpPr>
        <p:spPr>
          <a:xfrm>
            <a:off x="8202168" y="2267712"/>
            <a:ext cx="3246120" cy="420624"/>
          </a:xfrm>
          <a:prstGeom prst="rect">
            <a:avLst/>
          </a:prstGeom>
          <a:noFill/>
          <a:ln/>
        </p:spPr>
        <p:txBody>
          <a:bodyPr wrap="square" lIns="254" tIns="254" rIns="254" bIns="254" rtlCol="0" anchor="ctr"/>
          <a:lstStyle/>
          <a:p>
            <a:pPr indent="0" marL="0">
              <a:buNone/>
            </a:pPr>
            <a:r>
              <a:rPr lang="en-US" sz="1350" dirty="0">
                <a:solidFill>
                  <a:schemeClr val="tx1"/>
                </a:solidFill>
              </a:rPr>
              <a:t>Mix of open-air and confined spaces</a:t>
            </a:r>
            <a:endParaRPr lang="en-US" sz="1350" dirty="0"/>
          </a:p>
        </p:txBody>
      </p:sp>
      <p:sp>
        <p:nvSpPr>
          <p:cNvPr id="11" name="group swatch 3"/>
          <p:cNvSpPr/>
          <p:nvPr/>
        </p:nvSpPr>
        <p:spPr>
          <a:xfrm>
            <a:off x="7863840" y="2816352"/>
            <a:ext cx="237744" cy="237744"/>
          </a:xfrm>
          <a:prstGeom prst="rect">
            <a:avLst/>
          </a:prstGeom>
          <a:solidFill>
            <a:srgbClr val="EDAE49"/>
          </a:solidFill>
          <a:ln/>
        </p:spPr>
      </p:sp>
      <p:sp>
        <p:nvSpPr>
          <p:cNvPr id="12" name="Text 9"/>
          <p:cNvSpPr txBox="1"/>
          <p:nvPr/>
        </p:nvSpPr>
        <p:spPr>
          <a:xfrm>
            <a:off x="8202168" y="2724912"/>
            <a:ext cx="3246120" cy="420624"/>
          </a:xfrm>
          <a:prstGeom prst="rect">
            <a:avLst/>
          </a:prstGeom>
          <a:noFill/>
          <a:ln/>
        </p:spPr>
        <p:txBody>
          <a:bodyPr wrap="square" lIns="254" tIns="254" rIns="254" bIns="254" rtlCol="0" anchor="ctr"/>
          <a:lstStyle/>
          <a:p>
            <a:pPr indent="0" marL="0">
              <a:buNone/>
            </a:pPr>
            <a:r>
              <a:rPr lang="en-US" sz="1350" dirty="0">
                <a:solidFill>
                  <a:schemeClr val="tx1"/>
                </a:solidFill>
              </a:rPr>
              <a:t>Confined, but wear protective gear (PPE)</a:t>
            </a:r>
            <a:endParaRPr lang="en-US" sz="1350" dirty="0"/>
          </a:p>
        </p:txBody>
      </p:sp>
      <p:sp>
        <p:nvSpPr>
          <p:cNvPr id="13" name="relative risk card"/>
          <p:cNvSpPr/>
          <p:nvPr/>
        </p:nvSpPr>
        <p:spPr>
          <a:xfrm>
            <a:off x="7635240" y="3364992"/>
            <a:ext cx="3977640" cy="1938528"/>
          </a:xfrm>
          <a:prstGeom prst="roundRect">
            <a:avLst>
              <a:gd name="adj" fmla="val 5660"/>
            </a:avLst>
          </a:prstGeom>
          <a:solidFill>
            <a:schemeClr val="tx2"/>
          </a:solidFill>
          <a:ln/>
        </p:spPr>
      </p:sp>
      <p:sp>
        <p:nvSpPr>
          <p:cNvPr id="14" name="Text 11"/>
          <p:cNvSpPr txBox="1"/>
          <p:nvPr/>
        </p:nvSpPr>
        <p:spPr>
          <a:xfrm>
            <a:off x="7818120" y="3429000"/>
            <a:ext cx="1371600" cy="594360"/>
          </a:xfrm>
          <a:prstGeom prst="rect">
            <a:avLst/>
          </a:prstGeom>
          <a:noFill/>
          <a:ln/>
        </p:spPr>
        <p:txBody>
          <a:bodyPr wrap="square" lIns="635" tIns="635" rIns="635" bIns="635"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2.6×</a:t>
            </a:r>
            <a:endParaRPr lang="en-US" sz="3200" dirty="0"/>
          </a:p>
        </p:txBody>
      </p:sp>
      <p:sp>
        <p:nvSpPr>
          <p:cNvPr id="15" name="Text 12"/>
          <p:cNvSpPr txBox="1"/>
          <p:nvPr/>
        </p:nvSpPr>
        <p:spPr>
          <a:xfrm>
            <a:off x="9144000" y="3429000"/>
            <a:ext cx="2331720" cy="868680"/>
          </a:xfrm>
          <a:prstGeom prst="rect">
            <a:avLst/>
          </a:prstGeom>
          <a:noFill/>
          <a:ln/>
        </p:spPr>
        <p:txBody>
          <a:bodyPr wrap="square" lIns="635" tIns="635" rIns="635" bIns="635" rtlCol="0" anchor="ctr"/>
          <a:lstStyle/>
          <a:p>
            <a:pPr indent="0" marL="0">
              <a:buNone/>
            </a:pPr>
            <a:r>
              <a:rPr lang="en-US" sz="1250" dirty="0">
                <a:solidFill>
                  <a:schemeClr val="bg1"/>
                </a:solidFill>
              </a:rPr>
              <a:t>as likely to be a case: confined-space crews (33 per 100) vs air and deck crews (13 per 100)</a:t>
            </a:r>
            <a:endParaRPr lang="en-US" sz="1250" dirty="0"/>
          </a:p>
        </p:txBody>
      </p:sp>
      <p:sp>
        <p:nvSpPr>
          <p:cNvPr id="16" name="Text 13"/>
          <p:cNvSpPr txBox="1"/>
          <p:nvPr/>
        </p:nvSpPr>
        <p:spPr>
          <a:xfrm>
            <a:off x="7818120" y="4224528"/>
            <a:ext cx="3657600" cy="1024128"/>
          </a:xfrm>
          <a:prstGeom prst="rect">
            <a:avLst/>
          </a:prstGeom>
          <a:noFill/>
          <a:ln/>
        </p:spPr>
        <p:txBody>
          <a:bodyPr wrap="square" lIns="635" tIns="635" rIns="635" bIns="635" rtlCol="0" anchor="ctr"/>
          <a:lstStyle/>
          <a:p>
            <a:pPr indent="0" marL="0">
              <a:buNone/>
            </a:pPr>
            <a:r>
              <a:rPr lang="en-US" sz="1150" i="1" dirty="0">
                <a:solidFill>
                  <a:srgbClr val="8DA9C4"/>
                </a:solidFill>
              </a:rPr>
              <a:t>Relative risk 2.63 (95% CI, 2.08-3.32; my calculation). Confined = reactor, engineering, supply, weapons, combat support. The CI excludes 1, so the difference is statistically significant.</a:t>
            </a:r>
            <a:r>
              <a:rPr lang="en-US" sz="1150" i="1" baseline="30000" dirty="0">
                <a:solidFill>
                  <a:srgbClr val="8DA9C4"/>
                </a:solidFill>
              </a:rPr>
              <a:t>13</a:t>
            </a:r>
            <a:endParaRPr lang="en-US" sz="1150" dirty="0"/>
          </a:p>
        </p:txBody>
      </p:sp>
      <p:sp>
        <p:nvSpPr>
          <p:cNvPr id="17" name="medical card"/>
          <p:cNvSpPr/>
          <p:nvPr/>
        </p:nvSpPr>
        <p:spPr>
          <a:xfrm>
            <a:off x="7635240" y="5422392"/>
            <a:ext cx="3977640" cy="749808"/>
          </a:xfrm>
          <a:prstGeom prst="roundRect">
            <a:avLst>
              <a:gd name="adj" fmla="val 14634"/>
            </a:avLst>
          </a:prstGeom>
          <a:solidFill>
            <a:schemeClr val="bg2"/>
          </a:solidFill>
          <a:ln/>
        </p:spPr>
      </p:sp>
      <p:sp>
        <p:nvSpPr>
          <p:cNvPr id="18" name="Text 15"/>
          <p:cNvSpPr txBox="1"/>
          <p:nvPr/>
        </p:nvSpPr>
        <p:spPr>
          <a:xfrm>
            <a:off x="7818120" y="5440680"/>
            <a:ext cx="3611880" cy="713232"/>
          </a:xfrm>
          <a:prstGeom prst="rect">
            <a:avLst/>
          </a:prstGeom>
          <a:noFill/>
          <a:ln/>
        </p:spPr>
        <p:txBody>
          <a:bodyPr wrap="square" lIns="635" tIns="635" rIns="635" bIns="635" rtlCol="0" anchor="ctr"/>
          <a:lstStyle/>
          <a:p>
            <a:pPr indent="0" marL="0">
              <a:buNone/>
            </a:pPr>
            <a:r>
              <a:rPr lang="en-US" sz="1250" b="1" dirty="0">
                <a:solidFill>
                  <a:schemeClr val="tx2"/>
                </a:solidFill>
              </a:rPr>
              <a:t>Medical staff: </a:t>
            </a:r>
            <a:r>
              <a:rPr lang="en-US" sz="1250" dirty="0">
                <a:solidFill>
                  <a:schemeClr val="tx1"/>
                </a:solidFill>
              </a:rPr>
              <a:t>a somewhat lower rate than the crew overall, despite caring for the sick in a small space</a:t>
            </a:r>
            <a:r>
              <a:rPr lang="en-US" sz="1250" baseline="30000" dirty="0">
                <a:solidFill>
                  <a:schemeClr val="tx1"/>
                </a:solidFill>
              </a:rPr>
              <a:t>1</a:t>
            </a:r>
            <a:endParaRPr lang="en-US" sz="1250" dirty="0"/>
          </a:p>
        </p:txBody>
      </p:sp>
      <p:sp>
        <p:nvSpPr>
          <p:cNvPr id="20" name="Text 0"/>
          <p:cNvSpPr/>
          <p:nvPr>
            <p:ph idx="102" type="body" hasCustomPrompt="1"/>
          </p:nvPr>
        </p:nvSpPr>
        <p:spPr>
          <a:xfrm>
            <a:off x="548640" y="6355080"/>
            <a:ext cx="9875520" cy="320040"/>
          </a:xfrm>
          <a:prstGeom prst="rect">
            <a:avLst/>
          </a:prstGeom>
          <a:noFill/>
          <a:ln/>
        </p:spPr>
        <p:txBody>
          <a:bodyPr wrap="square" lIns="0" tIns="0" rIns="0" bIns="0" rtlCol="0" anchor="ctr"/>
          <a:lstStyle/>
          <a:p>
            <a:pPr indent="0" marL="0">
              <a:buNone/>
            </a:pPr>
            <a:r>
              <a:rPr lang="en-US" sz="1000" i="1" dirty="0">
                <a:solidFill>
                  <a:schemeClr val="accent6"/>
                </a:solidFill>
              </a:rPr>
              <a:t>Sources: 1 Kasper et al, 2020; 13 Ranganathan et al, 2015 (full list at the end).   Rates and relative risk = my calculation from Table 1 counts.</a:t>
            </a: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The Scorecard: How Big Was the Risk?</a:t>
            </a:r>
            <a:endParaRPr lang="en-US" sz="3400" dirty="0"/>
          </a:p>
        </p:txBody>
      </p:sp>
      <p:sp>
        <p:nvSpPr>
          <p:cNvPr id="3" name="Text 0"/>
          <p:cNvSpPr/>
          <p:nvPr>
            <p:ph idx="101" type="body" hasCustomPrompt="1"/>
          </p:nvPr>
        </p:nvSpPr>
        <p:spPr>
          <a:xfrm>
            <a:off x="548640" y="73152"/>
            <a:ext cx="11064240"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4   </a:t>
            </a:r>
            <a:r>
              <a:rPr lang="en-US" sz="1100" b="1" spc="100" kern="0" dirty="0">
                <a:solidFill>
                  <a:schemeClr val="accent6"/>
                </a:solidFill>
              </a:rPr>
              <a:t>HOW DID IT SPREAD, AND HOW SURE ARE WE?</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291840"/>
                <a:gridCol w="2743200"/>
                <a:gridCol w="3291840"/>
                <a:gridCol w="1737360"/>
              </a:tblGrid>
              <a:tr h="621792">
                <a:tc>
                  <a:txBody>
                    <a:bodyPr/>
                    <a:lstStyle/>
                    <a:p>
                      <a:pPr indent="0" marL="0">
                        <a:buNone/>
                      </a:pPr>
                      <a:r>
                        <a:rPr lang="en-US" sz="1500" b="1" dirty="0">
                          <a:solidFill>
                            <a:srgbClr val="FFFFFF"/>
                          </a:solidFill>
                        </a:rPr>
                        <a:t>Measure</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rPr>
                        <a:t>Result</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rPr>
                        <a:t>In plain words</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rPr>
                        <a:t>Calculated by</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0B2545"/>
                    </a:solidFill>
                  </a:tcPr>
                </a:tc>
              </a:tr>
              <a:tr h="621792">
                <a:tc>
                  <a:txBody>
                    <a:bodyPr/>
                    <a:lstStyle/>
                    <a:p>
                      <a:pPr indent="0" marL="0">
                        <a:buNone/>
                      </a:pPr>
                      <a:r>
                        <a:rPr lang="en-US" sz="1500" dirty="0">
                          <a:solidFill>
                            <a:srgbClr val="1B1B1E"/>
                          </a:solidFill>
                        </a:rPr>
                        <a:t>Attack rate (confirmed cases)</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500" b="1" dirty="0">
                          <a:solidFill>
                            <a:srgbClr val="1B1B1E"/>
                          </a:solidFill>
                        </a:rPr>
                        <a:t>26.6% (1,271 of 4,779)</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500" dirty="0">
                          <a:solidFill>
                            <a:srgbClr val="1B1B1E"/>
                          </a:solidFill>
                        </a:rPr>
                        <a:t>About 1 in 4 sailors tested positive</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500" b="1" dirty="0">
                          <a:solidFill>
                            <a:srgbClr val="0B2545"/>
                          </a:solidFill>
                        </a:rPr>
                        <a:t>Authors¹</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r>
              <a:tr h="621792">
                <a:tc>
                  <a:txBody>
                    <a:bodyPr/>
                    <a:lstStyle/>
                    <a:p>
                      <a:pPr indent="0" marL="0">
                        <a:buNone/>
                      </a:pPr>
                      <a:r>
                        <a:rPr lang="en-US" sz="1500" dirty="0">
                          <a:solidFill>
                            <a:srgbClr val="1B1B1E"/>
                          </a:solidFill>
                        </a:rPr>
                        <a:t>Hospitalized</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500" b="1" dirty="0">
                          <a:solidFill>
                            <a:srgbClr val="1B1B1E"/>
                          </a:solidFill>
                        </a:rPr>
                        <a:t>1.7% (23 of 1,331 confirmed or suspected cases)</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500" dirty="0">
                          <a:solidFill>
                            <a:srgbClr val="1B1B1E"/>
                          </a:solidFill>
                        </a:rPr>
                        <a:t>Few were hospitalized</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500" b="1" dirty="0">
                          <a:solidFill>
                            <a:srgbClr val="0B2545"/>
                          </a:solidFill>
                        </a:rPr>
                        <a:t>Authors¹</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r>
              <a:tr h="621792">
                <a:tc>
                  <a:txBody>
                    <a:bodyPr/>
                    <a:lstStyle/>
                    <a:p>
                      <a:pPr indent="0" marL="0">
                        <a:buNone/>
                      </a:pPr>
                      <a:r>
                        <a:rPr lang="en-US" sz="1500" dirty="0">
                          <a:solidFill>
                            <a:srgbClr val="1B1B1E"/>
                          </a:solidFill>
                        </a:rPr>
                        <a:t>Died</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500" b="1" dirty="0">
                          <a:solidFill>
                            <a:srgbClr val="1B1B1E"/>
                          </a:solidFill>
                        </a:rPr>
                        <a:t>0.08% (1 of 1,331 confirmed or suspected cases)</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500" dirty="0">
                          <a:solidFill>
                            <a:srgbClr val="1B1B1E"/>
                          </a:solidFill>
                        </a:rPr>
                        <a:t>One death</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500" b="1" dirty="0">
                          <a:solidFill>
                            <a:srgbClr val="D1495B"/>
                          </a:solidFill>
                        </a:rPr>
                        <a:t>Me</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r>
              <a:tr h="621792">
                <a:tc>
                  <a:txBody>
                    <a:bodyPr/>
                    <a:lstStyle/>
                    <a:p>
                      <a:pPr indent="0" marL="0">
                        <a:buNone/>
                      </a:pPr>
                      <a:r>
                        <a:rPr lang="en-US" sz="1500" dirty="0">
                          <a:solidFill>
                            <a:srgbClr val="1B1B1E"/>
                          </a:solidFill>
                        </a:rPr>
                        <a:t>No symptoms when tested positive</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500" b="1" dirty="0">
                          <a:solidFill>
                            <a:srgbClr val="1B1B1E"/>
                          </a:solidFill>
                        </a:rPr>
                        <a:t>76.9% (978 of 1,271)</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500" dirty="0">
                          <a:solidFill>
                            <a:srgbClr val="1B1B1E"/>
                          </a:solidFill>
                        </a:rPr>
                        <a:t>About 3 in 4 had no symptoms at their test</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500" b="1" dirty="0">
                          <a:solidFill>
                            <a:srgbClr val="0B2545"/>
                          </a:solidFill>
                        </a:rPr>
                        <a:t>Authors¹</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r>
              <a:tr h="621792">
                <a:tc>
                  <a:txBody>
                    <a:bodyPr/>
                    <a:lstStyle/>
                    <a:p>
                      <a:pPr indent="0" marL="0">
                        <a:buNone/>
                      </a:pPr>
                      <a:r>
                        <a:rPr lang="en-US" sz="1500" dirty="0">
                          <a:solidFill>
                            <a:srgbClr val="1B1B1E"/>
                          </a:solidFill>
                        </a:rPr>
                        <a:t>Relative risk: confined-space vs air and deck crews</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500" b="1" dirty="0">
                          <a:solidFill>
                            <a:srgbClr val="1B1B1E"/>
                          </a:solidFill>
                        </a:rPr>
                        <a:t>2.63 (95% CI, 2.08-3.32)</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500" dirty="0">
                          <a:solidFill>
                            <a:srgbClr val="1B1B1E"/>
                          </a:solidFill>
                        </a:rPr>
                        <a:t>About 2.6 times as likely to be a case</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c>
                  <a:txBody>
                    <a:bodyPr/>
                    <a:lstStyle/>
                    <a:p>
                      <a:pPr indent="0" marL="0">
                        <a:buNone/>
                      </a:pPr>
                      <a:r>
                        <a:rPr lang="en-US" sz="1500" b="1" dirty="0">
                          <a:solidFill>
                            <a:srgbClr val="D1495B"/>
                          </a:solidFill>
                        </a:rPr>
                        <a:t>Me</a:t>
                      </a:r>
                      <a:endParaRPr lang="en-US" sz="1500" dirty="0"/>
                    </a:p>
                  </a:txBody>
                  <a:tcPr marL="91440" marR="91440" marT="45720" marB="45720" anchor="ctr">
                    <a:lnL w="9525" cap="flat" cmpd="sng" algn="ctr">
                      <a:solidFill>
                        <a:srgbClr val="C9D6E3"/>
                      </a:solidFill>
                      <a:prstDash val="solid"/>
                      <a:round/>
                      <a:headEnd type="none" w="med" len="med"/>
                      <a:tailEnd type="none" w="med" len="med"/>
                    </a:lnL>
                    <a:lnR w="9525" cap="flat" cmpd="sng" algn="ctr">
                      <a:solidFill>
                        <a:srgbClr val="C9D6E3"/>
                      </a:solidFill>
                      <a:prstDash val="solid"/>
                      <a:round/>
                      <a:headEnd type="none" w="med" len="med"/>
                      <a:tailEnd type="none" w="med" len="med"/>
                    </a:lnR>
                    <a:lnT w="9525" cap="flat" cmpd="sng" algn="ctr">
                      <a:solidFill>
                        <a:srgbClr val="C9D6E3"/>
                      </a:solidFill>
                      <a:prstDash val="solid"/>
                      <a:round/>
                      <a:headEnd type="none" w="med" len="med"/>
                      <a:tailEnd type="none" w="med" len="med"/>
                    </a:lnT>
                    <a:lnB w="9525" cap="flat" cmpd="sng" algn="ctr">
                      <a:solidFill>
                        <a:srgbClr val="C9D6E3"/>
                      </a:solidFill>
                      <a:prstDash val="solid"/>
                      <a:round/>
                      <a:headEnd type="none" w="med" len="med"/>
                      <a:tailEnd type="none" w="med" len="med"/>
                    </a:lnB>
                    <a:solidFill>
                      <a:srgbClr val="FFFFFF"/>
                    </a:solidFill>
                  </a:tcPr>
                </a:tc>
              </a:tr>
            </a:tbl>
          </a:graphicData>
        </a:graphic>
      </p:graphicFrame>
      <p:sp>
        <p:nvSpPr>
          <p:cNvPr id="5" name="plain words box"/>
          <p:cNvSpPr/>
          <p:nvPr/>
        </p:nvSpPr>
        <p:spPr>
          <a:xfrm>
            <a:off x="548640" y="5349240"/>
            <a:ext cx="11064240" cy="777240"/>
          </a:xfrm>
          <a:prstGeom prst="roundRect">
            <a:avLst>
              <a:gd name="adj" fmla="val 14118"/>
            </a:avLst>
          </a:prstGeom>
          <a:solidFill>
            <a:srgbClr val="FFFFFF"/>
          </a:solidFill>
          <a:ln w="12700">
            <a:solidFill>
              <a:srgbClr val="8DA9C4"/>
            </a:solidFill>
            <a:prstDash val="solid"/>
          </a:ln>
        </p:spPr>
      </p:sp>
      <p:sp>
        <p:nvSpPr>
          <p:cNvPr id="6" name="plain words icon circle"/>
          <p:cNvSpPr/>
          <p:nvPr/>
        </p:nvSpPr>
        <p:spPr>
          <a:xfrm>
            <a:off x="731520" y="5486400"/>
            <a:ext cx="502920" cy="502920"/>
          </a:xfrm>
          <a:prstGeom prst="ellipse">
            <a:avLst/>
          </a:prstGeom>
          <a:solidFill>
            <a:schemeClr val="accent4"/>
          </a:solidFill>
          <a:ln/>
        </p:spPr>
      </p:sp>
      <p:pic>
        <p:nvPicPr>
          <p:cNvPr id="7" name="plain words icon" descr="plain words icon">    </p:cNvPr>
          <p:cNvPicPr>
            <a:picLocks noChangeAspect="1"/>
          </p:cNvPicPr>
          <p:nvPr/>
        </p:nvPicPr>
        <p:blipFill>
          <a:blip r:embed="rId1"/>
          <a:stretch>
            <a:fillRect/>
          </a:stretch>
        </p:blipFill>
        <p:spPr>
          <a:xfrm>
            <a:off x="852221" y="5607101"/>
            <a:ext cx="261518" cy="261518"/>
          </a:xfrm>
          <a:prstGeom prst="rect">
            <a:avLst/>
          </a:prstGeom>
        </p:spPr>
      </p:pic>
      <p:sp>
        <p:nvSpPr>
          <p:cNvPr id="8" name="Text 4"/>
          <p:cNvSpPr txBox="1"/>
          <p:nvPr/>
        </p:nvSpPr>
        <p:spPr>
          <a:xfrm>
            <a:off x="1417320" y="5349240"/>
            <a:ext cx="10012680" cy="777240"/>
          </a:xfrm>
          <a:prstGeom prst="rect">
            <a:avLst/>
          </a:prstGeom>
          <a:noFill/>
          <a:ln/>
        </p:spPr>
        <p:txBody>
          <a:bodyPr wrap="square" lIns="635" tIns="635" rIns="635" bIns="635" rtlCol="0" anchor="ctr"/>
          <a:lstStyle/>
          <a:p>
            <a:pPr indent="0" marL="0">
              <a:buNone/>
            </a:pPr>
            <a:r>
              <a:rPr lang="en-US" sz="1400" b="1" dirty="0">
                <a:solidFill>
                  <a:schemeClr val="tx2"/>
                </a:solidFill>
              </a:rPr>
              <a:t>In plain words: </a:t>
            </a:r>
            <a:r>
              <a:rPr lang="en-US" sz="1400" b="1" dirty="0">
                <a:solidFill>
                  <a:schemeClr val="tx1"/>
                </a:solidFill>
              </a:rPr>
              <a:t>Attack rate</a:t>
            </a:r>
            <a:r>
              <a:rPr lang="en-US" sz="1400" dirty="0">
                <a:solidFill>
                  <a:schemeClr val="tx1"/>
                </a:solidFill>
              </a:rPr>
              <a:t> = % of a group who became cases.</a:t>
            </a:r>
            <a:r>
              <a:rPr lang="en-US" sz="1400" baseline="30000" dirty="0">
                <a:solidFill>
                  <a:schemeClr val="tx1"/>
                </a:solidFill>
              </a:rPr>
              <a:t>14</a:t>
            </a:r>
            <a:r>
              <a:rPr lang="en-US" sz="1400" dirty="0">
                <a:solidFill>
                  <a:schemeClr val="tx1"/>
                </a:solidFill>
              </a:rPr>
              <a:t>   </a:t>
            </a:r>
            <a:r>
              <a:rPr lang="en-US" sz="1400" b="1" dirty="0">
                <a:solidFill>
                  <a:schemeClr val="tx1"/>
                </a:solidFill>
              </a:rPr>
              <a:t>Relative risk</a:t>
            </a:r>
            <a:r>
              <a:rPr lang="en-US" sz="1400" dirty="0">
                <a:solidFill>
                  <a:schemeClr val="tx1"/>
                </a:solidFill>
              </a:rPr>
              <a:t> = how many times as likely.</a:t>
            </a:r>
            <a:r>
              <a:rPr lang="en-US" sz="1400" baseline="30000" dirty="0">
                <a:solidFill>
                  <a:schemeClr val="tx1"/>
                </a:solidFill>
              </a:rPr>
              <a:t>8</a:t>
            </a:r>
            <a:r>
              <a:rPr lang="en-US" sz="1400" dirty="0">
                <a:solidFill>
                  <a:schemeClr val="tx1"/>
                </a:solidFill>
              </a:rPr>
              <a:t>   </a:t>
            </a:r>
            <a:r>
              <a:rPr lang="en-US" sz="1400" b="1" dirty="0">
                <a:solidFill>
                  <a:schemeClr val="tx1"/>
                </a:solidFill>
              </a:rPr>
              <a:t>95% CI</a:t>
            </a:r>
            <a:r>
              <a:rPr lang="en-US" sz="1400" dirty="0">
                <a:solidFill>
                  <a:schemeClr val="tx1"/>
                </a:solidFill>
              </a:rPr>
              <a:t> = a range where the true value is likely to lie.</a:t>
            </a:r>
            <a:r>
              <a:rPr lang="en-US" sz="1400" baseline="30000" dirty="0">
                <a:solidFill>
                  <a:schemeClr val="tx1"/>
                </a:solidFill>
              </a:rPr>
              <a:t>13</a:t>
            </a:r>
            <a:endParaRPr lang="en-US" sz="1400" dirty="0"/>
          </a:p>
        </p:txBody>
      </p:sp>
      <p:sp>
        <p:nvSpPr>
          <p:cNvPr id="10" name="Text 0"/>
          <p:cNvSpPr/>
          <p:nvPr>
            <p:ph idx="102" type="body" hasCustomPrompt="1"/>
          </p:nvPr>
        </p:nvSpPr>
        <p:spPr>
          <a:xfrm>
            <a:off x="548640" y="6355080"/>
            <a:ext cx="9875520" cy="320040"/>
          </a:xfrm>
          <a:prstGeom prst="rect">
            <a:avLst/>
          </a:prstGeom>
          <a:noFill/>
          <a:ln/>
        </p:spPr>
        <p:txBody>
          <a:bodyPr wrap="square" lIns="0" tIns="0" rIns="0" bIns="0" rtlCol="0" anchor="ctr"/>
          <a:lstStyle/>
          <a:p>
            <a:pPr indent="0" marL="0">
              <a:buNone/>
            </a:pPr>
            <a:r>
              <a:rPr lang="en-US" sz="1000" i="1" dirty="0">
                <a:solidFill>
                  <a:schemeClr val="accent6"/>
                </a:solidFill>
              </a:rPr>
              <a:t>Sources: 1 Kasper et al, 2020; 8 Reintjes and Zanuzdana, 2010; 13 Ranganathan et al, 2015; 14 Schwaid, 2017 (full list at the end).</a:t>
            </a: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Interpretation: Association or Causation?</a:t>
            </a:r>
            <a:endParaRPr lang="en-US" sz="3400" dirty="0"/>
          </a:p>
        </p:txBody>
      </p:sp>
      <p:sp>
        <p:nvSpPr>
          <p:cNvPr id="3" name="Text 0"/>
          <p:cNvSpPr/>
          <p:nvPr>
            <p:ph idx="101" type="body" hasCustomPrompt="1"/>
          </p:nvPr>
        </p:nvSpPr>
        <p:spPr>
          <a:xfrm>
            <a:off x="548640" y="73152"/>
            <a:ext cx="11064240"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4   </a:t>
            </a:r>
            <a:r>
              <a:rPr lang="en-US" sz="1100" b="1" spc="100" kern="0" dirty="0">
                <a:solidFill>
                  <a:schemeClr val="accent6"/>
                </a:solidFill>
              </a:rPr>
              <a:t>HOW DID IT SPREAD, AND HOW SURE ARE WE?</a:t>
            </a:r>
            <a:endParaRPr lang="en-US" sz="1100" dirty="0"/>
          </a:p>
        </p:txBody>
      </p:sp>
      <p:sp>
        <p:nvSpPr>
          <p:cNvPr id="4" name="main finding"/>
          <p:cNvSpPr/>
          <p:nvPr/>
        </p:nvSpPr>
        <p:spPr>
          <a:xfrm>
            <a:off x="548640" y="1325880"/>
            <a:ext cx="4480560" cy="2011680"/>
          </a:xfrm>
          <a:prstGeom prst="roundRect">
            <a:avLst>
              <a:gd name="adj" fmla="val 5455"/>
            </a:avLst>
          </a:prstGeom>
          <a:solidFill>
            <a:schemeClr val="tx2"/>
          </a:solidFill>
          <a:ln/>
        </p:spPr>
      </p:sp>
      <p:sp>
        <p:nvSpPr>
          <p:cNvPr id="5" name="Text 3"/>
          <p:cNvSpPr txBox="1"/>
          <p:nvPr/>
        </p:nvSpPr>
        <p:spPr>
          <a:xfrm>
            <a:off x="777240" y="1444752"/>
            <a:ext cx="4023360" cy="411480"/>
          </a:xfrm>
          <a:prstGeom prst="rect">
            <a:avLst/>
          </a:prstGeom>
          <a:noFill/>
          <a:ln/>
        </p:spPr>
        <p:txBody>
          <a:bodyPr wrap="square" lIns="635" tIns="635" rIns="635" bIns="635" rtlCol="0" anchor="t"/>
          <a:lstStyle/>
          <a:p>
            <a:pPr indent="0" marL="0">
              <a:buNone/>
            </a:pPr>
            <a:r>
              <a:rPr lang="en-US" sz="1700" b="1" dirty="0">
                <a:solidFill>
                  <a:schemeClr val="accent4"/>
                </a:solidFill>
                <a:latin typeface="Cambria" pitchFamily="34" charset="0"/>
                <a:ea typeface="Cambria" pitchFamily="34" charset="-122"/>
                <a:cs typeface="Cambria" pitchFamily="34" charset="-120"/>
              </a:rPr>
              <a:t>Authors' main conclusion</a:t>
            </a:r>
            <a:endParaRPr lang="en-US" sz="1700" dirty="0"/>
          </a:p>
        </p:txBody>
      </p:sp>
      <p:sp>
        <p:nvSpPr>
          <p:cNvPr id="6" name="Text 4"/>
          <p:cNvSpPr txBox="1"/>
          <p:nvPr/>
        </p:nvSpPr>
        <p:spPr>
          <a:xfrm>
            <a:off x="777240" y="1874520"/>
            <a:ext cx="4069080" cy="1371600"/>
          </a:xfrm>
          <a:prstGeom prst="rect">
            <a:avLst/>
          </a:prstGeom>
          <a:noFill/>
          <a:ln/>
        </p:spPr>
        <p:txBody>
          <a:bodyPr wrap="square" lIns="635" tIns="635" rIns="635" bIns="635" rtlCol="0" anchor="t"/>
          <a:lstStyle/>
          <a:p>
            <a:pPr indent="0" marL="0">
              <a:buNone/>
            </a:pPr>
            <a:r>
              <a:rPr lang="en-US" sz="1600" dirty="0">
                <a:solidFill>
                  <a:schemeClr val="bg1"/>
                </a:solidFill>
              </a:rPr>
              <a:t>Close quarters and infected sailors without symptoms helped the virus spread quickly</a:t>
            </a:r>
            <a:r>
              <a:rPr lang="en-US" sz="1600" baseline="30000" dirty="0">
                <a:solidFill>
                  <a:schemeClr val="bg1"/>
                </a:solidFill>
              </a:rPr>
              <a:t>1</a:t>
            </a:r>
            <a:endParaRPr lang="en-US" sz="1600" dirty="0"/>
          </a:p>
        </p:txBody>
      </p:sp>
      <p:sp>
        <p:nvSpPr>
          <p:cNvPr id="7" name="source evidence"/>
          <p:cNvSpPr/>
          <p:nvPr/>
        </p:nvSpPr>
        <p:spPr>
          <a:xfrm>
            <a:off x="548640" y="3520440"/>
            <a:ext cx="4480560" cy="2651760"/>
          </a:xfrm>
          <a:prstGeom prst="roundRect">
            <a:avLst>
              <a:gd name="adj" fmla="val 4138"/>
            </a:avLst>
          </a:prstGeom>
          <a:solidFill>
            <a:schemeClr val="bg2"/>
          </a:solidFill>
          <a:ln/>
        </p:spPr>
      </p:sp>
      <p:sp>
        <p:nvSpPr>
          <p:cNvPr id="8" name="Text 6"/>
          <p:cNvSpPr txBox="1"/>
          <p:nvPr/>
        </p:nvSpPr>
        <p:spPr>
          <a:xfrm>
            <a:off x="777240" y="3611880"/>
            <a:ext cx="4069080" cy="411480"/>
          </a:xfrm>
          <a:prstGeom prst="rect">
            <a:avLst/>
          </a:prstGeom>
          <a:noFill/>
          <a:ln/>
        </p:spPr>
        <p:txBody>
          <a:bodyPr wrap="square" lIns="635" tIns="635" rIns="635" bIns="635" rtlCol="0" anchor="t"/>
          <a:lstStyle/>
          <a:p>
            <a:pPr indent="0" marL="0">
              <a:buNone/>
            </a:pPr>
            <a:r>
              <a:rPr lang="en-US" sz="1600" b="1" dirty="0">
                <a:solidFill>
                  <a:schemeClr val="tx2"/>
                </a:solidFill>
                <a:latin typeface="Cambria" pitchFamily="34" charset="0"/>
                <a:ea typeface="Cambria" pitchFamily="34" charset="-122"/>
                <a:cs typeface="Cambria" pitchFamily="34" charset="-120"/>
              </a:rPr>
              <a:t>Where did it come from, and how?</a:t>
            </a:r>
            <a:endParaRPr lang="en-US" sz="1600" dirty="0"/>
          </a:p>
        </p:txBody>
      </p:sp>
      <p:sp>
        <p:nvSpPr>
          <p:cNvPr id="9" name="Text 7"/>
          <p:cNvSpPr txBox="1"/>
          <p:nvPr/>
        </p:nvSpPr>
        <p:spPr>
          <a:xfrm>
            <a:off x="777240" y="4041648"/>
            <a:ext cx="4114800" cy="2084832"/>
          </a:xfrm>
          <a:prstGeom prst="rect">
            <a:avLst/>
          </a:prstGeom>
          <a:noFill/>
          <a:ln/>
        </p:spPr>
        <p:txBody>
          <a:bodyPr wrap="square" lIns="635" tIns="635" rIns="635" bIns="635" rtlCol="0" anchor="t"/>
          <a:lstStyle/>
          <a:p>
            <a:pPr marL="203200" indent="-203200">
              <a:spcAft>
                <a:spcPts val="600"/>
              </a:spcAft>
              <a:buSzPct val="100000"/>
              <a:buChar char="•"/>
            </a:pPr>
            <a:r>
              <a:rPr lang="en-US" sz="1300" b="1" dirty="0">
                <a:solidFill>
                  <a:schemeClr val="tx1"/>
                </a:solidFill>
              </a:rPr>
              <a:t>Source: </a:t>
            </a:r>
            <a:r>
              <a:rPr lang="en-US" sz="1300" dirty="0">
                <a:solidFill>
                  <a:schemeClr val="tx1"/>
                </a:solidFill>
              </a:rPr>
              <a:t>not named in the article. Its Figure 2 marks a port visit before the first symptoms (Mar 11), and COD arrivals on Mar 11–16 that overlap the earliest onsets</a:t>
            </a:r>
            <a:r>
              <a:rPr lang="en-US" sz="1300" baseline="30000" dirty="0">
                <a:solidFill>
                  <a:schemeClr val="tx1"/>
                </a:solidFill>
              </a:rPr>
              <a:t>1</a:t>
            </a:r>
            <a:endParaRPr lang="en-US" sz="1500" dirty="0"/>
          </a:p>
          <a:p>
            <a:pPr marL="203200" indent="-203200">
              <a:spcAft>
                <a:spcPts val="600"/>
              </a:spcAft>
              <a:buSzPct val="100000"/>
              <a:buChar char="•"/>
            </a:pPr>
            <a:r>
              <a:rPr lang="en-US" sz="1300" b="1" dirty="0">
                <a:solidFill>
                  <a:schemeClr val="tx1"/>
                </a:solidFill>
              </a:rPr>
              <a:t>Through the air? </a:t>
            </a:r>
            <a:r>
              <a:rPr lang="en-US" sz="1300" dirty="0">
                <a:solidFill>
                  <a:schemeClr val="tx1"/>
                </a:solidFill>
              </a:rPr>
              <a:t>No air testing is reported in the article</a:t>
            </a:r>
            <a:r>
              <a:rPr lang="en-US" sz="1300" dirty="0">
                <a:solidFill>
                  <a:schemeClr val="tx1"/>
                </a:solidFill>
              </a:rPr>
              <a:t>.</a:t>
            </a:r>
            <a:r>
              <a:rPr lang="en-US" sz="1300" baseline="30000" dirty="0">
                <a:solidFill>
                  <a:schemeClr val="tx1"/>
                </a:solidFill>
              </a:rPr>
              <a:t>1</a:t>
            </a:r>
            <a:r>
              <a:rPr lang="en-US" sz="1300" dirty="0">
                <a:solidFill>
                  <a:schemeClr val="tx1"/>
                </a:solidFill>
              </a:rPr>
              <a:t> On a French carrier, virus RNA was found in the air conditioning, but the team could not say how much it added to spread</a:t>
            </a:r>
            <a:r>
              <a:rPr lang="en-US" sz="1300" baseline="30000" dirty="0">
                <a:solidFill>
                  <a:schemeClr val="tx1"/>
                </a:solidFill>
              </a:rPr>
              <a:t>15</a:t>
            </a:r>
            <a:endParaRPr lang="en-US" sz="1500" dirty="0"/>
          </a:p>
        </p:txBody>
      </p:sp>
      <p:sp>
        <p:nvSpPr>
          <p:cNvPr id="10" name="Text 8"/>
          <p:cNvSpPr txBox="1"/>
          <p:nvPr/>
        </p:nvSpPr>
        <p:spPr>
          <a:xfrm>
            <a:off x="5303520" y="1298448"/>
            <a:ext cx="6309360" cy="411480"/>
          </a:xfrm>
          <a:prstGeom prst="rect">
            <a:avLst/>
          </a:prstGeom>
          <a:noFill/>
          <a:ln/>
        </p:spPr>
        <p:txBody>
          <a:bodyPr wrap="square" lIns="635" tIns="635" rIns="635" bIns="635" rtlCol="0" anchor="t"/>
          <a:lstStyle/>
          <a:p>
            <a:pPr indent="0" marL="0">
              <a:buNone/>
            </a:pPr>
            <a:r>
              <a:rPr lang="en-US" sz="1700" b="1" dirty="0">
                <a:solidFill>
                  <a:schemeClr val="tx2"/>
                </a:solidFill>
                <a:latin typeface="Cambria" pitchFamily="34" charset="0"/>
                <a:ea typeface="Cambria" pitchFamily="34" charset="-122"/>
                <a:cs typeface="Cambria" pitchFamily="34" charset="-120"/>
              </a:rPr>
              <a:t>Weighing the evidence: Bradford Hill's viewpoints</a:t>
            </a:r>
            <a:r>
              <a:rPr lang="en-US" sz="1700" b="1" baseline="30000" dirty="0">
                <a:solidFill>
                  <a:schemeClr val="tx2"/>
                </a:solidFill>
                <a:latin typeface="Cambria" pitchFamily="34" charset="0"/>
                <a:ea typeface="Cambria" pitchFamily="34" charset="-122"/>
                <a:cs typeface="Cambria" pitchFamily="34" charset="-120"/>
              </a:rPr>
              <a:t>16</a:t>
            </a:r>
            <a:endParaRPr lang="en-US" sz="1700" dirty="0"/>
          </a:p>
        </p:txBody>
      </p:sp>
      <p:sp>
        <p:nvSpPr>
          <p:cNvPr id="11" name="Text 9"/>
          <p:cNvSpPr txBox="1"/>
          <p:nvPr/>
        </p:nvSpPr>
        <p:spPr>
          <a:xfrm>
            <a:off x="5303520" y="1691640"/>
            <a:ext cx="6309360" cy="457200"/>
          </a:xfrm>
          <a:prstGeom prst="rect">
            <a:avLst/>
          </a:prstGeom>
          <a:noFill/>
          <a:ln/>
        </p:spPr>
        <p:txBody>
          <a:bodyPr wrap="square" lIns="635" tIns="635" rIns="635" bIns="635" rtlCol="0" anchor="t"/>
          <a:lstStyle/>
          <a:p>
            <a:pPr indent="0" marL="0">
              <a:buNone/>
            </a:pPr>
            <a:r>
              <a:rPr lang="en-US" sz="1200" i="1" dirty="0">
                <a:solidFill>
                  <a:schemeClr val="accent6"/>
                </a:solidFill>
              </a:rPr>
              <a:t>Two things going together (an association) does not prove that one causes the other. Hill listed viewpoints to weigh before concluding cause</a:t>
            </a:r>
            <a:r>
              <a:rPr lang="en-US" sz="1200" i="1" baseline="30000" dirty="0">
                <a:solidFill>
                  <a:schemeClr val="accent6"/>
                </a:solidFill>
              </a:rPr>
              <a:t>16</a:t>
            </a:r>
            <a:endParaRPr lang="en-US" sz="1200" dirty="0"/>
          </a:p>
        </p:txBody>
      </p:sp>
      <p:sp>
        <p:nvSpPr>
          <p:cNvPr id="12" name="Strength icon circle"/>
          <p:cNvSpPr/>
          <p:nvPr/>
        </p:nvSpPr>
        <p:spPr>
          <a:xfrm>
            <a:off x="5303520" y="2249424"/>
            <a:ext cx="438912" cy="438912"/>
          </a:xfrm>
          <a:prstGeom prst="ellipse">
            <a:avLst/>
          </a:prstGeom>
          <a:solidFill>
            <a:schemeClr val="accent1"/>
          </a:solidFill>
          <a:ln/>
        </p:spPr>
      </p:sp>
      <p:pic>
        <p:nvPicPr>
          <p:cNvPr id="13" name="Strength icon" descr="Strength icon">    </p:cNvPr>
          <p:cNvPicPr>
            <a:picLocks noChangeAspect="1"/>
          </p:cNvPicPr>
          <p:nvPr/>
        </p:nvPicPr>
        <p:blipFill>
          <a:blip r:embed="rId1"/>
          <a:stretch>
            <a:fillRect/>
          </a:stretch>
        </p:blipFill>
        <p:spPr>
          <a:xfrm>
            <a:off x="5408859" y="2354763"/>
            <a:ext cx="228234" cy="228234"/>
          </a:xfrm>
          <a:prstGeom prst="rect">
            <a:avLst/>
          </a:prstGeom>
        </p:spPr>
      </p:pic>
      <p:sp>
        <p:nvSpPr>
          <p:cNvPr id="14" name="Text 11"/>
          <p:cNvSpPr txBox="1"/>
          <p:nvPr/>
        </p:nvSpPr>
        <p:spPr>
          <a:xfrm>
            <a:off x="5852160" y="2194560"/>
            <a:ext cx="5760720" cy="548640"/>
          </a:xfrm>
          <a:prstGeom prst="rect">
            <a:avLst/>
          </a:prstGeom>
          <a:noFill/>
          <a:ln/>
        </p:spPr>
        <p:txBody>
          <a:bodyPr wrap="square" lIns="635" tIns="635" rIns="635" bIns="635" rtlCol="0" anchor="ctr"/>
          <a:lstStyle/>
          <a:p>
            <a:pPr indent="0" marL="0">
              <a:buNone/>
            </a:pPr>
            <a:r>
              <a:rPr lang="en-US" sz="1250" b="1" dirty="0">
                <a:solidFill>
                  <a:schemeClr val="tx1"/>
                </a:solidFill>
              </a:rPr>
              <a:t>Strength</a:t>
            </a:r>
            <a:r>
              <a:rPr lang="en-US" sz="1250" b="1" dirty="0">
                <a:solidFill>
                  <a:schemeClr val="tx1"/>
                </a:solidFill>
              </a:rPr>
              <a:t>: </a:t>
            </a:r>
            <a:r>
              <a:rPr lang="en-US" sz="1250" dirty="0">
                <a:solidFill>
                  <a:schemeClr val="tx1"/>
                </a:solidFill>
              </a:rPr>
              <a:t>confined-space crews were about 2.6 times as likely to be cases as air and deck crews (my calculation from Table 1)</a:t>
            </a:r>
            <a:r>
              <a:rPr lang="en-US" sz="1250" baseline="30000" dirty="0">
                <a:solidFill>
                  <a:schemeClr val="tx1"/>
                </a:solidFill>
              </a:rPr>
              <a:t>1</a:t>
            </a:r>
            <a:endParaRPr lang="en-US" sz="1250" dirty="0"/>
          </a:p>
        </p:txBody>
      </p:sp>
      <p:sp>
        <p:nvSpPr>
          <p:cNvPr id="15" name="Consistency icon circle"/>
          <p:cNvSpPr/>
          <p:nvPr/>
        </p:nvSpPr>
        <p:spPr>
          <a:xfrm>
            <a:off x="5303520" y="2990088"/>
            <a:ext cx="438912" cy="438912"/>
          </a:xfrm>
          <a:prstGeom prst="ellipse">
            <a:avLst/>
          </a:prstGeom>
          <a:solidFill>
            <a:schemeClr val="accent1"/>
          </a:solidFill>
          <a:ln/>
        </p:spPr>
      </p:sp>
      <p:pic>
        <p:nvPicPr>
          <p:cNvPr id="16" name="Consistency icon" descr="Consistency icon">    </p:cNvPr>
          <p:cNvPicPr>
            <a:picLocks noChangeAspect="1"/>
          </p:cNvPicPr>
          <p:nvPr/>
        </p:nvPicPr>
        <p:blipFill>
          <a:blip r:embed="rId2"/>
          <a:stretch>
            <a:fillRect/>
          </a:stretch>
        </p:blipFill>
        <p:spPr>
          <a:xfrm>
            <a:off x="5408859" y="3095427"/>
            <a:ext cx="228234" cy="228234"/>
          </a:xfrm>
          <a:prstGeom prst="rect">
            <a:avLst/>
          </a:prstGeom>
        </p:spPr>
      </p:pic>
      <p:sp>
        <p:nvSpPr>
          <p:cNvPr id="17" name="Text 13"/>
          <p:cNvSpPr txBox="1"/>
          <p:nvPr/>
        </p:nvSpPr>
        <p:spPr>
          <a:xfrm>
            <a:off x="5852160" y="2788920"/>
            <a:ext cx="5760720" cy="841248"/>
          </a:xfrm>
          <a:prstGeom prst="rect">
            <a:avLst/>
          </a:prstGeom>
          <a:noFill/>
          <a:ln/>
        </p:spPr>
        <p:txBody>
          <a:bodyPr wrap="square" lIns="635" tIns="635" rIns="635" bIns="635" rtlCol="0" anchor="ctr"/>
          <a:lstStyle/>
          <a:p>
            <a:pPr indent="0" marL="0">
              <a:buNone/>
            </a:pPr>
            <a:r>
              <a:rPr lang="en-US" sz="1250" b="1" dirty="0">
                <a:solidFill>
                  <a:schemeClr val="tx1"/>
                </a:solidFill>
              </a:rPr>
              <a:t>Consistency</a:t>
            </a:r>
            <a:r>
              <a:rPr lang="en-US" sz="1250" b="1" dirty="0">
                <a:solidFill>
                  <a:schemeClr val="tx1"/>
                </a:solidFill>
              </a:rPr>
              <a:t>: </a:t>
            </a:r>
            <a:r>
              <a:rPr lang="en-US" sz="1250" dirty="0">
                <a:solidFill>
                  <a:schemeClr val="tx1"/>
                </a:solidFill>
              </a:rPr>
              <a:t>in a Navy–CDC survey of 382 crew, 66% who reported sharing a berth with someone who tested positive had current or past infection, vs 36% who did not</a:t>
            </a:r>
            <a:r>
              <a:rPr lang="en-US" sz="1250" dirty="0">
                <a:solidFill>
                  <a:schemeClr val="tx1"/>
                </a:solidFill>
              </a:rPr>
              <a:t>.</a:t>
            </a:r>
            <a:r>
              <a:rPr lang="en-US" sz="1250" baseline="30000" dirty="0">
                <a:solidFill>
                  <a:schemeClr val="tx1"/>
                </a:solidFill>
              </a:rPr>
              <a:t>17</a:t>
            </a:r>
            <a:r>
              <a:rPr lang="en-US" sz="1250" dirty="0">
                <a:solidFill>
                  <a:schemeClr val="tx1"/>
                </a:solidFill>
              </a:rPr>
              <a:t> In Marine recruits, sequencing pointed to spread between roommates</a:t>
            </a:r>
            <a:r>
              <a:rPr lang="en-US" sz="1250" dirty="0">
                <a:solidFill>
                  <a:schemeClr val="tx1"/>
                </a:solidFill>
              </a:rPr>
              <a:t>.</a:t>
            </a:r>
            <a:r>
              <a:rPr lang="en-US" sz="1250" baseline="30000" dirty="0">
                <a:solidFill>
                  <a:schemeClr val="tx1"/>
                </a:solidFill>
              </a:rPr>
              <a:t>7</a:t>
            </a:r>
            <a:endParaRPr lang="en-US" sz="1250" dirty="0"/>
          </a:p>
        </p:txBody>
      </p:sp>
      <p:sp>
        <p:nvSpPr>
          <p:cNvPr id="18" name="Plausibility icon circle"/>
          <p:cNvSpPr/>
          <p:nvPr/>
        </p:nvSpPr>
        <p:spPr>
          <a:xfrm>
            <a:off x="5303520" y="3730752"/>
            <a:ext cx="438912" cy="438912"/>
          </a:xfrm>
          <a:prstGeom prst="ellipse">
            <a:avLst/>
          </a:prstGeom>
          <a:solidFill>
            <a:schemeClr val="accent1"/>
          </a:solidFill>
          <a:ln/>
        </p:spPr>
      </p:sp>
      <p:pic>
        <p:nvPicPr>
          <p:cNvPr id="19" name="Plausibility icon" descr="Plausibility icon">    </p:cNvPr>
          <p:cNvPicPr>
            <a:picLocks noChangeAspect="1"/>
          </p:cNvPicPr>
          <p:nvPr/>
        </p:nvPicPr>
        <p:blipFill>
          <a:blip r:embed="rId3"/>
          <a:stretch>
            <a:fillRect/>
          </a:stretch>
        </p:blipFill>
        <p:spPr>
          <a:xfrm>
            <a:off x="5408859" y="3836091"/>
            <a:ext cx="228234" cy="228234"/>
          </a:xfrm>
          <a:prstGeom prst="rect">
            <a:avLst/>
          </a:prstGeom>
        </p:spPr>
      </p:pic>
      <p:sp>
        <p:nvSpPr>
          <p:cNvPr id="20" name="Text 15"/>
          <p:cNvSpPr txBox="1"/>
          <p:nvPr/>
        </p:nvSpPr>
        <p:spPr>
          <a:xfrm>
            <a:off x="5852160" y="3675888"/>
            <a:ext cx="5760720" cy="548640"/>
          </a:xfrm>
          <a:prstGeom prst="rect">
            <a:avLst/>
          </a:prstGeom>
          <a:noFill/>
          <a:ln/>
        </p:spPr>
        <p:txBody>
          <a:bodyPr wrap="square" lIns="635" tIns="635" rIns="635" bIns="635" rtlCol="0" anchor="ctr"/>
          <a:lstStyle/>
          <a:p>
            <a:pPr indent="0" marL="0">
              <a:buNone/>
            </a:pPr>
            <a:r>
              <a:rPr lang="en-US" sz="1250" b="1" dirty="0">
                <a:solidFill>
                  <a:schemeClr val="tx1"/>
                </a:solidFill>
              </a:rPr>
              <a:t>Plausibility</a:t>
            </a:r>
            <a:r>
              <a:rPr lang="en-US" sz="1250" b="1" dirty="0">
                <a:solidFill>
                  <a:schemeClr val="tx1"/>
                </a:solidFill>
              </a:rPr>
              <a:t>: </a:t>
            </a:r>
            <a:r>
              <a:rPr lang="en-US" sz="1250" dirty="0">
                <a:solidFill>
                  <a:schemeClr val="tx1"/>
                </a:solidFill>
              </a:rPr>
              <a:t>the virus spreads in droplets when people talk; tiny particles from speech could also linger in the air</a:t>
            </a:r>
            <a:r>
              <a:rPr lang="en-US" sz="1250" baseline="30000" dirty="0">
                <a:solidFill>
                  <a:schemeClr val="tx1"/>
                </a:solidFill>
              </a:rPr>
              <a:t>2</a:t>
            </a:r>
            <a:endParaRPr lang="en-US" sz="1250" dirty="0"/>
          </a:p>
        </p:txBody>
      </p:sp>
      <p:sp>
        <p:nvSpPr>
          <p:cNvPr id="21" name="Dose-response not tested icon circle"/>
          <p:cNvSpPr/>
          <p:nvPr/>
        </p:nvSpPr>
        <p:spPr>
          <a:xfrm>
            <a:off x="5303520" y="4343400"/>
            <a:ext cx="438912" cy="438912"/>
          </a:xfrm>
          <a:prstGeom prst="ellipse">
            <a:avLst/>
          </a:prstGeom>
          <a:solidFill>
            <a:schemeClr val="accent2"/>
          </a:solidFill>
          <a:ln/>
        </p:spPr>
      </p:sp>
      <p:pic>
        <p:nvPicPr>
          <p:cNvPr id="22" name="Dose-response not tested icon" descr="Dose-response not tested icon">    </p:cNvPr>
          <p:cNvPicPr>
            <a:picLocks noChangeAspect="1"/>
          </p:cNvPicPr>
          <p:nvPr/>
        </p:nvPicPr>
        <p:blipFill>
          <a:blip r:embed="rId4"/>
          <a:stretch>
            <a:fillRect/>
          </a:stretch>
        </p:blipFill>
        <p:spPr>
          <a:xfrm>
            <a:off x="5408859" y="4448739"/>
            <a:ext cx="228234" cy="228234"/>
          </a:xfrm>
          <a:prstGeom prst="rect">
            <a:avLst/>
          </a:prstGeom>
        </p:spPr>
      </p:pic>
      <p:sp>
        <p:nvSpPr>
          <p:cNvPr id="23" name="Text 17"/>
          <p:cNvSpPr txBox="1"/>
          <p:nvPr/>
        </p:nvSpPr>
        <p:spPr>
          <a:xfrm>
            <a:off x="5852160" y="4270248"/>
            <a:ext cx="5760720" cy="585216"/>
          </a:xfrm>
          <a:prstGeom prst="rect">
            <a:avLst/>
          </a:prstGeom>
          <a:noFill/>
          <a:ln/>
        </p:spPr>
        <p:txBody>
          <a:bodyPr wrap="square" lIns="635" tIns="635" rIns="635" bIns="635" rtlCol="0" anchor="ctr"/>
          <a:lstStyle/>
          <a:p>
            <a:pPr indent="0" marL="0">
              <a:buNone/>
            </a:pPr>
            <a:r>
              <a:rPr lang="en-US" sz="1250" b="1" dirty="0">
                <a:solidFill>
                  <a:schemeClr val="tx1"/>
                </a:solidFill>
              </a:rPr>
              <a:t>Dose-response not tested</a:t>
            </a:r>
            <a:r>
              <a:rPr lang="en-US" sz="1250" b="1" dirty="0">
                <a:solidFill>
                  <a:schemeClr val="tx1"/>
                </a:solidFill>
              </a:rPr>
              <a:t>: </a:t>
            </a:r>
            <a:r>
              <a:rPr lang="en-US" sz="1250" dirty="0">
                <a:solidFill>
                  <a:schemeClr val="tx1"/>
                </a:solidFill>
              </a:rPr>
              <a:t>the article reports no graded measure of crowding</a:t>
            </a:r>
            <a:r>
              <a:rPr lang="en-US" sz="1250" dirty="0">
                <a:solidFill>
                  <a:schemeClr val="tx1"/>
                </a:solidFill>
              </a:rPr>
              <a:t>,</a:t>
            </a:r>
            <a:r>
              <a:rPr lang="en-US" sz="1250" baseline="30000" dirty="0">
                <a:solidFill>
                  <a:schemeClr val="tx1"/>
                </a:solidFill>
              </a:rPr>
              <a:t>1</a:t>
            </a:r>
            <a:r>
              <a:rPr lang="en-US" sz="1250" dirty="0">
                <a:solidFill>
                  <a:schemeClr val="tx1"/>
                </a:solidFill>
              </a:rPr>
              <a:t> so “more crowding, more infection” could not be checked</a:t>
            </a:r>
            <a:endParaRPr lang="en-US" sz="1250" dirty="0"/>
          </a:p>
        </p:txBody>
      </p:sp>
      <p:sp>
        <p:nvSpPr>
          <p:cNvPr id="24" name="Confounding possible icon circle"/>
          <p:cNvSpPr/>
          <p:nvPr/>
        </p:nvSpPr>
        <p:spPr>
          <a:xfrm>
            <a:off x="5303520" y="4974336"/>
            <a:ext cx="438912" cy="438912"/>
          </a:xfrm>
          <a:prstGeom prst="ellipse">
            <a:avLst/>
          </a:prstGeom>
          <a:solidFill>
            <a:schemeClr val="accent2"/>
          </a:solidFill>
          <a:ln/>
        </p:spPr>
      </p:sp>
      <p:pic>
        <p:nvPicPr>
          <p:cNvPr id="25" name="Confounding possible icon" descr="Confounding possible icon">    </p:cNvPr>
          <p:cNvPicPr>
            <a:picLocks noChangeAspect="1"/>
          </p:cNvPicPr>
          <p:nvPr/>
        </p:nvPicPr>
        <p:blipFill>
          <a:blip r:embed="rId5"/>
          <a:stretch>
            <a:fillRect/>
          </a:stretch>
        </p:blipFill>
        <p:spPr>
          <a:xfrm>
            <a:off x="5408859" y="5079675"/>
            <a:ext cx="228234" cy="228234"/>
          </a:xfrm>
          <a:prstGeom prst="rect">
            <a:avLst/>
          </a:prstGeom>
        </p:spPr>
      </p:pic>
      <p:sp>
        <p:nvSpPr>
          <p:cNvPr id="26" name="Text 19"/>
          <p:cNvSpPr txBox="1"/>
          <p:nvPr/>
        </p:nvSpPr>
        <p:spPr>
          <a:xfrm>
            <a:off x="5852160" y="4901184"/>
            <a:ext cx="5760720" cy="585216"/>
          </a:xfrm>
          <a:prstGeom prst="rect">
            <a:avLst/>
          </a:prstGeom>
          <a:noFill/>
          <a:ln/>
        </p:spPr>
        <p:txBody>
          <a:bodyPr wrap="square" lIns="635" tIns="635" rIns="635" bIns="635" rtlCol="0" anchor="ctr"/>
          <a:lstStyle/>
          <a:p>
            <a:pPr indent="0" marL="0">
              <a:buNone/>
            </a:pPr>
            <a:r>
              <a:rPr lang="en-US" sz="1250" b="1" dirty="0">
                <a:solidFill>
                  <a:schemeClr val="tx1"/>
                </a:solidFill>
              </a:rPr>
              <a:t>Confounding possible</a:t>
            </a:r>
            <a:r>
              <a:rPr lang="en-US" sz="1250" baseline="30000" dirty="0">
                <a:solidFill>
                  <a:schemeClr val="tx1"/>
                </a:solidFill>
              </a:rPr>
              <a:t>18</a:t>
            </a:r>
            <a:r>
              <a:rPr lang="en-US" sz="1250" b="1" dirty="0">
                <a:solidFill>
                  <a:schemeClr val="tx1"/>
                </a:solidFill>
              </a:rPr>
              <a:t>: </a:t>
            </a:r>
            <a:r>
              <a:rPr lang="en-US" sz="1250" dirty="0">
                <a:solidFill>
                  <a:schemeClr val="tx1"/>
                </a:solidFill>
              </a:rPr>
              <a:t>only unadjusted comparisons were made</a:t>
            </a:r>
            <a:r>
              <a:rPr lang="en-US" sz="1250" dirty="0">
                <a:solidFill>
                  <a:schemeClr val="tx1"/>
                </a:solidFill>
              </a:rPr>
              <a:t>,</a:t>
            </a:r>
            <a:r>
              <a:rPr lang="en-US" sz="1250" baseline="30000" dirty="0">
                <a:solidFill>
                  <a:schemeClr val="tx1"/>
                </a:solidFill>
              </a:rPr>
              <a:t>1</a:t>
            </a:r>
            <a:r>
              <a:rPr lang="en-US" sz="1250" dirty="0">
                <a:solidFill>
                  <a:schemeClr val="tx1"/>
                </a:solidFill>
              </a:rPr>
              <a:t> so other factors, such as rank, may be mixed in</a:t>
            </a:r>
            <a:endParaRPr lang="en-US" sz="1250" dirty="0"/>
          </a:p>
        </p:txBody>
      </p:sp>
      <p:sp>
        <p:nvSpPr>
          <p:cNvPr id="27" name="Many comparisons icon circle"/>
          <p:cNvSpPr/>
          <p:nvPr/>
        </p:nvSpPr>
        <p:spPr>
          <a:xfrm>
            <a:off x="5303520" y="5605272"/>
            <a:ext cx="438912" cy="438912"/>
          </a:xfrm>
          <a:prstGeom prst="ellipse">
            <a:avLst/>
          </a:prstGeom>
          <a:solidFill>
            <a:schemeClr val="accent2"/>
          </a:solidFill>
          <a:ln/>
        </p:spPr>
      </p:sp>
      <p:pic>
        <p:nvPicPr>
          <p:cNvPr id="28" name="Many comparisons icon" descr="Many comparisons icon">    </p:cNvPr>
          <p:cNvPicPr>
            <a:picLocks noChangeAspect="1"/>
          </p:cNvPicPr>
          <p:nvPr/>
        </p:nvPicPr>
        <p:blipFill>
          <a:blip r:embed="rId6"/>
          <a:stretch>
            <a:fillRect/>
          </a:stretch>
        </p:blipFill>
        <p:spPr>
          <a:xfrm>
            <a:off x="5408859" y="5710611"/>
            <a:ext cx="228234" cy="228234"/>
          </a:xfrm>
          <a:prstGeom prst="rect">
            <a:avLst/>
          </a:prstGeom>
        </p:spPr>
      </p:pic>
      <p:sp>
        <p:nvSpPr>
          <p:cNvPr id="29" name="Text 21"/>
          <p:cNvSpPr txBox="1"/>
          <p:nvPr/>
        </p:nvSpPr>
        <p:spPr>
          <a:xfrm>
            <a:off x="5852160" y="5532120"/>
            <a:ext cx="5760720" cy="585216"/>
          </a:xfrm>
          <a:prstGeom prst="rect">
            <a:avLst/>
          </a:prstGeom>
          <a:noFill/>
          <a:ln/>
        </p:spPr>
        <p:txBody>
          <a:bodyPr wrap="square" lIns="635" tIns="635" rIns="635" bIns="635" rtlCol="0" anchor="ctr"/>
          <a:lstStyle/>
          <a:p>
            <a:pPr indent="0" marL="0">
              <a:buNone/>
            </a:pPr>
            <a:r>
              <a:rPr lang="en-US" sz="1250" b="1" dirty="0">
                <a:solidFill>
                  <a:schemeClr val="tx1"/>
                </a:solidFill>
              </a:rPr>
              <a:t>Many comparisons</a:t>
            </a:r>
            <a:r>
              <a:rPr lang="en-US" sz="1250" baseline="30000" dirty="0">
                <a:solidFill>
                  <a:schemeClr val="tx1"/>
                </a:solidFill>
              </a:rPr>
              <a:t>19</a:t>
            </a:r>
            <a:r>
              <a:rPr lang="en-US" sz="1250" b="1" dirty="0">
                <a:solidFill>
                  <a:schemeClr val="tx1"/>
                </a:solidFill>
              </a:rPr>
              <a:t>: </a:t>
            </a:r>
            <a:r>
              <a:rPr lang="en-US" sz="1250" dirty="0">
                <a:solidFill>
                  <a:schemeClr val="tx1"/>
                </a:solidFill>
              </a:rPr>
              <a:t>many tests raise the chance of a false alarm; the article's odds ratios were not adjusted for this</a:t>
            </a:r>
            <a:r>
              <a:rPr lang="en-US" sz="1250" baseline="30000" dirty="0">
                <a:solidFill>
                  <a:schemeClr val="tx1"/>
                </a:solidFill>
              </a:rPr>
              <a:t>1</a:t>
            </a:r>
            <a:endParaRPr lang="en-US" sz="1250" dirty="0"/>
          </a:p>
        </p:txBody>
      </p:sp>
      <p:sp>
        <p:nvSpPr>
          <p:cNvPr id="31" name="Text 0"/>
          <p:cNvSpPr/>
          <p:nvPr>
            <p:ph idx="102" type="body" hasCustomPrompt="1"/>
          </p:nvPr>
        </p:nvSpPr>
        <p:spPr>
          <a:xfrm>
            <a:off x="548640" y="6355080"/>
            <a:ext cx="9875520" cy="320040"/>
          </a:xfrm>
          <a:prstGeom prst="rect">
            <a:avLst/>
          </a:prstGeom>
          <a:noFill/>
          <a:ln/>
        </p:spPr>
        <p:txBody>
          <a:bodyPr wrap="square" lIns="0" tIns="0" rIns="0" bIns="0" rtlCol="0" anchor="ctr"/>
          <a:lstStyle/>
          <a:p>
            <a:pPr indent="0" marL="0">
              <a:buNone/>
            </a:pPr>
            <a:r>
              <a:rPr lang="en-US" sz="1000" i="1" dirty="0">
                <a:solidFill>
                  <a:schemeClr val="accent6"/>
                </a:solidFill>
              </a:rPr>
              <a:t>Sources: 1 Kasper et al, 2020; 2 Hu et al, 2021; 7 Letizia et al, 2020; 15 de Laval et al, 2022; 16 Hill, 1965; 17 Payne et al, 2020; 18 Skelly et al, 2012; 19 Ranganathan et al, 2016 (full list at the end).   Hill assessment (✓ / ✗) is my own appraisal.</a:t>
            </a: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How Sure Are We? Strengths &amp; Limitations</a:t>
            </a:r>
            <a:endParaRPr lang="en-US" sz="3400" dirty="0"/>
          </a:p>
        </p:txBody>
      </p:sp>
      <p:sp>
        <p:nvSpPr>
          <p:cNvPr id="3" name="Text 0"/>
          <p:cNvSpPr/>
          <p:nvPr>
            <p:ph idx="101" type="body" hasCustomPrompt="1"/>
          </p:nvPr>
        </p:nvSpPr>
        <p:spPr>
          <a:xfrm>
            <a:off x="548640" y="73152"/>
            <a:ext cx="11064240"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4   </a:t>
            </a:r>
            <a:r>
              <a:rPr lang="en-US" sz="1100" b="1" spc="100" kern="0" dirty="0">
                <a:solidFill>
                  <a:schemeClr val="accent6"/>
                </a:solidFill>
              </a:rPr>
              <a:t>HOW DID IT SPREAD, AND HOW SURE ARE WE?</a:t>
            </a:r>
            <a:endParaRPr lang="en-US" sz="1100" dirty="0"/>
          </a:p>
        </p:txBody>
      </p:sp>
      <p:sp>
        <p:nvSpPr>
          <p:cNvPr id="4" name="strengths"/>
          <p:cNvSpPr/>
          <p:nvPr/>
        </p:nvSpPr>
        <p:spPr>
          <a:xfrm>
            <a:off x="548640" y="1325880"/>
            <a:ext cx="5394960" cy="4846320"/>
          </a:xfrm>
          <a:prstGeom prst="roundRect">
            <a:avLst>
              <a:gd name="adj" fmla="val 2264"/>
            </a:avLst>
          </a:prstGeom>
          <a:solidFill>
            <a:schemeClr val="bg2"/>
          </a:solidFill>
          <a:ln/>
        </p:spPr>
      </p:sp>
      <p:sp>
        <p:nvSpPr>
          <p:cNvPr id="5" name="strengths icon circle"/>
          <p:cNvSpPr/>
          <p:nvPr/>
        </p:nvSpPr>
        <p:spPr>
          <a:xfrm>
            <a:off x="777240" y="1508760"/>
            <a:ext cx="548640" cy="548640"/>
          </a:xfrm>
          <a:prstGeom prst="ellipse">
            <a:avLst/>
          </a:prstGeom>
          <a:solidFill>
            <a:schemeClr val="accent1"/>
          </a:solidFill>
          <a:ln/>
        </p:spPr>
      </p:sp>
      <p:pic>
        <p:nvPicPr>
          <p:cNvPr id="6" name="strengths icon" descr="strengths icon">    </p:cNvPr>
          <p:cNvPicPr>
            <a:picLocks noChangeAspect="1"/>
          </p:cNvPicPr>
          <p:nvPr/>
        </p:nvPicPr>
        <p:blipFill>
          <a:blip r:embed="rId1"/>
          <a:stretch>
            <a:fillRect/>
          </a:stretch>
        </p:blipFill>
        <p:spPr>
          <a:xfrm>
            <a:off x="908914" y="1640434"/>
            <a:ext cx="285293" cy="285293"/>
          </a:xfrm>
          <a:prstGeom prst="rect">
            <a:avLst/>
          </a:prstGeom>
        </p:spPr>
      </p:pic>
      <p:sp>
        <p:nvSpPr>
          <p:cNvPr id="7" name="Text 4"/>
          <p:cNvSpPr txBox="1"/>
          <p:nvPr/>
        </p:nvSpPr>
        <p:spPr>
          <a:xfrm>
            <a:off x="1463040" y="1508760"/>
            <a:ext cx="4206240" cy="548640"/>
          </a:xfrm>
          <a:prstGeom prst="rect">
            <a:avLst/>
          </a:prstGeom>
          <a:noFill/>
          <a:ln/>
        </p:spPr>
        <p:txBody>
          <a:bodyPr wrap="square" lIns="635" tIns="635" rIns="635" bIns="635"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Strengths</a:t>
            </a:r>
            <a:endParaRPr lang="en-US" sz="2000" dirty="0"/>
          </a:p>
        </p:txBody>
      </p:sp>
      <p:sp>
        <p:nvSpPr>
          <p:cNvPr id="8" name="Text 5"/>
          <p:cNvSpPr txBox="1"/>
          <p:nvPr/>
        </p:nvSpPr>
        <p:spPr>
          <a:xfrm>
            <a:off x="777240" y="2240280"/>
            <a:ext cx="4983480" cy="3840480"/>
          </a:xfrm>
          <a:prstGeom prst="rect">
            <a:avLst/>
          </a:prstGeom>
          <a:noFill/>
          <a:ln/>
        </p:spPr>
        <p:txBody>
          <a:bodyPr wrap="square" lIns="635" tIns="635" rIns="635" bIns="635" rtlCol="0" anchor="t"/>
          <a:lstStyle/>
          <a:p>
            <a:pPr marL="203200" indent="-203200">
              <a:spcAft>
                <a:spcPts val="600"/>
              </a:spcAft>
              <a:buSzPct val="100000"/>
              <a:buChar char="•"/>
            </a:pPr>
            <a:r>
              <a:rPr lang="en-US" sz="1450" b="1" dirty="0">
                <a:solidFill>
                  <a:schemeClr val="tx1"/>
                </a:solidFill>
              </a:rPr>
              <a:t>Everyone was tested: </a:t>
            </a:r>
            <a:r>
              <a:rPr lang="en-US" sz="1450" dirty="0">
                <a:solidFill>
                  <a:schemeClr val="tx1"/>
                </a:solidFill>
              </a:rPr>
              <a:t>infections without symptoms could be found</a:t>
            </a:r>
            <a:r>
              <a:rPr lang="en-US" sz="1450" baseline="30000" dirty="0">
                <a:solidFill>
                  <a:schemeClr val="tx1"/>
                </a:solidFill>
              </a:rPr>
              <a:t>1</a:t>
            </a:r>
            <a:endParaRPr lang="en-US" sz="1500" dirty="0"/>
          </a:p>
          <a:p>
            <a:pPr marL="203200" indent="-203200">
              <a:spcAft>
                <a:spcPts val="600"/>
              </a:spcAft>
              <a:buSzPct val="100000"/>
              <a:buChar char="•"/>
            </a:pPr>
            <a:r>
              <a:rPr lang="en-US" sz="1450" b="1" dirty="0">
                <a:solidFill>
                  <a:schemeClr val="tx1"/>
                </a:solidFill>
              </a:rPr>
              <a:t>Followed for 10+ weeks: </a:t>
            </a:r>
            <a:r>
              <a:rPr lang="en-US" sz="1450" dirty="0">
                <a:solidFill>
                  <a:schemeClr val="tx1"/>
                </a:solidFill>
              </a:rPr>
              <a:t>shows who never developed symptoms</a:t>
            </a:r>
            <a:r>
              <a:rPr lang="en-US" sz="1450" baseline="30000" dirty="0">
                <a:solidFill>
                  <a:schemeClr val="tx1"/>
                </a:solidFill>
              </a:rPr>
              <a:t>1</a:t>
            </a:r>
            <a:endParaRPr lang="en-US" sz="1500" dirty="0"/>
          </a:p>
          <a:p>
            <a:pPr marL="203200" indent="-203200">
              <a:spcAft>
                <a:spcPts val="600"/>
              </a:spcAft>
              <a:buSzPct val="100000"/>
              <a:buChar char="•"/>
            </a:pPr>
            <a:r>
              <a:rPr lang="en-US" sz="1450" b="1" dirty="0">
                <a:solidFill>
                  <a:schemeClr val="tx1"/>
                </a:solidFill>
              </a:rPr>
              <a:t>Outcomes confirmed: </a:t>
            </a:r>
            <a:r>
              <a:rPr lang="en-US" sz="1450" dirty="0">
                <a:solidFill>
                  <a:schemeClr val="tx1"/>
                </a:solidFill>
              </a:rPr>
              <a:t>for every infected sailor</a:t>
            </a:r>
            <a:r>
              <a:rPr lang="en-US" sz="1450" baseline="30000" dirty="0">
                <a:solidFill>
                  <a:schemeClr val="tx1"/>
                </a:solidFill>
              </a:rPr>
              <a:t>1</a:t>
            </a:r>
            <a:endParaRPr lang="en-US" sz="1500" dirty="0"/>
          </a:p>
          <a:p>
            <a:pPr marL="203200" indent="-203200">
              <a:spcAft>
                <a:spcPts val="600"/>
              </a:spcAft>
              <a:buSzPct val="100000"/>
              <a:buChar char="•"/>
            </a:pPr>
            <a:r>
              <a:rPr lang="en-US" sz="1450" b="1" dirty="0">
                <a:solidFill>
                  <a:schemeClr val="tx1"/>
                </a:solidFill>
              </a:rPr>
              <a:t>Lab-confirmed: </a:t>
            </a:r>
            <a:r>
              <a:rPr lang="en-US" sz="1450" dirty="0">
                <a:solidFill>
                  <a:schemeClr val="tx1"/>
                </a:solidFill>
              </a:rPr>
              <a:t>1,271 of 1,331 cases had a positive PCR test</a:t>
            </a:r>
            <a:r>
              <a:rPr lang="en-US" sz="1450" baseline="30000" dirty="0">
                <a:solidFill>
                  <a:schemeClr val="tx1"/>
                </a:solidFill>
              </a:rPr>
              <a:t>1</a:t>
            </a:r>
            <a:r>
              <a:rPr lang="en-US" sz="1450" dirty="0">
                <a:solidFill>
                  <a:schemeClr val="tx1"/>
                </a:solidFill>
              </a:rPr>
              <a:t> (95.5%, my calculation)</a:t>
            </a:r>
            <a:endParaRPr lang="en-US" sz="1500" dirty="0"/>
          </a:p>
          <a:p>
            <a:pPr marL="203200" indent="-203200">
              <a:spcAft>
                <a:spcPts val="600"/>
              </a:spcAft>
              <a:buSzPct val="100000"/>
              <a:buChar char="•"/>
            </a:pPr>
            <a:r>
              <a:rPr lang="en-US" sz="1450" b="1" dirty="0">
                <a:solidFill>
                  <a:schemeClr val="tx1"/>
                </a:solidFill>
              </a:rPr>
              <a:t>Official records: </a:t>
            </a:r>
            <a:r>
              <a:rPr lang="en-US" sz="1450" dirty="0">
                <a:solidFill>
                  <a:schemeClr val="tx1"/>
                </a:solidFill>
              </a:rPr>
              <a:t>demographic and health data came from personnel and medical records</a:t>
            </a:r>
            <a:r>
              <a:rPr lang="en-US" sz="1450" baseline="30000" dirty="0">
                <a:solidFill>
                  <a:schemeClr val="tx1"/>
                </a:solidFill>
              </a:rPr>
              <a:t>1</a:t>
            </a:r>
            <a:endParaRPr lang="en-US" sz="1500" dirty="0"/>
          </a:p>
        </p:txBody>
      </p:sp>
      <p:sp>
        <p:nvSpPr>
          <p:cNvPr id="9" name="limitations"/>
          <p:cNvSpPr/>
          <p:nvPr/>
        </p:nvSpPr>
        <p:spPr>
          <a:xfrm>
            <a:off x="6217920" y="1325880"/>
            <a:ext cx="5394960" cy="4846320"/>
          </a:xfrm>
          <a:prstGeom prst="roundRect">
            <a:avLst>
              <a:gd name="adj" fmla="val 2264"/>
            </a:avLst>
          </a:prstGeom>
          <a:solidFill>
            <a:schemeClr val="bg2"/>
          </a:solidFill>
          <a:ln/>
        </p:spPr>
      </p:sp>
      <p:sp>
        <p:nvSpPr>
          <p:cNvPr id="10" name="limitations icon circle"/>
          <p:cNvSpPr/>
          <p:nvPr/>
        </p:nvSpPr>
        <p:spPr>
          <a:xfrm>
            <a:off x="6446520" y="1508760"/>
            <a:ext cx="548640" cy="548640"/>
          </a:xfrm>
          <a:prstGeom prst="ellipse">
            <a:avLst/>
          </a:prstGeom>
          <a:solidFill>
            <a:schemeClr val="accent2"/>
          </a:solidFill>
          <a:ln/>
        </p:spPr>
      </p:sp>
      <p:pic>
        <p:nvPicPr>
          <p:cNvPr id="11" name="limitations icon" descr="limitations icon">    </p:cNvPr>
          <p:cNvPicPr>
            <a:picLocks noChangeAspect="1"/>
          </p:cNvPicPr>
          <p:nvPr/>
        </p:nvPicPr>
        <p:blipFill>
          <a:blip r:embed="rId2"/>
          <a:stretch>
            <a:fillRect/>
          </a:stretch>
        </p:blipFill>
        <p:spPr>
          <a:xfrm>
            <a:off x="6578194" y="1640434"/>
            <a:ext cx="285293" cy="285293"/>
          </a:xfrm>
          <a:prstGeom prst="rect">
            <a:avLst/>
          </a:prstGeom>
        </p:spPr>
      </p:pic>
      <p:sp>
        <p:nvSpPr>
          <p:cNvPr id="12" name="Text 8"/>
          <p:cNvSpPr txBox="1"/>
          <p:nvPr/>
        </p:nvSpPr>
        <p:spPr>
          <a:xfrm>
            <a:off x="7132320" y="1508760"/>
            <a:ext cx="4206240" cy="548640"/>
          </a:xfrm>
          <a:prstGeom prst="rect">
            <a:avLst/>
          </a:prstGeom>
          <a:noFill/>
          <a:ln/>
        </p:spPr>
        <p:txBody>
          <a:bodyPr wrap="square" lIns="635" tIns="635" rIns="635" bIns="635"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Limitations</a:t>
            </a:r>
            <a:endParaRPr lang="en-US" sz="2000" dirty="0"/>
          </a:p>
        </p:txBody>
      </p:sp>
      <p:sp>
        <p:nvSpPr>
          <p:cNvPr id="13" name="Text 9"/>
          <p:cNvSpPr txBox="1"/>
          <p:nvPr/>
        </p:nvSpPr>
        <p:spPr>
          <a:xfrm>
            <a:off x="6446520" y="2240280"/>
            <a:ext cx="4983480" cy="3840480"/>
          </a:xfrm>
          <a:prstGeom prst="rect">
            <a:avLst/>
          </a:prstGeom>
          <a:noFill/>
          <a:ln/>
        </p:spPr>
        <p:txBody>
          <a:bodyPr wrap="square" lIns="635" tIns="635" rIns="635" bIns="635" rtlCol="0" anchor="t"/>
          <a:lstStyle/>
          <a:p>
            <a:pPr indent="0" marL="0">
              <a:buNone/>
            </a:pPr>
            <a:r>
              <a:rPr lang="en-US" sz="1300" b="1" dirty="0">
                <a:solidFill>
                  <a:schemeClr val="accent6"/>
                </a:solidFill>
              </a:rPr>
              <a:t>The authors said</a:t>
            </a:r>
            <a:r>
              <a:rPr lang="en-US" sz="1300" b="1" baseline="30000" dirty="0">
                <a:solidFill>
                  <a:schemeClr val="accent6"/>
                </a:solidFill>
              </a:rPr>
              <a:t>1</a:t>
            </a:r>
            <a:endParaRPr lang="en-US" sz="1500" dirty="0"/>
          </a:p>
          <a:p>
            <a:pPr marL="203200" indent="-203200">
              <a:spcAft>
                <a:spcPts val="600"/>
              </a:spcAft>
              <a:buSzPct val="100000"/>
              <a:buChar char="•"/>
            </a:pPr>
            <a:r>
              <a:rPr lang="en-US" sz="1450" dirty="0">
                <a:solidFill>
                  <a:schemeClr val="tx1"/>
                </a:solidFill>
              </a:rPr>
              <a:t>Early records were of lower quality</a:t>
            </a:r>
            <a:endParaRPr lang="en-US" sz="1500" dirty="0"/>
          </a:p>
          <a:p>
            <a:pPr marL="203200" indent="-203200">
              <a:spcAft>
                <a:spcPts val="600"/>
              </a:spcAft>
              <a:buSzPct val="100000"/>
              <a:buChar char="•"/>
            </a:pPr>
            <a:r>
              <a:rPr lang="en-US" sz="1450" dirty="0">
                <a:solidFill>
                  <a:schemeClr val="tx1"/>
                </a:solidFill>
              </a:rPr>
              <a:t>The case definition changed in April</a:t>
            </a:r>
            <a:endParaRPr lang="en-US" sz="1500" dirty="0"/>
          </a:p>
          <a:p>
            <a:pPr marL="203200" indent="-203200">
              <a:spcAft>
                <a:spcPts val="600"/>
              </a:spcAft>
              <a:buSzPct val="100000"/>
              <a:buChar char="•"/>
            </a:pPr>
            <a:r>
              <a:rPr lang="en-US" sz="1450" dirty="0">
                <a:solidFill>
                  <a:schemeClr val="tx1"/>
                </a:solidFill>
              </a:rPr>
              <a:t>Navy crews may differ from civilians, e.g., all had equal access to care</a:t>
            </a:r>
            <a:endParaRPr lang="en-US" sz="1500" dirty="0"/>
          </a:p>
          <a:p>
            <a:pPr indent="0" marL="0">
              <a:spcBef>
                <a:spcPts val="1000"/>
              </a:spcBef>
              <a:buNone/>
            </a:pPr>
            <a:r>
              <a:rPr lang="en-US" sz="1300" b="1" dirty="0">
                <a:solidFill>
                  <a:schemeClr val="accent2"/>
                </a:solidFill>
              </a:rPr>
              <a:t>My view</a:t>
            </a:r>
            <a:endParaRPr lang="en-US" sz="1500" dirty="0"/>
          </a:p>
          <a:p>
            <a:pPr marL="203200" indent="-203200">
              <a:spcAft>
                <a:spcPts val="600"/>
              </a:spcAft>
              <a:buSzPct val="100000"/>
              <a:buChar char="•"/>
            </a:pPr>
            <a:r>
              <a:rPr lang="en-US" sz="1450" dirty="0">
                <a:solidFill>
                  <a:schemeClr val="tx1"/>
                </a:solidFill>
              </a:rPr>
              <a:t>Only unadjusted comparisons</a:t>
            </a:r>
            <a:r>
              <a:rPr lang="en-US" sz="1450" dirty="0">
                <a:solidFill>
                  <a:schemeClr val="tx1"/>
                </a:solidFill>
              </a:rPr>
              <a:t>,</a:t>
            </a:r>
            <a:r>
              <a:rPr lang="en-US" sz="1450" baseline="30000" dirty="0">
                <a:solidFill>
                  <a:schemeClr val="tx1"/>
                </a:solidFill>
              </a:rPr>
              <a:t>1</a:t>
            </a:r>
            <a:r>
              <a:rPr lang="en-US" sz="1450" dirty="0">
                <a:solidFill>
                  <a:schemeClr val="tx1"/>
                </a:solidFill>
              </a:rPr>
              <a:t> so other factors may be mixed in (confounding)</a:t>
            </a:r>
            <a:r>
              <a:rPr lang="en-US" sz="1450" baseline="30000" dirty="0">
                <a:solidFill>
                  <a:schemeClr val="tx1"/>
                </a:solidFill>
              </a:rPr>
              <a:t>18</a:t>
            </a:r>
            <a:endParaRPr lang="en-US" sz="1500" dirty="0"/>
          </a:p>
          <a:p>
            <a:pPr marL="203200" indent="-203200">
              <a:spcAft>
                <a:spcPts val="600"/>
              </a:spcAft>
              <a:buSzPct val="100000"/>
              <a:buChar char="•"/>
            </a:pPr>
            <a:r>
              <a:rPr lang="en-US" sz="1450" dirty="0">
                <a:solidFill>
                  <a:schemeClr val="tx1"/>
                </a:solidFill>
              </a:rPr>
              <a:t>No air-flow testing or virus gene sequencing is described</a:t>
            </a:r>
            <a:r>
              <a:rPr lang="en-US" sz="1450" baseline="30000" dirty="0">
                <a:solidFill>
                  <a:schemeClr val="tx1"/>
                </a:solidFill>
              </a:rPr>
              <a:t>1</a:t>
            </a:r>
            <a:endParaRPr lang="en-US" sz="1500" dirty="0"/>
          </a:p>
          <a:p>
            <a:pPr marL="203200" indent="-203200">
              <a:spcAft>
                <a:spcPts val="600"/>
              </a:spcAft>
              <a:buSzPct val="100000"/>
              <a:buChar char="•"/>
            </a:pPr>
            <a:r>
              <a:rPr lang="en-US" sz="1450" dirty="0">
                <a:solidFill>
                  <a:schemeClr val="tx1"/>
                </a:solidFill>
              </a:rPr>
              <a:t>Symptoms other than fever were self-reported</a:t>
            </a:r>
            <a:r>
              <a:rPr lang="en-US" sz="1450" dirty="0">
                <a:solidFill>
                  <a:schemeClr val="tx1"/>
                </a:solidFill>
              </a:rPr>
              <a:t>,</a:t>
            </a:r>
            <a:r>
              <a:rPr lang="en-US" sz="1450" baseline="30000" dirty="0">
                <a:solidFill>
                  <a:schemeClr val="tx1"/>
                </a:solidFill>
              </a:rPr>
              <a:t>1</a:t>
            </a:r>
            <a:r>
              <a:rPr lang="en-US" sz="1450" dirty="0">
                <a:solidFill>
                  <a:schemeClr val="tx1"/>
                </a:solidFill>
              </a:rPr>
              <a:t> which can bring recall errors</a:t>
            </a:r>
            <a:r>
              <a:rPr lang="en-US" sz="1450" baseline="30000" dirty="0">
                <a:solidFill>
                  <a:schemeClr val="tx1"/>
                </a:solidFill>
              </a:rPr>
              <a:t>20</a:t>
            </a:r>
            <a:endParaRPr lang="en-US" sz="1500" dirty="0"/>
          </a:p>
          <a:p>
            <a:pPr marL="203200" indent="-203200">
              <a:spcAft>
                <a:spcPts val="600"/>
              </a:spcAft>
              <a:buSzPct val="100000"/>
              <a:buChar char="•"/>
            </a:pPr>
            <a:r>
              <a:rPr lang="en-US" sz="1450" dirty="0">
                <a:solidFill>
                  <a:schemeClr val="tx1"/>
                </a:solidFill>
              </a:rPr>
              <a:t>One negative swab can miss an infection, so some cases may have been missed</a:t>
            </a:r>
            <a:r>
              <a:rPr lang="en-US" sz="1450" baseline="30000" dirty="0">
                <a:solidFill>
                  <a:schemeClr val="tx1"/>
                </a:solidFill>
              </a:rPr>
              <a:t>10</a:t>
            </a:r>
            <a:endParaRPr lang="en-US" sz="1500" dirty="0"/>
          </a:p>
        </p:txBody>
      </p:sp>
      <p:sp>
        <p:nvSpPr>
          <p:cNvPr id="15" name="Text 0"/>
          <p:cNvSpPr/>
          <p:nvPr>
            <p:ph idx="102" type="body" hasCustomPrompt="1"/>
          </p:nvPr>
        </p:nvSpPr>
        <p:spPr>
          <a:xfrm>
            <a:off x="548640" y="6355080"/>
            <a:ext cx="9875520" cy="320040"/>
          </a:xfrm>
          <a:prstGeom prst="rect">
            <a:avLst/>
          </a:prstGeom>
          <a:noFill/>
          <a:ln/>
        </p:spPr>
        <p:txBody>
          <a:bodyPr wrap="square" lIns="0" tIns="0" rIns="0" bIns="0" rtlCol="0" anchor="ctr"/>
          <a:lstStyle/>
          <a:p>
            <a:pPr indent="0" marL="0">
              <a:buNone/>
            </a:pPr>
            <a:r>
              <a:rPr lang="en-US" sz="1000" i="1" dirty="0">
                <a:solidFill>
                  <a:schemeClr val="accent6"/>
                </a:solidFill>
              </a:rPr>
              <a:t>Sources: 1 Kasper et al, 2020; 10 Kucirka et al, 2020; 18 Skelly et al, 2012; 20 Althubaiti, 2016 (full list at the end).   Strengths and 'My view' are my own appraisal, based on the article.</a:t>
            </a: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The Response: Isolate, Quarantine, Test</a:t>
            </a:r>
            <a:endParaRPr lang="en-US" sz="3400" dirty="0"/>
          </a:p>
        </p:txBody>
      </p:sp>
      <p:sp>
        <p:nvSpPr>
          <p:cNvPr id="3" name="Text 0"/>
          <p:cNvSpPr/>
          <p:nvPr>
            <p:ph idx="101" type="body" hasCustomPrompt="1"/>
          </p:nvPr>
        </p:nvSpPr>
        <p:spPr>
          <a:xfrm>
            <a:off x="548640" y="73152"/>
            <a:ext cx="11064240"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5   </a:t>
            </a:r>
            <a:r>
              <a:rPr lang="en-US" sz="1100" b="1" spc="100" kern="0" dirty="0">
                <a:solidFill>
                  <a:schemeClr val="accent6"/>
                </a:solidFill>
              </a:rPr>
              <a:t>WHAT WAS DONE, AND WHAT NEXT?</a:t>
            </a:r>
            <a:endParaRPr lang="en-US" sz="1100" dirty="0"/>
          </a:p>
        </p:txBody>
      </p:sp>
      <p:sp>
        <p:nvSpPr>
          <p:cNvPr id="4" name="Isolation card"/>
          <p:cNvSpPr/>
          <p:nvPr/>
        </p:nvSpPr>
        <p:spPr>
          <a:xfrm>
            <a:off x="548640" y="1325880"/>
            <a:ext cx="5394960" cy="1417320"/>
          </a:xfrm>
          <a:prstGeom prst="roundRect">
            <a:avLst>
              <a:gd name="adj" fmla="val 7742"/>
            </a:avLst>
          </a:prstGeom>
          <a:solidFill>
            <a:schemeClr val="bg2"/>
          </a:solidFill>
          <a:ln/>
        </p:spPr>
      </p:sp>
      <p:sp>
        <p:nvSpPr>
          <p:cNvPr id="5" name="Isolation icon circle"/>
          <p:cNvSpPr/>
          <p:nvPr/>
        </p:nvSpPr>
        <p:spPr>
          <a:xfrm>
            <a:off x="777240" y="1691640"/>
            <a:ext cx="685800" cy="685800"/>
          </a:xfrm>
          <a:prstGeom prst="ellipse">
            <a:avLst/>
          </a:prstGeom>
          <a:solidFill>
            <a:schemeClr val="accent1"/>
          </a:solidFill>
          <a:ln/>
        </p:spPr>
      </p:sp>
      <p:pic>
        <p:nvPicPr>
          <p:cNvPr id="6" name="Isolation icon" descr="Isolation icon">    </p:cNvPr>
          <p:cNvPicPr>
            <a:picLocks noChangeAspect="1"/>
          </p:cNvPicPr>
          <p:nvPr/>
        </p:nvPicPr>
        <p:blipFill>
          <a:blip r:embed="rId1"/>
          <a:stretch>
            <a:fillRect/>
          </a:stretch>
        </p:blipFill>
        <p:spPr>
          <a:xfrm>
            <a:off x="941832" y="1856232"/>
            <a:ext cx="356616" cy="356616"/>
          </a:xfrm>
          <a:prstGeom prst="rect">
            <a:avLst/>
          </a:prstGeom>
        </p:spPr>
      </p:pic>
      <p:sp>
        <p:nvSpPr>
          <p:cNvPr id="7" name="Text 4"/>
          <p:cNvSpPr txBox="1"/>
          <p:nvPr/>
        </p:nvSpPr>
        <p:spPr>
          <a:xfrm>
            <a:off x="1645920" y="1435608"/>
            <a:ext cx="4160520" cy="1234440"/>
          </a:xfrm>
          <a:prstGeom prst="rect">
            <a:avLst/>
          </a:prstGeom>
          <a:noFill/>
          <a:ln/>
        </p:spPr>
        <p:txBody>
          <a:bodyPr wrap="square" lIns="635" tIns="635" rIns="635" bIns="635" rtlCol="0" anchor="ctr"/>
          <a:lstStyle/>
          <a:p>
            <a:pPr indent="0" marL="0">
              <a:buNone/>
            </a:pPr>
            <a:r>
              <a:rPr lang="en-US" sz="1700" b="1" dirty="0">
                <a:solidFill>
                  <a:schemeClr val="tx2"/>
                </a:solidFill>
              </a:rPr>
              <a:t>Isolation</a:t>
            </a:r>
            <a:endParaRPr lang="en-US" sz="1400" dirty="0"/>
          </a:p>
          <a:p>
            <a:pPr indent="0" marL="0">
              <a:buNone/>
            </a:pPr>
            <a:r>
              <a:rPr lang="en-US" sz="1400" dirty="0">
                <a:solidFill>
                  <a:schemeClr val="tx1"/>
                </a:solidFill>
              </a:rPr>
              <a:t>Confirmed cases isolated on Naval Base Guam or in the naval hospital; symptoms, temperature and SpO₂ checked twice daily</a:t>
            </a:r>
            <a:r>
              <a:rPr lang="en-US" sz="1400" baseline="30000" dirty="0">
                <a:solidFill>
                  <a:schemeClr val="tx1"/>
                </a:solidFill>
              </a:rPr>
              <a:t>1</a:t>
            </a:r>
            <a:endParaRPr lang="en-US" sz="1400" dirty="0"/>
          </a:p>
        </p:txBody>
      </p:sp>
      <p:sp>
        <p:nvSpPr>
          <p:cNvPr id="8" name="Quarantine card"/>
          <p:cNvSpPr/>
          <p:nvPr/>
        </p:nvSpPr>
        <p:spPr>
          <a:xfrm>
            <a:off x="6217920" y="1325880"/>
            <a:ext cx="5394960" cy="1417320"/>
          </a:xfrm>
          <a:prstGeom prst="roundRect">
            <a:avLst>
              <a:gd name="adj" fmla="val 7742"/>
            </a:avLst>
          </a:prstGeom>
          <a:solidFill>
            <a:schemeClr val="bg2"/>
          </a:solidFill>
          <a:ln/>
        </p:spPr>
      </p:sp>
      <p:sp>
        <p:nvSpPr>
          <p:cNvPr id="9" name="Quarantine icon circle"/>
          <p:cNvSpPr/>
          <p:nvPr/>
        </p:nvSpPr>
        <p:spPr>
          <a:xfrm>
            <a:off x="6446520" y="1691640"/>
            <a:ext cx="685800" cy="685800"/>
          </a:xfrm>
          <a:prstGeom prst="ellipse">
            <a:avLst/>
          </a:prstGeom>
          <a:solidFill>
            <a:schemeClr val="accent1"/>
          </a:solidFill>
          <a:ln/>
        </p:spPr>
      </p:sp>
      <p:pic>
        <p:nvPicPr>
          <p:cNvPr id="10" name="Quarantine icon" descr="Quarantine icon">    </p:cNvPr>
          <p:cNvPicPr>
            <a:picLocks noChangeAspect="1"/>
          </p:cNvPicPr>
          <p:nvPr/>
        </p:nvPicPr>
        <p:blipFill>
          <a:blip r:embed="rId2"/>
          <a:stretch>
            <a:fillRect/>
          </a:stretch>
        </p:blipFill>
        <p:spPr>
          <a:xfrm>
            <a:off x="6611112" y="1856232"/>
            <a:ext cx="356616" cy="356616"/>
          </a:xfrm>
          <a:prstGeom prst="rect">
            <a:avLst/>
          </a:prstGeom>
        </p:spPr>
      </p:pic>
      <p:sp>
        <p:nvSpPr>
          <p:cNvPr id="11" name="Text 7"/>
          <p:cNvSpPr txBox="1"/>
          <p:nvPr/>
        </p:nvSpPr>
        <p:spPr>
          <a:xfrm>
            <a:off x="7315200" y="1435608"/>
            <a:ext cx="4160520" cy="1234440"/>
          </a:xfrm>
          <a:prstGeom prst="rect">
            <a:avLst/>
          </a:prstGeom>
          <a:noFill/>
          <a:ln/>
        </p:spPr>
        <p:txBody>
          <a:bodyPr wrap="square" lIns="635" tIns="635" rIns="635" bIns="635" rtlCol="0" anchor="ctr"/>
          <a:lstStyle/>
          <a:p>
            <a:pPr indent="0" marL="0">
              <a:buNone/>
            </a:pPr>
            <a:r>
              <a:rPr lang="en-US" sz="1700" b="1" dirty="0">
                <a:solidFill>
                  <a:schemeClr val="tx2"/>
                </a:solidFill>
              </a:rPr>
              <a:t>Quarantine</a:t>
            </a:r>
            <a:endParaRPr lang="en-US" sz="1400" dirty="0"/>
          </a:p>
          <a:p>
            <a:pPr indent="0" marL="0">
              <a:buNone/>
            </a:pPr>
            <a:r>
              <a:rPr lang="en-US" sz="1400" dirty="0">
                <a:solidFill>
                  <a:schemeClr val="tx1"/>
                </a:solidFill>
              </a:rPr>
              <a:t>4,079 test-negative, symptom-free crew placed in single-occupancy rooms across 11 hotels</a:t>
            </a:r>
            <a:r>
              <a:rPr lang="en-US" sz="1400" baseline="30000" dirty="0">
                <a:solidFill>
                  <a:schemeClr val="tx1"/>
                </a:solidFill>
              </a:rPr>
              <a:t>1</a:t>
            </a:r>
            <a:endParaRPr lang="en-US" sz="1400" dirty="0"/>
          </a:p>
        </p:txBody>
      </p:sp>
      <p:sp>
        <p:nvSpPr>
          <p:cNvPr id="12" name="Crew aboard card"/>
          <p:cNvSpPr/>
          <p:nvPr/>
        </p:nvSpPr>
        <p:spPr>
          <a:xfrm>
            <a:off x="548640" y="2926080"/>
            <a:ext cx="5394960" cy="1417320"/>
          </a:xfrm>
          <a:prstGeom prst="roundRect">
            <a:avLst>
              <a:gd name="adj" fmla="val 7742"/>
            </a:avLst>
          </a:prstGeom>
          <a:solidFill>
            <a:schemeClr val="bg2"/>
          </a:solidFill>
          <a:ln/>
        </p:spPr>
      </p:sp>
      <p:sp>
        <p:nvSpPr>
          <p:cNvPr id="13" name="Crew aboard icon circle"/>
          <p:cNvSpPr/>
          <p:nvPr/>
        </p:nvSpPr>
        <p:spPr>
          <a:xfrm>
            <a:off x="777240" y="3291840"/>
            <a:ext cx="685800" cy="685800"/>
          </a:xfrm>
          <a:prstGeom prst="ellipse">
            <a:avLst/>
          </a:prstGeom>
          <a:solidFill>
            <a:schemeClr val="accent1"/>
          </a:solidFill>
          <a:ln/>
        </p:spPr>
      </p:sp>
      <p:pic>
        <p:nvPicPr>
          <p:cNvPr id="14" name="Crew aboard icon" descr="Crew aboard icon">    </p:cNvPr>
          <p:cNvPicPr>
            <a:picLocks noChangeAspect="1"/>
          </p:cNvPicPr>
          <p:nvPr/>
        </p:nvPicPr>
        <p:blipFill>
          <a:blip r:embed="rId3"/>
          <a:stretch>
            <a:fillRect/>
          </a:stretch>
        </p:blipFill>
        <p:spPr>
          <a:xfrm>
            <a:off x="941832" y="3456432"/>
            <a:ext cx="356616" cy="356616"/>
          </a:xfrm>
          <a:prstGeom prst="rect">
            <a:avLst/>
          </a:prstGeom>
        </p:spPr>
      </p:pic>
      <p:sp>
        <p:nvSpPr>
          <p:cNvPr id="15" name="Text 10"/>
          <p:cNvSpPr txBox="1"/>
          <p:nvPr/>
        </p:nvSpPr>
        <p:spPr>
          <a:xfrm>
            <a:off x="1645920" y="3035808"/>
            <a:ext cx="4160520" cy="1234440"/>
          </a:xfrm>
          <a:prstGeom prst="rect">
            <a:avLst/>
          </a:prstGeom>
          <a:noFill/>
          <a:ln/>
        </p:spPr>
        <p:txBody>
          <a:bodyPr wrap="square" lIns="635" tIns="635" rIns="635" bIns="635" rtlCol="0" anchor="ctr"/>
          <a:lstStyle/>
          <a:p>
            <a:pPr indent="0" marL="0">
              <a:buNone/>
            </a:pPr>
            <a:r>
              <a:rPr lang="en-US" sz="1700" b="1" dirty="0">
                <a:solidFill>
                  <a:schemeClr val="tx2"/>
                </a:solidFill>
              </a:rPr>
              <a:t>Crew aboard</a:t>
            </a:r>
            <a:endParaRPr lang="en-US" sz="1400" dirty="0"/>
          </a:p>
          <a:p>
            <a:pPr indent="0" marL="0">
              <a:buNone/>
            </a:pPr>
            <a:r>
              <a:rPr lang="en-US" sz="1400" dirty="0">
                <a:solidFill>
                  <a:schemeClr val="tx1"/>
                </a:solidFill>
              </a:rPr>
              <a:t>Essential uninfected personnel stayed aboard the ship in port</a:t>
            </a:r>
            <a:r>
              <a:rPr lang="en-US" sz="1400" baseline="30000" dirty="0">
                <a:solidFill>
                  <a:schemeClr val="tx1"/>
                </a:solidFill>
              </a:rPr>
              <a:t>1</a:t>
            </a:r>
            <a:endParaRPr lang="en-US" sz="1400" dirty="0"/>
          </a:p>
        </p:txBody>
      </p:sp>
      <p:sp>
        <p:nvSpPr>
          <p:cNvPr id="16" name="Exit criteria card"/>
          <p:cNvSpPr/>
          <p:nvPr/>
        </p:nvSpPr>
        <p:spPr>
          <a:xfrm>
            <a:off x="6217920" y="2926080"/>
            <a:ext cx="5394960" cy="1417320"/>
          </a:xfrm>
          <a:prstGeom prst="roundRect">
            <a:avLst>
              <a:gd name="adj" fmla="val 7742"/>
            </a:avLst>
          </a:prstGeom>
          <a:solidFill>
            <a:schemeClr val="bg2"/>
          </a:solidFill>
          <a:ln/>
        </p:spPr>
      </p:sp>
      <p:sp>
        <p:nvSpPr>
          <p:cNvPr id="17" name="Exit criteria icon circle"/>
          <p:cNvSpPr/>
          <p:nvPr/>
        </p:nvSpPr>
        <p:spPr>
          <a:xfrm>
            <a:off x="6446520" y="3291840"/>
            <a:ext cx="685800" cy="685800"/>
          </a:xfrm>
          <a:prstGeom prst="ellipse">
            <a:avLst/>
          </a:prstGeom>
          <a:solidFill>
            <a:schemeClr val="accent1"/>
          </a:solidFill>
          <a:ln/>
        </p:spPr>
      </p:sp>
      <p:pic>
        <p:nvPicPr>
          <p:cNvPr id="18" name="Exit criteria icon" descr="Exit criteria icon">    </p:cNvPr>
          <p:cNvPicPr>
            <a:picLocks noChangeAspect="1"/>
          </p:cNvPicPr>
          <p:nvPr/>
        </p:nvPicPr>
        <p:blipFill>
          <a:blip r:embed="rId4"/>
          <a:stretch>
            <a:fillRect/>
          </a:stretch>
        </p:blipFill>
        <p:spPr>
          <a:xfrm>
            <a:off x="6611112" y="3456432"/>
            <a:ext cx="356616" cy="356616"/>
          </a:xfrm>
          <a:prstGeom prst="rect">
            <a:avLst/>
          </a:prstGeom>
        </p:spPr>
      </p:pic>
      <p:sp>
        <p:nvSpPr>
          <p:cNvPr id="19" name="Text 13"/>
          <p:cNvSpPr txBox="1"/>
          <p:nvPr/>
        </p:nvSpPr>
        <p:spPr>
          <a:xfrm>
            <a:off x="7315200" y="3035808"/>
            <a:ext cx="4160520" cy="1234440"/>
          </a:xfrm>
          <a:prstGeom prst="rect">
            <a:avLst/>
          </a:prstGeom>
          <a:noFill/>
          <a:ln/>
        </p:spPr>
        <p:txBody>
          <a:bodyPr wrap="square" lIns="635" tIns="635" rIns="635" bIns="635" rtlCol="0" anchor="ctr"/>
          <a:lstStyle/>
          <a:p>
            <a:pPr indent="0" marL="0">
              <a:buNone/>
            </a:pPr>
            <a:r>
              <a:rPr lang="en-US" sz="1700" b="1" dirty="0">
                <a:solidFill>
                  <a:schemeClr val="tx2"/>
                </a:solidFill>
              </a:rPr>
              <a:t>Exit criteria</a:t>
            </a:r>
            <a:endParaRPr lang="en-US" sz="1400" dirty="0"/>
          </a:p>
          <a:p>
            <a:pPr indent="0" marL="0">
              <a:buNone/>
            </a:pPr>
            <a:r>
              <a:rPr lang="en-US" sz="1400" dirty="0">
                <a:solidFill>
                  <a:schemeClr val="tx1"/>
                </a:solidFill>
              </a:rPr>
              <a:t>At least 14 days in isolation or quarantine, 3 symptom-free days for cases, and a repeat rRT-PCR before release</a:t>
            </a:r>
            <a:r>
              <a:rPr lang="en-US" sz="1400" baseline="30000" dirty="0">
                <a:solidFill>
                  <a:schemeClr val="tx1"/>
                </a:solidFill>
              </a:rPr>
              <a:t>1</a:t>
            </a:r>
            <a:endParaRPr lang="en-US" sz="1400" dirty="0"/>
          </a:p>
        </p:txBody>
      </p:sp>
      <p:sp>
        <p:nvSpPr>
          <p:cNvPr id="20" name="Reclassification card"/>
          <p:cNvSpPr/>
          <p:nvPr/>
        </p:nvSpPr>
        <p:spPr>
          <a:xfrm>
            <a:off x="548640" y="4526280"/>
            <a:ext cx="5394960" cy="1417320"/>
          </a:xfrm>
          <a:prstGeom prst="roundRect">
            <a:avLst>
              <a:gd name="adj" fmla="val 7742"/>
            </a:avLst>
          </a:prstGeom>
          <a:solidFill>
            <a:schemeClr val="bg2"/>
          </a:solidFill>
          <a:ln/>
        </p:spPr>
      </p:sp>
      <p:sp>
        <p:nvSpPr>
          <p:cNvPr id="21" name="Reclassification icon circle"/>
          <p:cNvSpPr/>
          <p:nvPr/>
        </p:nvSpPr>
        <p:spPr>
          <a:xfrm>
            <a:off x="777240" y="4892040"/>
            <a:ext cx="685800" cy="685800"/>
          </a:xfrm>
          <a:prstGeom prst="ellipse">
            <a:avLst/>
          </a:prstGeom>
          <a:solidFill>
            <a:schemeClr val="accent1"/>
          </a:solidFill>
          <a:ln/>
        </p:spPr>
      </p:sp>
      <p:pic>
        <p:nvPicPr>
          <p:cNvPr id="22" name="Reclassification icon" descr="Reclassification icon">    </p:cNvPr>
          <p:cNvPicPr>
            <a:picLocks noChangeAspect="1"/>
          </p:cNvPicPr>
          <p:nvPr/>
        </p:nvPicPr>
        <p:blipFill>
          <a:blip r:embed="rId5"/>
          <a:stretch>
            <a:fillRect/>
          </a:stretch>
        </p:blipFill>
        <p:spPr>
          <a:xfrm>
            <a:off x="941832" y="5056632"/>
            <a:ext cx="356616" cy="356616"/>
          </a:xfrm>
          <a:prstGeom prst="rect">
            <a:avLst/>
          </a:prstGeom>
        </p:spPr>
      </p:pic>
      <p:sp>
        <p:nvSpPr>
          <p:cNvPr id="23" name="Text 16"/>
          <p:cNvSpPr txBox="1"/>
          <p:nvPr/>
        </p:nvSpPr>
        <p:spPr>
          <a:xfrm>
            <a:off x="1645920" y="4636008"/>
            <a:ext cx="4160520" cy="1234440"/>
          </a:xfrm>
          <a:prstGeom prst="rect">
            <a:avLst/>
          </a:prstGeom>
          <a:noFill/>
          <a:ln/>
        </p:spPr>
        <p:txBody>
          <a:bodyPr wrap="square" lIns="635" tIns="635" rIns="635" bIns="635" rtlCol="0" anchor="ctr"/>
          <a:lstStyle/>
          <a:p>
            <a:pPr indent="0" marL="0">
              <a:buNone/>
            </a:pPr>
            <a:r>
              <a:rPr lang="en-US" sz="1700" b="1" dirty="0">
                <a:solidFill>
                  <a:schemeClr val="tx2"/>
                </a:solidFill>
              </a:rPr>
              <a:t>Reclassification</a:t>
            </a:r>
            <a:endParaRPr lang="en-US" sz="1400" dirty="0"/>
          </a:p>
          <a:p>
            <a:pPr indent="0" marL="0">
              <a:buNone/>
            </a:pPr>
            <a:r>
              <a:rPr lang="en-US" sz="1400" dirty="0">
                <a:solidFill>
                  <a:schemeClr val="tx1"/>
                </a:solidFill>
              </a:rPr>
              <a:t>Anyone who developed symptoms in quarantine was tested and moved to isolation for at least 14 more days</a:t>
            </a:r>
            <a:r>
              <a:rPr lang="en-US" sz="1400" baseline="30000" dirty="0">
                <a:solidFill>
                  <a:schemeClr val="tx1"/>
                </a:solidFill>
              </a:rPr>
              <a:t>1</a:t>
            </a:r>
            <a:endParaRPr lang="en-US" sz="1400" dirty="0"/>
          </a:p>
        </p:txBody>
      </p:sp>
      <p:sp>
        <p:nvSpPr>
          <p:cNvPr id="24" name="Follow-up card"/>
          <p:cNvSpPr/>
          <p:nvPr/>
        </p:nvSpPr>
        <p:spPr>
          <a:xfrm>
            <a:off x="6217920" y="4526280"/>
            <a:ext cx="5394960" cy="1417320"/>
          </a:xfrm>
          <a:prstGeom prst="roundRect">
            <a:avLst>
              <a:gd name="adj" fmla="val 7742"/>
            </a:avLst>
          </a:prstGeom>
          <a:solidFill>
            <a:schemeClr val="bg2"/>
          </a:solidFill>
          <a:ln/>
        </p:spPr>
      </p:sp>
      <p:sp>
        <p:nvSpPr>
          <p:cNvPr id="25" name="Follow-up icon circle"/>
          <p:cNvSpPr/>
          <p:nvPr/>
        </p:nvSpPr>
        <p:spPr>
          <a:xfrm>
            <a:off x="6446520" y="4892040"/>
            <a:ext cx="685800" cy="685800"/>
          </a:xfrm>
          <a:prstGeom prst="ellipse">
            <a:avLst/>
          </a:prstGeom>
          <a:solidFill>
            <a:schemeClr val="accent1"/>
          </a:solidFill>
          <a:ln/>
        </p:spPr>
      </p:sp>
      <p:pic>
        <p:nvPicPr>
          <p:cNvPr id="26" name="Follow-up icon" descr="Follow-up icon">    </p:cNvPr>
          <p:cNvPicPr>
            <a:picLocks noChangeAspect="1"/>
          </p:cNvPicPr>
          <p:nvPr/>
        </p:nvPicPr>
        <p:blipFill>
          <a:blip r:embed="rId6"/>
          <a:stretch>
            <a:fillRect/>
          </a:stretch>
        </p:blipFill>
        <p:spPr>
          <a:xfrm>
            <a:off x="6611112" y="5056632"/>
            <a:ext cx="356616" cy="356616"/>
          </a:xfrm>
          <a:prstGeom prst="rect">
            <a:avLst/>
          </a:prstGeom>
        </p:spPr>
      </p:pic>
      <p:sp>
        <p:nvSpPr>
          <p:cNvPr id="27" name="Text 19"/>
          <p:cNvSpPr txBox="1"/>
          <p:nvPr/>
        </p:nvSpPr>
        <p:spPr>
          <a:xfrm>
            <a:off x="7315200" y="4636008"/>
            <a:ext cx="4160520" cy="1234440"/>
          </a:xfrm>
          <a:prstGeom prst="rect">
            <a:avLst/>
          </a:prstGeom>
          <a:noFill/>
          <a:ln/>
        </p:spPr>
        <p:txBody>
          <a:bodyPr wrap="square" lIns="635" tIns="635" rIns="635" bIns="635" rtlCol="0" anchor="ctr"/>
          <a:lstStyle/>
          <a:p>
            <a:pPr indent="0" marL="0">
              <a:buNone/>
            </a:pPr>
            <a:r>
              <a:rPr lang="en-US" sz="1700" b="1" dirty="0">
                <a:solidFill>
                  <a:schemeClr val="tx2"/>
                </a:solidFill>
              </a:rPr>
              <a:t>Follow-up</a:t>
            </a:r>
            <a:endParaRPr lang="en-US" sz="1400" dirty="0"/>
          </a:p>
          <a:p>
            <a:pPr indent="0" marL="0">
              <a:buNone/>
            </a:pPr>
            <a:r>
              <a:rPr lang="en-US" sz="1400" dirty="0">
                <a:solidFill>
                  <a:schemeClr val="tx1"/>
                </a:solidFill>
              </a:rPr>
              <a:t>Every crew member followed for at least 10 weeks, whatever their test result</a:t>
            </a:r>
            <a:r>
              <a:rPr lang="en-US" sz="1400" baseline="30000" dirty="0">
                <a:solidFill>
                  <a:schemeClr val="tx1"/>
                </a:solidFill>
              </a:rPr>
              <a:t>1</a:t>
            </a:r>
            <a:endParaRPr lang="en-US" sz="1400" dirty="0"/>
          </a:p>
        </p:txBody>
      </p:sp>
      <p:sp>
        <p:nvSpPr>
          <p:cNvPr id="29" name="Text 0"/>
          <p:cNvSpPr/>
          <p:nvPr>
            <p:ph idx="102" type="body" hasCustomPrompt="1"/>
          </p:nvPr>
        </p:nvSpPr>
        <p:spPr>
          <a:xfrm>
            <a:off x="548640" y="6355080"/>
            <a:ext cx="9875520" cy="320040"/>
          </a:xfrm>
          <a:prstGeom prst="rect">
            <a:avLst/>
          </a:prstGeom>
          <a:noFill/>
          <a:ln/>
        </p:spPr>
        <p:txBody>
          <a:bodyPr wrap="square" lIns="0" tIns="0" rIns="0" bIns="0" rtlCol="0" anchor="ctr"/>
          <a:lstStyle/>
          <a:p>
            <a:pPr indent="0" marL="0">
              <a:buNone/>
            </a:pPr>
            <a:r>
              <a:rPr lang="en-US" sz="1000" i="1" dirty="0">
                <a:solidFill>
                  <a:schemeClr val="accent6"/>
                </a:solidFill>
              </a:rPr>
              <a:t>Sources: 1 Kasper et al, 2020 (full list at the end).</a:t>
            </a: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Recommendations: What to Do Next</a:t>
            </a:r>
            <a:endParaRPr lang="en-US" sz="3400" dirty="0"/>
          </a:p>
        </p:txBody>
      </p:sp>
      <p:sp>
        <p:nvSpPr>
          <p:cNvPr id="3" name="Text 0"/>
          <p:cNvSpPr/>
          <p:nvPr>
            <p:ph idx="101" type="body" hasCustomPrompt="1"/>
          </p:nvPr>
        </p:nvSpPr>
        <p:spPr>
          <a:xfrm>
            <a:off x="548640" y="73152"/>
            <a:ext cx="11064240" cy="274320"/>
          </a:xfrm>
          <a:prstGeom prst="rect">
            <a:avLst/>
          </a:prstGeom>
          <a:noFill/>
          <a:ln/>
        </p:spPr>
        <p:txBody>
          <a:bodyPr wrap="square" lIns="0" tIns="0" rIns="0" bIns="0" rtlCol="0" anchor="ctr"/>
          <a:lstStyle/>
          <a:p>
            <a:pPr algn="ctr" indent="0" marL="0">
              <a:buNone/>
            </a:pPr>
            <a:r>
              <a:rPr lang="en-US" sz="1100" b="1" spc="100" kern="0" dirty="0">
                <a:solidFill>
                  <a:schemeClr val="accent2"/>
                </a:solidFill>
              </a:rPr>
              <a:t>5   </a:t>
            </a:r>
            <a:r>
              <a:rPr lang="en-US" sz="1100" b="1" spc="100" kern="0" dirty="0">
                <a:solidFill>
                  <a:schemeClr val="accent6"/>
                </a:solidFill>
              </a:rPr>
              <a:t>WHAT WAS DONE, AND WHAT NEXT?</a:t>
            </a:r>
            <a:endParaRPr lang="en-US" sz="1100" dirty="0"/>
          </a:p>
        </p:txBody>
      </p:sp>
      <p:sp>
        <p:nvSpPr>
          <p:cNvPr id="4" name="Immediate control card"/>
          <p:cNvSpPr/>
          <p:nvPr/>
        </p:nvSpPr>
        <p:spPr>
          <a:xfrm>
            <a:off x="548640" y="1325880"/>
            <a:ext cx="5394960" cy="1463040"/>
          </a:xfrm>
          <a:prstGeom prst="roundRect">
            <a:avLst>
              <a:gd name="adj" fmla="val 7500"/>
            </a:avLst>
          </a:prstGeom>
          <a:solidFill>
            <a:schemeClr val="bg2"/>
          </a:solidFill>
          <a:ln/>
        </p:spPr>
      </p:sp>
      <p:sp>
        <p:nvSpPr>
          <p:cNvPr id="5" name="Immediate control icon circle"/>
          <p:cNvSpPr/>
          <p:nvPr/>
        </p:nvSpPr>
        <p:spPr>
          <a:xfrm>
            <a:off x="777240" y="1709928"/>
            <a:ext cx="685800" cy="685800"/>
          </a:xfrm>
          <a:prstGeom prst="ellipse">
            <a:avLst/>
          </a:prstGeom>
          <a:solidFill>
            <a:schemeClr val="accent2"/>
          </a:solidFill>
          <a:ln/>
        </p:spPr>
      </p:sp>
      <p:pic>
        <p:nvPicPr>
          <p:cNvPr id="6" name="Immediate control icon" descr="Immediate control icon">    </p:cNvPr>
          <p:cNvPicPr>
            <a:picLocks noChangeAspect="1"/>
          </p:cNvPicPr>
          <p:nvPr/>
        </p:nvPicPr>
        <p:blipFill>
          <a:blip r:embed="rId1"/>
          <a:stretch>
            <a:fillRect/>
          </a:stretch>
        </p:blipFill>
        <p:spPr>
          <a:xfrm>
            <a:off x="941832" y="1874520"/>
            <a:ext cx="356616" cy="356616"/>
          </a:xfrm>
          <a:prstGeom prst="rect">
            <a:avLst/>
          </a:prstGeom>
        </p:spPr>
      </p:pic>
      <p:sp>
        <p:nvSpPr>
          <p:cNvPr id="7" name="Text 4"/>
          <p:cNvSpPr txBox="1"/>
          <p:nvPr/>
        </p:nvSpPr>
        <p:spPr>
          <a:xfrm>
            <a:off x="1645920" y="1399032"/>
            <a:ext cx="4206240" cy="1316736"/>
          </a:xfrm>
          <a:prstGeom prst="rect">
            <a:avLst/>
          </a:prstGeom>
          <a:noFill/>
          <a:ln/>
        </p:spPr>
        <p:txBody>
          <a:bodyPr wrap="square" lIns="635" tIns="635" rIns="635" bIns="635" rtlCol="0" anchor="ctr"/>
          <a:lstStyle/>
          <a:p>
            <a:pPr indent="0" marL="0">
              <a:buNone/>
            </a:pPr>
            <a:r>
              <a:rPr lang="en-US" sz="1700" b="1" dirty="0">
                <a:solidFill>
                  <a:schemeClr val="tx2"/>
                </a:solidFill>
              </a:rPr>
              <a:t>Immediate control</a:t>
            </a:r>
            <a:endParaRPr lang="en-US" sz="1300" dirty="0"/>
          </a:p>
          <a:p>
            <a:pPr indent="0" marL="0">
              <a:buNone/>
            </a:pPr>
            <a:r>
              <a:rPr lang="en-US" sz="1300" dirty="0">
                <a:solidFill>
                  <a:schemeClr val="tx1"/>
                </a:solidFill>
              </a:rPr>
              <a:t>Test everyone, not just sick people: 3 in 4 sailors who tested positive had no symptoms at the time</a:t>
            </a:r>
            <a:r>
              <a:rPr lang="en-US" sz="1300" dirty="0">
                <a:solidFill>
                  <a:schemeClr val="tx1"/>
                </a:solidFill>
              </a:rPr>
              <a:t>.</a:t>
            </a:r>
            <a:r>
              <a:rPr lang="en-US" sz="1300" baseline="30000" dirty="0">
                <a:solidFill>
                  <a:schemeClr val="tx1"/>
                </a:solidFill>
              </a:rPr>
              <a:t>1</a:t>
            </a:r>
            <a:r>
              <a:rPr lang="en-US" sz="1300" dirty="0">
                <a:solidFill>
                  <a:schemeClr val="tx1"/>
                </a:solidFill>
              </a:rPr>
              <a:t> Isolate cases right away.</a:t>
            </a:r>
            <a:endParaRPr lang="en-US" sz="1300" dirty="0"/>
          </a:p>
        </p:txBody>
      </p:sp>
      <p:sp>
        <p:nvSpPr>
          <p:cNvPr id="8" name="Prevention card"/>
          <p:cNvSpPr/>
          <p:nvPr/>
        </p:nvSpPr>
        <p:spPr>
          <a:xfrm>
            <a:off x="548640" y="2971800"/>
            <a:ext cx="5394960" cy="1463040"/>
          </a:xfrm>
          <a:prstGeom prst="roundRect">
            <a:avLst>
              <a:gd name="adj" fmla="val 7500"/>
            </a:avLst>
          </a:prstGeom>
          <a:solidFill>
            <a:schemeClr val="bg2"/>
          </a:solidFill>
          <a:ln/>
        </p:spPr>
      </p:sp>
      <p:sp>
        <p:nvSpPr>
          <p:cNvPr id="9" name="Prevention icon circle"/>
          <p:cNvSpPr/>
          <p:nvPr/>
        </p:nvSpPr>
        <p:spPr>
          <a:xfrm>
            <a:off x="777240" y="3355848"/>
            <a:ext cx="685800" cy="685800"/>
          </a:xfrm>
          <a:prstGeom prst="ellipse">
            <a:avLst/>
          </a:prstGeom>
          <a:solidFill>
            <a:schemeClr val="accent1"/>
          </a:solidFill>
          <a:ln/>
        </p:spPr>
      </p:sp>
      <p:pic>
        <p:nvPicPr>
          <p:cNvPr id="10" name="Prevention icon" descr="Prevention icon">    </p:cNvPr>
          <p:cNvPicPr>
            <a:picLocks noChangeAspect="1"/>
          </p:cNvPicPr>
          <p:nvPr/>
        </p:nvPicPr>
        <p:blipFill>
          <a:blip r:embed="rId2"/>
          <a:stretch>
            <a:fillRect/>
          </a:stretch>
        </p:blipFill>
        <p:spPr>
          <a:xfrm>
            <a:off x="941832" y="3520440"/>
            <a:ext cx="356616" cy="356616"/>
          </a:xfrm>
          <a:prstGeom prst="rect">
            <a:avLst/>
          </a:prstGeom>
        </p:spPr>
      </p:pic>
      <p:sp>
        <p:nvSpPr>
          <p:cNvPr id="11" name="Text 7"/>
          <p:cNvSpPr txBox="1"/>
          <p:nvPr/>
        </p:nvSpPr>
        <p:spPr>
          <a:xfrm>
            <a:off x="1645920" y="3044952"/>
            <a:ext cx="4206240" cy="1316736"/>
          </a:xfrm>
          <a:prstGeom prst="rect">
            <a:avLst/>
          </a:prstGeom>
          <a:noFill/>
          <a:ln/>
        </p:spPr>
        <p:txBody>
          <a:bodyPr wrap="square" lIns="635" tIns="635" rIns="635" bIns="635" rtlCol="0" anchor="ctr"/>
          <a:lstStyle/>
          <a:p>
            <a:pPr indent="0" marL="0">
              <a:buNone/>
            </a:pPr>
            <a:r>
              <a:rPr lang="en-US" sz="1700" b="1" dirty="0">
                <a:solidFill>
                  <a:schemeClr val="tx2"/>
                </a:solidFill>
              </a:rPr>
              <a:t>Prevention</a:t>
            </a:r>
            <a:endParaRPr lang="en-US" sz="1300" dirty="0"/>
          </a:p>
          <a:p>
            <a:pPr indent="0" marL="0">
              <a:buNone/>
            </a:pPr>
            <a:r>
              <a:rPr lang="en-US" sz="1300" dirty="0">
                <a:solidFill>
                  <a:schemeClr val="tx1"/>
                </a:solidFill>
              </a:rPr>
              <a:t>Quarantine before deploying and test at the end of it</a:t>
            </a:r>
            <a:r>
              <a:rPr lang="en-US" sz="1300" dirty="0">
                <a:solidFill>
                  <a:schemeClr val="tx1"/>
                </a:solidFill>
              </a:rPr>
              <a:t>.</a:t>
            </a:r>
            <a:r>
              <a:rPr lang="en-US" sz="1300" baseline="30000" dirty="0">
                <a:solidFill>
                  <a:schemeClr val="tx1"/>
                </a:solidFill>
              </a:rPr>
              <a:t>1,21</a:t>
            </a:r>
            <a:r>
              <a:rPr lang="en-US" sz="1300" dirty="0">
                <a:solidFill>
                  <a:schemeClr val="tx1"/>
                </a:solidFill>
              </a:rPr>
              <a:t> Face coverings: in a survey of 382 crew, 56% of wearers vs 81% of non-wearers had current or past infection</a:t>
            </a:r>
            <a:r>
              <a:rPr lang="en-US" sz="1300" dirty="0">
                <a:solidFill>
                  <a:schemeClr val="tx1"/>
                </a:solidFill>
              </a:rPr>
              <a:t>.</a:t>
            </a:r>
            <a:r>
              <a:rPr lang="en-US" sz="1300" baseline="30000" dirty="0">
                <a:solidFill>
                  <a:schemeClr val="tx1"/>
                </a:solidFill>
              </a:rPr>
              <a:t>17</a:t>
            </a:r>
            <a:r>
              <a:rPr lang="en-US" sz="1300" dirty="0">
                <a:solidFill>
                  <a:schemeClr val="tx1"/>
                </a:solidFill>
              </a:rPr>
              <a:t> Better air flow in enclosed spaces</a:t>
            </a:r>
            <a:r>
              <a:rPr lang="en-US" sz="1300" dirty="0">
                <a:solidFill>
                  <a:schemeClr val="tx1"/>
                </a:solidFill>
              </a:rPr>
              <a:t>.</a:t>
            </a:r>
            <a:r>
              <a:rPr lang="en-US" sz="1300" baseline="30000" dirty="0">
                <a:solidFill>
                  <a:schemeClr val="tx1"/>
                </a:solidFill>
              </a:rPr>
              <a:t>22</a:t>
            </a:r>
            <a:endParaRPr lang="en-US" sz="1300" dirty="0"/>
          </a:p>
        </p:txBody>
      </p:sp>
      <p:sp>
        <p:nvSpPr>
          <p:cNvPr id="12" name="Surveillance card"/>
          <p:cNvSpPr/>
          <p:nvPr/>
        </p:nvSpPr>
        <p:spPr>
          <a:xfrm>
            <a:off x="548640" y="4617720"/>
            <a:ext cx="5394960" cy="1463040"/>
          </a:xfrm>
          <a:prstGeom prst="roundRect">
            <a:avLst>
              <a:gd name="adj" fmla="val 7500"/>
            </a:avLst>
          </a:prstGeom>
          <a:solidFill>
            <a:schemeClr val="bg2"/>
          </a:solidFill>
          <a:ln/>
        </p:spPr>
      </p:sp>
      <p:sp>
        <p:nvSpPr>
          <p:cNvPr id="13" name="Surveillance icon circle"/>
          <p:cNvSpPr/>
          <p:nvPr/>
        </p:nvSpPr>
        <p:spPr>
          <a:xfrm>
            <a:off x="777240" y="5001768"/>
            <a:ext cx="685800" cy="685800"/>
          </a:xfrm>
          <a:prstGeom prst="ellipse">
            <a:avLst/>
          </a:prstGeom>
          <a:solidFill>
            <a:schemeClr val="accent1"/>
          </a:solidFill>
          <a:ln/>
        </p:spPr>
      </p:sp>
      <p:pic>
        <p:nvPicPr>
          <p:cNvPr id="14" name="Surveillance icon" descr="Surveillance icon">    </p:cNvPr>
          <p:cNvPicPr>
            <a:picLocks noChangeAspect="1"/>
          </p:cNvPicPr>
          <p:nvPr/>
        </p:nvPicPr>
        <p:blipFill>
          <a:blip r:embed="rId3"/>
          <a:stretch>
            <a:fillRect/>
          </a:stretch>
        </p:blipFill>
        <p:spPr>
          <a:xfrm>
            <a:off x="941832" y="5166360"/>
            <a:ext cx="356616" cy="356616"/>
          </a:xfrm>
          <a:prstGeom prst="rect">
            <a:avLst/>
          </a:prstGeom>
        </p:spPr>
      </p:pic>
      <p:sp>
        <p:nvSpPr>
          <p:cNvPr id="15" name="Text 10"/>
          <p:cNvSpPr txBox="1"/>
          <p:nvPr/>
        </p:nvSpPr>
        <p:spPr>
          <a:xfrm>
            <a:off x="1645920" y="4690872"/>
            <a:ext cx="4206240" cy="1316736"/>
          </a:xfrm>
          <a:prstGeom prst="rect">
            <a:avLst/>
          </a:prstGeom>
          <a:noFill/>
          <a:ln/>
        </p:spPr>
        <p:txBody>
          <a:bodyPr wrap="square" lIns="635" tIns="635" rIns="635" bIns="635" rtlCol="0" anchor="ctr"/>
          <a:lstStyle/>
          <a:p>
            <a:pPr indent="0" marL="0">
              <a:buNone/>
            </a:pPr>
            <a:r>
              <a:rPr lang="en-US" sz="1700" b="1" dirty="0">
                <a:solidFill>
                  <a:schemeClr val="tx2"/>
                </a:solidFill>
              </a:rPr>
              <a:t>Surveillance</a:t>
            </a:r>
            <a:endParaRPr lang="en-US" sz="1300" dirty="0"/>
          </a:p>
          <a:p>
            <a:pPr indent="0" marL="0">
              <a:buNone/>
            </a:pPr>
            <a:r>
              <a:rPr lang="en-US" sz="1300" dirty="0">
                <a:solidFill>
                  <a:schemeClr val="tx1"/>
                </a:solidFill>
              </a:rPr>
              <a:t>Test on a schedule, not on symptoms: in Marine recruits, temperature and symptom checks found no infections, but scheduled PCR tests did</a:t>
            </a:r>
            <a:r>
              <a:rPr lang="en-US" sz="1300" dirty="0">
                <a:solidFill>
                  <a:schemeClr val="tx1"/>
                </a:solidFill>
              </a:rPr>
              <a:t>.</a:t>
            </a:r>
            <a:r>
              <a:rPr lang="en-US" sz="1300" baseline="30000" dirty="0">
                <a:solidFill>
                  <a:schemeClr val="tx1"/>
                </a:solidFill>
              </a:rPr>
              <a:t>7</a:t>
            </a:r>
            <a:r>
              <a:rPr lang="en-US" sz="1300" dirty="0">
                <a:solidFill>
                  <a:schemeClr val="tx1"/>
                </a:solidFill>
              </a:rPr>
              <a:t> Only about 1 in 8 sick sailors had a fever</a:t>
            </a:r>
            <a:r>
              <a:rPr lang="en-US" sz="1300" dirty="0">
                <a:solidFill>
                  <a:schemeClr val="tx1"/>
                </a:solidFill>
              </a:rPr>
              <a:t>.</a:t>
            </a:r>
            <a:r>
              <a:rPr lang="en-US" sz="1300" baseline="30000" dirty="0">
                <a:solidFill>
                  <a:schemeClr val="tx1"/>
                </a:solidFill>
              </a:rPr>
              <a:t>1</a:t>
            </a:r>
            <a:endParaRPr lang="en-US" sz="1300" dirty="0"/>
          </a:p>
        </p:txBody>
      </p:sp>
      <p:sp>
        <p:nvSpPr>
          <p:cNvPr id="16" name="Communication card"/>
          <p:cNvSpPr/>
          <p:nvPr/>
        </p:nvSpPr>
        <p:spPr>
          <a:xfrm>
            <a:off x="6217920" y="1325880"/>
            <a:ext cx="5394960" cy="1463040"/>
          </a:xfrm>
          <a:prstGeom prst="roundRect">
            <a:avLst>
              <a:gd name="adj" fmla="val 7500"/>
            </a:avLst>
          </a:prstGeom>
          <a:solidFill>
            <a:schemeClr val="bg2"/>
          </a:solidFill>
          <a:ln/>
        </p:spPr>
      </p:sp>
      <p:sp>
        <p:nvSpPr>
          <p:cNvPr id="17" name="Communication icon circle"/>
          <p:cNvSpPr/>
          <p:nvPr/>
        </p:nvSpPr>
        <p:spPr>
          <a:xfrm>
            <a:off x="6446520" y="1709928"/>
            <a:ext cx="685800" cy="685800"/>
          </a:xfrm>
          <a:prstGeom prst="ellipse">
            <a:avLst/>
          </a:prstGeom>
          <a:solidFill>
            <a:schemeClr val="accent1"/>
          </a:solidFill>
          <a:ln/>
        </p:spPr>
      </p:sp>
      <p:pic>
        <p:nvPicPr>
          <p:cNvPr id="18" name="Communication icon" descr="Communication icon">    </p:cNvPr>
          <p:cNvPicPr>
            <a:picLocks noChangeAspect="1"/>
          </p:cNvPicPr>
          <p:nvPr/>
        </p:nvPicPr>
        <p:blipFill>
          <a:blip r:embed="rId4"/>
          <a:stretch>
            <a:fillRect/>
          </a:stretch>
        </p:blipFill>
        <p:spPr>
          <a:xfrm>
            <a:off x="6611112" y="1874520"/>
            <a:ext cx="356616" cy="356616"/>
          </a:xfrm>
          <a:prstGeom prst="rect">
            <a:avLst/>
          </a:prstGeom>
        </p:spPr>
      </p:pic>
      <p:sp>
        <p:nvSpPr>
          <p:cNvPr id="19" name="Text 13"/>
          <p:cNvSpPr txBox="1"/>
          <p:nvPr/>
        </p:nvSpPr>
        <p:spPr>
          <a:xfrm>
            <a:off x="7315200" y="1399032"/>
            <a:ext cx="4206240" cy="1316736"/>
          </a:xfrm>
          <a:prstGeom prst="rect">
            <a:avLst/>
          </a:prstGeom>
          <a:noFill/>
          <a:ln/>
        </p:spPr>
        <p:txBody>
          <a:bodyPr wrap="square" lIns="635" tIns="635" rIns="635" bIns="635" rtlCol="0" anchor="ctr"/>
          <a:lstStyle/>
          <a:p>
            <a:pPr indent="0" marL="0">
              <a:buNone/>
            </a:pPr>
            <a:r>
              <a:rPr lang="en-US" sz="1700" b="1" dirty="0">
                <a:solidFill>
                  <a:schemeClr val="tx2"/>
                </a:solidFill>
              </a:rPr>
              <a:t>Communication</a:t>
            </a:r>
            <a:endParaRPr lang="en-US" sz="1300" dirty="0"/>
          </a:p>
          <a:p>
            <a:pPr indent="0" marL="0">
              <a:buNone/>
            </a:pPr>
            <a:r>
              <a:rPr lang="en-US" sz="1300" dirty="0">
                <a:solidFill>
                  <a:schemeClr val="tx1"/>
                </a:solidFill>
              </a:rPr>
              <a:t>Tell crews that young, healthy adults may have mild or no symptoms</a:t>
            </a:r>
            <a:r>
              <a:rPr lang="en-US" sz="1300" dirty="0">
                <a:solidFill>
                  <a:schemeClr val="tx1"/>
                </a:solidFill>
              </a:rPr>
              <a:t>.</a:t>
            </a:r>
            <a:r>
              <a:rPr lang="en-US" sz="1300" baseline="30000" dirty="0">
                <a:solidFill>
                  <a:schemeClr val="tx1"/>
                </a:solidFill>
              </a:rPr>
              <a:t>17</a:t>
            </a:r>
            <a:r>
              <a:rPr lang="en-US" sz="1300" dirty="0">
                <a:solidFill>
                  <a:schemeClr val="tx1"/>
                </a:solidFill>
              </a:rPr>
              <a:t> Teach common symptoms: headache, cough, changed taste or smell</a:t>
            </a:r>
            <a:r>
              <a:rPr lang="en-US" sz="1300" dirty="0">
                <a:solidFill>
                  <a:schemeClr val="tx1"/>
                </a:solidFill>
              </a:rPr>
              <a:t>.</a:t>
            </a:r>
            <a:r>
              <a:rPr lang="en-US" sz="1300" baseline="30000" dirty="0">
                <a:solidFill>
                  <a:schemeClr val="tx1"/>
                </a:solidFill>
              </a:rPr>
              <a:t>1</a:t>
            </a:r>
            <a:endParaRPr lang="en-US" sz="1300" dirty="0"/>
          </a:p>
        </p:txBody>
      </p:sp>
      <p:sp>
        <p:nvSpPr>
          <p:cNvPr id="20" name="Future investigations card"/>
          <p:cNvSpPr/>
          <p:nvPr/>
        </p:nvSpPr>
        <p:spPr>
          <a:xfrm>
            <a:off x="6217920" y="2971800"/>
            <a:ext cx="5394960" cy="1463040"/>
          </a:xfrm>
          <a:prstGeom prst="roundRect">
            <a:avLst>
              <a:gd name="adj" fmla="val 7500"/>
            </a:avLst>
          </a:prstGeom>
          <a:solidFill>
            <a:schemeClr val="bg2"/>
          </a:solidFill>
          <a:ln/>
        </p:spPr>
      </p:sp>
      <p:sp>
        <p:nvSpPr>
          <p:cNvPr id="21" name="Future investigations icon circle"/>
          <p:cNvSpPr/>
          <p:nvPr/>
        </p:nvSpPr>
        <p:spPr>
          <a:xfrm>
            <a:off x="6446520" y="3355848"/>
            <a:ext cx="685800" cy="685800"/>
          </a:xfrm>
          <a:prstGeom prst="ellipse">
            <a:avLst/>
          </a:prstGeom>
          <a:solidFill>
            <a:schemeClr val="accent1"/>
          </a:solidFill>
          <a:ln/>
        </p:spPr>
      </p:sp>
      <p:pic>
        <p:nvPicPr>
          <p:cNvPr id="22" name="Future investigations icon" descr="Future investigations icon">    </p:cNvPr>
          <p:cNvPicPr>
            <a:picLocks noChangeAspect="1"/>
          </p:cNvPicPr>
          <p:nvPr/>
        </p:nvPicPr>
        <p:blipFill>
          <a:blip r:embed="rId5"/>
          <a:stretch>
            <a:fillRect/>
          </a:stretch>
        </p:blipFill>
        <p:spPr>
          <a:xfrm>
            <a:off x="6611112" y="3520440"/>
            <a:ext cx="356616" cy="356616"/>
          </a:xfrm>
          <a:prstGeom prst="rect">
            <a:avLst/>
          </a:prstGeom>
        </p:spPr>
      </p:pic>
      <p:sp>
        <p:nvSpPr>
          <p:cNvPr id="23" name="Text 16"/>
          <p:cNvSpPr txBox="1"/>
          <p:nvPr/>
        </p:nvSpPr>
        <p:spPr>
          <a:xfrm>
            <a:off x="7315200" y="3044952"/>
            <a:ext cx="4206240" cy="1316736"/>
          </a:xfrm>
          <a:prstGeom prst="rect">
            <a:avLst/>
          </a:prstGeom>
          <a:noFill/>
          <a:ln/>
        </p:spPr>
        <p:txBody>
          <a:bodyPr wrap="square" lIns="635" tIns="635" rIns="635" bIns="635" rtlCol="0" anchor="ctr"/>
          <a:lstStyle/>
          <a:p>
            <a:pPr indent="0" marL="0">
              <a:buNone/>
            </a:pPr>
            <a:r>
              <a:rPr lang="en-US" sz="1700" b="1" dirty="0">
                <a:solidFill>
                  <a:schemeClr val="tx2"/>
                </a:solidFill>
              </a:rPr>
              <a:t>Future investigations</a:t>
            </a:r>
            <a:endParaRPr lang="en-US" sz="1300" dirty="0"/>
          </a:p>
          <a:p>
            <a:pPr indent="0" marL="0">
              <a:buNone/>
            </a:pPr>
            <a:r>
              <a:rPr lang="en-US" sz="1300" dirty="0">
                <a:solidFill>
                  <a:schemeClr val="tx1"/>
                </a:solidFill>
              </a:rPr>
              <a:t>Sequence the virus to find clusters of linked cases, as done for Marine recruits</a:t>
            </a:r>
            <a:r>
              <a:rPr lang="en-US" sz="1300" baseline="30000" dirty="0">
                <a:solidFill>
                  <a:schemeClr val="tx1"/>
                </a:solidFill>
              </a:rPr>
              <a:t>7</a:t>
            </a:r>
            <a:r>
              <a:rPr lang="en-US" sz="1300" dirty="0">
                <a:solidFill>
                  <a:schemeClr val="tx1"/>
                </a:solidFill>
              </a:rPr>
              <a:t>; measure ventilation</a:t>
            </a:r>
            <a:r>
              <a:rPr lang="en-US" sz="1300" baseline="30000" dirty="0">
                <a:solidFill>
                  <a:schemeClr val="tx1"/>
                </a:solidFill>
              </a:rPr>
              <a:t>22</a:t>
            </a:r>
            <a:r>
              <a:rPr lang="en-US" sz="1300" dirty="0">
                <a:solidFill>
                  <a:schemeClr val="tx1"/>
                </a:solidFill>
              </a:rPr>
              <a:t>; adjust for likely confounders</a:t>
            </a:r>
            <a:r>
              <a:rPr lang="en-US" sz="1300" dirty="0">
                <a:solidFill>
                  <a:schemeClr val="tx1"/>
                </a:solidFill>
              </a:rPr>
              <a:t>.</a:t>
            </a:r>
            <a:r>
              <a:rPr lang="en-US" sz="1300" baseline="30000" dirty="0">
                <a:solidFill>
                  <a:schemeClr val="tx1"/>
                </a:solidFill>
              </a:rPr>
              <a:t>23</a:t>
            </a:r>
            <a:endParaRPr lang="en-US" sz="1300" dirty="0"/>
          </a:p>
        </p:txBody>
      </p:sp>
      <p:sp>
        <p:nvSpPr>
          <p:cNvPr id="24" name="navy outcome"/>
          <p:cNvSpPr/>
          <p:nvPr/>
        </p:nvSpPr>
        <p:spPr>
          <a:xfrm>
            <a:off x="6217920" y="4617720"/>
            <a:ext cx="5394960" cy="1463040"/>
          </a:xfrm>
          <a:prstGeom prst="roundRect">
            <a:avLst>
              <a:gd name="adj" fmla="val 7500"/>
            </a:avLst>
          </a:prstGeom>
          <a:solidFill>
            <a:schemeClr val="tx2"/>
          </a:solidFill>
          <a:ln/>
        </p:spPr>
      </p:sp>
      <p:sp>
        <p:nvSpPr>
          <p:cNvPr id="25" name="Text 18"/>
          <p:cNvSpPr txBox="1"/>
          <p:nvPr/>
        </p:nvSpPr>
        <p:spPr>
          <a:xfrm>
            <a:off x="6446520" y="4709160"/>
            <a:ext cx="4937760" cy="1280160"/>
          </a:xfrm>
          <a:prstGeom prst="rect">
            <a:avLst/>
          </a:prstGeom>
          <a:noFill/>
          <a:ln/>
        </p:spPr>
        <p:txBody>
          <a:bodyPr wrap="square" lIns="635" tIns="635" rIns="635" bIns="635" rtlCol="0" anchor="ctr"/>
          <a:lstStyle/>
          <a:p>
            <a:pPr indent="0" marL="0">
              <a:buNone/>
            </a:pPr>
            <a:r>
              <a:rPr lang="en-US" sz="1400" b="1" dirty="0">
                <a:solidFill>
                  <a:schemeClr val="accent4"/>
                </a:solidFill>
              </a:rPr>
              <a:t>Navy experience: </a:t>
            </a:r>
            <a:r>
              <a:rPr lang="en-US" sz="1400" dirty="0">
                <a:solidFill>
                  <a:schemeClr val="bg1"/>
                </a:solidFill>
              </a:rPr>
              <a:t>after adding pre-deployment restriction of movement with exit PCR, cutting shore leave at foreign ports, and adding masks, distancing where possible and cohorting, the authors report the Navy deployed multiple ships without another serious outbreak.</a:t>
            </a:r>
            <a:r>
              <a:rPr lang="en-US" sz="1400" baseline="30000" dirty="0">
                <a:solidFill>
                  <a:schemeClr val="bg1"/>
                </a:solidFill>
              </a:rPr>
              <a:t>1</a:t>
            </a:r>
            <a:endParaRPr lang="en-US" sz="1400" dirty="0"/>
          </a:p>
        </p:txBody>
      </p:sp>
      <p:sp>
        <p:nvSpPr>
          <p:cNvPr id="27" name="Text 0"/>
          <p:cNvSpPr/>
          <p:nvPr>
            <p:ph idx="102" type="body" hasCustomPrompt="1"/>
          </p:nvPr>
        </p:nvSpPr>
        <p:spPr>
          <a:xfrm>
            <a:off x="548640" y="6355080"/>
            <a:ext cx="9875520" cy="320040"/>
          </a:xfrm>
          <a:prstGeom prst="rect">
            <a:avLst/>
          </a:prstGeom>
          <a:noFill/>
          <a:ln/>
        </p:spPr>
        <p:txBody>
          <a:bodyPr wrap="square" lIns="0" tIns="0" rIns="0" bIns="0" rtlCol="0" anchor="ctr"/>
          <a:lstStyle/>
          <a:p>
            <a:pPr indent="0" marL="0">
              <a:buNone/>
            </a:pPr>
            <a:r>
              <a:rPr lang="en-US" sz="1000" i="1" dirty="0">
                <a:solidFill>
                  <a:schemeClr val="accent6"/>
                </a:solidFill>
              </a:rPr>
              <a:t>Sources: 1 Kasper et al, 2020; 7 Letizia et al, 2020; 17 Payne et al, 2020; 21 Wells et al, 2021; 22 Wang et al, 2021; 23 Jager et al, 2008 (full list at the end).   Recommendations are my own, based on the cited evidence.</a:t>
            </a: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411480"/>
            <a:ext cx="10698480" cy="822960"/>
          </a:xfrm>
          <a:prstGeom prst="rect">
            <a:avLst/>
          </a:prstGeom>
          <a:noFill/>
          <a:ln/>
        </p:spPr>
        <p:txBody>
          <a:bodyPr wrap="square" lIns="635" tIns="635" rIns="635" bIns="635"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Conclusion</a:t>
            </a:r>
            <a:endParaRPr lang="en-US" sz="3600" dirty="0"/>
          </a:p>
        </p:txBody>
      </p:sp>
      <p:sp>
        <p:nvSpPr>
          <p:cNvPr id="3" name="Text 1"/>
          <p:cNvSpPr txBox="1"/>
          <p:nvPr/>
        </p:nvSpPr>
        <p:spPr>
          <a:xfrm>
            <a:off x="731520" y="1417320"/>
            <a:ext cx="2377440" cy="594360"/>
          </a:xfrm>
          <a:prstGeom prst="rect">
            <a:avLst/>
          </a:prstGeom>
          <a:noFill/>
          <a:ln/>
        </p:spPr>
        <p:txBody>
          <a:bodyPr wrap="square" lIns="635" tIns="635" rIns="635" bIns="635" rtlCol="0" anchor="ctr"/>
          <a:lstStyle/>
          <a:p>
            <a:pPr indent="0" marL="0">
              <a:buNone/>
            </a:pPr>
            <a:r>
              <a:rPr lang="en-US" sz="1700" b="1" dirty="0">
                <a:solidFill>
                  <a:schemeClr val="accent4"/>
                </a:solidFill>
              </a:rPr>
              <a:t>What happened</a:t>
            </a:r>
            <a:endParaRPr lang="en-US" sz="1700" dirty="0"/>
          </a:p>
        </p:txBody>
      </p:sp>
      <p:sp>
        <p:nvSpPr>
          <p:cNvPr id="4" name="Text 2"/>
          <p:cNvSpPr txBox="1"/>
          <p:nvPr/>
        </p:nvSpPr>
        <p:spPr>
          <a:xfrm>
            <a:off x="3108960" y="1417320"/>
            <a:ext cx="8321040" cy="594360"/>
          </a:xfrm>
          <a:prstGeom prst="rect">
            <a:avLst/>
          </a:prstGeom>
          <a:noFill/>
          <a:ln/>
        </p:spPr>
        <p:txBody>
          <a:bodyPr wrap="square" lIns="635" tIns="635" rIns="635" bIns="635" rtlCol="0" anchor="ctr"/>
          <a:lstStyle/>
          <a:p>
            <a:pPr indent="0" marL="0">
              <a:buNone/>
            </a:pPr>
            <a:r>
              <a:rPr lang="en-US" sz="1700" dirty="0">
                <a:solidFill>
                  <a:schemeClr val="bg1"/>
                </a:solidFill>
              </a:rPr>
              <a:t>Between March 23 and May 18, 2020, about 1 in 4 of the 4,779 sailors on a carrier tested positive</a:t>
            </a:r>
            <a:r>
              <a:rPr lang="en-US" sz="1700" baseline="30000" dirty="0">
                <a:solidFill>
                  <a:schemeClr val="bg1"/>
                </a:solidFill>
              </a:rPr>
              <a:t>1</a:t>
            </a:r>
            <a:endParaRPr lang="en-US" sz="1700" dirty="0"/>
          </a:p>
        </p:txBody>
      </p:sp>
      <p:sp>
        <p:nvSpPr>
          <p:cNvPr id="5" name="Text 3"/>
          <p:cNvSpPr txBox="1"/>
          <p:nvPr/>
        </p:nvSpPr>
        <p:spPr>
          <a:xfrm>
            <a:off x="731520" y="2130552"/>
            <a:ext cx="2377440" cy="594360"/>
          </a:xfrm>
          <a:prstGeom prst="rect">
            <a:avLst/>
          </a:prstGeom>
          <a:noFill/>
          <a:ln/>
        </p:spPr>
        <p:txBody>
          <a:bodyPr wrap="square" lIns="635" tIns="635" rIns="635" bIns="635" rtlCol="0" anchor="ctr"/>
          <a:lstStyle/>
          <a:p>
            <a:pPr indent="0" marL="0">
              <a:buNone/>
            </a:pPr>
            <a:r>
              <a:rPr lang="en-US" sz="1700" b="1" dirty="0">
                <a:solidFill>
                  <a:schemeClr val="accent4"/>
                </a:solidFill>
              </a:rPr>
              <a:t>Who and where</a:t>
            </a:r>
            <a:endParaRPr lang="en-US" sz="1700" dirty="0"/>
          </a:p>
        </p:txBody>
      </p:sp>
      <p:sp>
        <p:nvSpPr>
          <p:cNvPr id="6" name="Text 4"/>
          <p:cNvSpPr txBox="1"/>
          <p:nvPr/>
        </p:nvSpPr>
        <p:spPr>
          <a:xfrm>
            <a:off x="3108960" y="2130552"/>
            <a:ext cx="8321040" cy="594360"/>
          </a:xfrm>
          <a:prstGeom prst="rect">
            <a:avLst/>
          </a:prstGeom>
          <a:noFill/>
          <a:ln/>
        </p:spPr>
        <p:txBody>
          <a:bodyPr wrap="square" lIns="635" tIns="635" rIns="635" bIns="635" rtlCol="0" anchor="ctr"/>
          <a:lstStyle/>
          <a:p>
            <a:pPr indent="0" marL="0">
              <a:buNone/>
            </a:pPr>
            <a:r>
              <a:rPr lang="en-US" sz="1700" dirty="0">
                <a:solidFill>
                  <a:schemeClr val="bg1"/>
                </a:solidFill>
              </a:rPr>
              <a:t>Young, healthy sailors. Enlisted crews and most confined-space departments had higher rates</a:t>
            </a:r>
            <a:r>
              <a:rPr lang="en-US" sz="1700" baseline="30000" dirty="0">
                <a:solidFill>
                  <a:schemeClr val="bg1"/>
                </a:solidFill>
              </a:rPr>
              <a:t>1</a:t>
            </a:r>
            <a:endParaRPr lang="en-US" sz="1700" dirty="0"/>
          </a:p>
        </p:txBody>
      </p:sp>
      <p:sp>
        <p:nvSpPr>
          <p:cNvPr id="7" name="Text 5"/>
          <p:cNvSpPr txBox="1"/>
          <p:nvPr/>
        </p:nvSpPr>
        <p:spPr>
          <a:xfrm>
            <a:off x="731520" y="2843784"/>
            <a:ext cx="2377440" cy="594360"/>
          </a:xfrm>
          <a:prstGeom prst="rect">
            <a:avLst/>
          </a:prstGeom>
          <a:noFill/>
          <a:ln/>
        </p:spPr>
        <p:txBody>
          <a:bodyPr wrap="square" lIns="635" tIns="635" rIns="635" bIns="635" rtlCol="0" anchor="ctr"/>
          <a:lstStyle/>
          <a:p>
            <a:pPr indent="0" marL="0">
              <a:buNone/>
            </a:pPr>
            <a:r>
              <a:rPr lang="en-US" sz="1700" b="1" dirty="0">
                <a:solidFill>
                  <a:schemeClr val="accent4"/>
                </a:solidFill>
              </a:rPr>
              <a:t>How it spread</a:t>
            </a:r>
            <a:endParaRPr lang="en-US" sz="1700" dirty="0"/>
          </a:p>
        </p:txBody>
      </p:sp>
      <p:sp>
        <p:nvSpPr>
          <p:cNvPr id="8" name="Text 6"/>
          <p:cNvSpPr txBox="1"/>
          <p:nvPr/>
        </p:nvSpPr>
        <p:spPr>
          <a:xfrm>
            <a:off x="3108960" y="2843784"/>
            <a:ext cx="8321040" cy="594360"/>
          </a:xfrm>
          <a:prstGeom prst="rect">
            <a:avLst/>
          </a:prstGeom>
          <a:noFill/>
          <a:ln/>
        </p:spPr>
        <p:txBody>
          <a:bodyPr wrap="square" lIns="635" tIns="635" rIns="635" bIns="635" rtlCol="0" anchor="ctr"/>
          <a:lstStyle/>
          <a:p>
            <a:pPr indent="0" marL="0">
              <a:buNone/>
            </a:pPr>
            <a:r>
              <a:rPr lang="en-US" sz="1700" dirty="0">
                <a:solidFill>
                  <a:schemeClr val="bg1"/>
                </a:solidFill>
              </a:rPr>
              <a:t>The authors conclude that close quarters and infected sailors without symptoms helped it spread</a:t>
            </a:r>
            <a:r>
              <a:rPr lang="en-US" sz="1700" baseline="30000" dirty="0">
                <a:solidFill>
                  <a:schemeClr val="bg1"/>
                </a:solidFill>
              </a:rPr>
              <a:t>1</a:t>
            </a:r>
            <a:endParaRPr lang="en-US" sz="1700" dirty="0"/>
          </a:p>
        </p:txBody>
      </p:sp>
      <p:sp>
        <p:nvSpPr>
          <p:cNvPr id="9" name="Text 7"/>
          <p:cNvSpPr txBox="1"/>
          <p:nvPr/>
        </p:nvSpPr>
        <p:spPr>
          <a:xfrm>
            <a:off x="731520" y="3557016"/>
            <a:ext cx="2377440" cy="594360"/>
          </a:xfrm>
          <a:prstGeom prst="rect">
            <a:avLst/>
          </a:prstGeom>
          <a:noFill/>
          <a:ln/>
        </p:spPr>
        <p:txBody>
          <a:bodyPr wrap="square" lIns="635" tIns="635" rIns="635" bIns="635" rtlCol="0" anchor="ctr"/>
          <a:lstStyle/>
          <a:p>
            <a:pPr indent="0" marL="0">
              <a:buNone/>
            </a:pPr>
            <a:r>
              <a:rPr lang="en-US" sz="1700" b="1" dirty="0">
                <a:solidFill>
                  <a:schemeClr val="accent4"/>
                </a:solidFill>
              </a:rPr>
              <a:t>Key finding</a:t>
            </a:r>
            <a:endParaRPr lang="en-US" sz="1700" dirty="0"/>
          </a:p>
        </p:txBody>
      </p:sp>
      <p:sp>
        <p:nvSpPr>
          <p:cNvPr id="10" name="Text 8"/>
          <p:cNvSpPr txBox="1"/>
          <p:nvPr/>
        </p:nvSpPr>
        <p:spPr>
          <a:xfrm>
            <a:off x="3108960" y="3557016"/>
            <a:ext cx="8321040" cy="594360"/>
          </a:xfrm>
          <a:prstGeom prst="rect">
            <a:avLst/>
          </a:prstGeom>
          <a:noFill/>
          <a:ln/>
        </p:spPr>
        <p:txBody>
          <a:bodyPr wrap="square" lIns="635" tIns="635" rIns="635" bIns="635" rtlCol="0" anchor="ctr"/>
          <a:lstStyle/>
          <a:p>
            <a:pPr indent="0" marL="0">
              <a:buNone/>
            </a:pPr>
            <a:r>
              <a:rPr lang="en-US" sz="1700" dirty="0">
                <a:solidFill>
                  <a:schemeClr val="bg1"/>
                </a:solidFill>
              </a:rPr>
              <a:t>3 in 4 sailors who tested positive had no symptoms at the time</a:t>
            </a:r>
            <a:r>
              <a:rPr lang="en-US" sz="1700" baseline="30000" dirty="0">
                <a:solidFill>
                  <a:schemeClr val="bg1"/>
                </a:solidFill>
              </a:rPr>
              <a:t>1</a:t>
            </a:r>
            <a:endParaRPr lang="en-US" sz="1700" dirty="0"/>
          </a:p>
        </p:txBody>
      </p:sp>
      <p:sp>
        <p:nvSpPr>
          <p:cNvPr id="11" name="Text 9"/>
          <p:cNvSpPr txBox="1"/>
          <p:nvPr/>
        </p:nvSpPr>
        <p:spPr>
          <a:xfrm>
            <a:off x="731520" y="4270248"/>
            <a:ext cx="2377440" cy="594360"/>
          </a:xfrm>
          <a:prstGeom prst="rect">
            <a:avLst/>
          </a:prstGeom>
          <a:noFill/>
          <a:ln/>
        </p:spPr>
        <p:txBody>
          <a:bodyPr wrap="square" lIns="635" tIns="635" rIns="635" bIns="635" rtlCol="0" anchor="ctr"/>
          <a:lstStyle/>
          <a:p>
            <a:pPr indent="0" marL="0">
              <a:buNone/>
            </a:pPr>
            <a:r>
              <a:rPr lang="en-US" sz="1700" b="1" dirty="0">
                <a:solidFill>
                  <a:schemeClr val="accent4"/>
                </a:solidFill>
              </a:rPr>
              <a:t>What now</a:t>
            </a:r>
            <a:endParaRPr lang="en-US" sz="1700" dirty="0"/>
          </a:p>
        </p:txBody>
      </p:sp>
      <p:sp>
        <p:nvSpPr>
          <p:cNvPr id="12" name="Text 10"/>
          <p:cNvSpPr txBox="1"/>
          <p:nvPr/>
        </p:nvSpPr>
        <p:spPr>
          <a:xfrm>
            <a:off x="3108960" y="4270248"/>
            <a:ext cx="8321040" cy="594360"/>
          </a:xfrm>
          <a:prstGeom prst="rect">
            <a:avLst/>
          </a:prstGeom>
          <a:noFill/>
          <a:ln/>
        </p:spPr>
        <p:txBody>
          <a:bodyPr wrap="square" lIns="635" tIns="635" rIns="635" bIns="635" rtlCol="0" anchor="ctr"/>
          <a:lstStyle/>
          <a:p>
            <a:pPr indent="0" marL="0">
              <a:buNone/>
            </a:pPr>
            <a:r>
              <a:rPr lang="en-US" sz="1700" dirty="0">
                <a:solidFill>
                  <a:schemeClr val="bg1"/>
                </a:solidFill>
              </a:rPr>
              <a:t>My recommendations (slide 18): test on a schedule, quarantine and test before deploying, don't wait for symptoms</a:t>
            </a:r>
            <a:endParaRPr lang="en-US" sz="1700" dirty="0"/>
          </a:p>
        </p:txBody>
      </p:sp>
      <p:sp>
        <p:nvSpPr>
          <p:cNvPr id="13" name="lesson panel"/>
          <p:cNvSpPr/>
          <p:nvPr/>
        </p:nvSpPr>
        <p:spPr>
          <a:xfrm>
            <a:off x="731520" y="5120640"/>
            <a:ext cx="10698480" cy="1143000"/>
          </a:xfrm>
          <a:prstGeom prst="roundRect">
            <a:avLst>
              <a:gd name="adj" fmla="val 9600"/>
            </a:avLst>
          </a:prstGeom>
          <a:solidFill>
            <a:schemeClr val="accent5"/>
          </a:solidFill>
          <a:ln/>
        </p:spPr>
      </p:sp>
      <p:sp>
        <p:nvSpPr>
          <p:cNvPr id="14" name="Text 12"/>
          <p:cNvSpPr txBox="1"/>
          <p:nvPr/>
        </p:nvSpPr>
        <p:spPr>
          <a:xfrm>
            <a:off x="960120" y="5166360"/>
            <a:ext cx="10241280" cy="1051560"/>
          </a:xfrm>
          <a:prstGeom prst="rect">
            <a:avLst/>
          </a:prstGeom>
          <a:noFill/>
          <a:ln/>
        </p:spPr>
        <p:txBody>
          <a:bodyPr wrap="square" lIns="635" tIns="635" rIns="635" bIns="635" rtlCol="0" anchor="ctr"/>
          <a:lstStyle/>
          <a:p>
            <a:pPr indent="0" marL="0">
              <a:buNone/>
            </a:pPr>
            <a:r>
              <a:rPr lang="en-US" sz="1800" b="1" dirty="0">
                <a:solidFill>
                  <a:schemeClr val="accent4"/>
                </a:solidFill>
              </a:rPr>
              <a:t>Authors' lesson: </a:t>
            </a:r>
            <a:r>
              <a:rPr lang="en-US" sz="1800" dirty="0">
                <a:solidFill>
                  <a:schemeClr val="bg1"/>
                </a:solidFill>
              </a:rPr>
              <a:t>organizations may benefit from assuming Covid-19 will be introduced and rigorously enforcing measures to limit spread, because people may not know they are infected.</a:t>
            </a:r>
            <a:r>
              <a:rPr lang="en-US" sz="1800" baseline="30000" dirty="0">
                <a:solidFill>
                  <a:schemeClr val="bg1"/>
                </a:solidFill>
              </a:rPr>
              <a:t>1</a:t>
            </a:r>
            <a:endParaRPr lang="en-US" sz="1800" dirty="0"/>
          </a:p>
        </p:txBody>
      </p:sp>
      <p:sp>
        <p:nvSpPr>
          <p:cNvPr id="15" name="Text 13"/>
          <p:cNvSpPr txBox="1"/>
          <p:nvPr/>
        </p:nvSpPr>
        <p:spPr>
          <a:xfrm>
            <a:off x="731520" y="6355080"/>
            <a:ext cx="10058400" cy="320040"/>
          </a:xfrm>
          <a:prstGeom prst="rect">
            <a:avLst/>
          </a:prstGeom>
          <a:noFill/>
          <a:ln/>
        </p:spPr>
        <p:txBody>
          <a:bodyPr wrap="square" lIns="0" tIns="0" rIns="0" bIns="0" rtlCol="0" anchor="ctr"/>
          <a:lstStyle/>
          <a:p>
            <a:pPr indent="0" marL="0">
              <a:buNone/>
            </a:pPr>
            <a:r>
              <a:rPr lang="en-US" sz="1000" dirty="0">
                <a:solidFill>
                  <a:schemeClr val="accent3"/>
                </a:solidFill>
              </a:rPr>
              <a:t>Sources: 1 Kasper et al, 2020 (full list at the end).</a:t>
            </a:r>
            <a:endParaRPr lang="en-US" sz="1000" dirty="0"/>
          </a:p>
        </p:txBody>
      </p:sp>
      <p:sp>
        <p:nvSpPr>
          <p:cNvPr id="17" name="Text 0"/>
          <p:cNvSpPr/>
          <p:nvPr>
            <p:ph idx="100" type="title" hasCustomPrompt="1"/>
          </p:nvPr>
        </p:nvSpPr>
        <p:spPr>
          <a:xfrm>
            <a:off x="731520" y="1463040"/>
            <a:ext cx="10698480" cy="1737360"/>
          </a:xfrm>
          <a:prstGeom prst="rect">
            <a:avLst/>
          </a:prstGeom>
          <a:noFill/>
          <a:ln/>
        </p:spPr>
        <p:txBody>
          <a:bodyPr wrap="square" rtlCol="0" anchor="b"/>
          <a:lstStyle/>
          <a:p>
            <a:pPr algn="l" indent="0" marL="0">
              <a:buNone/>
            </a:pPr>
            <a:endParaRPr lang="en-US" sz="4000" dirty="0"/>
          </a:p>
        </p:txBody>
      </p:sp>
      <p:sp>
        <p:nvSpPr>
          <p:cNvPr id="18" name="Text 0"/>
          <p:cNvSpPr/>
          <p:nvPr>
            <p:ph idx="101" type="body" hasCustomPrompt="1"/>
          </p:nvPr>
        </p:nvSpPr>
        <p:spPr>
          <a:xfrm>
            <a:off x="731520" y="3429000"/>
            <a:ext cx="10698480" cy="2377440"/>
          </a:xfrm>
          <a:prstGeom prst="rect">
            <a:avLst/>
          </a:prstGeom>
          <a:noFill/>
          <a:ln/>
        </p:spPr>
        <p:txBody>
          <a:bodyPr wrap="square" rtlCol="0" anchor="t"/>
          <a:lstStyle/>
          <a:p>
            <a:pPr indent="0" marL="0">
              <a:buNone/>
            </a:pP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References</a:t>
            </a:r>
            <a:endParaRPr lang="en-US" sz="3400" dirty="0"/>
          </a:p>
        </p:txBody>
      </p:sp>
      <p:sp>
        <p:nvSpPr>
          <p:cNvPr id="3" name="Text 1"/>
          <p:cNvSpPr txBox="1"/>
          <p:nvPr/>
        </p:nvSpPr>
        <p:spPr>
          <a:xfrm>
            <a:off x="548640" y="1280160"/>
            <a:ext cx="11064240" cy="4983480"/>
          </a:xfrm>
          <a:prstGeom prst="rect">
            <a:avLst/>
          </a:prstGeom>
          <a:noFill/>
          <a:ln/>
        </p:spPr>
        <p:txBody>
          <a:bodyPr wrap="square" lIns="635" tIns="635" rIns="635" bIns="635" rtlCol="0" anchor="t"/>
          <a:lstStyle/>
          <a:p>
            <a:pPr marL="342900" indent="-342900">
              <a:spcAft>
                <a:spcPts val="800"/>
              </a:spcAft>
              <a:buSzPct val="100000"/>
              <a:buFont typeface="+mj-lt"/>
              <a:buAutoNum type="arabicPeriod" startAt="1"/>
            </a:pPr>
            <a:r>
              <a:rPr lang="en-US" sz="1300" dirty="0">
                <a:solidFill>
                  <a:schemeClr val="tx1"/>
                </a:solidFill>
              </a:rPr>
              <a:t>Kasper MR, Geibe JR, Sears CL, et al. An outbreak of Covid-19 on an aircraft carrier. </a:t>
            </a:r>
            <a:r>
              <a:rPr lang="en-US" sz="1300" i="1" dirty="0">
                <a:solidFill>
                  <a:schemeClr val="tx1"/>
                </a:solidFill>
              </a:rPr>
              <a:t>N Engl J Med</a:t>
            </a:r>
            <a:r>
              <a:rPr lang="en-US" sz="1300" dirty="0">
                <a:solidFill>
                  <a:schemeClr val="tx1"/>
                </a:solidFill>
              </a:rPr>
              <a:t>. 2020;383(25):2417-2426. doi:10.1056/NEJMoa2019375</a:t>
            </a:r>
            <a:endParaRPr lang="en-US" sz="1300" dirty="0"/>
          </a:p>
          <a:p>
            <a:pPr marL="342900" indent="-342900">
              <a:spcAft>
                <a:spcPts val="800"/>
              </a:spcAft>
              <a:buSzPct val="100000"/>
              <a:buFont typeface="+mj-lt"/>
              <a:buAutoNum type="arabicPeriod" startAt="1"/>
            </a:pPr>
            <a:r>
              <a:rPr lang="en-US" sz="1300" dirty="0">
                <a:solidFill>
                  <a:schemeClr val="tx1"/>
                </a:solidFill>
              </a:rPr>
              <a:t>Hu B, Guo H, Zhou P, Shi ZL. Characteristics of SARS-CoV-2 and COVID-19. </a:t>
            </a:r>
            <a:r>
              <a:rPr lang="en-US" sz="1300" i="1" dirty="0">
                <a:solidFill>
                  <a:schemeClr val="tx1"/>
                </a:solidFill>
              </a:rPr>
              <a:t>Nat Rev Microbiol</a:t>
            </a:r>
            <a:r>
              <a:rPr lang="en-US" sz="1300" dirty="0">
                <a:solidFill>
                  <a:schemeClr val="tx1"/>
                </a:solidFill>
              </a:rPr>
              <a:t>. 2021;19(3):141-154. doi:10.1038/s41579-020-00459-7. Published correction appears in </a:t>
            </a:r>
            <a:r>
              <a:rPr lang="en-US" sz="1300" i="1" dirty="0">
                <a:solidFill>
                  <a:schemeClr val="tx1"/>
                </a:solidFill>
              </a:rPr>
              <a:t>Nat Rev Microbiol</a:t>
            </a:r>
            <a:r>
              <a:rPr lang="en-US" sz="1300" dirty="0">
                <a:solidFill>
                  <a:schemeClr val="tx1"/>
                </a:solidFill>
              </a:rPr>
              <a:t>. 2022;20(5):315.</a:t>
            </a:r>
            <a:endParaRPr lang="en-US" sz="1300" dirty="0"/>
          </a:p>
          <a:p>
            <a:pPr marL="342900" indent="-342900">
              <a:spcAft>
                <a:spcPts val="800"/>
              </a:spcAft>
              <a:buSzPct val="100000"/>
              <a:buFont typeface="+mj-lt"/>
              <a:buAutoNum type="arabicPeriod" startAt="1"/>
            </a:pPr>
            <a:r>
              <a:rPr lang="en-US" sz="1300" dirty="0">
                <a:solidFill>
                  <a:schemeClr val="tx1"/>
                </a:solidFill>
              </a:rPr>
              <a:t>van Doremalen N, Bushmaker T, Morris DH, et al. Aerosol and surface stability of SARS-CoV-2 as compared with SARS-CoV-1. </a:t>
            </a:r>
            <a:r>
              <a:rPr lang="en-US" sz="1300" i="1" dirty="0">
                <a:solidFill>
                  <a:schemeClr val="tx1"/>
                </a:solidFill>
              </a:rPr>
              <a:t>N Engl J Med</a:t>
            </a:r>
            <a:r>
              <a:rPr lang="en-US" sz="1300" dirty="0">
                <a:solidFill>
                  <a:schemeClr val="tx1"/>
                </a:solidFill>
              </a:rPr>
              <a:t>. 2020;382(16):1564-1567. doi:10.1056/NEJMc2004973</a:t>
            </a:r>
            <a:endParaRPr lang="en-US" sz="1300" dirty="0"/>
          </a:p>
          <a:p>
            <a:pPr marL="342900" indent="-342900">
              <a:spcAft>
                <a:spcPts val="800"/>
              </a:spcAft>
              <a:buSzPct val="100000"/>
              <a:buFont typeface="+mj-lt"/>
              <a:buAutoNum type="arabicPeriod" startAt="1"/>
            </a:pPr>
            <a:r>
              <a:rPr lang="en-US" sz="1300" dirty="0">
                <a:solidFill>
                  <a:schemeClr val="tx1"/>
                </a:solidFill>
              </a:rPr>
              <a:t>Johansson MA, Quandelacy TM, Kada S, et al. SARS-CoV-2 transmission from people without COVID-19 symptoms. </a:t>
            </a:r>
            <a:r>
              <a:rPr lang="en-US" sz="1300" i="1" dirty="0">
                <a:solidFill>
                  <a:schemeClr val="tx1"/>
                </a:solidFill>
              </a:rPr>
              <a:t>JAMA Netw Open</a:t>
            </a:r>
            <a:r>
              <a:rPr lang="en-US" sz="1300" dirty="0">
                <a:solidFill>
                  <a:schemeClr val="tx1"/>
                </a:solidFill>
              </a:rPr>
              <a:t>. 2021;4(1):e2035057. doi:10.1001/jamanetworkopen.2020.35057. Published correction appears in </a:t>
            </a:r>
            <a:r>
              <a:rPr lang="en-US" sz="1300" i="1" dirty="0">
                <a:solidFill>
                  <a:schemeClr val="tx1"/>
                </a:solidFill>
              </a:rPr>
              <a:t>JAMA Netw Open</a:t>
            </a:r>
            <a:r>
              <a:rPr lang="en-US" sz="1300" dirty="0">
                <a:solidFill>
                  <a:schemeClr val="tx1"/>
                </a:solidFill>
              </a:rPr>
              <a:t>. 2021;4(2):e211383.</a:t>
            </a:r>
            <a:endParaRPr lang="en-US" sz="1300" dirty="0"/>
          </a:p>
          <a:p>
            <a:pPr marL="342900" indent="-342900">
              <a:spcAft>
                <a:spcPts val="800"/>
              </a:spcAft>
              <a:buSzPct val="100000"/>
              <a:buFont typeface="+mj-lt"/>
              <a:buAutoNum type="arabicPeriod" startAt="1"/>
            </a:pPr>
            <a:r>
              <a:rPr lang="en-US" sz="1300" dirty="0">
                <a:solidFill>
                  <a:schemeClr val="tx1"/>
                </a:solidFill>
              </a:rPr>
              <a:t>Lauer SA, Grantz KH, Bi Q, et al. The incubation period of coronavirus disease 2019 (COVID-19) from publicly reported confirmed cases: estimation and application. </a:t>
            </a:r>
            <a:r>
              <a:rPr lang="en-US" sz="1300" i="1" dirty="0">
                <a:solidFill>
                  <a:schemeClr val="tx1"/>
                </a:solidFill>
              </a:rPr>
              <a:t>Ann Intern Med</a:t>
            </a:r>
            <a:r>
              <a:rPr lang="en-US" sz="1300" dirty="0">
                <a:solidFill>
                  <a:schemeClr val="tx1"/>
                </a:solidFill>
              </a:rPr>
              <a:t>. 2020;172(9):577-582. doi:10.7326/M20-0504</a:t>
            </a:r>
            <a:endParaRPr lang="en-US" sz="1300" dirty="0"/>
          </a:p>
          <a:p>
            <a:pPr marL="342900" indent="-342900">
              <a:spcAft>
                <a:spcPts val="800"/>
              </a:spcAft>
              <a:buSzPct val="100000"/>
              <a:buFont typeface="+mj-lt"/>
              <a:buAutoNum type="arabicPeriod" startAt="1"/>
            </a:pPr>
            <a:r>
              <a:rPr lang="en-US" sz="1300" dirty="0">
                <a:solidFill>
                  <a:schemeClr val="tx1"/>
                </a:solidFill>
              </a:rPr>
              <a:t>He X, Lau EHY, Wu P, et al. Temporal dynamics in viral shedding and transmissibility of COVID-19. </a:t>
            </a:r>
            <a:r>
              <a:rPr lang="en-US" sz="1300" i="1" dirty="0">
                <a:solidFill>
                  <a:schemeClr val="tx1"/>
                </a:solidFill>
              </a:rPr>
              <a:t>Nat Med</a:t>
            </a:r>
            <a:r>
              <a:rPr lang="en-US" sz="1300" dirty="0">
                <a:solidFill>
                  <a:schemeClr val="tx1"/>
                </a:solidFill>
              </a:rPr>
              <a:t>. 2020;26(5):672-675. doi:10.1038/s41591-020-0869-5. Published correction appears in </a:t>
            </a:r>
            <a:r>
              <a:rPr lang="en-US" sz="1300" i="1" dirty="0">
                <a:solidFill>
                  <a:schemeClr val="tx1"/>
                </a:solidFill>
              </a:rPr>
              <a:t>Nat Med</a:t>
            </a:r>
            <a:r>
              <a:rPr lang="en-US" sz="1300" dirty="0">
                <a:solidFill>
                  <a:schemeClr val="tx1"/>
                </a:solidFill>
              </a:rPr>
              <a:t>. 2020;26(9):1491-1493.</a:t>
            </a:r>
            <a:endParaRPr lang="en-US" sz="1300" dirty="0"/>
          </a:p>
          <a:p>
            <a:pPr marL="342900" indent="-342900">
              <a:spcAft>
                <a:spcPts val="800"/>
              </a:spcAft>
              <a:buSzPct val="100000"/>
              <a:buFont typeface="+mj-lt"/>
              <a:buAutoNum type="arabicPeriod" startAt="1"/>
            </a:pPr>
            <a:r>
              <a:rPr lang="en-US" sz="1300" dirty="0">
                <a:solidFill>
                  <a:schemeClr val="tx1"/>
                </a:solidFill>
              </a:rPr>
              <a:t>Letizia AG, Ramos I, Obla A, et al. SARS-CoV-2 transmission among Marine recruits during quarantine. </a:t>
            </a:r>
            <a:r>
              <a:rPr lang="en-US" sz="1300" i="1" dirty="0">
                <a:solidFill>
                  <a:schemeClr val="tx1"/>
                </a:solidFill>
              </a:rPr>
              <a:t>N Engl J Med</a:t>
            </a:r>
            <a:r>
              <a:rPr lang="en-US" sz="1300" dirty="0">
                <a:solidFill>
                  <a:schemeClr val="tx1"/>
                </a:solidFill>
              </a:rPr>
              <a:t>. 2020;383(25):2407-2416. doi:10.1056/NEJMoa2029717</a:t>
            </a:r>
            <a:endParaRPr lang="en-US" sz="1300" dirty="0"/>
          </a:p>
          <a:p>
            <a:pPr marL="342900" indent="-342900">
              <a:spcAft>
                <a:spcPts val="800"/>
              </a:spcAft>
              <a:buSzPct val="100000"/>
              <a:buFont typeface="+mj-lt"/>
              <a:buAutoNum type="arabicPeriod" startAt="1"/>
            </a:pPr>
            <a:r>
              <a:rPr lang="en-US" sz="1300" dirty="0">
                <a:solidFill>
                  <a:schemeClr val="tx1"/>
                </a:solidFill>
              </a:rPr>
              <a:t>Reintjes R, Zanuzdana A. Outbreak investigations. In: Krämer A, Kretzschmar M, Krickeberg K, eds. </a:t>
            </a:r>
            <a:r>
              <a:rPr lang="en-US" sz="1300" i="1" dirty="0">
                <a:solidFill>
                  <a:schemeClr val="tx1"/>
                </a:solidFill>
              </a:rPr>
              <a:t>Modern Infectious Disease Epidemiology: Concepts, Methods, Mathematical Models, and Public Health</a:t>
            </a:r>
            <a:r>
              <a:rPr lang="en-US" sz="1300" dirty="0">
                <a:solidFill>
                  <a:schemeClr val="tx1"/>
                </a:solidFill>
              </a:rPr>
              <a:t>. Springer; 2010:159-176. doi:10.1007/978-0-387-93835-6_9</a:t>
            </a:r>
            <a:endParaRPr lang="en-US" sz="1300" dirty="0"/>
          </a:p>
        </p:txBody>
      </p:sp>
      <p:sp>
        <p:nvSpPr>
          <p:cNvPr id="4" name="Text 0"/>
          <p:cNvSpPr/>
          <p:nvPr>
            <p:ph idx="101" type="body" hasCustomPrompt="1"/>
          </p:nvPr>
        </p:nvSpPr>
        <p:spPr>
          <a:xfrm>
            <a:off x="548640" y="73152"/>
            <a:ext cx="11064240" cy="274320"/>
          </a:xfrm>
          <a:prstGeom prst="rect">
            <a:avLst/>
          </a:prstGeom>
          <a:noFill/>
          <a:ln/>
        </p:spPr>
        <p:txBody>
          <a:bodyPr wrap="square" lIns="0" tIns="0" rIns="0" bIns="0" rtlCol="0" anchor="ctr"/>
          <a:lstStyle/>
          <a:p>
            <a:pPr algn="ctr" indent="0" marL="0">
              <a:buNone/>
            </a:pPr>
            <a:endParaRPr lang="en-US" sz="1100" dirty="0"/>
          </a:p>
        </p:txBody>
      </p:sp>
      <p:sp>
        <p:nvSpPr>
          <p:cNvPr id="5" name="Text 0"/>
          <p:cNvSpPr/>
          <p:nvPr>
            <p:ph idx="102" type="body" hasCustomPrompt="1"/>
          </p:nvPr>
        </p:nvSpPr>
        <p:spPr>
          <a:xfrm>
            <a:off x="548640" y="6355080"/>
            <a:ext cx="9875520" cy="320040"/>
          </a:xfrm>
          <a:prstGeom prst="rect">
            <a:avLst/>
          </a:prstGeom>
          <a:noFill/>
          <a:ln/>
        </p:spPr>
        <p:txBody>
          <a:bodyPr wrap="square" lIns="0" tIns="0" rIns="0" bIns="0" rtlCol="0" anchor="ctr"/>
          <a:lstStyle/>
          <a:p>
            <a:pPr indent="0" marL="0">
              <a:buNone/>
            </a:pP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References (continued)</a:t>
            </a:r>
            <a:endParaRPr lang="en-US" sz="3400" dirty="0"/>
          </a:p>
        </p:txBody>
      </p:sp>
      <p:sp>
        <p:nvSpPr>
          <p:cNvPr id="3" name="Text 1"/>
          <p:cNvSpPr txBox="1"/>
          <p:nvPr/>
        </p:nvSpPr>
        <p:spPr>
          <a:xfrm>
            <a:off x="548640" y="1280160"/>
            <a:ext cx="11064240" cy="4983480"/>
          </a:xfrm>
          <a:prstGeom prst="rect">
            <a:avLst/>
          </a:prstGeom>
          <a:noFill/>
          <a:ln/>
        </p:spPr>
        <p:txBody>
          <a:bodyPr wrap="square" lIns="635" tIns="635" rIns="635" bIns="635" rtlCol="0" anchor="t"/>
          <a:lstStyle/>
          <a:p>
            <a:pPr marL="342900" indent="-342900">
              <a:spcAft>
                <a:spcPts val="800"/>
              </a:spcAft>
              <a:buSzPct val="100000"/>
              <a:buFont typeface="+mj-lt"/>
              <a:buAutoNum type="arabicPeriod" startAt="9"/>
            </a:pPr>
            <a:r>
              <a:rPr lang="en-US" sz="1300" dirty="0">
                <a:solidFill>
                  <a:schemeClr val="tx1"/>
                </a:solidFill>
              </a:rPr>
              <a:t>Trevethan R. Sensitivity, specificity, and predictive values: foundations, pliabilities, and pitfalls in research and practice. </a:t>
            </a:r>
            <a:r>
              <a:rPr lang="en-US" sz="1300" i="1" dirty="0">
                <a:solidFill>
                  <a:schemeClr val="tx1"/>
                </a:solidFill>
              </a:rPr>
              <a:t>Front Public Health</a:t>
            </a:r>
            <a:r>
              <a:rPr lang="en-US" sz="1300" dirty="0">
                <a:solidFill>
                  <a:schemeClr val="tx1"/>
                </a:solidFill>
              </a:rPr>
              <a:t>. 2017;5:307. doi:10.3389/fpubh.2017.00307</a:t>
            </a:r>
            <a:endParaRPr lang="en-US" sz="1300" dirty="0"/>
          </a:p>
          <a:p>
            <a:pPr marL="342900" indent="-342900">
              <a:spcAft>
                <a:spcPts val="800"/>
              </a:spcAft>
              <a:buSzPct val="100000"/>
              <a:buFont typeface="+mj-lt"/>
              <a:buAutoNum type="arabicPeriod" startAt="9"/>
            </a:pPr>
            <a:r>
              <a:rPr lang="en-US" sz="1300" dirty="0">
                <a:solidFill>
                  <a:schemeClr val="tx1"/>
                </a:solidFill>
              </a:rPr>
              <a:t>Kucirka LM, Lauer SA, Laeyendecker O, Boon D, Lessler J. Variation in false-negative rate of reverse transcriptase polymerase chain reaction–based SARS-CoV-2 tests by time since exposure. </a:t>
            </a:r>
            <a:r>
              <a:rPr lang="en-US" sz="1300" i="1" dirty="0">
                <a:solidFill>
                  <a:schemeClr val="tx1"/>
                </a:solidFill>
              </a:rPr>
              <a:t>Ann Intern Med</a:t>
            </a:r>
            <a:r>
              <a:rPr lang="en-US" sz="1300" dirty="0">
                <a:solidFill>
                  <a:schemeClr val="tx1"/>
                </a:solidFill>
              </a:rPr>
              <a:t>. 2020;173(4):262-267. doi:10.7326/M20-1495</a:t>
            </a:r>
            <a:endParaRPr lang="en-US" sz="1300" dirty="0"/>
          </a:p>
          <a:p>
            <a:pPr marL="342900" indent="-342900">
              <a:spcAft>
                <a:spcPts val="800"/>
              </a:spcAft>
              <a:buSzPct val="100000"/>
              <a:buFont typeface="+mj-lt"/>
              <a:buAutoNum type="arabicPeriod" startAt="9"/>
            </a:pPr>
            <a:r>
              <a:rPr lang="en-US" sz="1300" dirty="0">
                <a:solidFill>
                  <a:schemeClr val="tx1"/>
                </a:solidFill>
              </a:rPr>
              <a:t>Moriarty LF, Plucinski MM, Marston BJ, et al; CDC Cruise Ship Response Team; California Department of Public Health COVID-19 Team; Solano County COVID-19 Team. Public health responses to COVID-19 outbreaks on cruise ships—worldwide, February–March 2020. </a:t>
            </a:r>
            <a:r>
              <a:rPr lang="en-US" sz="1300" i="1" dirty="0">
                <a:solidFill>
                  <a:schemeClr val="tx1"/>
                </a:solidFill>
              </a:rPr>
              <a:t>MMWR Morb Mortal Wkly Rep</a:t>
            </a:r>
            <a:r>
              <a:rPr lang="en-US" sz="1300" dirty="0">
                <a:solidFill>
                  <a:schemeClr val="tx1"/>
                </a:solidFill>
              </a:rPr>
              <a:t>. 2020;69(12):347-352. doi:10.15585/mmwr.mm6912e3</a:t>
            </a:r>
            <a:endParaRPr lang="en-US" sz="1300" dirty="0"/>
          </a:p>
          <a:p>
            <a:pPr marL="342900" indent="-342900">
              <a:spcAft>
                <a:spcPts val="800"/>
              </a:spcAft>
              <a:buSzPct val="100000"/>
              <a:buFont typeface="+mj-lt"/>
              <a:buAutoNum type="arabicPeriod" startAt="9"/>
            </a:pPr>
            <a:r>
              <a:rPr lang="en-US" sz="1300" dirty="0">
                <a:solidFill>
                  <a:schemeClr val="tx1"/>
                </a:solidFill>
              </a:rPr>
              <a:t>Ma Q, Liu J, Liu Q, et al. Global percentage of asymptomatic SARS-CoV-2 infections among the tested population and individuals with confirmed COVID-19 diagnosis: a systematic review and meta-analysis. </a:t>
            </a:r>
            <a:r>
              <a:rPr lang="en-US" sz="1300" i="1" dirty="0">
                <a:solidFill>
                  <a:schemeClr val="tx1"/>
                </a:solidFill>
              </a:rPr>
              <a:t>JAMA Netw Open</a:t>
            </a:r>
            <a:r>
              <a:rPr lang="en-US" sz="1300" dirty="0">
                <a:solidFill>
                  <a:schemeClr val="tx1"/>
                </a:solidFill>
              </a:rPr>
              <a:t>. 2021;4(12):e2137257. doi:10.1001/jamanetworkopen.2021.37257</a:t>
            </a:r>
            <a:endParaRPr lang="en-US" sz="1300" dirty="0"/>
          </a:p>
          <a:p>
            <a:pPr marL="342900" indent="-342900">
              <a:spcAft>
                <a:spcPts val="800"/>
              </a:spcAft>
              <a:buSzPct val="100000"/>
              <a:buFont typeface="+mj-lt"/>
              <a:buAutoNum type="arabicPeriod" startAt="9"/>
            </a:pPr>
            <a:r>
              <a:rPr lang="en-US" sz="1300" dirty="0">
                <a:solidFill>
                  <a:schemeClr val="tx1"/>
                </a:solidFill>
              </a:rPr>
              <a:t>Ranganathan P, Pramesh CS, Buyse M. Common pitfalls in statistical analysis: "P" values, statistical significance and confidence intervals. </a:t>
            </a:r>
            <a:r>
              <a:rPr lang="en-US" sz="1300" i="1" dirty="0">
                <a:solidFill>
                  <a:schemeClr val="tx1"/>
                </a:solidFill>
              </a:rPr>
              <a:t>Perspect Clin Res</a:t>
            </a:r>
            <a:r>
              <a:rPr lang="en-US" sz="1300" dirty="0">
                <a:solidFill>
                  <a:schemeClr val="tx1"/>
                </a:solidFill>
              </a:rPr>
              <a:t>. 2015;6(2):116-117. doi:10.4103/2229-3485.154016</a:t>
            </a:r>
            <a:endParaRPr lang="en-US" sz="1300" dirty="0"/>
          </a:p>
          <a:p>
            <a:pPr marL="342900" indent="-342900">
              <a:spcAft>
                <a:spcPts val="800"/>
              </a:spcAft>
              <a:buSzPct val="100000"/>
              <a:buFont typeface="+mj-lt"/>
              <a:buAutoNum type="arabicPeriod" startAt="9"/>
            </a:pPr>
            <a:r>
              <a:rPr lang="en-US" sz="1300" dirty="0">
                <a:solidFill>
                  <a:schemeClr val="tx1"/>
                </a:solidFill>
              </a:rPr>
              <a:t>Schwaid G. Epidemiology and biostatistics. In: </a:t>
            </a:r>
            <a:r>
              <a:rPr lang="en-US" sz="1300" i="1" dirty="0">
                <a:solidFill>
                  <a:schemeClr val="tx1"/>
                </a:solidFill>
              </a:rPr>
              <a:t>Board Review in Preventive Medicine and Public Health</a:t>
            </a:r>
            <a:r>
              <a:rPr lang="en-US" sz="1300" dirty="0">
                <a:solidFill>
                  <a:schemeClr val="tx1"/>
                </a:solidFill>
              </a:rPr>
              <a:t>. Elsevier; 2017:79-185. doi:10.1016/B978-0-12-813778-9.00003-7</a:t>
            </a:r>
            <a:endParaRPr lang="en-US" sz="1300" dirty="0"/>
          </a:p>
          <a:p>
            <a:pPr marL="342900" indent="-342900">
              <a:spcAft>
                <a:spcPts val="800"/>
              </a:spcAft>
              <a:buSzPct val="100000"/>
              <a:buFont typeface="+mj-lt"/>
              <a:buAutoNum type="arabicPeriod" startAt="9"/>
            </a:pPr>
            <a:r>
              <a:rPr lang="en-US" sz="1300" dirty="0">
                <a:solidFill>
                  <a:schemeClr val="tx1"/>
                </a:solidFill>
              </a:rPr>
              <a:t>de Laval F, Chaudet H, Gorgé O, et al; PA-CDG COVID-19 investigation group. Investigation of a COVID-19 outbreak on the Charles de Gaulle aircraft carrier, March to April 2020: a retrospective cohort study. </a:t>
            </a:r>
            <a:r>
              <a:rPr lang="en-US" sz="1300" i="1" dirty="0">
                <a:solidFill>
                  <a:schemeClr val="tx1"/>
                </a:solidFill>
              </a:rPr>
              <a:t>Euro Surveill</a:t>
            </a:r>
            <a:r>
              <a:rPr lang="en-US" sz="1300" dirty="0">
                <a:solidFill>
                  <a:schemeClr val="tx1"/>
                </a:solidFill>
              </a:rPr>
              <a:t>. 2022;27(21):2100612. doi:10.2807/1560-7917.ES.2022.27.21.2100612</a:t>
            </a:r>
            <a:endParaRPr lang="en-US" sz="1300" dirty="0"/>
          </a:p>
          <a:p>
            <a:pPr marL="342900" indent="-342900">
              <a:spcAft>
                <a:spcPts val="800"/>
              </a:spcAft>
              <a:buSzPct val="100000"/>
              <a:buFont typeface="+mj-lt"/>
              <a:buAutoNum type="arabicPeriod" startAt="9"/>
            </a:pPr>
            <a:r>
              <a:rPr lang="en-US" sz="1300" dirty="0">
                <a:solidFill>
                  <a:schemeClr val="tx1"/>
                </a:solidFill>
              </a:rPr>
              <a:t>Hill AB. The environment and disease: association or causation? </a:t>
            </a:r>
            <a:r>
              <a:rPr lang="en-US" sz="1300" i="1" dirty="0">
                <a:solidFill>
                  <a:schemeClr val="tx1"/>
                </a:solidFill>
              </a:rPr>
              <a:t>Proc R Soc Med</a:t>
            </a:r>
            <a:r>
              <a:rPr lang="en-US" sz="1300" dirty="0">
                <a:solidFill>
                  <a:schemeClr val="tx1"/>
                </a:solidFill>
              </a:rPr>
              <a:t>. 1965;58(5):295-300. doi:10.1177/003591576505800503</a:t>
            </a:r>
            <a:endParaRPr lang="en-US" sz="1300" dirty="0"/>
          </a:p>
        </p:txBody>
      </p:sp>
      <p:sp>
        <p:nvSpPr>
          <p:cNvPr id="4" name="Text 0"/>
          <p:cNvSpPr/>
          <p:nvPr>
            <p:ph idx="101" type="body" hasCustomPrompt="1"/>
          </p:nvPr>
        </p:nvSpPr>
        <p:spPr>
          <a:xfrm>
            <a:off x="548640" y="73152"/>
            <a:ext cx="11064240" cy="274320"/>
          </a:xfrm>
          <a:prstGeom prst="rect">
            <a:avLst/>
          </a:prstGeom>
          <a:noFill/>
          <a:ln/>
        </p:spPr>
        <p:txBody>
          <a:bodyPr wrap="square" lIns="0" tIns="0" rIns="0" bIns="0" rtlCol="0" anchor="ctr"/>
          <a:lstStyle/>
          <a:p>
            <a:pPr algn="ctr" indent="0" marL="0">
              <a:buNone/>
            </a:pPr>
            <a:endParaRPr lang="en-US" sz="1100" dirty="0"/>
          </a:p>
        </p:txBody>
      </p:sp>
      <p:sp>
        <p:nvSpPr>
          <p:cNvPr id="5" name="Text 0"/>
          <p:cNvSpPr/>
          <p:nvPr>
            <p:ph idx="102" type="body" hasCustomPrompt="1"/>
          </p:nvPr>
        </p:nvSpPr>
        <p:spPr>
          <a:xfrm>
            <a:off x="548640" y="6355080"/>
            <a:ext cx="9875520" cy="320040"/>
          </a:xfrm>
          <a:prstGeom prst="rect">
            <a:avLst/>
          </a:prstGeom>
          <a:noFill/>
          <a:ln/>
        </p:spPr>
        <p:txBody>
          <a:bodyPr wrap="square" lIns="0" tIns="0" rIns="0" bIns="0" rtlCol="0" anchor="ctr"/>
          <a:lstStyle/>
          <a:p>
            <a:pPr indent="0" marL="0">
              <a:buNone/>
            </a:pP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References (continued)</a:t>
            </a:r>
            <a:endParaRPr lang="en-US" sz="3400" dirty="0"/>
          </a:p>
        </p:txBody>
      </p:sp>
      <p:sp>
        <p:nvSpPr>
          <p:cNvPr id="3" name="Text 1"/>
          <p:cNvSpPr txBox="1"/>
          <p:nvPr/>
        </p:nvSpPr>
        <p:spPr>
          <a:xfrm>
            <a:off x="548640" y="1280160"/>
            <a:ext cx="11064240" cy="4983480"/>
          </a:xfrm>
          <a:prstGeom prst="rect">
            <a:avLst/>
          </a:prstGeom>
          <a:noFill/>
          <a:ln/>
        </p:spPr>
        <p:txBody>
          <a:bodyPr wrap="square" lIns="635" tIns="635" rIns="635" bIns="635" rtlCol="0" anchor="t"/>
          <a:lstStyle/>
          <a:p>
            <a:pPr marL="342900" indent="-342900">
              <a:spcAft>
                <a:spcPts val="800"/>
              </a:spcAft>
              <a:buSzPct val="100000"/>
              <a:buFont typeface="+mj-lt"/>
              <a:buAutoNum type="arabicPeriod" startAt="17"/>
            </a:pPr>
            <a:r>
              <a:rPr lang="en-US" sz="1300" dirty="0">
                <a:solidFill>
                  <a:schemeClr val="tx1"/>
                </a:solidFill>
              </a:rPr>
              <a:t>Payne DC, Smith-Jeffcoat SE, Nowak G, et al; CDC COVID-19 Surge Laboratory Group. SARS-CoV-2 infections and serologic responses from a sample of U.S. Navy service members—USS Theodore Roosevelt, April 2020. </a:t>
            </a:r>
            <a:r>
              <a:rPr lang="en-US" sz="1300" i="1" dirty="0">
                <a:solidFill>
                  <a:schemeClr val="tx1"/>
                </a:solidFill>
              </a:rPr>
              <a:t>MMWR Morb Mortal Wkly Rep</a:t>
            </a:r>
            <a:r>
              <a:rPr lang="en-US" sz="1300" dirty="0">
                <a:solidFill>
                  <a:schemeClr val="tx1"/>
                </a:solidFill>
              </a:rPr>
              <a:t>. 2020;69(23):714-721. doi:10.15585/mmwr.mm6923e4</a:t>
            </a:r>
            <a:endParaRPr lang="en-US" sz="1300" dirty="0"/>
          </a:p>
          <a:p>
            <a:pPr marL="342900" indent="-342900">
              <a:spcAft>
                <a:spcPts val="800"/>
              </a:spcAft>
              <a:buSzPct val="100000"/>
              <a:buFont typeface="+mj-lt"/>
              <a:buAutoNum type="arabicPeriod" startAt="17"/>
            </a:pPr>
            <a:r>
              <a:rPr lang="en-US" sz="1300" dirty="0">
                <a:solidFill>
                  <a:schemeClr val="tx1"/>
                </a:solidFill>
              </a:rPr>
              <a:t>Skelly AC, Dettori JR, Brodt ED. Assessing bias: the importance of considering confounding. </a:t>
            </a:r>
            <a:r>
              <a:rPr lang="en-US" sz="1300" i="1" dirty="0">
                <a:solidFill>
                  <a:schemeClr val="tx1"/>
                </a:solidFill>
              </a:rPr>
              <a:t>Evid Based Spine Care J</a:t>
            </a:r>
            <a:r>
              <a:rPr lang="en-US" sz="1300" dirty="0">
                <a:solidFill>
                  <a:schemeClr val="tx1"/>
                </a:solidFill>
              </a:rPr>
              <a:t>. 2012;3(1):9-12. doi:10.1055/s-0031-1298595</a:t>
            </a:r>
            <a:endParaRPr lang="en-US" sz="1300" dirty="0"/>
          </a:p>
          <a:p>
            <a:pPr marL="342900" indent="-342900">
              <a:spcAft>
                <a:spcPts val="800"/>
              </a:spcAft>
              <a:buSzPct val="100000"/>
              <a:buFont typeface="+mj-lt"/>
              <a:buAutoNum type="arabicPeriod" startAt="17"/>
            </a:pPr>
            <a:r>
              <a:rPr lang="en-US" sz="1300" dirty="0">
                <a:solidFill>
                  <a:schemeClr val="tx1"/>
                </a:solidFill>
              </a:rPr>
              <a:t>Ranganathan P, Pramesh CS, Buyse M. Common pitfalls in statistical analysis: the perils of multiple testing. </a:t>
            </a:r>
            <a:r>
              <a:rPr lang="en-US" sz="1300" i="1" dirty="0">
                <a:solidFill>
                  <a:schemeClr val="tx1"/>
                </a:solidFill>
              </a:rPr>
              <a:t>Perspect Clin Res</a:t>
            </a:r>
            <a:r>
              <a:rPr lang="en-US" sz="1300" dirty="0">
                <a:solidFill>
                  <a:schemeClr val="tx1"/>
                </a:solidFill>
              </a:rPr>
              <a:t>. 2016;7(2):106-107. doi:10.4103/2229-3485.179436</a:t>
            </a:r>
            <a:endParaRPr lang="en-US" sz="1300" dirty="0"/>
          </a:p>
          <a:p>
            <a:pPr marL="342900" indent="-342900">
              <a:spcAft>
                <a:spcPts val="800"/>
              </a:spcAft>
              <a:buSzPct val="100000"/>
              <a:buFont typeface="+mj-lt"/>
              <a:buAutoNum type="arabicPeriod" startAt="17"/>
            </a:pPr>
            <a:r>
              <a:rPr lang="en-US" sz="1300" dirty="0">
                <a:solidFill>
                  <a:schemeClr val="tx1"/>
                </a:solidFill>
              </a:rPr>
              <a:t>Althubaiti A. Information bias in health research: definition, pitfalls, and adjustment methods. </a:t>
            </a:r>
            <a:r>
              <a:rPr lang="en-US" sz="1300" i="1" dirty="0">
                <a:solidFill>
                  <a:schemeClr val="tx1"/>
                </a:solidFill>
              </a:rPr>
              <a:t>J Multidiscip Healthc</a:t>
            </a:r>
            <a:r>
              <a:rPr lang="en-US" sz="1300" dirty="0">
                <a:solidFill>
                  <a:schemeClr val="tx1"/>
                </a:solidFill>
              </a:rPr>
              <a:t>. 2016;9:211-217. doi:10.2147/JMDH.S104807</a:t>
            </a:r>
            <a:endParaRPr lang="en-US" sz="1300" dirty="0"/>
          </a:p>
          <a:p>
            <a:pPr marL="342900" indent="-342900">
              <a:spcAft>
                <a:spcPts val="800"/>
              </a:spcAft>
              <a:buSzPct val="100000"/>
              <a:buFont typeface="+mj-lt"/>
              <a:buAutoNum type="arabicPeriod" startAt="17"/>
            </a:pPr>
            <a:r>
              <a:rPr lang="en-US" sz="1300" dirty="0">
                <a:solidFill>
                  <a:schemeClr val="tx1"/>
                </a:solidFill>
              </a:rPr>
              <a:t>Wells CR, Townsend JP, Pandey A, et al. Optimal COVID-19 quarantine and testing strategies. </a:t>
            </a:r>
            <a:r>
              <a:rPr lang="en-US" sz="1300" i="1" dirty="0">
                <a:solidFill>
                  <a:schemeClr val="tx1"/>
                </a:solidFill>
              </a:rPr>
              <a:t>Nat Commun</a:t>
            </a:r>
            <a:r>
              <a:rPr lang="en-US" sz="1300" dirty="0">
                <a:solidFill>
                  <a:schemeClr val="tx1"/>
                </a:solidFill>
              </a:rPr>
              <a:t>. 2021;12(1):356. doi:10.1038/s41467-020-20742-8</a:t>
            </a:r>
            <a:endParaRPr lang="en-US" sz="1300" dirty="0"/>
          </a:p>
          <a:p>
            <a:pPr marL="342900" indent="-342900">
              <a:spcAft>
                <a:spcPts val="800"/>
              </a:spcAft>
              <a:buSzPct val="100000"/>
              <a:buFont typeface="+mj-lt"/>
              <a:buAutoNum type="arabicPeriod" startAt="17"/>
            </a:pPr>
            <a:r>
              <a:rPr lang="en-US" sz="1300" dirty="0">
                <a:solidFill>
                  <a:schemeClr val="tx1"/>
                </a:solidFill>
              </a:rPr>
              <a:t>Wang CC, Prather KA, Sznitman J, et al. Airborne transmission of respiratory viruses. </a:t>
            </a:r>
            <a:r>
              <a:rPr lang="en-US" sz="1300" i="1" dirty="0">
                <a:solidFill>
                  <a:schemeClr val="tx1"/>
                </a:solidFill>
              </a:rPr>
              <a:t>Science</a:t>
            </a:r>
            <a:r>
              <a:rPr lang="en-US" sz="1300" dirty="0">
                <a:solidFill>
                  <a:schemeClr val="tx1"/>
                </a:solidFill>
              </a:rPr>
              <a:t>. 2021;373(6558):eabd9149. doi:10.1126/science.abd9149</a:t>
            </a:r>
            <a:endParaRPr lang="en-US" sz="1300" dirty="0"/>
          </a:p>
          <a:p>
            <a:pPr marL="342900" indent="-342900">
              <a:spcAft>
                <a:spcPts val="800"/>
              </a:spcAft>
              <a:buSzPct val="100000"/>
              <a:buFont typeface="+mj-lt"/>
              <a:buAutoNum type="arabicPeriod" startAt="17"/>
            </a:pPr>
            <a:r>
              <a:rPr lang="en-US" sz="1300" dirty="0">
                <a:solidFill>
                  <a:schemeClr val="tx1"/>
                </a:solidFill>
              </a:rPr>
              <a:t>Jager KJ, Zoccali C, Macleod A, Dekker FW. Confounding: what it is and how to deal with it. </a:t>
            </a:r>
            <a:r>
              <a:rPr lang="en-US" sz="1300" i="1" dirty="0">
                <a:solidFill>
                  <a:schemeClr val="tx1"/>
                </a:solidFill>
              </a:rPr>
              <a:t>Kidney Int</a:t>
            </a:r>
            <a:r>
              <a:rPr lang="en-US" sz="1300" dirty="0">
                <a:solidFill>
                  <a:schemeClr val="tx1"/>
                </a:solidFill>
              </a:rPr>
              <a:t>. 2008;73(3):256-260. doi:10.1038/sj.ki.5002650</a:t>
            </a:r>
            <a:endParaRPr lang="en-US" sz="1300" dirty="0"/>
          </a:p>
        </p:txBody>
      </p:sp>
      <p:sp>
        <p:nvSpPr>
          <p:cNvPr id="4" name="Text 0"/>
          <p:cNvSpPr/>
          <p:nvPr>
            <p:ph idx="101" type="body" hasCustomPrompt="1"/>
          </p:nvPr>
        </p:nvSpPr>
        <p:spPr>
          <a:xfrm>
            <a:off x="548640" y="73152"/>
            <a:ext cx="11064240" cy="274320"/>
          </a:xfrm>
          <a:prstGeom prst="rect">
            <a:avLst/>
          </a:prstGeom>
          <a:noFill/>
          <a:ln/>
        </p:spPr>
        <p:txBody>
          <a:bodyPr wrap="square" lIns="0" tIns="0" rIns="0" bIns="0" rtlCol="0" anchor="ctr"/>
          <a:lstStyle/>
          <a:p>
            <a:pPr algn="ctr" indent="0" marL="0">
              <a:buNone/>
            </a:pPr>
            <a:endParaRPr lang="en-US" sz="1100" dirty="0"/>
          </a:p>
        </p:txBody>
      </p:sp>
      <p:sp>
        <p:nvSpPr>
          <p:cNvPr id="5" name="Text 0"/>
          <p:cNvSpPr/>
          <p:nvPr>
            <p:ph idx="102" type="body" hasCustomPrompt="1"/>
          </p:nvPr>
        </p:nvSpPr>
        <p:spPr>
          <a:xfrm>
            <a:off x="548640" y="6355080"/>
            <a:ext cx="9875520" cy="320040"/>
          </a:xfrm>
          <a:prstGeom prst="rect">
            <a:avLst/>
          </a:prstGeom>
          <a:noFill/>
          <a:ln/>
        </p:spPr>
        <p:txBody>
          <a:bodyPr wrap="square" lIns="0" tIns="0" rIns="0" bIns="0" rtlCol="0" anchor="ctr"/>
          <a:lstStyle/>
          <a:p>
            <a:pPr indent="0" marL="0">
              <a:buNone/>
            </a:pP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Carrier Outbreak">
  <a:themeElements>
    <a:clrScheme name="Carrier Outbreak">
      <a:dk1>
        <a:srgbClr val="1B1B1E"/>
      </a:dk1>
      <a:lt1>
        <a:srgbClr val="FFFFFF"/>
      </a:lt1>
      <a:dk2>
        <a:srgbClr val="0B2545"/>
      </a:dk2>
      <a:lt2>
        <a:srgbClr val="EEF4FA"/>
      </a:lt2>
      <a:accent1>
        <a:srgbClr val="0B2545"/>
      </a:accent1>
      <a:accent2>
        <a:srgbClr val="D1495B"/>
      </a:accent2>
      <a:accent3>
        <a:srgbClr val="8DA9C4"/>
      </a:accent3>
      <a:accent4>
        <a:srgbClr val="EDAE49"/>
      </a:accent4>
      <a:accent5>
        <a:srgbClr val="13315C"/>
      </a:accent5>
      <a:accent6>
        <a:srgbClr val="5C6B7A"/>
      </a:accent6>
      <a:hlink>
        <a:srgbClr val="1F5FA8"/>
      </a:hlink>
      <a:folHlink>
        <a:srgbClr val="6B4E9B"/>
      </a:folHlink>
    </a:clrScheme>
    <a:fontScheme name="Carrier Outbrea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Outbreak of Covid-19 on an Aircraft Carrier</dc:title>
  <dc:subject>PptxGenJS Presentation</dc:subject>
  <dc:creator>Praise Shobayo</dc:creator>
  <cp:lastModifiedBy>Praise Shobayo</cp:lastModifiedBy>
  <cp:revision>1</cp:revision>
  <dcterms:created xsi:type="dcterms:W3CDTF">2026-10-13T14:39:23Z</dcterms:created>
  <dcterms:modified xsi:type="dcterms:W3CDTF">2026-10-13T14:39:23Z</dcterms:modified>
</cp:coreProperties>
</file>