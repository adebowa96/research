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mostly peer support;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MRKH-related psychosocial burden is substantial yet under-integrated into care. Psychosocial screening, psychosexual counseling, and peer support belong in MRKH care pathways.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a:t>
            </a:r>
            <a:r>
              <a:rPr sz="2200" b="0" i="0" baseline="30000">
                <a:solidFill>
                  <a:srgbClr val="000000"/>
                </a:solidFill>
                <a:latin typeface="Times New Roman"/>
              </a:rPr>
              <a:t>1</a:t>
            </a:r>
            <a:r>
              <a:rPr sz="2200" b="0" i="0">
                <a:solidFill>
                  <a:srgbClr val="000000"/>
                </a:solidFill>
                <a:latin typeface="Times New Roman"/>
              </a:rPr>
              <a:t>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19156680"/>
            <a:ext cx="9253728" cy="7406640"/>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r>
              <a:rPr sz="2200" b="0" i="0" baseline="30000">
                <a:solidFill>
                  <a:srgbClr val="000000"/>
                </a:solidFill>
                <a:latin typeface="Times New Roman"/>
              </a:rPr>
              <a:t>1</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a:p>
            <a:pPr algn="just">
              <a:lnSpc>
                <a:spcPct val="100000"/>
              </a:lnSpc>
              <a:spcAft>
                <a:spcPts val="300"/>
              </a:spcAft>
            </a:pPr>
            <a:r>
              <a:rPr sz="2200" b="1" i="0">
                <a:solidFill>
                  <a:srgbClr val="000000"/>
                </a:solidFill>
                <a:latin typeface="Times New Roman"/>
              </a:rPr>
              <a:t>Conclusion</a:t>
            </a:r>
          </a:p>
          <a:p>
            <a:pPr algn="just">
              <a:lnSpc>
                <a:spcPct val="100000"/>
              </a:lnSpc>
              <a:spcAft>
                <a:spcPts val="3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Embedding mental health screening, psychosexual counseling, and peer support in multidisciplinary MRKH care, and extending research to underrepresented regions, should be public health priorities.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8288000"/>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Implications and Conclusion</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093208"/>
            <a:ext cx="9253728" cy="13103352"/>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and Discussion</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138928"/>
            <a:ext cx="9034272" cy="13011912"/>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Key Findings</a:t>
            </a:r>
          </a:p>
          <a:p>
            <a:pPr algn="just">
              <a:lnSpc>
                <a:spcPct val="100000"/>
              </a:lnSpc>
              <a:spcAft>
                <a:spcPts val="400"/>
              </a:spcAft>
            </a:pPr>
            <a:r>
              <a:rPr sz="2200" b="0" i="0">
                <a:solidFill>
                  <a:srgbClr val="000000"/>
                </a:solidFill>
                <a:latin typeface="Times New Roman"/>
              </a:rPr>
              <a:t>35 studies from 2019–2026 were included (18 quantitative, 14 qualitative, 2 mixed-methods), with samples of 5 to 616 participants (Figures 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Psychosexual and relational (69%):</a:t>
            </a:r>
            <a:r>
              <a:rPr sz="2200" b="0" i="0">
                <a:solidFill>
                  <a:srgbClr val="000000"/>
                </a:solidFill>
                <a:latin typeface="Times New Roman"/>
              </a:rPr>
              <a:t> lower sexual esteem and more negative genital self-image than controls, even after neovagina creation.</a:t>
            </a:r>
            <a:r>
              <a:rPr sz="2200" b="0" i="0" baseline="30000">
                <a:solidFill>
                  <a:srgbClr val="000000"/>
                </a:solidFill>
                <a:latin typeface="Times New Roman"/>
              </a:rPr>
              <a:t>10,11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Psychological distress (57%):</a:t>
            </a:r>
            <a:r>
              <a:rPr sz="2200" b="0" i="0">
                <a:solidFill>
                  <a:srgbClr val="000000"/>
                </a:solidFill>
                <a:latin typeface="Times New Roman"/>
              </a:rPr>
              <a:t> shock, grief, shame, and secrecy at diagnosis; the diagnostic process itself was described as upsetting and potentially traumatizing.</a:t>
            </a:r>
            <a:r>
              <a:rPr sz="2200" b="0" i="0" baseline="30000">
                <a:solidFill>
                  <a:srgbClr val="000000"/>
                </a:solidFill>
                <a:latin typeface="Times New Roman"/>
              </a:rPr>
              <a:t>12,13</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QoL, body image, and self-esteem (54%):</a:t>
            </a:r>
            <a:r>
              <a:rPr sz="2200" b="0" i="0">
                <a:solidFill>
                  <a:srgbClr val="000000"/>
                </a:solidFill>
                <a:latin typeface="Times New Roman"/>
              </a:rPr>
              <a:t> impaired mental health–related quality of life,</a:t>
            </a:r>
            <a:r>
              <a:rPr sz="2200" b="0" i="0" baseline="30000">
                <a:solidFill>
                  <a:srgbClr val="000000"/>
                </a:solidFill>
                <a:latin typeface="Times New Roman"/>
              </a:rPr>
              <a:t>14</a:t>
            </a:r>
            <a:r>
              <a:rPr sz="2200" b="0" i="0">
                <a:solidFill>
                  <a:srgbClr val="000000"/>
                </a:solidFill>
                <a:latin typeface="Times New Roman"/>
              </a:rPr>
              <a:t> and higher distress with lower self-esteem than population norms.</a:t>
            </a:r>
            <a:r>
              <a:rPr sz="2200" b="0" i="0" baseline="30000">
                <a:solidFill>
                  <a:srgbClr val="000000"/>
                </a:solidFill>
                <a:latin typeface="Times New Roman"/>
              </a:rPr>
              <a:t>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Depression and anxiety (40%):</a:t>
            </a:r>
            <a:r>
              <a:rPr sz="2200" b="0" i="0">
                <a:solidFill>
                  <a:srgbClr val="000000"/>
                </a:solidFill>
                <a:latin typeface="Times New Roman"/>
              </a:rPr>
              <a:t> depressive symptoms in 75.2% of 141 Chinese patients;</a:t>
            </a:r>
            <a:r>
              <a:rPr sz="2200" b="0" i="0" baseline="30000">
                <a:solidFill>
                  <a:srgbClr val="000000"/>
                </a:solidFill>
                <a:latin typeface="Times New Roman"/>
              </a:rPr>
              <a:t>16</a:t>
            </a:r>
            <a:r>
              <a:rPr sz="2200" b="0" i="0">
                <a:solidFill>
                  <a:srgbClr val="000000"/>
                </a:solidFill>
                <a:latin typeface="Times New Roman"/>
              </a:rPr>
              <a:t> anxiety in 37.7% and depression in 32.5% of 77 Malaysian women.</a:t>
            </a:r>
            <a:r>
              <a:rPr sz="2200" b="0" i="0" baseline="30000">
                <a:solidFill>
                  <a:srgbClr val="000000"/>
                </a:solidFill>
                <a:latin typeface="Times New Roman"/>
              </a:rPr>
              <a:t>17</a:t>
            </a:r>
            <a:r>
              <a:rPr sz="2200" b="0" i="0">
                <a:solidFill>
                  <a:srgbClr val="000000"/>
                </a:solidFill>
                <a:latin typeface="Times New Roman"/>
              </a:rPr>
              <a:t> Findings were mixed: uterus transplant candidates in France showed few symptoms.</a:t>
            </a:r>
            <a:r>
              <a:rPr sz="2200" b="0" i="0" baseline="30000">
                <a:solidFill>
                  <a:srgbClr val="000000"/>
                </a:solidFill>
                <a:latin typeface="Times New Roman"/>
              </a:rPr>
              <a:t>18</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Coping (43%):</a:t>
            </a:r>
            <a:r>
              <a:rPr sz="2200" b="0" i="0">
                <a:solidFill>
                  <a:srgbClr val="000000"/>
                </a:solidFill>
                <a:latin typeface="Times New Roman"/>
              </a:rPr>
              <a:t> peer and online support most common; avoidance and concealment also frequent, and one study traced a shift from avoidance to empowerment.</a:t>
            </a:r>
            <a:r>
              <a:rPr sz="2200" b="0" i="0" baseline="30000">
                <a:solidFill>
                  <a:srgbClr val="000000"/>
                </a:solidFill>
                <a:latin typeface="Times New Roman"/>
              </a:rPr>
              <a:t>19</a:t>
            </a:r>
            <a:r>
              <a:rPr sz="2200" b="0" i="0">
                <a:solidFill>
                  <a:srgbClr val="000000"/>
                </a:solidFill>
                <a:latin typeface="Times New Roman"/>
              </a:rPr>
              <a:t> Only 2 intervention studies were found, both reporting benefit.</a:t>
            </a:r>
            <a:r>
              <a:rPr sz="2200" b="0" i="0" baseline="30000">
                <a:solidFill>
                  <a:srgbClr val="000000"/>
                </a:solidFill>
                <a:latin typeface="Times New Roman"/>
              </a:rPr>
              <a:t>20,21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Healthcare gaps (29%):</a:t>
            </a:r>
            <a:r>
              <a:rPr sz="2200" b="0" i="0">
                <a:solidFill>
                  <a:srgbClr val="000000"/>
                </a:solidFill>
                <a:latin typeface="Times New Roman"/>
              </a:rPr>
              <a:t> delayed diagnosis, providers unfamiliar with MRKH, and patients forced to self-advocate.</a:t>
            </a:r>
            <a:r>
              <a:rPr sz="2200" b="0" i="0" baseline="30000">
                <a:solidFill>
                  <a:srgbClr val="000000"/>
                </a:solidFill>
                <a:latin typeface="Times New Roman"/>
              </a:rPr>
              <a:t>22,23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Structured support can help (group cognitive-behavioral therapy improved psychological outcomes in an earlier trial</a:t>
            </a:r>
            <a:r>
              <a:rPr sz="2200" b="0" i="0" baseline="30000">
                <a:solidFill>
                  <a:srgbClr val="000000"/>
                </a:solidFill>
                <a:latin typeface="Times New Roman"/>
              </a:rPr>
              <a:t>24</a:t>
            </a:r>
            <a:r>
              <a:rPr sz="2200" b="0" i="0">
                <a:solidFill>
                  <a:srgbClr val="000000"/>
                </a:solidFill>
                <a:latin typeface="Times New Roman"/>
              </a:rPr>
              <a:t>), yet few recent studies tested interventions. Psychosexual concerns dominate the recent literature, whereas depression and anxiety were measured in fewer than half of studies.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Limitations:</a:t>
            </a:r>
            <a:r>
              <a:rPr sz="2200" b="0" i="0">
                <a:solidFill>
                  <a:srgbClr val="000000"/>
                </a:solidFill>
                <a:latin typeface="Times New Roman"/>
              </a:rPr>
              <a:t> AI-assisted screening and charting (full text checked for 30 of 35 studies); English-language studies from 2019–2026 only; heterogeneous designs and measures; some reports may share samples;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AI-assisted screening and charting, checked against full text for 30 of 35 studies. Charted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