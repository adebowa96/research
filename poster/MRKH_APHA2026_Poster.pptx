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 often peer support (7) and avoidance or concealment (6);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 affects far more than reproductive anatomy. Mental health screening, psychosexual counseling, and peer support should become standard in multidisciplinary MRKH care, and research must reach underrepresented regions.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Results</a:t>
            </a:r>
          </a:p>
          <a:p>
            <a:pPr algn="just">
              <a:lnSpc>
                <a:spcPct val="100000"/>
              </a:lnSpc>
              <a:spcAft>
                <a:spcPts val="400"/>
              </a:spcAft>
            </a:pPr>
            <a:r>
              <a:rPr sz="2200" b="0" i="0">
                <a:solidFill>
                  <a:srgbClr val="000000"/>
                </a:solidFill>
                <a:latin typeface="Times New Roman"/>
              </a:rPr>
              <a:t>Of 516 records, 35 studies (2019–2026; 5 to 616 participants) met inclusion criteria: 18 quantitative, 14 qualitative, 2 mixed-methods, and 1 not reported (Figures 1–2). Studies came from Europe (14), Asia (14), North America (3), Africa (1), and Oceania (1); 2 were multinational and none came from South America (Figure 5).</a:t>
            </a:r>
          </a:p>
          <a:p>
            <a:pPr algn="just">
              <a:lnSpc>
                <a:spcPct val="100000"/>
              </a:lnSpc>
              <a:spcAft>
                <a:spcPts val="400"/>
              </a:spcAft>
            </a:pPr>
            <a:r>
              <a:rPr sz="2200" b="0" i="0">
                <a:solidFill>
                  <a:srgbClr val="000000"/>
                </a:solidFill>
                <a:latin typeface="Times New Roman"/>
              </a:rPr>
              <a:t>Psychosexual and relational challenges were the most frequently reported outcome (24 of 35 studies; Figure 3), including lower sexual esteem and more negative genital self-image than controls.</a:t>
            </a:r>
            <a:r>
              <a:rPr sz="2200" b="0" i="0" baseline="30000">
                <a:solidFill>
                  <a:srgbClr val="000000"/>
                </a:solidFill>
                <a:latin typeface="Times New Roman"/>
              </a:rPr>
              <a:t>10,11</a:t>
            </a:r>
            <a:r>
              <a:rPr sz="2200" b="0" i="0">
                <a:solidFill>
                  <a:srgbClr val="000000"/>
                </a:solidFill>
                <a:latin typeface="Times New Roman"/>
              </a:rPr>
              <a:t> Psychological distress was reported in 20 studies, with shock, shame, and secrecy at diagnosis and a diagnostic process described as potentially traumatizing.</a:t>
            </a:r>
            <a:r>
              <a:rPr sz="2200" b="0" i="0" baseline="30000">
                <a:solidFill>
                  <a:srgbClr val="000000"/>
                </a:solidFill>
                <a:latin typeface="Times New Roman"/>
              </a:rPr>
              <a:t>12</a:t>
            </a:r>
            <a:r>
              <a:rPr sz="2200" b="0" i="0">
                <a:solidFill>
                  <a:srgbClr val="000000"/>
                </a:solidFill>
                <a:latin typeface="Times New Roman"/>
              </a:rPr>
              <a:t> Quality of life, body image, and self-esteem were reported in 19, including lower self-esteem than population norms.</a:t>
            </a:r>
            <a:r>
              <a:rPr sz="2200" b="0" i="0" baseline="30000">
                <a:solidFill>
                  <a:srgbClr val="000000"/>
                </a:solidFill>
                <a:latin typeface="Times New Roman"/>
              </a:rPr>
              <a:t>13</a:t>
            </a:r>
            <a:r>
              <a:rPr sz="2200" b="0" i="0">
                <a:solidFill>
                  <a:srgbClr val="000000"/>
                </a:solidFill>
                <a:latin typeface="Times New Roman"/>
              </a:rPr>
              <a:t> Depression and anxiety were assessed least often (14 studies), with mixed results: moderate-to-severe depressive symptoms in 34.0% of 141 Chinese patients</a:t>
            </a:r>
            <a:r>
              <a:rPr sz="2200" b="0" i="0" baseline="30000">
                <a:solidFill>
                  <a:srgbClr val="000000"/>
                </a:solidFill>
                <a:latin typeface="Times New Roman"/>
              </a:rPr>
              <a:t>14</a:t>
            </a:r>
            <a:r>
              <a:rPr sz="2200" b="0" i="0">
                <a:solidFill>
                  <a:srgbClr val="000000"/>
                </a:solidFill>
                <a:latin typeface="Times New Roman"/>
              </a:rPr>
              <a:t> and anxiety in 37.7% of 77 Malaysian women,</a:t>
            </a:r>
            <a:r>
              <a:rPr sz="2200" b="0" i="0" baseline="30000">
                <a:solidFill>
                  <a:srgbClr val="000000"/>
                </a:solidFill>
                <a:latin typeface="Times New Roman"/>
              </a:rPr>
              <a:t>15</a:t>
            </a:r>
            <a:r>
              <a:rPr sz="2200" b="0" i="0">
                <a:solidFill>
                  <a:srgbClr val="000000"/>
                </a:solidFill>
                <a:latin typeface="Times New Roman"/>
              </a:rPr>
              <a:t> but few symptoms among French uterus transplant candidates.</a:t>
            </a:r>
            <a:r>
              <a:rPr sz="2200" b="0" i="0" baseline="30000">
                <a:solidFill>
                  <a:srgbClr val="000000"/>
                </a:solidFill>
                <a:latin typeface="Times New Roman"/>
              </a:rPr>
              <a:t>16</a:t>
            </a:r>
          </a:p>
          <a:p>
            <a:pPr algn="just">
              <a:lnSpc>
                <a:spcPct val="100000"/>
              </a:lnSpc>
              <a:spcAft>
                <a:spcPts val="400"/>
              </a:spcAft>
            </a:pPr>
            <a:r>
              <a:rPr sz="2200" b="0" i="0">
                <a:solidFill>
                  <a:srgbClr val="000000"/>
                </a:solidFill>
                <a:latin typeface="Times New Roman"/>
              </a:rPr>
              <a:t>Coping was documented in 15 studies (Figure 4), most often peer and online support (7) and avoidance or concealment (6). Healthcare system gaps, reported in 10 studies, included delayed diagnosis, providers unfamiliar with MRKH, and patients having to advocate for themselves.</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Only 2 studies tested interventions, both reporting benefit.</a:t>
            </a:r>
            <a:r>
              <a:rPr sz="2200" b="0" i="0" baseline="30000">
                <a:solidFill>
                  <a:srgbClr val="000000"/>
                </a:solidFill>
                <a:latin typeface="Times New Roman"/>
              </a:rPr>
              <a:t>17,18</a:t>
            </a:r>
            <a:r>
              <a:rPr sz="2200" b="0" i="0">
                <a:solidFill>
                  <a:srgbClr val="000000"/>
                </a:solidFill>
                <a:latin typeface="Times New Roman"/>
              </a:rPr>
              <a:t> Evidence is concentrated in Europe and Asia, with little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p>
          <a:p>
            <a:pPr algn="l" marL="274320" indent="-274320">
              <a:lnSpc>
                <a:spcPct val="100000"/>
              </a:lnSpc>
              <a:spcAft>
                <a:spcPts val="400"/>
              </a:spcAft>
            </a:pPr>
            <a:r>
              <a:rPr sz="2200" b="0" i="0">
                <a:solidFill>
                  <a:srgbClr val="000000"/>
                </a:solidFill>
                <a:latin typeface="Times New Roman"/>
              </a:rPr>
              <a:t>• English-language database literature from 2019–2026 only; no grey literature</a:t>
            </a:r>
          </a:p>
          <a:p>
            <a:pPr algn="l" marL="274320" indent="-274320">
              <a:lnSpc>
                <a:spcPct val="100000"/>
              </a:lnSpc>
              <a:spcAft>
                <a:spcPts val="400"/>
              </a:spcAft>
            </a:pPr>
            <a:r>
              <a:rPr sz="2200" b="0" i="0">
                <a:solidFill>
                  <a:srgbClr val="000000"/>
                </a:solidFill>
                <a:latin typeface="Times New Roman"/>
              </a:rPr>
              <a:t>• Many small, single-center samples; heterogeneous designs and measures</a:t>
            </a:r>
          </a:p>
          <a:p>
            <a:pPr algn="l" marL="274320" indent="-274320">
              <a:lnSpc>
                <a:spcPct val="100000"/>
              </a:lnSpc>
              <a:spcAft>
                <a:spcPts val="400"/>
              </a:spcAft>
            </a:pPr>
            <a:r>
              <a:rPr sz="2200" b="0" i="0">
                <a:solidFill>
                  <a:srgbClr val="000000"/>
                </a:solidFill>
                <a:latin typeface="Times New Roman"/>
              </a:rPr>
              <a:t>• Possible overlapping samples; 5 studies assessed from abstracts only</a:t>
            </a:r>
          </a:p>
          <a:p>
            <a:pPr algn="l" marL="274320" indent="-274320">
              <a:lnSpc>
                <a:spcPct val="100000"/>
              </a:lnSpc>
              <a:spcAft>
                <a:spcPts val="400"/>
              </a:spcAft>
            </a:pPr>
            <a:r>
              <a:rPr sz="2200" b="0" i="0">
                <a:solidFill>
                  <a:srgbClr val="000000"/>
                </a:solidFill>
                <a:latin typeface="Times New Roman"/>
              </a:rPr>
              <a:t>• No quality appraisal; counts reflect how often outcomes were studied</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