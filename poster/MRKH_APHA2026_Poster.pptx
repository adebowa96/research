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 often peer support (7) and avoidance or concealment (6);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 affects far more than reproductive anatomy. Mental health screening, psychosexual counseling, and peer support should become standard in multidisciplinary MRKH care, and research must reach underrepresented regions.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22338792"/>
            <a:ext cx="9253728" cy="4270248"/>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20848320"/>
            <a:ext cx="9253728" cy="1490472"/>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Public Health Implications and Future Work</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861304"/>
            <a:ext cx="9253728" cy="14895576"/>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1636776"/>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Discussion, Conclusion, and Limitations</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907024"/>
            <a:ext cx="9034272" cy="14804136"/>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Key Findings:</a:t>
            </a:r>
            <a:r>
              <a:rPr sz="2200" b="0" i="0">
                <a:solidFill>
                  <a:srgbClr val="000000"/>
                </a:solidFill>
                <a:latin typeface="Times New Roman"/>
              </a:rPr>
              <a:t> 35 studies from 2019–2026 were included (18 quantitative, 14 qualitative, 2 mixed-methods), with samples of 5 to 616 participants (Figures 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Psychosexual and relational (69%):</a:t>
            </a:r>
            <a:r>
              <a:rPr sz="2200" b="0" i="0">
                <a:solidFill>
                  <a:srgbClr val="000000"/>
                </a:solidFill>
                <a:latin typeface="Times New Roman"/>
              </a:rPr>
              <a:t> lower sexual esteem and more negative genital self-image than controls, even after neovagina creation.</a:t>
            </a:r>
            <a:r>
              <a:rPr sz="2200" b="0" i="0" baseline="30000">
                <a:solidFill>
                  <a:srgbClr val="000000"/>
                </a:solidFill>
                <a:latin typeface="Times New Roman"/>
              </a:rPr>
              <a:t>10,11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Psychological distress (57%):</a:t>
            </a:r>
            <a:r>
              <a:rPr sz="2200" b="0" i="0">
                <a:solidFill>
                  <a:srgbClr val="000000"/>
                </a:solidFill>
                <a:latin typeface="Times New Roman"/>
              </a:rPr>
              <a:t> shock, grief, shame, and secrecy at diagnosis; the diagnostic process itself was described as upsetting and potentially traumatizing.</a:t>
            </a:r>
            <a:r>
              <a:rPr sz="2200" b="0" i="0" baseline="30000">
                <a:solidFill>
                  <a:srgbClr val="000000"/>
                </a:solidFill>
                <a:latin typeface="Times New Roman"/>
              </a:rPr>
              <a:t>12</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QoL, body image, and self-esteem (54%):</a:t>
            </a:r>
            <a:r>
              <a:rPr sz="2200" b="0" i="0">
                <a:solidFill>
                  <a:srgbClr val="000000"/>
                </a:solidFill>
                <a:latin typeface="Times New Roman"/>
              </a:rPr>
              <a:t> impaired mental health–related quality of life,</a:t>
            </a:r>
            <a:r>
              <a:rPr sz="2200" b="0" i="0" baseline="30000">
                <a:solidFill>
                  <a:srgbClr val="000000"/>
                </a:solidFill>
                <a:latin typeface="Times New Roman"/>
              </a:rPr>
              <a:t>13</a:t>
            </a:r>
            <a:r>
              <a:rPr sz="2200" b="0" i="0">
                <a:solidFill>
                  <a:srgbClr val="000000"/>
                </a:solidFill>
                <a:latin typeface="Times New Roman"/>
              </a:rPr>
              <a:t> and higher distress with lower self-esteem than population norms.</a:t>
            </a:r>
            <a:r>
              <a:rPr sz="2200" b="0" i="0" baseline="30000">
                <a:solidFill>
                  <a:srgbClr val="000000"/>
                </a:solidFill>
                <a:latin typeface="Times New Roman"/>
              </a:rPr>
              <a:t>14</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Depression and anxiety (40%):</a:t>
            </a:r>
            <a:r>
              <a:rPr sz="2200" b="0" i="0">
                <a:solidFill>
                  <a:srgbClr val="000000"/>
                </a:solidFill>
                <a:latin typeface="Times New Roman"/>
              </a:rPr>
              <a:t> depressive symptoms in 75.2% of 141 Chinese patients;</a:t>
            </a:r>
            <a:r>
              <a:rPr sz="2200" b="0" i="0" baseline="30000">
                <a:solidFill>
                  <a:srgbClr val="000000"/>
                </a:solidFill>
                <a:latin typeface="Times New Roman"/>
              </a:rPr>
              <a:t>15</a:t>
            </a:r>
            <a:r>
              <a:rPr sz="2200" b="0" i="0">
                <a:solidFill>
                  <a:srgbClr val="000000"/>
                </a:solidFill>
                <a:latin typeface="Times New Roman"/>
              </a:rPr>
              <a:t> anxiety in 37.7% and depression in 32.5% of 77 Malaysian women.</a:t>
            </a:r>
            <a:r>
              <a:rPr sz="2200" b="0" i="0" baseline="30000">
                <a:solidFill>
                  <a:srgbClr val="000000"/>
                </a:solidFill>
                <a:latin typeface="Times New Roman"/>
              </a:rPr>
              <a:t>16</a:t>
            </a:r>
            <a:r>
              <a:rPr sz="2200" b="0" i="0">
                <a:solidFill>
                  <a:srgbClr val="000000"/>
                </a:solidFill>
                <a:latin typeface="Times New Roman"/>
              </a:rPr>
              <a:t> Findings were mixed: uterus transplant candidates in France showed few symptoms.</a:t>
            </a:r>
            <a:r>
              <a:rPr sz="2200" b="0" i="0" baseline="30000">
                <a:solidFill>
                  <a:srgbClr val="000000"/>
                </a:solidFill>
                <a:latin typeface="Times New Roman"/>
              </a:rPr>
              <a:t>17</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Coping (43%):</a:t>
            </a:r>
            <a:r>
              <a:rPr sz="2200" b="0" i="0">
                <a:solidFill>
                  <a:srgbClr val="000000"/>
                </a:solidFill>
                <a:latin typeface="Times New Roman"/>
              </a:rPr>
              <a:t> peer and online support most common; avoidance and concealment also frequent, and one study traced a shift from avoidance to empowerment.</a:t>
            </a:r>
            <a:r>
              <a:rPr sz="2200" b="0" i="0" baseline="30000">
                <a:solidFill>
                  <a:srgbClr val="000000"/>
                </a:solidFill>
                <a:latin typeface="Times New Roman"/>
              </a:rPr>
              <a:t>18</a:t>
            </a:r>
            <a:r>
              <a:rPr sz="2200" b="0" i="0">
                <a:solidFill>
                  <a:srgbClr val="000000"/>
                </a:solidFill>
                <a:latin typeface="Times New Roman"/>
              </a:rPr>
              <a:t> Only 2 intervention studies were found, both reporting benefit.</a:t>
            </a:r>
            <a:r>
              <a:rPr sz="2200" b="0" i="0" baseline="30000">
                <a:solidFill>
                  <a:srgbClr val="000000"/>
                </a:solidFill>
                <a:latin typeface="Times New Roman"/>
              </a:rPr>
              <a:t>19,20</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Healthcare gaps (29%):</a:t>
            </a:r>
            <a:r>
              <a:rPr sz="2200" b="0" i="0">
                <a:solidFill>
                  <a:srgbClr val="000000"/>
                </a:solidFill>
                <a:latin typeface="Times New Roman"/>
              </a:rPr>
              <a:t> delayed diagnosis, providers unfamiliar with MRKH, and patients forced to self-advocate.</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Psychosexual concerns dominate the recent literature, whereas depression and anxiety were measured in fewer than half of studies. Evidence is concentrated in Europe (14) and Asia (14); 1 study came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Conclusion</a:t>
            </a:r>
          </a:p>
          <a:p>
            <a:pPr algn="just">
              <a:lnSpc>
                <a:spcPct val="100000"/>
              </a:lnSpc>
              <a:spcAft>
                <a:spcPts val="400"/>
              </a:spcAft>
            </a:pPr>
            <a:r>
              <a:rPr sz="2200" b="0" i="0">
                <a:solidFill>
                  <a:srgbClr val="000000"/>
                </a:solidFill>
                <a:latin typeface="Times New Roman"/>
              </a:rPr>
              <a:t>MRKH affects far more than reproductive anatomy. Psychosexual difficulties, emotional distress, and low self-esteem were widely reported, yet depression and anxiety were measured in fewer than half of studies, and coping relied mostly on peers or concealment rather than structured care. Mental health screening, psychosexual counseling, and peer support should become standard in multidisciplinary MRKH care, not an afterthought, and research must reach underrepresented regions.</a:t>
            </a:r>
          </a:p>
          <a:p>
            <a:pPr algn="just">
              <a:lnSpc>
                <a:spcPct val="100000"/>
              </a:lnSpc>
              <a:spcAft>
                <a:spcPts val="400"/>
              </a:spcAft>
            </a:pPr>
            <a:r>
              <a:rPr sz="2200" b="1" i="0">
                <a:solidFill>
                  <a:srgbClr val="000000"/>
                </a:solidFill>
                <a:latin typeface="Times New Roman"/>
              </a:rPr>
              <a:t>Limitations:</a:t>
            </a:r>
            <a:r>
              <a:rPr sz="2200" b="0" i="0">
                <a:solidFill>
                  <a:srgbClr val="000000"/>
                </a:solidFill>
                <a:latin typeface="Times New Roman"/>
              </a:rPr>
              <a:t> English-language database literature from 2019–2026 only, without grey literature; many small, single-center samples; heterogeneous designs and measures; possible overlapping samples; 5 studies assessed from abstracts only; no quality appraisal, and counts show how often outcomes were studied, not their prevalence.</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1). Data were charted from full texts (30 of 35 studies; abstracts for the rest): design, country, sample, outcomes, coping, and healthcare gaps; synthesized with frequency counts and thematic grouping into 6 domains (Figure 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prisma_flow.png"/>
          <p:cNvPicPr>
            <a:picLocks noChangeAspect="1"/>
          </p:cNvPicPr>
          <p:nvPr/>
        </p:nvPicPr>
        <p:blipFill>
          <a:blip r:embed="rId4"/>
          <a:stretch>
            <a:fillRect/>
          </a:stretch>
        </p:blipFill>
        <p:spPr>
          <a:xfrm>
            <a:off x="12114402" y="4572000"/>
            <a:ext cx="8360411" cy="7498079"/>
          </a:xfrm>
          <a:prstGeom prst="rect">
            <a:avLst/>
          </a:prstGeom>
        </p:spPr>
      </p:pic>
      <p:sp>
        <p:nvSpPr>
          <p:cNvPr id="330" name="TextBox 329"/>
          <p:cNvSpPr txBox="1"/>
          <p:nvPr/>
        </p:nvSpPr>
        <p:spPr>
          <a:xfrm>
            <a:off x="11173968" y="12161520"/>
            <a:ext cx="10241280" cy="1097280"/>
          </a:xfrm>
          <a:prstGeom prst="rect">
            <a:avLst/>
          </a:prstGeom>
          <a:noFill/>
        </p:spPr>
        <p:txBody>
          <a:bodyPr wrap="square">
            <a:noAutofit/>
          </a:bodyPr>
          <a:lstStyle/>
          <a:p>
            <a:r>
              <a:rPr sz="2400" b="1" i="0">
                <a:solidFill>
                  <a:srgbClr val="000000"/>
                </a:solidFill>
                <a:latin typeface="Times New Roman"/>
              </a:rPr>
              <a:t>Figure 1.</a:t>
            </a:r>
            <a:r>
              <a:rPr sz="2400" b="0" i="0">
                <a:solidFill>
                  <a:srgbClr val="000000"/>
                </a:solidFill>
                <a:latin typeface="Times New Roman"/>
              </a:rPr>
              <a:t> PRISMA-ScR flow diagram: 516 records identified, 324 screened, 42 assessed for eligibility, and 35 included.</a:t>
            </a:r>
          </a:p>
        </p:txBody>
      </p:sp>
      <p:pic>
        <p:nvPicPr>
          <p:cNvPr id="331" name="Picture 330" descr="fig2_design_donut.png"/>
          <p:cNvPicPr>
            <a:picLocks noChangeAspect="1"/>
          </p:cNvPicPr>
          <p:nvPr/>
        </p:nvPicPr>
        <p:blipFill>
          <a:blip r:embed="rId5"/>
          <a:stretch>
            <a:fillRect/>
          </a:stretch>
        </p:blipFill>
        <p:spPr>
          <a:xfrm>
            <a:off x="22082760" y="5023796"/>
            <a:ext cx="10881360" cy="6594487"/>
          </a:xfrm>
          <a:prstGeom prst="rect">
            <a:avLst/>
          </a:prstGeom>
        </p:spPr>
      </p:pic>
      <p:sp>
        <p:nvSpPr>
          <p:cNvPr id="332" name="TextBox 331"/>
          <p:cNvSpPr txBox="1"/>
          <p:nvPr/>
        </p:nvSpPr>
        <p:spPr>
          <a:xfrm>
            <a:off x="22082760" y="12161520"/>
            <a:ext cx="10881360" cy="109728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Study designs: 18 quantitative (51%), 14 qualitative (40%), 2 mixed-methods, and 1 not reported.</a:t>
            </a:r>
          </a:p>
        </p:txBody>
      </p:sp>
      <p:pic>
        <p:nvPicPr>
          <p:cNvPr id="333" name="Picture 332" descr="fig1_outcomes_bar.png"/>
          <p:cNvPicPr>
            <a:picLocks noChangeAspect="1"/>
          </p:cNvPicPr>
          <p:nvPr/>
        </p:nvPicPr>
        <p:blipFill>
          <a:blip r:embed="rId6"/>
          <a:stretch>
            <a:fillRect/>
          </a:stretch>
        </p:blipFill>
        <p:spPr>
          <a:xfrm>
            <a:off x="12892413" y="13487400"/>
            <a:ext cx="18563572" cy="7818120"/>
          </a:xfrm>
          <a:prstGeom prst="rect">
            <a:avLst/>
          </a:prstGeom>
        </p:spPr>
      </p:pic>
      <p:sp>
        <p:nvSpPr>
          <p:cNvPr id="334" name="TextBox 333"/>
          <p:cNvSpPr txBox="1"/>
          <p:nvPr/>
        </p:nvSpPr>
        <p:spPr>
          <a:xfrm>
            <a:off x="11347704" y="21351240"/>
            <a:ext cx="21762720" cy="109728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5" name="Picture 334" descr="fig5_coping_bar.png"/>
          <p:cNvPicPr>
            <a:picLocks noChangeAspect="1"/>
          </p:cNvPicPr>
          <p:nvPr/>
        </p:nvPicPr>
        <p:blipFill>
          <a:blip r:embed="rId7"/>
          <a:stretch>
            <a:fillRect/>
          </a:stretch>
        </p:blipFill>
        <p:spPr>
          <a:xfrm>
            <a:off x="11173968" y="24408271"/>
            <a:ext cx="10241280" cy="4401537"/>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Coping mechanisms in 15 studies: peer, family, and social support was most common (7), followed by avoidance and concealment (6).</a:t>
            </a:r>
          </a:p>
        </p:txBody>
      </p:sp>
      <p:pic>
        <p:nvPicPr>
          <p:cNvPr id="337" name="Picture 336" descr="fig3_geographic_map.png"/>
          <p:cNvPicPr>
            <a:picLocks noChangeAspect="1"/>
          </p:cNvPicPr>
          <p:nvPr/>
        </p:nvPicPr>
        <p:blipFill>
          <a:blip r:embed="rId8"/>
          <a:stretch>
            <a:fillRect/>
          </a:stretch>
        </p:blipFill>
        <p:spPr>
          <a:xfrm>
            <a:off x="22082760" y="23820691"/>
            <a:ext cx="10881360" cy="5576697"/>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Europe and Asia contributed 14 studies each, Africa and Oceania 1 each, and South America none (2 multinational studies not mapped).</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