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6"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9" d="100"/>
          <a:sy n="19" d="100"/>
        </p:scale>
        <p:origin x="588" y="-800"/>
      </p:cViewPr>
      <p:guideLst>
        <p:guide orient="horz" pos="10369"/>
        <p:guide pos="1612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9/22/2026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857500" y="514350"/>
            <a:ext cx="3429000" cy="25717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2332982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63D97CC-475F-BE49-B579-6BFEF977A37E}"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9/22/2026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e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p:cNvSpPr/>
          <p:nvPr/>
        </p:nvSpPr>
        <p:spPr>
          <a:xfrm>
            <a:off x="0" y="0"/>
            <a:ext cx="43891200" cy="6309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35040" y="228600"/>
            <a:ext cx="37307520" cy="5852160"/>
          </a:xfrm>
          <a:prstGeom prst="rect">
            <a:avLst/>
          </a:prstGeom>
          <a:noFill/>
        </p:spPr>
        <p:txBody>
          <a:bodyPr wrap="square" anchor="t" lIns="128016" rIns="128016" tIns="73152" bIns="73152">
            <a:noAutofit/>
          </a:bodyPr>
          <a:lstStyle/>
          <a:p>
            <a:pPr algn="ctr">
              <a:lnSpc>
                <a:spcPct val="100000"/>
              </a:lnSpc>
              <a:spcAft>
                <a:spcPts val="0"/>
              </a:spcAft>
            </a:pPr>
            <a:r>
              <a:rPr sz="6400" b="1" i="0">
                <a:solidFill>
                  <a:srgbClr val="000000"/>
                </a:solidFill>
                <a:latin typeface="Times New Roman"/>
              </a:rPr>
              <a:t>Mental Health and Psychosocial Outcomes Among Individuals With</a:t>
            </a:r>
          </a:p>
          <a:p>
            <a:pPr algn="ctr">
              <a:lnSpc>
                <a:spcPct val="100000"/>
              </a:lnSpc>
              <a:spcAft>
                <a:spcPts val="0"/>
              </a:spcAft>
            </a:pPr>
            <a:r>
              <a:rPr sz="6400" b="1" i="0">
                <a:solidFill>
                  <a:srgbClr val="000000"/>
                </a:solidFill>
                <a:latin typeface="Times New Roman"/>
              </a:rPr>
              <a:t>Mayer-Rokitansky-Küster-Hauser (MRKH) Syndrome: A Scoping Review</a:t>
            </a:r>
          </a:p>
        </p:txBody>
      </p:sp>
      <p:sp>
        <p:nvSpPr>
          <p:cNvPr id="80" name="TextBox 79"/>
          <p:cNvSpPr txBox="1"/>
          <p:nvPr/>
        </p:nvSpPr>
        <p:spPr>
          <a:xfrm>
            <a:off x="6035040" y="2514600"/>
            <a:ext cx="37307520" cy="914400"/>
          </a:xfrm>
          <a:prstGeom prst="rect">
            <a:avLst/>
          </a:prstGeom>
          <a:noFill/>
        </p:spPr>
        <p:txBody>
          <a:bodyPr wrap="square" anchor="t" lIns="128016" rIns="128016" tIns="73152" bIns="73152">
            <a:noAutofit/>
          </a:bodyPr>
          <a:lstStyle/>
          <a:p>
            <a:pPr algn="ctr">
              <a:lnSpc>
                <a:spcPct val="100000"/>
              </a:lnSpc>
              <a:spcAft>
                <a:spcPts val="0"/>
              </a:spcAft>
            </a:pPr>
            <a:r>
              <a:rPr sz="4500" b="0" i="0">
                <a:solidFill>
                  <a:srgbClr val="000000"/>
                </a:solidFill>
                <a:latin typeface="Times New Roman"/>
              </a:rPr>
              <a:t>Ifeoluwanimi P. Shobayo, BSc, MSPHc, Paul Okojie, PhD, Robyn Anderson, PhD</a:t>
            </a:r>
          </a:p>
        </p:txBody>
      </p:sp>
      <p:sp>
        <p:nvSpPr>
          <p:cNvPr id="81" name="TextBox 80"/>
          <p:cNvSpPr txBox="1"/>
          <p:nvPr/>
        </p:nvSpPr>
        <p:spPr>
          <a:xfrm>
            <a:off x="6035040" y="3429000"/>
            <a:ext cx="37307520" cy="1645920"/>
          </a:xfrm>
          <a:prstGeom prst="rect">
            <a:avLst/>
          </a:prstGeom>
          <a:noFill/>
        </p:spPr>
        <p:txBody>
          <a:bodyPr wrap="square" anchor="t" lIns="128016" rIns="128016" tIns="73152" bIns="73152">
            <a:noAutofit/>
          </a:bodyPr>
          <a:lstStyle/>
          <a:p>
            <a:pPr algn="ctr">
              <a:lnSpc>
                <a:spcPct val="100000"/>
              </a:lnSpc>
              <a:spcAft>
                <a:spcPts val="0"/>
              </a:spcAft>
            </a:pPr>
            <a:r>
              <a:rPr sz="3400" b="0" i="0">
                <a:solidFill>
                  <a:srgbClr val="404040"/>
                </a:solidFill>
                <a:latin typeface="Times New Roman"/>
              </a:rPr>
              <a:t>Department of Public and Community Health, Liberty University</a:t>
            </a:r>
          </a:p>
          <a:p>
            <a:pPr algn="ctr">
              <a:lnSpc>
                <a:spcPct val="100000"/>
              </a:lnSpc>
              <a:spcAft>
                <a:spcPts val="0"/>
              </a:spcAft>
            </a:pPr>
            <a:r>
              <a:rPr sz="3400" b="0" i="0">
                <a:solidFill>
                  <a:srgbClr val="404040"/>
                </a:solidFill>
                <a:latin typeface="Times New Roman"/>
              </a:rPr>
              <a:t>APHA 2026 Annual Meeting &amp; Expo · Sexual and Reproductive Health Section</a:t>
            </a:r>
          </a:p>
        </p:txBody>
      </p:sp>
      <p:pic>
        <p:nvPicPr>
          <p:cNvPr id="77" name="Picture 7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5753" y="1991593"/>
            <a:ext cx="4840224" cy="1377696"/>
          </a:xfrm>
          <a:prstGeom prst="rect">
            <a:avLst/>
          </a:prstGeom>
        </p:spPr>
      </p:pic>
      <p:sp>
        <p:nvSpPr>
          <p:cNvPr id="82" name="TextBox 81"/>
          <p:cNvSpPr txBox="1"/>
          <p:nvPr/>
        </p:nvSpPr>
        <p:spPr>
          <a:xfrm>
            <a:off x="502920" y="635508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Abstract</a:t>
            </a:r>
          </a:p>
        </p:txBody>
      </p:sp>
      <p:sp>
        <p:nvSpPr>
          <p:cNvPr id="83" name="TextBox 82"/>
          <p:cNvSpPr txBox="1"/>
          <p:nvPr/>
        </p:nvSpPr>
        <p:spPr>
          <a:xfrm>
            <a:off x="502920" y="7223760"/>
            <a:ext cx="10287000" cy="763524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500"/>
              </a:spcAft>
            </a:pPr>
            <a:r>
              <a:rPr sz="2300" b="1" i="0">
                <a:solidFill>
                  <a:srgbClr val="000000"/>
                </a:solidFill>
                <a:latin typeface="Times New Roman"/>
              </a:rPr>
              <a:t>Background:</a:t>
            </a:r>
            <a:r>
              <a:rPr sz="2300" b="0" i="0">
                <a:solidFill>
                  <a:srgbClr val="000000"/>
                </a:solidFill>
                <a:latin typeface="Times New Roman"/>
              </a:rPr>
              <a:t> Mayer-Rokitansky-Küster-Hauser (MRKH) syndrome is a rare congenital condition (1 in 4,500–5,000 female births) characterized by uterovaginal agenesis in individuals with a 46,XX karyotype and functional ovaries. Diagnosed during adolescence, MRKH is associated with significant psychosocial burden. Mental health outcomes and coping mechanisms remain insufficiently synthesized, limiting integration into clinical care and public health planning.</a:t>
            </a:r>
          </a:p>
          <a:p>
            <a:pPr algn="just">
              <a:lnSpc>
                <a:spcPct val="100000"/>
              </a:lnSpc>
              <a:spcAft>
                <a:spcPts val="500"/>
              </a:spcAft>
            </a:pPr>
            <a:r>
              <a:rPr sz="2300" b="1" i="0">
                <a:solidFill>
                  <a:srgbClr val="000000"/>
                </a:solidFill>
                <a:latin typeface="Times New Roman"/>
              </a:rPr>
              <a:t>Methods:</a:t>
            </a:r>
            <a:r>
              <a:rPr sz="2300" b="0" i="0">
                <a:solidFill>
                  <a:srgbClr val="000000"/>
                </a:solidFill>
                <a:latin typeface="Times New Roman"/>
              </a:rPr>
              <a:t> Following Arksey and O'Malley's framework and PRISMA-ScR guidelines, we searched PubMed/MEDLINE, Scopus, PsycINFO, and CINAHL (January 2019–March 2026). Eligible studies included primary quantitative, qualitative, and mixed-methods research on psychological outcomes and/or coping mechanisms in MRKH populations.</a:t>
            </a:r>
          </a:p>
          <a:p>
            <a:pPr algn="just">
              <a:lnSpc>
                <a:spcPct val="100000"/>
              </a:lnSpc>
              <a:spcAft>
                <a:spcPts val="500"/>
              </a:spcAft>
            </a:pPr>
            <a:r>
              <a:rPr sz="2300" b="1" i="0">
                <a:solidFill>
                  <a:srgbClr val="000000"/>
                </a:solidFill>
                <a:latin typeface="Times New Roman"/>
              </a:rPr>
              <a:t>Results:</a:t>
            </a:r>
            <a:r>
              <a:rPr sz="2300" b="0" i="0">
                <a:solidFill>
                  <a:srgbClr val="000000"/>
                </a:solidFill>
                <a:latin typeface="Times New Roman"/>
              </a:rPr>
              <a:t> 34 studies met inclusion criteria. Depression and anxiety were most frequently reported (n = 26), followed by reduced QoL and body image concerns (n = 22), psychosexual challenges (n = 19), and psychological distress (n = 17). Coping mechanisms were documented in 21 studies; healthcare gaps in 18.</a:t>
            </a:r>
          </a:p>
          <a:p>
            <a:pPr algn="just">
              <a:lnSpc>
                <a:spcPct val="100000"/>
              </a:lnSpc>
              <a:spcAft>
                <a:spcPts val="500"/>
              </a:spcAft>
            </a:pPr>
            <a:r>
              <a:rPr sz="2300" b="1" i="0">
                <a:solidFill>
                  <a:srgbClr val="000000"/>
                </a:solidFill>
                <a:latin typeface="Times New Roman"/>
              </a:rPr>
              <a:t>Conclusions:</a:t>
            </a:r>
            <a:r>
              <a:rPr sz="2300" b="0" i="0">
                <a:solidFill>
                  <a:srgbClr val="000000"/>
                </a:solidFill>
                <a:latin typeface="Times New Roman"/>
              </a:rPr>
              <a:t> MRKH-related psychosocial burden is substantial yet under-integrated into care models. Multidisciplinary, mental health-inclusive care and greater research investment are urgently needed.</a:t>
            </a:r>
          </a:p>
          <a:p>
            <a:pPr algn="just">
              <a:lnSpc>
                <a:spcPct val="100000"/>
              </a:lnSpc>
              <a:spcAft>
                <a:spcPts val="500"/>
              </a:spcAft>
            </a:pPr>
            <a:r>
              <a:rPr sz="2300" b="1" i="0">
                <a:solidFill>
                  <a:srgbClr val="000000"/>
                </a:solidFill>
                <a:latin typeface="Times New Roman"/>
              </a:rPr>
              <a:t>Keywords:</a:t>
            </a:r>
            <a:r>
              <a:rPr sz="2300" b="0" i="0">
                <a:solidFill>
                  <a:srgbClr val="000000"/>
                </a:solidFill>
                <a:latin typeface="Times New Roman"/>
              </a:rPr>
              <a:t> MRKH syndrome; mental health; coping; psychosocial outcomes; quality of life; reproductive health</a:t>
            </a:r>
          </a:p>
        </p:txBody>
      </p:sp>
      <p:sp>
        <p:nvSpPr>
          <p:cNvPr id="84" name="TextBox 83"/>
          <p:cNvSpPr txBox="1"/>
          <p:nvPr/>
        </p:nvSpPr>
        <p:spPr>
          <a:xfrm>
            <a:off x="502920" y="1508760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000" b="0" i="0">
                <a:solidFill>
                  <a:srgbClr val="FFFFFF"/>
                </a:solidFill>
                <a:latin typeface="Times New Roman"/>
              </a:rPr>
              <a:t>Introduction and Research Question</a:t>
            </a:r>
          </a:p>
        </p:txBody>
      </p:sp>
      <p:sp>
        <p:nvSpPr>
          <p:cNvPr id="85" name="TextBox 84"/>
          <p:cNvSpPr txBox="1"/>
          <p:nvPr/>
        </p:nvSpPr>
        <p:spPr>
          <a:xfrm>
            <a:off x="502920" y="15956280"/>
            <a:ext cx="10287000" cy="822960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600"/>
              </a:spcAft>
            </a:pPr>
            <a:r>
              <a:rPr sz="2300" b="0" i="0">
                <a:solidFill>
                  <a:srgbClr val="000000"/>
                </a:solidFill>
                <a:latin typeface="Times New Roman"/>
              </a:rPr>
              <a:t>MRKH syndrome is a rare Müllerian aplasia resulting in congenital absence of the uterus and upper two-thirds of the vagina in chromosomally female individuals (46,XX) with functional ovaries. It affects approximately 1 in 4,500–5,000 female births</a:t>
            </a:r>
            <a:r>
              <a:rPr sz="2300" b="0" i="0" baseline="30000">
                <a:solidFill>
                  <a:srgbClr val="000000"/>
                </a:solidFill>
                <a:latin typeface="Times New Roman"/>
              </a:rPr>
              <a:t>1,2</a:t>
            </a:r>
            <a:r>
              <a:rPr sz="2300" b="0" i="0">
                <a:solidFill>
                  <a:srgbClr val="000000"/>
                </a:solidFill>
                <a:latin typeface="Times New Roman"/>
              </a:rPr>
              <a:t> and is typically diagnosed during adolescence, often during evaluation for primary amenorrhea</a:t>
            </a:r>
            <a:r>
              <a:rPr sz="2300" b="0" i="0" baseline="30000">
                <a:solidFill>
                  <a:srgbClr val="000000"/>
                </a:solidFill>
                <a:latin typeface="Times New Roman"/>
              </a:rPr>
              <a:t>1</a:t>
            </a:r>
            <a:r>
              <a:rPr sz="2300" b="0" i="0">
                <a:solidFill>
                  <a:srgbClr val="000000"/>
                </a:solidFill>
                <a:latin typeface="Times New Roman"/>
              </a:rPr>
              <a:t>—a critical period for identity formation and social development.</a:t>
            </a:r>
          </a:p>
          <a:p>
            <a:pPr algn="just">
              <a:lnSpc>
                <a:spcPct val="100000"/>
              </a:lnSpc>
              <a:spcAft>
                <a:spcPts val="600"/>
              </a:spcAft>
            </a:pPr>
            <a:r>
              <a:rPr sz="2300" b="0" i="0">
                <a:solidFill>
                  <a:srgbClr val="000000"/>
                </a:solidFill>
                <a:latin typeface="Times New Roman"/>
              </a:rPr>
              <a:t>The diagnosis carries profound implications for fertility, psychosexual development, and self-image. Professional guidance identifies psychosocial counseling as a key component of care,</a:t>
            </a:r>
            <a:r>
              <a:rPr sz="2300" b="0" i="0" baseline="30000">
                <a:solidFill>
                  <a:srgbClr val="000000"/>
                </a:solidFill>
                <a:latin typeface="Times New Roman"/>
              </a:rPr>
              <a:t>1</a:t>
            </a:r>
            <a:r>
              <a:rPr sz="2300" b="0" i="0">
                <a:solidFill>
                  <a:srgbClr val="000000"/>
                </a:solidFill>
                <a:latin typeface="Times New Roman"/>
              </a:rPr>
              <a:t> yet psychosocial outcomes remain underexplored and insufficiently integrated into clinical and public health frameworks.</a:t>
            </a:r>
          </a:p>
          <a:p>
            <a:pPr algn="just">
              <a:lnSpc>
                <a:spcPct val="100000"/>
              </a:lnSpc>
              <a:spcAft>
                <a:spcPts val="600"/>
              </a:spcAft>
            </a:pPr>
            <a:r>
              <a:rPr sz="2300" b="1" i="0">
                <a:solidFill>
                  <a:srgbClr val="000000"/>
                </a:solidFill>
                <a:latin typeface="Times New Roman"/>
              </a:rPr>
              <a:t>Research Question</a:t>
            </a:r>
          </a:p>
          <a:p>
            <a:pPr algn="just">
              <a:lnSpc>
                <a:spcPct val="100000"/>
              </a:lnSpc>
              <a:spcAft>
                <a:spcPts val="600"/>
              </a:spcAft>
            </a:pPr>
            <a:r>
              <a:rPr sz="2300" b="0" i="0">
                <a:solidFill>
                  <a:srgbClr val="000000"/>
                </a:solidFill>
                <a:latin typeface="Times New Roman"/>
              </a:rPr>
              <a:t>What mental health outcomes and coping mechanisms are reported among individuals with MRKH syndrome, and what healthcare system gaps exist?</a:t>
            </a:r>
          </a:p>
          <a:p>
            <a:pPr algn="just">
              <a:lnSpc>
                <a:spcPct val="100000"/>
              </a:lnSpc>
              <a:spcAft>
                <a:spcPts val="600"/>
              </a:spcAft>
            </a:pPr>
            <a:r>
              <a:rPr sz="2300" b="1" i="0">
                <a:solidFill>
                  <a:srgbClr val="000000"/>
                </a:solidFill>
                <a:latin typeface="Times New Roman"/>
              </a:rPr>
              <a:t>Learning Objectives</a:t>
            </a:r>
          </a:p>
          <a:p>
            <a:pPr algn="just">
              <a:lnSpc>
                <a:spcPct val="100000"/>
              </a:lnSpc>
              <a:spcAft>
                <a:spcPts val="600"/>
              </a:spcAft>
            </a:pPr>
            <a:r>
              <a:rPr sz="2300" b="0" i="0">
                <a:solidFill>
                  <a:srgbClr val="000000"/>
                </a:solidFill>
                <a:latin typeface="Times New Roman"/>
              </a:rPr>
              <a:t>1. Identify key mental health outcomes—including depression, anxiety, reduced quality of life, and psychosexual challenges—reported among individuals with MRKH syndrome.</a:t>
            </a:r>
          </a:p>
          <a:p>
            <a:pPr algn="just">
              <a:lnSpc>
                <a:spcPct val="100000"/>
              </a:lnSpc>
              <a:spcAft>
                <a:spcPts val="600"/>
              </a:spcAft>
            </a:pPr>
            <a:r>
              <a:rPr sz="2300" b="0" i="0">
                <a:solidFill>
                  <a:srgbClr val="000000"/>
                </a:solidFill>
                <a:latin typeface="Times New Roman"/>
              </a:rPr>
              <a:t>2. Describe coping mechanisms and psychosocial responses, including adaptive and maladaptive strategies, documented in MRKH populations.</a:t>
            </a:r>
          </a:p>
        </p:txBody>
      </p:sp>
      <p:sp>
        <p:nvSpPr>
          <p:cNvPr id="86" name="TextBox 85"/>
          <p:cNvSpPr txBox="1"/>
          <p:nvPr/>
        </p:nvSpPr>
        <p:spPr>
          <a:xfrm>
            <a:off x="502920" y="2441448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Methods</a:t>
            </a:r>
          </a:p>
        </p:txBody>
      </p:sp>
      <p:graphicFrame>
        <p:nvGraphicFramePr>
          <p:cNvPr id="87" name="Table 86"/>
          <p:cNvGraphicFramePr>
            <a:graphicFrameLocks noGrp="1"/>
          </p:cNvGraphicFramePr>
          <p:nvPr/>
        </p:nvGraphicFramePr>
        <p:xfrm>
          <a:off x="502920" y="25283160"/>
          <a:ext cx="10287000" cy="7406640"/>
        </p:xfrm>
        <a:graphic>
          <a:graphicData uri="http://schemas.openxmlformats.org/drawingml/2006/table">
            <a:tbl>
              <a:tblPr firstRow="1" bandRow="1">
                <a:tableStyleId>{5C22544A-7EE6-4342-B048-85BDC9FD1C3A}</a:tableStyleId>
              </a:tblPr>
              <a:tblGrid>
                <a:gridCol w="3108960"/>
                <a:gridCol w="7178040"/>
              </a:tblGrid>
              <a:tr h="925830">
                <a:tc>
                  <a:txBody>
                    <a:bodyPr wrap="square"/>
                    <a:lstStyle/>
                    <a:p>
                      <a:r>
                        <a:rPr sz="2000" b="1" i="0">
                          <a:solidFill>
                            <a:srgbClr val="FFFFFF"/>
                          </a:solidFill>
                          <a:latin typeface="Times New Roman"/>
                        </a:rPr>
                        <a:t>Category</a:t>
                      </a:r>
                    </a:p>
                  </a:txBody>
                  <a:tcPr anchor="ctr" marL="91440" marR="91440">
                    <a:solidFill>
                      <a:srgbClr val="0A254E"/>
                    </a:solidFill>
                  </a:tcPr>
                </a:tc>
                <a:tc>
                  <a:txBody>
                    <a:bodyPr wrap="square"/>
                    <a:lstStyle/>
                    <a:p>
                      <a:r>
                        <a:rPr sz="2000" b="1" i="0">
                          <a:solidFill>
                            <a:srgbClr val="FFFFFF"/>
                          </a:solidFill>
                          <a:latin typeface="Times New Roman"/>
                        </a:rPr>
                        <a:t>Description</a:t>
                      </a:r>
                    </a:p>
                  </a:txBody>
                  <a:tcPr anchor="ctr" marL="91440" marR="91440">
                    <a:solidFill>
                      <a:srgbClr val="0A254E"/>
                    </a:solidFill>
                  </a:tcPr>
                </a:tc>
              </a:tr>
              <a:tr h="925830">
                <a:tc>
                  <a:txBody>
                    <a:bodyPr wrap="square"/>
                    <a:lstStyle/>
                    <a:p>
                      <a:r>
                        <a:rPr sz="2000" b="1" i="0">
                          <a:solidFill>
                            <a:srgbClr val="000000"/>
                          </a:solidFill>
                          <a:latin typeface="Times New Roman"/>
                        </a:rPr>
                        <a:t>Study Design</a:t>
                      </a:r>
                    </a:p>
                  </a:txBody>
                  <a:tcPr anchor="ctr" marL="91440" marR="91440">
                    <a:solidFill>
                      <a:srgbClr val="FFFFFF"/>
                    </a:solidFill>
                  </a:tcPr>
                </a:tc>
                <a:tc>
                  <a:txBody>
                    <a:bodyPr wrap="square"/>
                    <a:lstStyle/>
                    <a:p>
                      <a:r>
                        <a:rPr sz="2000" b="0" i="0">
                          <a:solidFill>
                            <a:srgbClr val="000000"/>
                          </a:solidFill>
                          <a:latin typeface="Times New Roman"/>
                        </a:rPr>
                        <a:t>Scoping review following Arksey &amp; O'Malley's five-stage framework;</a:t>
                      </a:r>
                      <a:r>
                        <a:rPr sz="2000" b="0" i="0" baseline="30000">
                          <a:solidFill>
                            <a:srgbClr val="000000"/>
                          </a:solidFill>
                          <a:latin typeface="Times New Roman"/>
                        </a:rPr>
                        <a:t>3</a:t>
                      </a:r>
                      <a:r>
                        <a:rPr sz="2000" b="0" i="0">
                          <a:solidFill>
                            <a:srgbClr val="000000"/>
                          </a:solidFill>
                          <a:latin typeface="Times New Roman"/>
                        </a:rPr>
                        <a:t> reported per PRISMA-ScR</a:t>
                      </a:r>
                      <a:r>
                        <a:rPr sz="2000" b="0" i="0" baseline="30000">
                          <a:solidFill>
                            <a:srgbClr val="000000"/>
                          </a:solidFill>
                          <a:latin typeface="Times New Roman"/>
                        </a:rPr>
                        <a:t>4</a:t>
                      </a:r>
                    </a:p>
                  </a:txBody>
                  <a:tcPr anchor="ctr" marL="91440" marR="91440">
                    <a:solidFill>
                      <a:srgbClr val="FFFFFF"/>
                    </a:solidFill>
                  </a:tcPr>
                </a:tc>
              </a:tr>
              <a:tr h="925830">
                <a:tc>
                  <a:txBody>
                    <a:bodyPr wrap="square"/>
                    <a:lstStyle/>
                    <a:p>
                      <a:r>
                        <a:rPr sz="2000" b="1" i="0">
                          <a:solidFill>
                            <a:srgbClr val="000000"/>
                          </a:solidFill>
                          <a:latin typeface="Times New Roman"/>
                        </a:rPr>
                        <a:t>Databases</a:t>
                      </a:r>
                    </a:p>
                  </a:txBody>
                  <a:tcPr anchor="ctr" marL="91440" marR="91440">
                    <a:solidFill>
                      <a:srgbClr val="EEF4FC"/>
                    </a:solidFill>
                  </a:tcPr>
                </a:tc>
                <a:tc>
                  <a:txBody>
                    <a:bodyPr wrap="square"/>
                    <a:lstStyle/>
                    <a:p>
                      <a:r>
                        <a:rPr sz="2000" b="0" i="0">
                          <a:solidFill>
                            <a:srgbClr val="000000"/>
                          </a:solidFill>
                          <a:latin typeface="Times New Roman"/>
                        </a:rPr>
                        <a:t>PubMed/MEDLINE, Scopus, PsycINFO, and CINAHL</a:t>
                      </a:r>
                    </a:p>
                  </a:txBody>
                  <a:tcPr anchor="ctr" marL="91440" marR="91440">
                    <a:solidFill>
                      <a:srgbClr val="EEF4FC"/>
                    </a:solidFill>
                  </a:tcPr>
                </a:tc>
              </a:tr>
              <a:tr h="925830">
                <a:tc>
                  <a:txBody>
                    <a:bodyPr wrap="square"/>
                    <a:lstStyle/>
                    <a:p>
                      <a:r>
                        <a:rPr sz="2000" b="1" i="0">
                          <a:solidFill>
                            <a:srgbClr val="000000"/>
                          </a:solidFill>
                          <a:latin typeface="Times New Roman"/>
                        </a:rPr>
                        <a:t>Years Searched</a:t>
                      </a:r>
                    </a:p>
                  </a:txBody>
                  <a:tcPr anchor="ctr" marL="91440" marR="91440">
                    <a:solidFill>
                      <a:srgbClr val="FFFFFF"/>
                    </a:solidFill>
                  </a:tcPr>
                </a:tc>
                <a:tc>
                  <a:txBody>
                    <a:bodyPr wrap="square"/>
                    <a:lstStyle/>
                    <a:p>
                      <a:r>
                        <a:rPr sz="2000" b="0" i="0">
                          <a:solidFill>
                            <a:srgbClr val="000000"/>
                          </a:solidFill>
                          <a:latin typeface="Times New Roman"/>
                        </a:rPr>
                        <a:t>January 2019 – March 2026</a:t>
                      </a:r>
                    </a:p>
                  </a:txBody>
                  <a:tcPr anchor="ctr" marL="91440" marR="91440">
                    <a:solidFill>
                      <a:srgbClr val="FFFFFF"/>
                    </a:solidFill>
                  </a:tcPr>
                </a:tc>
              </a:tr>
              <a:tr h="925830">
                <a:tc>
                  <a:txBody>
                    <a:bodyPr wrap="square"/>
                    <a:lstStyle/>
                    <a:p>
                      <a:r>
                        <a:rPr sz="2000" b="1" i="0">
                          <a:solidFill>
                            <a:srgbClr val="000000"/>
                          </a:solidFill>
                          <a:latin typeface="Times New Roman"/>
                        </a:rPr>
                        <a:t>Inclusion Criteria</a:t>
                      </a:r>
                    </a:p>
                  </a:txBody>
                  <a:tcPr anchor="ctr" marL="91440" marR="91440">
                    <a:solidFill>
                      <a:srgbClr val="EEF4FC"/>
                    </a:solidFill>
                  </a:tcPr>
                </a:tc>
                <a:tc>
                  <a:txBody>
                    <a:bodyPr wrap="square"/>
                    <a:lstStyle/>
                    <a:p>
                      <a:r>
                        <a:rPr sz="2000" b="0" i="0">
                          <a:solidFill>
                            <a:srgbClr val="000000"/>
                          </a:solidFill>
                          <a:latin typeface="Times New Roman"/>
                        </a:rPr>
                        <a:t>Primary quantitative, qualitative, and mixed-methods studies reporting psychological outcomes and/or coping mechanisms in MRKH</a:t>
                      </a:r>
                    </a:p>
                  </a:txBody>
                  <a:tcPr anchor="ctr" marL="91440" marR="91440">
                    <a:solidFill>
                      <a:srgbClr val="EEF4FC"/>
                    </a:solidFill>
                  </a:tcPr>
                </a:tc>
              </a:tr>
              <a:tr h="925830">
                <a:tc>
                  <a:txBody>
                    <a:bodyPr wrap="square"/>
                    <a:lstStyle/>
                    <a:p>
                      <a:r>
                        <a:rPr sz="2000" b="1" i="0">
                          <a:solidFill>
                            <a:srgbClr val="000000"/>
                          </a:solidFill>
                          <a:latin typeface="Times New Roman"/>
                        </a:rPr>
                        <a:t>Exclusion Criteria</a:t>
                      </a:r>
                    </a:p>
                  </a:txBody>
                  <a:tcPr anchor="ctr" marL="91440" marR="91440">
                    <a:solidFill>
                      <a:srgbClr val="FFFFFF"/>
                    </a:solidFill>
                  </a:tcPr>
                </a:tc>
                <a:tc>
                  <a:txBody>
                    <a:bodyPr wrap="square"/>
                    <a:lstStyle/>
                    <a:p>
                      <a:r>
                        <a:rPr sz="2000" b="0" i="0">
                          <a:solidFill>
                            <a:srgbClr val="000000"/>
                          </a:solidFill>
                          <a:latin typeface="Times New Roman"/>
                        </a:rPr>
                        <a:t>Studies focused solely on anatomical, surgical, or fertility outcomes</a:t>
                      </a:r>
                    </a:p>
                  </a:txBody>
                  <a:tcPr anchor="ctr" marL="91440" marR="91440">
                    <a:solidFill>
                      <a:srgbClr val="FFFFFF"/>
                    </a:solidFill>
                  </a:tcPr>
                </a:tc>
              </a:tr>
              <a:tr h="925830">
                <a:tc>
                  <a:txBody>
                    <a:bodyPr wrap="square"/>
                    <a:lstStyle/>
                    <a:p>
                      <a:r>
                        <a:rPr sz="2000" b="1" i="0">
                          <a:solidFill>
                            <a:srgbClr val="000000"/>
                          </a:solidFill>
                          <a:latin typeface="Times New Roman"/>
                        </a:rPr>
                        <a:t>Screening</a:t>
                      </a:r>
                    </a:p>
                  </a:txBody>
                  <a:tcPr anchor="ctr" marL="91440" marR="91440">
                    <a:solidFill>
                      <a:srgbClr val="EEF4FC"/>
                    </a:solidFill>
                  </a:tcPr>
                </a:tc>
                <a:tc>
                  <a:txBody>
                    <a:bodyPr wrap="square"/>
                    <a:lstStyle/>
                    <a:p>
                      <a:r>
                        <a:rPr sz="2000" b="0" i="0">
                          <a:solidFill>
                            <a:srgbClr val="000000"/>
                          </a:solidFill>
                          <a:latin typeface="Times New Roman"/>
                        </a:rPr>
                        <a:t>516 records identified; 155 duplicates removed; 361 screened; 327 excluded; 34 included</a:t>
                      </a:r>
                    </a:p>
                  </a:txBody>
                  <a:tcPr anchor="ctr" marL="91440" marR="91440">
                    <a:solidFill>
                      <a:srgbClr val="EEF4FC"/>
                    </a:solidFill>
                  </a:tcPr>
                </a:tc>
              </a:tr>
              <a:tr h="925830">
                <a:tc>
                  <a:txBody>
                    <a:bodyPr wrap="square"/>
                    <a:lstStyle/>
                    <a:p>
                      <a:r>
                        <a:rPr sz="2000" b="1" i="0">
                          <a:solidFill>
                            <a:srgbClr val="000000"/>
                          </a:solidFill>
                          <a:latin typeface="Times New Roman"/>
                        </a:rPr>
                        <a:t>Synthesis</a:t>
                      </a:r>
                    </a:p>
                  </a:txBody>
                  <a:tcPr anchor="ctr" marL="91440" marR="91440">
                    <a:solidFill>
                      <a:srgbClr val="FFFFFF"/>
                    </a:solidFill>
                  </a:tcPr>
                </a:tc>
                <a:tc>
                  <a:txBody>
                    <a:bodyPr wrap="square"/>
                    <a:lstStyle/>
                    <a:p>
                      <a:r>
                        <a:rPr sz="2000" b="0" i="0">
                          <a:solidFill>
                            <a:srgbClr val="000000"/>
                          </a:solidFill>
                          <a:latin typeface="Times New Roman"/>
                        </a:rPr>
                        <a:t>Descriptive frequency counts by outcome domain and thematic grouping of coping mechanisms and healthcare gaps</a:t>
                      </a:r>
                    </a:p>
                  </a:txBody>
                  <a:tcPr anchor="ctr" marL="91440" marR="91440">
                    <a:solidFill>
                      <a:srgbClr val="FFFFFF"/>
                    </a:solidFill>
                  </a:tcPr>
                </a:tc>
              </a:tr>
            </a:tbl>
          </a:graphicData>
        </a:graphic>
      </p:graphicFrame>
      <p:sp>
        <p:nvSpPr>
          <p:cNvPr id="88" name="Rectangle 87"/>
          <p:cNvSpPr/>
          <p:nvPr/>
        </p:nvSpPr>
        <p:spPr>
          <a:xfrm>
            <a:off x="11183112" y="6355080"/>
            <a:ext cx="22439376" cy="26334720"/>
          </a:xfrm>
          <a:prstGeom prst="rect">
            <a:avLst/>
          </a:prstGeom>
          <a:solidFill>
            <a:srgbClr val="FFFFF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548872" y="6629400"/>
            <a:ext cx="21707856" cy="685800"/>
          </a:xfrm>
          <a:prstGeom prst="rect">
            <a:avLst/>
          </a:prstGeom>
          <a:noFill/>
        </p:spPr>
        <p:txBody>
          <a:bodyPr wrap="square" anchor="t" lIns="128016" rIns="128016" tIns="73152" bIns="73152">
            <a:noAutofit/>
          </a:bodyPr>
          <a:lstStyle/>
          <a:p>
            <a:pPr algn="ctr">
              <a:lnSpc>
                <a:spcPct val="100000"/>
              </a:lnSpc>
              <a:spcAft>
                <a:spcPts val="0"/>
              </a:spcAft>
            </a:pPr>
            <a:r>
              <a:rPr sz="3200" b="1" i="0">
                <a:solidFill>
                  <a:srgbClr val="0A254E"/>
                </a:solidFill>
                <a:latin typeface="Times New Roman"/>
              </a:rPr>
              <a:t>MRKH Syndrome at a Glance</a:t>
            </a:r>
          </a:p>
        </p:txBody>
      </p:sp>
      <p:sp>
        <p:nvSpPr>
          <p:cNvPr id="90" name="Rounded Rectangle 89"/>
          <p:cNvSpPr/>
          <p:nvPr/>
        </p:nvSpPr>
        <p:spPr>
          <a:xfrm>
            <a:off x="11548872"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548872"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~1 in 5,000</a:t>
            </a:r>
          </a:p>
        </p:txBody>
      </p:sp>
      <p:sp>
        <p:nvSpPr>
          <p:cNvPr id="92" name="TextBox 91"/>
          <p:cNvSpPr txBox="1"/>
          <p:nvPr/>
        </p:nvSpPr>
        <p:spPr>
          <a:xfrm>
            <a:off x="11548872"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female births</a:t>
            </a:r>
          </a:p>
        </p:txBody>
      </p:sp>
      <p:sp>
        <p:nvSpPr>
          <p:cNvPr id="93" name="Rounded Rectangle 92"/>
          <p:cNvSpPr/>
          <p:nvPr/>
        </p:nvSpPr>
        <p:spPr>
          <a:xfrm>
            <a:off x="17055846"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7055846"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46,XX</a:t>
            </a:r>
          </a:p>
        </p:txBody>
      </p:sp>
      <p:sp>
        <p:nvSpPr>
          <p:cNvPr id="95" name="TextBox 94"/>
          <p:cNvSpPr txBox="1"/>
          <p:nvPr/>
        </p:nvSpPr>
        <p:spPr>
          <a:xfrm>
            <a:off x="17055846"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karyotype; functional ovaries</a:t>
            </a:r>
          </a:p>
        </p:txBody>
      </p:sp>
      <p:sp>
        <p:nvSpPr>
          <p:cNvPr id="96" name="Rounded Rectangle 95"/>
          <p:cNvSpPr/>
          <p:nvPr/>
        </p:nvSpPr>
        <p:spPr>
          <a:xfrm>
            <a:off x="22562819"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562819"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Adolescence</a:t>
            </a:r>
          </a:p>
        </p:txBody>
      </p:sp>
      <p:sp>
        <p:nvSpPr>
          <p:cNvPr id="98" name="TextBox 97"/>
          <p:cNvSpPr txBox="1"/>
          <p:nvPr/>
        </p:nvSpPr>
        <p:spPr>
          <a:xfrm>
            <a:off x="22562819"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typical age at diagnosis</a:t>
            </a:r>
          </a:p>
        </p:txBody>
      </p:sp>
      <p:sp>
        <p:nvSpPr>
          <p:cNvPr id="99" name="Rounded Rectangle 98"/>
          <p:cNvSpPr/>
          <p:nvPr/>
        </p:nvSpPr>
        <p:spPr>
          <a:xfrm>
            <a:off x="28069794"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8069794"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No uterus</a:t>
            </a:r>
          </a:p>
        </p:txBody>
      </p:sp>
      <p:sp>
        <p:nvSpPr>
          <p:cNvPr id="101" name="TextBox 100"/>
          <p:cNvSpPr txBox="1"/>
          <p:nvPr/>
        </p:nvSpPr>
        <p:spPr>
          <a:xfrm>
            <a:off x="28069794"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uterovaginal agenesis</a:t>
            </a:r>
          </a:p>
        </p:txBody>
      </p:sp>
      <p:pic>
        <p:nvPicPr>
          <p:cNvPr id="102" name="Picture 101" descr="prisma_flow.png"/>
          <p:cNvPicPr>
            <a:picLocks noChangeAspect="1"/>
          </p:cNvPicPr>
          <p:nvPr/>
        </p:nvPicPr>
        <p:blipFill>
          <a:blip r:embed="rId4"/>
          <a:stretch>
            <a:fillRect/>
          </a:stretch>
        </p:blipFill>
        <p:spPr>
          <a:xfrm>
            <a:off x="11548872" y="9555480"/>
            <a:ext cx="9509760" cy="8528879"/>
          </a:xfrm>
          <a:prstGeom prst="rect">
            <a:avLst/>
          </a:prstGeom>
        </p:spPr>
      </p:pic>
      <p:sp>
        <p:nvSpPr>
          <p:cNvPr id="103" name="TextBox 102"/>
          <p:cNvSpPr txBox="1"/>
          <p:nvPr/>
        </p:nvSpPr>
        <p:spPr>
          <a:xfrm>
            <a:off x="11548872" y="18175799"/>
            <a:ext cx="9509760"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1: PRISMA-ScR Flow Diagram</a:t>
            </a:r>
          </a:p>
          <a:p>
            <a:pPr algn="l">
              <a:lnSpc>
                <a:spcPct val="100000"/>
              </a:lnSpc>
              <a:spcAft>
                <a:spcPts val="0"/>
              </a:spcAft>
            </a:pPr>
            <a:r>
              <a:rPr sz="2200" b="0" i="0">
                <a:solidFill>
                  <a:srgbClr val="000000"/>
                </a:solidFill>
                <a:latin typeface="Times New Roman"/>
              </a:rPr>
              <a:t>(Adapted from Tricco et al., 2018)</a:t>
            </a:r>
          </a:p>
        </p:txBody>
      </p:sp>
      <p:sp>
        <p:nvSpPr>
          <p:cNvPr id="104" name="TextBox 103"/>
          <p:cNvSpPr txBox="1"/>
          <p:nvPr/>
        </p:nvSpPr>
        <p:spPr>
          <a:xfrm>
            <a:off x="21515832" y="9555480"/>
            <a:ext cx="11740895" cy="640080"/>
          </a:xfrm>
          <a:prstGeom prst="rect">
            <a:avLst/>
          </a:prstGeom>
          <a:noFill/>
        </p:spPr>
        <p:txBody>
          <a:bodyPr wrap="square" anchor="t" lIns="128016" rIns="128016" tIns="73152" bIns="73152">
            <a:noAutofit/>
          </a:bodyPr>
          <a:lstStyle/>
          <a:p>
            <a:pPr algn="ctr">
              <a:lnSpc>
                <a:spcPct val="100000"/>
              </a:lnSpc>
              <a:spcAft>
                <a:spcPts val="0"/>
              </a:spcAft>
            </a:pPr>
            <a:r>
              <a:rPr sz="2800" b="1" i="0">
                <a:solidFill>
                  <a:srgbClr val="0A254E"/>
                </a:solidFill>
                <a:latin typeface="Times New Roman"/>
              </a:rPr>
              <a:t>Key Findings From Included Studies (2019–2026)</a:t>
            </a:r>
          </a:p>
        </p:txBody>
      </p:sp>
      <p:pic>
        <p:nvPicPr>
          <p:cNvPr id="105" name="Picture 104" descr="fig1_outcomes_bar.png"/>
          <p:cNvPicPr>
            <a:picLocks noChangeAspect="1"/>
          </p:cNvPicPr>
          <p:nvPr/>
        </p:nvPicPr>
        <p:blipFill>
          <a:blip r:embed="rId5"/>
          <a:stretch>
            <a:fillRect/>
          </a:stretch>
        </p:blipFill>
        <p:spPr>
          <a:xfrm>
            <a:off x="21515832" y="10287000"/>
            <a:ext cx="11740895" cy="4944723"/>
          </a:xfrm>
          <a:prstGeom prst="rect">
            <a:avLst/>
          </a:prstGeom>
        </p:spPr>
      </p:pic>
      <p:sp>
        <p:nvSpPr>
          <p:cNvPr id="106" name="TextBox 105"/>
          <p:cNvSpPr txBox="1"/>
          <p:nvPr/>
        </p:nvSpPr>
        <p:spPr>
          <a:xfrm>
            <a:off x="21515832" y="15277443"/>
            <a:ext cx="11740895"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2: Frequency of Outcome Domains (N = 34)</a:t>
            </a:r>
          </a:p>
          <a:p>
            <a:pPr algn="l">
              <a:lnSpc>
                <a:spcPct val="100000"/>
              </a:lnSpc>
              <a:spcAft>
                <a:spcPts val="0"/>
              </a:spcAft>
            </a:pPr>
            <a:r>
              <a:rPr sz="2200" b="0" i="0">
                <a:solidFill>
                  <a:srgbClr val="000000"/>
                </a:solidFill>
                <a:latin typeface="Times New Roman"/>
              </a:rPr>
              <a:t>Studies could report more than one domain</a:t>
            </a:r>
          </a:p>
        </p:txBody>
      </p:sp>
      <p:sp>
        <p:nvSpPr>
          <p:cNvPr id="107" name="TextBox 106"/>
          <p:cNvSpPr txBox="1"/>
          <p:nvPr/>
        </p:nvSpPr>
        <p:spPr>
          <a:xfrm>
            <a:off x="21515832" y="16329003"/>
            <a:ext cx="11740895" cy="548640"/>
          </a:xfrm>
          <a:prstGeom prst="rect">
            <a:avLst/>
          </a:prstGeom>
          <a:noFill/>
        </p:spPr>
        <p:txBody>
          <a:bodyPr wrap="square" anchor="t" lIns="128016" rIns="128016" tIns="73152" bIns="73152">
            <a:noAutofit/>
          </a:bodyPr>
          <a:lstStyle/>
          <a:p>
            <a:pPr algn="ctr">
              <a:lnSpc>
                <a:spcPct val="100000"/>
              </a:lnSpc>
              <a:spcAft>
                <a:spcPts val="0"/>
              </a:spcAft>
            </a:pPr>
            <a:r>
              <a:rPr sz="2600" b="1" i="0">
                <a:solidFill>
                  <a:srgbClr val="0A254E"/>
                </a:solidFill>
                <a:latin typeface="Times New Roman"/>
              </a:rPr>
              <a:t>Coping Mechanisms Documented (n = 21 studies)</a:t>
            </a:r>
          </a:p>
        </p:txBody>
      </p:sp>
      <p:sp>
        <p:nvSpPr>
          <p:cNvPr id="108" name="Rounded Rectangle 107"/>
          <p:cNvSpPr/>
          <p:nvPr/>
        </p:nvSpPr>
        <p:spPr>
          <a:xfrm>
            <a:off x="21515832"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1515832"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Peer &amp; community support</a:t>
            </a:r>
          </a:p>
        </p:txBody>
      </p:sp>
      <p:sp>
        <p:nvSpPr>
          <p:cNvPr id="110" name="Rounded Rectangle 109"/>
          <p:cNvSpPr/>
          <p:nvPr/>
        </p:nvSpPr>
        <p:spPr>
          <a:xfrm>
            <a:off x="25505664"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5505664"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Psychological counseling</a:t>
            </a:r>
          </a:p>
        </p:txBody>
      </p:sp>
      <p:sp>
        <p:nvSpPr>
          <p:cNvPr id="112" name="Rounded Rectangle 111"/>
          <p:cNvSpPr/>
          <p:nvPr/>
        </p:nvSpPr>
        <p:spPr>
          <a:xfrm>
            <a:off x="29495496"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9495496"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Identity reconstruction</a:t>
            </a:r>
          </a:p>
        </p:txBody>
      </p:sp>
      <p:sp>
        <p:nvSpPr>
          <p:cNvPr id="114" name="Rounded Rectangle 113"/>
          <p:cNvSpPr/>
          <p:nvPr/>
        </p:nvSpPr>
        <p:spPr>
          <a:xfrm>
            <a:off x="21515832"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1515832"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Spiritual coping</a:t>
            </a:r>
          </a:p>
        </p:txBody>
      </p:sp>
      <p:sp>
        <p:nvSpPr>
          <p:cNvPr id="116" name="Rounded Rectangle 115"/>
          <p:cNvSpPr/>
          <p:nvPr/>
        </p:nvSpPr>
        <p:spPr>
          <a:xfrm>
            <a:off x="25505664"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505664"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Adaptive acceptance</a:t>
            </a:r>
          </a:p>
        </p:txBody>
      </p:sp>
      <p:sp>
        <p:nvSpPr>
          <p:cNvPr id="118" name="Rounded Rectangle 117"/>
          <p:cNvSpPr/>
          <p:nvPr/>
        </p:nvSpPr>
        <p:spPr>
          <a:xfrm>
            <a:off x="29495496" y="17837763"/>
            <a:ext cx="3761231" cy="713232"/>
          </a:xfrm>
          <a:prstGeom prst="roundRect">
            <a:avLst>
              <a:gd name="adj" fmla="val 12000"/>
            </a:avLst>
          </a:prstGeom>
          <a:solidFill>
            <a:srgbClr val="FDEEE7"/>
          </a:solidFill>
          <a:ln w="19050">
            <a:solidFill>
              <a:srgbClr val="C44E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9495496"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C44E1B"/>
                </a:solidFill>
                <a:latin typeface="Times New Roman"/>
              </a:rPr>
              <a:t>Avoidance (maladaptive)</a:t>
            </a:r>
          </a:p>
        </p:txBody>
      </p:sp>
      <p:pic>
        <p:nvPicPr>
          <p:cNvPr id="120" name="Picture 119" descr="fig3_geographic_map.png"/>
          <p:cNvPicPr>
            <a:picLocks noChangeAspect="1"/>
          </p:cNvPicPr>
          <p:nvPr/>
        </p:nvPicPr>
        <p:blipFill>
          <a:blip r:embed="rId6"/>
          <a:stretch>
            <a:fillRect/>
          </a:stretch>
        </p:blipFill>
        <p:spPr>
          <a:xfrm>
            <a:off x="11548872" y="20644679"/>
            <a:ext cx="14264640" cy="7310627"/>
          </a:xfrm>
          <a:prstGeom prst="rect">
            <a:avLst/>
          </a:prstGeom>
        </p:spPr>
      </p:pic>
      <p:sp>
        <p:nvSpPr>
          <p:cNvPr id="121" name="TextBox 120"/>
          <p:cNvSpPr txBox="1"/>
          <p:nvPr/>
        </p:nvSpPr>
        <p:spPr>
          <a:xfrm>
            <a:off x="11548872" y="28046747"/>
            <a:ext cx="14264640"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3: Geographic Distribution of Included Studies</a:t>
            </a:r>
          </a:p>
          <a:p>
            <a:pPr algn="l">
              <a:lnSpc>
                <a:spcPct val="100000"/>
              </a:lnSpc>
              <a:spcAft>
                <a:spcPts val="0"/>
              </a:spcAft>
            </a:pPr>
            <a:r>
              <a:rPr sz="2200" b="0" i="0">
                <a:solidFill>
                  <a:srgbClr val="000000"/>
                </a:solidFill>
                <a:latin typeface="Times New Roman"/>
              </a:rPr>
              <a:t>26 of 34 studies (76%) from Europe or North America; 3 from Africa or South America</a:t>
            </a:r>
          </a:p>
        </p:txBody>
      </p:sp>
      <p:pic>
        <p:nvPicPr>
          <p:cNvPr id="122" name="Picture 121" descr="fig2_design_donut.png"/>
          <p:cNvPicPr>
            <a:picLocks noChangeAspect="1"/>
          </p:cNvPicPr>
          <p:nvPr/>
        </p:nvPicPr>
        <p:blipFill>
          <a:blip r:embed="rId7"/>
          <a:stretch>
            <a:fillRect/>
          </a:stretch>
        </p:blipFill>
        <p:spPr>
          <a:xfrm>
            <a:off x="26179272" y="21559079"/>
            <a:ext cx="7077455" cy="4218467"/>
          </a:xfrm>
          <a:prstGeom prst="rect">
            <a:avLst/>
          </a:prstGeom>
        </p:spPr>
      </p:pic>
      <p:sp>
        <p:nvSpPr>
          <p:cNvPr id="123" name="TextBox 122"/>
          <p:cNvSpPr txBox="1"/>
          <p:nvPr/>
        </p:nvSpPr>
        <p:spPr>
          <a:xfrm>
            <a:off x="26179272" y="25868986"/>
            <a:ext cx="7077455"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4: Study Design Distribution</a:t>
            </a:r>
          </a:p>
          <a:p>
            <a:pPr algn="l">
              <a:lnSpc>
                <a:spcPct val="100000"/>
              </a:lnSpc>
              <a:spcAft>
                <a:spcPts val="0"/>
              </a:spcAft>
            </a:pPr>
            <a:r>
              <a:rPr sz="2200" b="0" i="0">
                <a:solidFill>
                  <a:srgbClr val="000000"/>
                </a:solidFill>
                <a:latin typeface="Times New Roman"/>
              </a:rPr>
              <a:t>Cross-sectional studies (n = 11) are a subset of quantitative designs</a:t>
            </a:r>
          </a:p>
        </p:txBody>
      </p:sp>
      <p:sp>
        <p:nvSpPr>
          <p:cNvPr id="124" name="TextBox 123"/>
          <p:cNvSpPr txBox="1"/>
          <p:nvPr/>
        </p:nvSpPr>
        <p:spPr>
          <a:xfrm>
            <a:off x="33942528" y="63550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3800" b="0" i="0">
                <a:solidFill>
                  <a:srgbClr val="FFFFFF"/>
                </a:solidFill>
                <a:latin typeface="Times New Roman"/>
              </a:rPr>
              <a:t>Results, Discussion and Conclusion</a:t>
            </a:r>
          </a:p>
        </p:txBody>
      </p:sp>
      <p:sp>
        <p:nvSpPr>
          <p:cNvPr id="125" name="TextBox 124"/>
          <p:cNvSpPr txBox="1"/>
          <p:nvPr/>
        </p:nvSpPr>
        <p:spPr>
          <a:xfrm>
            <a:off x="33942528" y="7223760"/>
            <a:ext cx="9601200" cy="1033272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600"/>
              </a:spcAft>
            </a:pPr>
            <a:r>
              <a:rPr sz="2500" b="1" i="0">
                <a:solidFill>
                  <a:srgbClr val="000000"/>
                </a:solidFill>
                <a:latin typeface="Times New Roman"/>
              </a:rPr>
              <a:t>Results</a:t>
            </a:r>
          </a:p>
          <a:p>
            <a:pPr algn="just">
              <a:lnSpc>
                <a:spcPct val="100000"/>
              </a:lnSpc>
              <a:spcAft>
                <a:spcPts val="600"/>
              </a:spcAft>
            </a:pPr>
            <a:r>
              <a:rPr sz="2500" b="0" i="0">
                <a:solidFill>
                  <a:srgbClr val="000000"/>
                </a:solidFill>
                <a:latin typeface="Times New Roman"/>
              </a:rPr>
              <a:t>Of 516 records identified, 361 remained after deduplication and 34 studies met inclusion criteria: 16 quantitative (11 cross-sectional), 11 qualitative, and 7 mixed-methods. Depression and anxiety were reported in 26 studies (76%), reduced QoL and body image in 22 (65%), psychosexual and relational challenges in 19 (56%), and broader distress in 17 (50%). Healthcare system gaps were identified in 18 studies (53%): delayed diagnosis without psychosocial support, limited multidisciplinary care, mental health insufficiently integrated into care models, and no standardized screening at diagnosis.</a:t>
            </a:r>
          </a:p>
          <a:p>
            <a:pPr algn="just">
              <a:lnSpc>
                <a:spcPct val="100000"/>
              </a:lnSpc>
              <a:spcAft>
                <a:spcPts val="600"/>
              </a:spcAft>
            </a:pPr>
            <a:r>
              <a:rPr sz="2500" b="1" i="0">
                <a:solidFill>
                  <a:srgbClr val="000000"/>
                </a:solidFill>
                <a:latin typeface="Times New Roman"/>
              </a:rPr>
              <a:t>Discussion</a:t>
            </a:r>
          </a:p>
          <a:p>
            <a:pPr algn="just">
              <a:lnSpc>
                <a:spcPct val="100000"/>
              </a:lnSpc>
              <a:spcAft>
                <a:spcPts val="600"/>
              </a:spcAft>
            </a:pPr>
            <a:r>
              <a:rPr sz="2500" b="0" i="0">
                <a:solidFill>
                  <a:srgbClr val="000000"/>
                </a:solidFill>
                <a:latin typeface="Times New Roman"/>
              </a:rPr>
              <a:t>These findings are consistent with earlier evidence of elevated distress, anxiety, and poorer mental health-related quality of life in MRKH</a:t>
            </a:r>
            <a:r>
              <a:rPr sz="2500" b="0" i="0" baseline="30000">
                <a:solidFill>
                  <a:srgbClr val="000000"/>
                </a:solidFill>
                <a:latin typeface="Times New Roman"/>
              </a:rPr>
              <a:t>5–7</a:t>
            </a:r>
            <a:r>
              <a:rPr sz="2500" b="0" i="0">
                <a:solidFill>
                  <a:srgbClr val="000000"/>
                </a:solidFill>
                <a:latin typeface="Times New Roman"/>
              </a:rPr>
              <a:t> and with a prior systematic review.</a:t>
            </a:r>
            <a:r>
              <a:rPr sz="2500" b="0" i="0" baseline="30000">
                <a:solidFill>
                  <a:srgbClr val="000000"/>
                </a:solidFill>
                <a:latin typeface="Times New Roman"/>
              </a:rPr>
              <a:t>8</a:t>
            </a:r>
            <a:r>
              <a:rPr sz="2500" b="0" i="0">
                <a:solidFill>
                  <a:srgbClr val="000000"/>
                </a:solidFill>
                <a:latin typeface="Times New Roman"/>
              </a:rPr>
              <a:t> Coping strategies were documented in most studies but remain unsupported by systematic clinical pathways, and 76% of studies came from Europe or North America, leaving low-resource settings underrepresented.</a:t>
            </a:r>
          </a:p>
          <a:p>
            <a:pPr algn="just">
              <a:lnSpc>
                <a:spcPct val="100000"/>
              </a:lnSpc>
              <a:spcAft>
                <a:spcPts val="600"/>
              </a:spcAft>
            </a:pPr>
            <a:r>
              <a:rPr sz="2500" b="1" i="0">
                <a:solidFill>
                  <a:srgbClr val="000000"/>
                </a:solidFill>
                <a:latin typeface="Times New Roman"/>
              </a:rPr>
              <a:t>Conclusion</a:t>
            </a:r>
          </a:p>
          <a:p>
            <a:pPr algn="just">
              <a:lnSpc>
                <a:spcPct val="100000"/>
              </a:lnSpc>
              <a:spcAft>
                <a:spcPts val="600"/>
              </a:spcAft>
            </a:pPr>
            <a:r>
              <a:rPr sz="2500" b="0" i="0">
                <a:solidFill>
                  <a:srgbClr val="000000"/>
                </a:solidFill>
                <a:latin typeface="Times New Roman"/>
              </a:rPr>
              <a:t>MRKH-related psychosocial burden is substantial yet under-integrated into care models. Multidisciplinary, mental health-inclusive care and greater research investment are urgently needed, particularly in underrepresented and low-resource settings.</a:t>
            </a:r>
          </a:p>
        </p:txBody>
      </p:sp>
      <p:sp>
        <p:nvSpPr>
          <p:cNvPr id="126" name="TextBox 125"/>
          <p:cNvSpPr txBox="1"/>
          <p:nvPr/>
        </p:nvSpPr>
        <p:spPr>
          <a:xfrm>
            <a:off x="33942528" y="177850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Limitations</a:t>
            </a:r>
          </a:p>
        </p:txBody>
      </p:sp>
      <p:sp>
        <p:nvSpPr>
          <p:cNvPr id="127" name="TextBox 126"/>
          <p:cNvSpPr txBox="1"/>
          <p:nvPr/>
        </p:nvSpPr>
        <p:spPr>
          <a:xfrm>
            <a:off x="33942528" y="18653760"/>
            <a:ext cx="9601200" cy="3291840"/>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400"/>
              </a:spcAft>
            </a:pPr>
            <a:r>
              <a:rPr sz="2400" b="0" i="0">
                <a:solidFill>
                  <a:srgbClr val="000000"/>
                </a:solidFill>
                <a:latin typeface="Times New Roman"/>
              </a:rPr>
              <a:t>•  Review limited to 2019–2026, potentially excluding earlier foundational research</a:t>
            </a:r>
          </a:p>
          <a:p>
            <a:pPr algn="l">
              <a:lnSpc>
                <a:spcPct val="100000"/>
              </a:lnSpc>
              <a:spcAft>
                <a:spcPts val="400"/>
              </a:spcAft>
            </a:pPr>
            <a:r>
              <a:rPr sz="2400" b="0" i="0">
                <a:solidFill>
                  <a:srgbClr val="000000"/>
                </a:solidFill>
                <a:latin typeface="Times New Roman"/>
              </a:rPr>
              <a:t>•  Heterogeneous designs and outcome measures limit direct comparisons</a:t>
            </a:r>
          </a:p>
          <a:p>
            <a:pPr algn="l">
              <a:lnSpc>
                <a:spcPct val="100000"/>
              </a:lnSpc>
              <a:spcAft>
                <a:spcPts val="400"/>
              </a:spcAft>
            </a:pPr>
            <a:r>
              <a:rPr sz="2400" b="0" i="0">
                <a:solidFill>
                  <a:srgbClr val="000000"/>
                </a:solidFill>
                <a:latin typeface="Times New Roman"/>
              </a:rPr>
              <a:t>•  Most studies from high-income countries, limiting global generalizability</a:t>
            </a:r>
          </a:p>
          <a:p>
            <a:pPr algn="l">
              <a:lnSpc>
                <a:spcPct val="100000"/>
              </a:lnSpc>
              <a:spcAft>
                <a:spcPts val="400"/>
              </a:spcAft>
            </a:pPr>
            <a:r>
              <a:rPr sz="2400" b="0" i="0">
                <a:solidFill>
                  <a:srgbClr val="000000"/>
                </a:solidFill>
                <a:latin typeface="Times New Roman"/>
              </a:rPr>
              <a:t>•  Some studies relied on self-reported mental health outcomes</a:t>
            </a:r>
          </a:p>
        </p:txBody>
      </p:sp>
      <p:sp>
        <p:nvSpPr>
          <p:cNvPr id="128" name="TextBox 127"/>
          <p:cNvSpPr txBox="1"/>
          <p:nvPr/>
        </p:nvSpPr>
        <p:spPr>
          <a:xfrm>
            <a:off x="33942528" y="2217420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000" b="0" i="0">
                <a:solidFill>
                  <a:srgbClr val="FFFFFF"/>
                </a:solidFill>
                <a:latin typeface="Times New Roman"/>
              </a:rPr>
              <a:t>Public Health Implications</a:t>
            </a:r>
          </a:p>
        </p:txBody>
      </p:sp>
      <p:sp>
        <p:nvSpPr>
          <p:cNvPr id="129" name="TextBox 128"/>
          <p:cNvSpPr txBox="1"/>
          <p:nvPr/>
        </p:nvSpPr>
        <p:spPr>
          <a:xfrm>
            <a:off x="33942528" y="23042880"/>
            <a:ext cx="9601200" cy="4114800"/>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400"/>
              </a:spcAft>
            </a:pPr>
            <a:r>
              <a:rPr sz="2400" b="0" i="0">
                <a:solidFill>
                  <a:srgbClr val="000000"/>
                </a:solidFill>
                <a:latin typeface="Times New Roman"/>
              </a:rPr>
              <a:t>•  Integrate mental health screening into MRKH diagnostic pathways</a:t>
            </a:r>
          </a:p>
          <a:p>
            <a:pPr algn="l">
              <a:lnSpc>
                <a:spcPct val="100000"/>
              </a:lnSpc>
              <a:spcAft>
                <a:spcPts val="400"/>
              </a:spcAft>
            </a:pPr>
            <a:r>
              <a:rPr sz="2400" b="0" i="0">
                <a:solidFill>
                  <a:srgbClr val="000000"/>
                </a:solidFill>
                <a:latin typeface="Times New Roman"/>
              </a:rPr>
              <a:t>•  Develop multidisciplinary care protocols including psychology and social work</a:t>
            </a:r>
          </a:p>
          <a:p>
            <a:pPr algn="l">
              <a:lnSpc>
                <a:spcPct val="100000"/>
              </a:lnSpc>
              <a:spcAft>
                <a:spcPts val="400"/>
              </a:spcAft>
            </a:pPr>
            <a:r>
              <a:rPr sz="2400" b="0" i="0">
                <a:solidFill>
                  <a:srgbClr val="000000"/>
                </a:solidFill>
                <a:latin typeface="Times New Roman"/>
              </a:rPr>
              <a:t>•  Expand research investment in LMIC and underrepresented settings</a:t>
            </a:r>
          </a:p>
          <a:p>
            <a:pPr algn="l">
              <a:lnSpc>
                <a:spcPct val="100000"/>
              </a:lnSpc>
              <a:spcAft>
                <a:spcPts val="400"/>
              </a:spcAft>
            </a:pPr>
            <a:r>
              <a:rPr sz="2400" b="0" i="0">
                <a:solidFill>
                  <a:srgbClr val="000000"/>
                </a:solidFill>
                <a:latin typeface="Times New Roman"/>
              </a:rPr>
              <a:t>•  Build peer support infrastructure within reproductive health services</a:t>
            </a:r>
          </a:p>
          <a:p>
            <a:pPr algn="l">
              <a:lnSpc>
                <a:spcPct val="100000"/>
              </a:lnSpc>
              <a:spcAft>
                <a:spcPts val="400"/>
              </a:spcAft>
            </a:pPr>
            <a:r>
              <a:rPr sz="2400" b="0" i="0">
                <a:solidFill>
                  <a:srgbClr val="000000"/>
                </a:solidFill>
                <a:latin typeface="Times New Roman"/>
              </a:rPr>
              <a:t>•  Train providers in psychosocially informed MRKH care</a:t>
            </a:r>
          </a:p>
        </p:txBody>
      </p:sp>
      <p:sp>
        <p:nvSpPr>
          <p:cNvPr id="130" name="TextBox 129"/>
          <p:cNvSpPr txBox="1"/>
          <p:nvPr/>
        </p:nvSpPr>
        <p:spPr>
          <a:xfrm>
            <a:off x="33942528" y="273862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References</a:t>
            </a:r>
          </a:p>
        </p:txBody>
      </p:sp>
      <p:sp>
        <p:nvSpPr>
          <p:cNvPr id="131" name="TextBox 130"/>
          <p:cNvSpPr txBox="1"/>
          <p:nvPr/>
        </p:nvSpPr>
        <p:spPr>
          <a:xfrm>
            <a:off x="33942528" y="28254960"/>
            <a:ext cx="9601200" cy="4434839"/>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200"/>
              </a:spcAft>
            </a:pPr>
            <a:r>
              <a:rPr sz="1800" b="0" i="0">
                <a:solidFill>
                  <a:srgbClr val="000000"/>
                </a:solidFill>
                <a:latin typeface="Times New Roman"/>
              </a:rPr>
              <a:t>1. ACOG Committee Opinion No. 728. </a:t>
            </a:r>
            <a:r>
              <a:rPr sz="1800" b="0" i="1">
                <a:solidFill>
                  <a:srgbClr val="000000"/>
                </a:solidFill>
                <a:latin typeface="Times New Roman"/>
              </a:rPr>
              <a:t>Obstet Gynecol</a:t>
            </a:r>
            <a:r>
              <a:rPr sz="1800" b="0" i="0">
                <a:solidFill>
                  <a:srgbClr val="000000"/>
                </a:solidFill>
                <a:latin typeface="Times New Roman"/>
              </a:rPr>
              <a:t>. 2018;131(1):e35–e42.</a:t>
            </a:r>
          </a:p>
          <a:p>
            <a:pPr algn="l">
              <a:lnSpc>
                <a:spcPct val="100000"/>
              </a:lnSpc>
              <a:spcAft>
                <a:spcPts val="200"/>
              </a:spcAft>
            </a:pPr>
            <a:r>
              <a:rPr sz="1800" b="0" i="0">
                <a:solidFill>
                  <a:srgbClr val="000000"/>
                </a:solidFill>
                <a:latin typeface="Times New Roman"/>
              </a:rPr>
              <a:t>2. Herlin M, et al. </a:t>
            </a:r>
            <a:r>
              <a:rPr sz="1800" b="0" i="1">
                <a:solidFill>
                  <a:srgbClr val="000000"/>
                </a:solidFill>
                <a:latin typeface="Times New Roman"/>
              </a:rPr>
              <a:t>Hum Reprod</a:t>
            </a:r>
            <a:r>
              <a:rPr sz="1800" b="0" i="0">
                <a:solidFill>
                  <a:srgbClr val="000000"/>
                </a:solidFill>
                <a:latin typeface="Times New Roman"/>
              </a:rPr>
              <a:t>. 2016;31(10):2384–2390.</a:t>
            </a:r>
          </a:p>
          <a:p>
            <a:pPr algn="l">
              <a:lnSpc>
                <a:spcPct val="100000"/>
              </a:lnSpc>
              <a:spcAft>
                <a:spcPts val="200"/>
              </a:spcAft>
            </a:pPr>
            <a:r>
              <a:rPr sz="1800" b="0" i="0">
                <a:solidFill>
                  <a:srgbClr val="000000"/>
                </a:solidFill>
                <a:latin typeface="Times New Roman"/>
              </a:rPr>
              <a:t>3. Arksey H, O'Malley L. </a:t>
            </a:r>
            <a:r>
              <a:rPr sz="1800" b="0" i="1">
                <a:solidFill>
                  <a:srgbClr val="000000"/>
                </a:solidFill>
                <a:latin typeface="Times New Roman"/>
              </a:rPr>
              <a:t>Int J Soc Res Methodol</a:t>
            </a:r>
            <a:r>
              <a:rPr sz="1800" b="0" i="0">
                <a:solidFill>
                  <a:srgbClr val="000000"/>
                </a:solidFill>
                <a:latin typeface="Times New Roman"/>
              </a:rPr>
              <a:t>. 2005;8(1):19–32.</a:t>
            </a:r>
          </a:p>
          <a:p>
            <a:pPr algn="l">
              <a:lnSpc>
                <a:spcPct val="100000"/>
              </a:lnSpc>
              <a:spcAft>
                <a:spcPts val="200"/>
              </a:spcAft>
            </a:pPr>
            <a:r>
              <a:rPr sz="1800" b="0" i="0">
                <a:solidFill>
                  <a:srgbClr val="000000"/>
                </a:solidFill>
                <a:latin typeface="Times New Roman"/>
              </a:rPr>
              <a:t>4. Tricco AC, et al. </a:t>
            </a:r>
            <a:r>
              <a:rPr sz="1800" b="0" i="1">
                <a:solidFill>
                  <a:srgbClr val="000000"/>
                </a:solidFill>
                <a:latin typeface="Times New Roman"/>
              </a:rPr>
              <a:t>Ann Intern Med</a:t>
            </a:r>
            <a:r>
              <a:rPr sz="1800" b="0" i="0">
                <a:solidFill>
                  <a:srgbClr val="000000"/>
                </a:solidFill>
                <a:latin typeface="Times New Roman"/>
              </a:rPr>
              <a:t>. 2018;169(7):467–473.</a:t>
            </a:r>
          </a:p>
          <a:p>
            <a:pPr algn="l">
              <a:lnSpc>
                <a:spcPct val="100000"/>
              </a:lnSpc>
              <a:spcAft>
                <a:spcPts val="200"/>
              </a:spcAft>
            </a:pPr>
            <a:r>
              <a:rPr sz="1800" b="0" i="0">
                <a:solidFill>
                  <a:srgbClr val="000000"/>
                </a:solidFill>
                <a:latin typeface="Times New Roman"/>
              </a:rPr>
              <a:t>5. Heller-Boersma JG, et al. </a:t>
            </a:r>
            <a:r>
              <a:rPr sz="1800" b="0" i="1">
                <a:solidFill>
                  <a:srgbClr val="000000"/>
                </a:solidFill>
                <a:latin typeface="Times New Roman"/>
              </a:rPr>
              <a:t>Psychosomatics</a:t>
            </a:r>
            <a:r>
              <a:rPr sz="1800" b="0" i="0">
                <a:solidFill>
                  <a:srgbClr val="000000"/>
                </a:solidFill>
                <a:latin typeface="Times New Roman"/>
              </a:rPr>
              <a:t>. 2009;50(3):277–281.</a:t>
            </a:r>
          </a:p>
          <a:p>
            <a:pPr algn="l">
              <a:lnSpc>
                <a:spcPct val="100000"/>
              </a:lnSpc>
              <a:spcAft>
                <a:spcPts val="200"/>
              </a:spcAft>
            </a:pPr>
            <a:r>
              <a:rPr sz="1800" b="0" i="0">
                <a:solidFill>
                  <a:srgbClr val="000000"/>
                </a:solidFill>
                <a:latin typeface="Times New Roman"/>
              </a:rPr>
              <a:t>6. Laggari V, et al. </a:t>
            </a:r>
            <a:r>
              <a:rPr sz="1800" b="0" i="1">
                <a:solidFill>
                  <a:srgbClr val="000000"/>
                </a:solidFill>
                <a:latin typeface="Times New Roman"/>
              </a:rPr>
              <a:t>J Psychosom Obstet Gynaecol</a:t>
            </a:r>
            <a:r>
              <a:rPr sz="1800" b="0" i="0">
                <a:solidFill>
                  <a:srgbClr val="000000"/>
                </a:solidFill>
                <a:latin typeface="Times New Roman"/>
              </a:rPr>
              <a:t>. 2009;30(2):83–88.</a:t>
            </a:r>
          </a:p>
          <a:p>
            <a:pPr algn="l">
              <a:lnSpc>
                <a:spcPct val="100000"/>
              </a:lnSpc>
              <a:spcAft>
                <a:spcPts val="200"/>
              </a:spcAft>
            </a:pPr>
            <a:r>
              <a:rPr sz="1800" b="0" i="0">
                <a:solidFill>
                  <a:srgbClr val="000000"/>
                </a:solidFill>
                <a:latin typeface="Times New Roman"/>
              </a:rPr>
              <a:t>7. Liao LM, et al. </a:t>
            </a:r>
            <a:r>
              <a:rPr sz="1800" b="0" i="1">
                <a:solidFill>
                  <a:srgbClr val="000000"/>
                </a:solidFill>
                <a:latin typeface="Times New Roman"/>
              </a:rPr>
              <a:t>Am J Obstet Gynecol</a:t>
            </a:r>
            <a:r>
              <a:rPr sz="1800" b="0" i="0">
                <a:solidFill>
                  <a:srgbClr val="000000"/>
                </a:solidFill>
                <a:latin typeface="Times New Roman"/>
              </a:rPr>
              <a:t>. 2011;205(2):117.e1–6.</a:t>
            </a:r>
          </a:p>
          <a:p>
            <a:pPr algn="l">
              <a:lnSpc>
                <a:spcPct val="100000"/>
              </a:lnSpc>
              <a:spcAft>
                <a:spcPts val="200"/>
              </a:spcAft>
            </a:pPr>
            <a:r>
              <a:rPr sz="1800" b="0" i="0">
                <a:solidFill>
                  <a:srgbClr val="000000"/>
                </a:solidFill>
                <a:latin typeface="Times New Roman"/>
              </a:rPr>
              <a:t>8. Facchin F, et al. </a:t>
            </a:r>
            <a:r>
              <a:rPr sz="1800" b="0" i="1">
                <a:solidFill>
                  <a:srgbClr val="000000"/>
                </a:solidFill>
                <a:latin typeface="Times New Roman"/>
              </a:rPr>
              <a:t>J Health Psychol</a:t>
            </a:r>
            <a:r>
              <a:rPr sz="1800" b="0" i="0">
                <a:solidFill>
                  <a:srgbClr val="000000"/>
                </a:solidFill>
                <a:latin typeface="Times New Roman"/>
              </a:rPr>
              <a:t>. 2021;26(1):26–39.</a:t>
            </a:r>
          </a:p>
          <a:p>
            <a:pPr algn="l">
              <a:lnSpc>
                <a:spcPct val="100000"/>
              </a:lnSpc>
              <a:spcAft>
                <a:spcPts val="200"/>
              </a:spcAft>
            </a:pPr>
            <a:r>
              <a:rPr sz="1800" b="1" i="0">
                <a:solidFill>
                  <a:srgbClr val="000000"/>
                </a:solidFill>
                <a:latin typeface="Times New Roman"/>
              </a:rPr>
              <a:t>Acknowledgements:</a:t>
            </a:r>
            <a:r>
              <a:rPr sz="1800" b="0" i="0">
                <a:solidFill>
                  <a:srgbClr val="000000"/>
                </a:solidFill>
                <a:latin typeface="Times New Roman"/>
              </a:rPr>
              <a:t> Mentorship by Dr. Paul Okojie and Dr. Robyn Anderson. No external funding.</a:t>
            </a:r>
          </a:p>
        </p:txBody>
      </p:sp>
    </p:spTree>
    <p:extLst>
      <p:ext uri="{BB962C8B-B14F-4D97-AF65-F5344CB8AC3E}">
        <p14:creationId xmlns:p14="http://schemas.microsoft.com/office/powerpoint/2010/main" val="324770863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baf8218e-b302-4465-a993-4a39c97251b2}" enabled="0" method="" siteId="{baf8218e-b302-4465-a993-4a39c97251b2}" removed="1"/>
</clbl:labelList>
</file>

<file path=docProps/app.xml><?xml version="1.0" encoding="utf-8"?>
<Properties xmlns="http://schemas.openxmlformats.org/officeDocument/2006/extended-properties" xmlns:vt="http://schemas.openxmlformats.org/officeDocument/2006/docPropsVTypes">
  <Template/>
  <TotalTime>56</TotalTime>
  <Words>1348</Words>
  <Application>Microsoft Office PowerPoint</Application>
  <PresentationFormat>Custom</PresentationFormat>
  <Paragraphs>74</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 (Public &amp; Community Health)</cp:lastModifiedBy>
  <cp:revision>4</cp:revision>
  <dcterms:created xsi:type="dcterms:W3CDTF">2013-10-19T16:33:22Z</dcterms:created>
  <dcterms:modified xsi:type="dcterms:W3CDTF">2026-09-22T19:02:45Z</dcterms:modified>
</cp:coreProperties>
</file>