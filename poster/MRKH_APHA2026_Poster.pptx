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40" r:id="rId1"/>
  </p:sldMasterIdLst>
  <p:notesMasterIdLst>
    <p:notesMasterId r:id="rId3"/>
  </p:notesMasterIdLst>
  <p:sldIdLst>
    <p:sldId id="258" r:id="rId2"/>
  </p:sldIdLst>
  <p:sldSz cx="43891200" cy="32918400"/>
  <p:notesSz cx="9144000" cy="6858000"/>
  <p:defaultTextStyle>
    <a:defPPr>
      <a:defRPr lang="en-US"/>
    </a:defPPr>
    <a:lvl1pPr marL="0" algn="l" defTabSz="2072951" rtl="0" eaLnBrk="1" latinLnBrk="0" hangingPunct="1">
      <a:defRPr sz="8200" kern="1200">
        <a:solidFill>
          <a:schemeClr val="tx1"/>
        </a:solidFill>
        <a:latin typeface="+mn-lt"/>
        <a:ea typeface="+mn-ea"/>
        <a:cs typeface="+mn-cs"/>
      </a:defRPr>
    </a:lvl1pPr>
    <a:lvl2pPr marL="2072951" algn="l" defTabSz="2072951" rtl="0" eaLnBrk="1" latinLnBrk="0" hangingPunct="1">
      <a:defRPr sz="8200" kern="1200">
        <a:solidFill>
          <a:schemeClr val="tx1"/>
        </a:solidFill>
        <a:latin typeface="+mn-lt"/>
        <a:ea typeface="+mn-ea"/>
        <a:cs typeface="+mn-cs"/>
      </a:defRPr>
    </a:lvl2pPr>
    <a:lvl3pPr marL="4145900" algn="l" defTabSz="2072951" rtl="0" eaLnBrk="1" latinLnBrk="0" hangingPunct="1">
      <a:defRPr sz="8200" kern="1200">
        <a:solidFill>
          <a:schemeClr val="tx1"/>
        </a:solidFill>
        <a:latin typeface="+mn-lt"/>
        <a:ea typeface="+mn-ea"/>
        <a:cs typeface="+mn-cs"/>
      </a:defRPr>
    </a:lvl3pPr>
    <a:lvl4pPr marL="6218851" algn="l" defTabSz="2072951" rtl="0" eaLnBrk="1" latinLnBrk="0" hangingPunct="1">
      <a:defRPr sz="8200" kern="1200">
        <a:solidFill>
          <a:schemeClr val="tx1"/>
        </a:solidFill>
        <a:latin typeface="+mn-lt"/>
        <a:ea typeface="+mn-ea"/>
        <a:cs typeface="+mn-cs"/>
      </a:defRPr>
    </a:lvl4pPr>
    <a:lvl5pPr marL="8291798" algn="l" defTabSz="2072951" rtl="0" eaLnBrk="1" latinLnBrk="0" hangingPunct="1">
      <a:defRPr sz="8200" kern="1200">
        <a:solidFill>
          <a:schemeClr val="tx1"/>
        </a:solidFill>
        <a:latin typeface="+mn-lt"/>
        <a:ea typeface="+mn-ea"/>
        <a:cs typeface="+mn-cs"/>
      </a:defRPr>
    </a:lvl5pPr>
    <a:lvl6pPr marL="10364750" algn="l" defTabSz="2072951" rtl="0" eaLnBrk="1" latinLnBrk="0" hangingPunct="1">
      <a:defRPr sz="8200" kern="1200">
        <a:solidFill>
          <a:schemeClr val="tx1"/>
        </a:solidFill>
        <a:latin typeface="+mn-lt"/>
        <a:ea typeface="+mn-ea"/>
        <a:cs typeface="+mn-cs"/>
      </a:defRPr>
    </a:lvl6pPr>
    <a:lvl7pPr marL="12437701" algn="l" defTabSz="2072951" rtl="0" eaLnBrk="1" latinLnBrk="0" hangingPunct="1">
      <a:defRPr sz="8200" kern="1200">
        <a:solidFill>
          <a:schemeClr val="tx1"/>
        </a:solidFill>
        <a:latin typeface="+mn-lt"/>
        <a:ea typeface="+mn-ea"/>
        <a:cs typeface="+mn-cs"/>
      </a:defRPr>
    </a:lvl7pPr>
    <a:lvl8pPr marL="14510648" algn="l" defTabSz="2072951" rtl="0" eaLnBrk="1" latinLnBrk="0" hangingPunct="1">
      <a:defRPr sz="8200" kern="1200">
        <a:solidFill>
          <a:schemeClr val="tx1"/>
        </a:solidFill>
        <a:latin typeface="+mn-lt"/>
        <a:ea typeface="+mn-ea"/>
        <a:cs typeface="+mn-cs"/>
      </a:defRPr>
    </a:lvl8pPr>
    <a:lvl9pPr marL="16583601" algn="l" defTabSz="2072951"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9">
          <p15:clr>
            <a:srgbClr val="A4A3A4"/>
          </p15:clr>
        </p15:guide>
        <p15:guide id="2" pos="16128">
          <p15:clr>
            <a:srgbClr val="A4A3A4"/>
          </p15:clr>
        </p15:guide>
        <p15:guide id="3"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CE1E"/>
    <a:srgbClr val="00C28D"/>
    <a:srgbClr val="00B4FF"/>
    <a:srgbClr val="008080"/>
    <a:srgbClr val="1270FC"/>
    <a:srgbClr val="FFA200"/>
    <a:srgbClr val="008000"/>
    <a:srgbClr val="FFFFFF"/>
    <a:srgbClr val="0A254E"/>
    <a:srgbClr val="0A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310" autoAdjust="0"/>
  </p:normalViewPr>
  <p:slideViewPr>
    <p:cSldViewPr snapToGrid="0" snapToObjects="1">
      <p:cViewPr varScale="1">
        <p:scale>
          <a:sx n="14" d="100"/>
          <a:sy n="14" d="100"/>
        </p:scale>
        <p:origin x="1284" y="112"/>
      </p:cViewPr>
      <p:guideLst>
        <p:guide orient="horz" pos="10369"/>
        <p:guide pos="16128"/>
        <p:guide pos="13824"/>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36263FE2-9438-354A-B60A-5A471281E58B}" type="datetimeFigureOut">
              <a:rPr lang="en-US" smtClean="0"/>
              <a:t>9/3/2026</a:t>
            </a:fld>
            <a:endParaRPr lang="en-US"/>
          </a:p>
        </p:txBody>
      </p:sp>
      <p:sp>
        <p:nvSpPr>
          <p:cNvPr id="4" name="Slide Image Placeholder 3"/>
          <p:cNvSpPr>
            <a:spLocks noGrp="1" noRot="1" noChangeAspect="1"/>
          </p:cNvSpPr>
          <p:nvPr>
            <p:ph type="sldImg" idx="2"/>
          </p:nvPr>
        </p:nvSpPr>
        <p:spPr>
          <a:xfrm>
            <a:off x="2857500" y="514350"/>
            <a:ext cx="3429000" cy="25717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3962400" cy="342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80013" y="6513513"/>
            <a:ext cx="3962400" cy="342900"/>
          </a:xfrm>
          <a:prstGeom prst="rect">
            <a:avLst/>
          </a:prstGeom>
        </p:spPr>
        <p:txBody>
          <a:bodyPr vert="horz" lIns="91440" tIns="45720" rIns="91440" bIns="45720" rtlCol="0" anchor="b"/>
          <a:lstStyle>
            <a:lvl1pPr algn="r">
              <a:defRPr sz="1200"/>
            </a:lvl1pPr>
          </a:lstStyle>
          <a:p>
            <a:fld id="{FECA9BC3-5A08-5C40-8DE6-1B49CE826337}" type="slidenum">
              <a:rPr lang="en-US" smtClean="0"/>
              <a:t>‹#›</a:t>
            </a:fld>
            <a:endParaRPr lang="en-US"/>
          </a:p>
        </p:txBody>
      </p:sp>
    </p:spTree>
    <p:extLst>
      <p:ext uri="{BB962C8B-B14F-4D97-AF65-F5344CB8AC3E}">
        <p14:creationId xmlns:p14="http://schemas.microsoft.com/office/powerpoint/2010/main" val="3278815488"/>
      </p:ext>
    </p:extLst>
  </p:cSld>
  <p:clrMap bg1="lt1" tx1="dk1" bg2="lt2" tx2="dk2" accent1="accent1" accent2="accent2" accent3="accent3" accent4="accent4" accent5="accent5" accent6="accent6" hlink="hlink" folHlink="folHlink"/>
  <p:notesStyle>
    <a:lvl1pPr marL="0" algn="l" defTabSz="477467" rtl="0" eaLnBrk="1" latinLnBrk="0" hangingPunct="1">
      <a:defRPr sz="1300" kern="1200">
        <a:solidFill>
          <a:schemeClr val="tx1"/>
        </a:solidFill>
        <a:latin typeface="+mn-lt"/>
        <a:ea typeface="+mn-ea"/>
        <a:cs typeface="+mn-cs"/>
      </a:defRPr>
    </a:lvl1pPr>
    <a:lvl2pPr marL="477467" algn="l" defTabSz="477467" rtl="0" eaLnBrk="1" latinLnBrk="0" hangingPunct="1">
      <a:defRPr sz="1300" kern="1200">
        <a:solidFill>
          <a:schemeClr val="tx1"/>
        </a:solidFill>
        <a:latin typeface="+mn-lt"/>
        <a:ea typeface="+mn-ea"/>
        <a:cs typeface="+mn-cs"/>
      </a:defRPr>
    </a:lvl2pPr>
    <a:lvl3pPr marL="954936" algn="l" defTabSz="477467" rtl="0" eaLnBrk="1" latinLnBrk="0" hangingPunct="1">
      <a:defRPr sz="1300" kern="1200">
        <a:solidFill>
          <a:schemeClr val="tx1"/>
        </a:solidFill>
        <a:latin typeface="+mn-lt"/>
        <a:ea typeface="+mn-ea"/>
        <a:cs typeface="+mn-cs"/>
      </a:defRPr>
    </a:lvl3pPr>
    <a:lvl4pPr marL="1432403" algn="l" defTabSz="477467" rtl="0" eaLnBrk="1" latinLnBrk="0" hangingPunct="1">
      <a:defRPr sz="1300" kern="1200">
        <a:solidFill>
          <a:schemeClr val="tx1"/>
        </a:solidFill>
        <a:latin typeface="+mn-lt"/>
        <a:ea typeface="+mn-ea"/>
        <a:cs typeface="+mn-cs"/>
      </a:defRPr>
    </a:lvl4pPr>
    <a:lvl5pPr marL="1909870" algn="l" defTabSz="477467" rtl="0" eaLnBrk="1" latinLnBrk="0" hangingPunct="1">
      <a:defRPr sz="1300" kern="1200">
        <a:solidFill>
          <a:schemeClr val="tx1"/>
        </a:solidFill>
        <a:latin typeface="+mn-lt"/>
        <a:ea typeface="+mn-ea"/>
        <a:cs typeface="+mn-cs"/>
      </a:defRPr>
    </a:lvl5pPr>
    <a:lvl6pPr marL="2387337" algn="l" defTabSz="477467" rtl="0" eaLnBrk="1" latinLnBrk="0" hangingPunct="1">
      <a:defRPr sz="1300" kern="1200">
        <a:solidFill>
          <a:schemeClr val="tx1"/>
        </a:solidFill>
        <a:latin typeface="+mn-lt"/>
        <a:ea typeface="+mn-ea"/>
        <a:cs typeface="+mn-cs"/>
      </a:defRPr>
    </a:lvl6pPr>
    <a:lvl7pPr marL="2864805" algn="l" defTabSz="477467" rtl="0" eaLnBrk="1" latinLnBrk="0" hangingPunct="1">
      <a:defRPr sz="1300" kern="1200">
        <a:solidFill>
          <a:schemeClr val="tx1"/>
        </a:solidFill>
        <a:latin typeface="+mn-lt"/>
        <a:ea typeface="+mn-ea"/>
        <a:cs typeface="+mn-cs"/>
      </a:defRPr>
    </a:lvl7pPr>
    <a:lvl8pPr marL="3342272" algn="l" defTabSz="477467" rtl="0" eaLnBrk="1" latinLnBrk="0" hangingPunct="1">
      <a:defRPr sz="1300" kern="1200">
        <a:solidFill>
          <a:schemeClr val="tx1"/>
        </a:solidFill>
        <a:latin typeface="+mn-lt"/>
        <a:ea typeface="+mn-ea"/>
        <a:cs typeface="+mn-cs"/>
      </a:defRPr>
    </a:lvl8pPr>
    <a:lvl9pPr marL="3819741" algn="l" defTabSz="477467"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EFD75-C664-C06B-8435-139272CD8B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CFBF99-3EB2-AAD2-6F03-91E84EC7D2C9}"/>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DA8B7ED1-8F00-CF7C-FF86-F0BA76EF215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187B-62FD-CA95-DAC6-813F753CB3B0}"/>
              </a:ext>
            </a:extLst>
          </p:cNvPr>
          <p:cNvSpPr>
            <a:spLocks noGrp="1"/>
          </p:cNvSpPr>
          <p:nvPr>
            <p:ph type="sldNum" sz="quarter" idx="10"/>
          </p:nvPr>
        </p:nvSpPr>
        <p:spPr/>
        <p:txBody>
          <a:bodyPr/>
          <a:lstStyle/>
          <a:p>
            <a:fld id="{FECA9BC3-5A08-5C40-8DE6-1B49CE826337}" type="slidenum">
              <a:rPr lang="en-US" smtClean="0"/>
              <a:t>1</a:t>
            </a:fld>
            <a:endParaRPr lang="en-US"/>
          </a:p>
        </p:txBody>
      </p:sp>
    </p:spTree>
    <p:extLst>
      <p:ext uri="{BB962C8B-B14F-4D97-AF65-F5344CB8AC3E}">
        <p14:creationId xmlns:p14="http://schemas.microsoft.com/office/powerpoint/2010/main" val="4250958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934496" y="8493799"/>
            <a:ext cx="33984125" cy="8778245"/>
          </a:xfrm>
        </p:spPr>
        <p:txBody>
          <a:bodyPr anchor="b">
            <a:normAutofit/>
          </a:bodyPr>
          <a:lstStyle>
            <a:lvl1pPr algn="ctr">
              <a:defRPr sz="25920"/>
            </a:lvl1pPr>
          </a:lstStyle>
          <a:p>
            <a:r>
              <a:rPr lang="en-US"/>
              <a:t>Click to edit Master title style</a:t>
            </a:r>
            <a:endParaRPr lang="en-US" dirty="0"/>
          </a:p>
        </p:txBody>
      </p:sp>
      <p:sp>
        <p:nvSpPr>
          <p:cNvPr id="3" name="Subtitle 2"/>
          <p:cNvSpPr>
            <a:spLocks noGrp="1"/>
          </p:cNvSpPr>
          <p:nvPr>
            <p:ph type="subTitle" idx="1"/>
          </p:nvPr>
        </p:nvSpPr>
        <p:spPr>
          <a:xfrm>
            <a:off x="4934496" y="17272029"/>
            <a:ext cx="33984125" cy="5039362"/>
          </a:xfrm>
        </p:spPr>
        <p:txBody>
          <a:bodyPr anchor="t"/>
          <a:lstStyle>
            <a:lvl1pPr marL="0" indent="0" algn="ctr">
              <a:buNone/>
              <a:defRPr>
                <a:solidFill>
                  <a:schemeClr val="tx1"/>
                </a:solidFill>
              </a:defRPr>
            </a:lvl1pPr>
            <a:lvl2pPr marL="2194560" indent="0" algn="ctr">
              <a:buNone/>
              <a:defRPr>
                <a:solidFill>
                  <a:schemeClr val="tx1">
                    <a:tint val="75000"/>
                  </a:schemeClr>
                </a:solidFill>
              </a:defRPr>
            </a:lvl2pPr>
            <a:lvl3pPr marL="4389120" indent="0" algn="ctr">
              <a:buNone/>
              <a:defRPr>
                <a:solidFill>
                  <a:schemeClr val="tx1">
                    <a:tint val="75000"/>
                  </a:schemeClr>
                </a:solidFill>
              </a:defRPr>
            </a:lvl3pPr>
            <a:lvl4pPr marL="6583680" indent="0" algn="ctr">
              <a:buNone/>
              <a:defRPr>
                <a:solidFill>
                  <a:schemeClr val="tx1">
                    <a:tint val="75000"/>
                  </a:schemeClr>
                </a:solidFill>
              </a:defRPr>
            </a:lvl4pPr>
            <a:lvl5pPr marL="8778240" indent="0" algn="ctr">
              <a:buNone/>
              <a:defRPr>
                <a:solidFill>
                  <a:schemeClr val="tx1">
                    <a:tint val="75000"/>
                  </a:schemeClr>
                </a:solidFill>
              </a:defRPr>
            </a:lvl5pPr>
            <a:lvl6pPr marL="10972800" indent="0" algn="ctr">
              <a:buNone/>
              <a:defRPr>
                <a:solidFill>
                  <a:schemeClr val="tx1">
                    <a:tint val="75000"/>
                  </a:schemeClr>
                </a:solidFill>
              </a:defRPr>
            </a:lvl6pPr>
            <a:lvl7pPr marL="13167360" indent="0" algn="ctr">
              <a:buNone/>
              <a:defRPr>
                <a:solidFill>
                  <a:schemeClr val="tx1">
                    <a:tint val="75000"/>
                  </a:schemeClr>
                </a:solidFill>
              </a:defRPr>
            </a:lvl7pPr>
            <a:lvl8pPr marL="15361920" indent="0" algn="ctr">
              <a:buNone/>
              <a:defRPr>
                <a:solidFill>
                  <a:schemeClr val="tx1">
                    <a:tint val="75000"/>
                  </a:schemeClr>
                </a:solidFill>
              </a:defRPr>
            </a:lvl8pPr>
            <a:lvl9pPr marL="1755648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2335667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67538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63447" y="8453129"/>
            <a:ext cx="34525982" cy="8778302"/>
          </a:xfrm>
        </p:spPr>
        <p:txBody>
          <a:bodyPr anchor="b"/>
          <a:lstStyle>
            <a:lvl1pPr algn="ctr">
              <a:defRPr sz="19200" b="0" cap="none"/>
            </a:lvl1pPr>
          </a:lstStyle>
          <a:p>
            <a:r>
              <a:rPr lang="en-US"/>
              <a:t>Click to edit Master title style</a:t>
            </a:r>
            <a:endParaRPr lang="en-US" dirty="0"/>
          </a:p>
        </p:txBody>
      </p:sp>
      <p:sp>
        <p:nvSpPr>
          <p:cNvPr id="3" name="Text Placeholder 2"/>
          <p:cNvSpPr>
            <a:spLocks noGrp="1"/>
          </p:cNvSpPr>
          <p:nvPr>
            <p:ph type="body" idx="1"/>
          </p:nvPr>
        </p:nvSpPr>
        <p:spPr>
          <a:xfrm>
            <a:off x="4663447" y="17231419"/>
            <a:ext cx="34525982" cy="7233859"/>
          </a:xfrm>
        </p:spPr>
        <p:txBody>
          <a:bodyPr anchor="t"/>
          <a:lstStyle>
            <a:lvl1pPr marL="0" indent="0" algn="ctr">
              <a:buNone/>
              <a:defRPr sz="9600">
                <a:solidFill>
                  <a:schemeClr val="tx1"/>
                </a:solidFill>
              </a:defRPr>
            </a:lvl1pPr>
            <a:lvl2pPr marL="2194560" indent="0">
              <a:buNone/>
              <a:defRPr sz="8640">
                <a:solidFill>
                  <a:schemeClr val="tx1">
                    <a:tint val="75000"/>
                  </a:schemeClr>
                </a:solidFill>
              </a:defRPr>
            </a:lvl2pPr>
            <a:lvl3pPr marL="4389120" indent="0">
              <a:buNone/>
              <a:defRPr sz="7680">
                <a:solidFill>
                  <a:schemeClr val="tx1">
                    <a:tint val="75000"/>
                  </a:schemeClr>
                </a:solidFill>
              </a:defRPr>
            </a:lvl3pPr>
            <a:lvl4pPr marL="6583680" indent="0">
              <a:buNone/>
              <a:defRPr sz="6720">
                <a:solidFill>
                  <a:schemeClr val="tx1">
                    <a:tint val="75000"/>
                  </a:schemeClr>
                </a:solidFill>
              </a:defRPr>
            </a:lvl4pPr>
            <a:lvl5pPr marL="8778240" indent="0">
              <a:buNone/>
              <a:defRPr sz="6720">
                <a:solidFill>
                  <a:schemeClr val="tx1">
                    <a:tint val="75000"/>
                  </a:schemeClr>
                </a:solidFill>
              </a:defRPr>
            </a:lvl5pPr>
            <a:lvl6pPr marL="10972800" indent="0">
              <a:buNone/>
              <a:defRPr sz="6720">
                <a:solidFill>
                  <a:schemeClr val="tx1">
                    <a:tint val="75000"/>
                  </a:schemeClr>
                </a:solidFill>
              </a:defRPr>
            </a:lvl6pPr>
            <a:lvl7pPr marL="13167360" indent="0">
              <a:buNone/>
              <a:defRPr sz="6720">
                <a:solidFill>
                  <a:schemeClr val="tx1">
                    <a:tint val="75000"/>
                  </a:schemeClr>
                </a:solidFill>
              </a:defRPr>
            </a:lvl7pPr>
            <a:lvl8pPr marL="15361920" indent="0">
              <a:buNone/>
              <a:defRPr sz="6720">
                <a:solidFill>
                  <a:schemeClr val="tx1">
                    <a:tint val="75000"/>
                  </a:schemeClr>
                </a:solidFill>
              </a:defRPr>
            </a:lvl8pPr>
            <a:lvl9pPr marL="17556480" indent="0">
              <a:buNone/>
              <a:defRPr sz="672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46892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289668" y="8315755"/>
            <a:ext cx="18217790" cy="1948200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330414" y="8315762"/>
            <a:ext cx="18232795" cy="194820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10031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89659" y="8497553"/>
            <a:ext cx="18179630" cy="19742174"/>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83579" y="8497553"/>
            <a:ext cx="18179630" cy="19742174"/>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3621139" y="8809219"/>
            <a:ext cx="17554838" cy="2615443"/>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621139" y="11424665"/>
            <a:ext cx="17554838"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661880" y="8809227"/>
            <a:ext cx="17623190" cy="2615438"/>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661880" y="11424665"/>
            <a:ext cx="17623190"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53281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468241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7077068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8" y="2926080"/>
            <a:ext cx="13344802" cy="8745206"/>
          </a:xfrm>
        </p:spPr>
        <p:txBody>
          <a:bodyPr anchor="b">
            <a:normAutofit/>
          </a:bodyPr>
          <a:lstStyle>
            <a:lvl1pPr algn="ctr">
              <a:defRPr sz="11520" b="0"/>
            </a:lvl1pPr>
          </a:lstStyle>
          <a:p>
            <a:r>
              <a:rPr lang="en-US"/>
              <a:t>Click to edit Master title style</a:t>
            </a:r>
            <a:endParaRPr lang="en-US" dirty="0"/>
          </a:p>
        </p:txBody>
      </p:sp>
      <p:sp>
        <p:nvSpPr>
          <p:cNvPr id="3" name="Content Placeholder 2"/>
          <p:cNvSpPr>
            <a:spLocks noGrp="1"/>
          </p:cNvSpPr>
          <p:nvPr>
            <p:ph idx="1"/>
          </p:nvPr>
        </p:nvSpPr>
        <p:spPr>
          <a:xfrm>
            <a:off x="17480283" y="2926080"/>
            <a:ext cx="23082926" cy="2487168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289668" y="11671289"/>
            <a:ext cx="13344802" cy="16126469"/>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661533336"/>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255938" y="2927630"/>
            <a:ext cx="16455101" cy="24986266"/>
          </a:xfrm>
          <a:prstGeom prst="rect">
            <a:avLst/>
          </a:prstGeom>
        </p:spPr>
      </p:pic>
      <p:sp>
        <p:nvSpPr>
          <p:cNvPr id="2" name="Title 1"/>
          <p:cNvSpPr>
            <a:spLocks noGrp="1"/>
          </p:cNvSpPr>
          <p:nvPr>
            <p:ph type="title"/>
          </p:nvPr>
        </p:nvSpPr>
        <p:spPr>
          <a:xfrm>
            <a:off x="3289666" y="2927631"/>
            <a:ext cx="18838445" cy="8780822"/>
          </a:xfrm>
        </p:spPr>
        <p:txBody>
          <a:bodyPr anchor="b">
            <a:noAutofit/>
          </a:bodyPr>
          <a:lstStyle>
            <a:lvl1pPr algn="ctr">
              <a:defRPr sz="1536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88297" y="3571147"/>
            <a:ext cx="15193800" cy="23581546"/>
          </a:xfr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4" name="Text Placeholder 3"/>
          <p:cNvSpPr>
            <a:spLocks noGrp="1"/>
          </p:cNvSpPr>
          <p:nvPr>
            <p:ph type="body" sz="half" idx="2"/>
          </p:nvPr>
        </p:nvSpPr>
        <p:spPr>
          <a:xfrm>
            <a:off x="3289666" y="11708453"/>
            <a:ext cx="18838445" cy="16205443"/>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752107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71176" y="2592408"/>
            <a:ext cx="36748848" cy="18404995"/>
          </a:xfrm>
          <a:prstGeom prst="rect">
            <a:avLst/>
          </a:prstGeom>
        </p:spPr>
      </p:pic>
      <p:sp>
        <p:nvSpPr>
          <p:cNvPr id="2" name="Title 1"/>
          <p:cNvSpPr>
            <a:spLocks noGrp="1"/>
          </p:cNvSpPr>
          <p:nvPr>
            <p:ph type="title"/>
          </p:nvPr>
        </p:nvSpPr>
        <p:spPr>
          <a:xfrm>
            <a:off x="3289702" y="21913224"/>
            <a:ext cx="37279176" cy="2608666"/>
          </a:xfrm>
        </p:spPr>
        <p:txBody>
          <a:bodyPr anchor="b">
            <a:normAutofit/>
          </a:bodyPr>
          <a:lstStyle>
            <a:lvl1pPr algn="ctr">
              <a:defRPr sz="13440"/>
            </a:lvl1pPr>
          </a:lstStyle>
          <a:p>
            <a:r>
              <a:rPr lang="en-US"/>
              <a:t>Click to edit Master title style</a:t>
            </a:r>
            <a:endParaRPr lang="en-US" dirty="0"/>
          </a:p>
        </p:txBody>
      </p:sp>
      <p:sp>
        <p:nvSpPr>
          <p:cNvPr id="3" name="Picture Placeholder 2"/>
          <p:cNvSpPr>
            <a:spLocks noGrp="1" noChangeAspect="1"/>
          </p:cNvSpPr>
          <p:nvPr>
            <p:ph type="pic" idx="1"/>
          </p:nvPr>
        </p:nvSpPr>
        <p:spPr>
          <a:xfrm>
            <a:off x="4445842" y="3336050"/>
            <a:ext cx="34970880" cy="16923221"/>
          </a:xfrm>
          <a:effectLst>
            <a:outerShdw blurRad="38100" dist="25400" dir="4440000">
              <a:srgbClr val="000000">
                <a:alpha val="36000"/>
              </a:srgbClr>
            </a:outerShdw>
          </a:effectLst>
        </p:spPr>
        <p:txBody>
          <a:bodyPr anchor="t">
            <a:normAutofit/>
          </a:bodyPr>
          <a:lstStyle>
            <a:lvl1pPr marL="0" indent="0" algn="ctr">
              <a:buNone/>
              <a:defRPr sz="9600"/>
            </a:lvl1pPr>
            <a:lvl2pPr marL="2194560" indent="0">
              <a:buNone/>
              <a:defRPr sz="9600"/>
            </a:lvl2pPr>
            <a:lvl3pPr marL="4389120" indent="0">
              <a:buNone/>
              <a:defRPr sz="960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289661" y="24521894"/>
            <a:ext cx="37273546" cy="3275866"/>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24113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1" y="2920498"/>
            <a:ext cx="37273546" cy="16964851"/>
          </a:xfrm>
        </p:spPr>
        <p:txBody>
          <a:bodyPr anchor="ctr"/>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61" y="20616864"/>
            <a:ext cx="37273546" cy="7208765"/>
          </a:xfrm>
        </p:spPr>
        <p:txBody>
          <a:bodyPr anchor="ct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8372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6363" y="2926080"/>
            <a:ext cx="33489907" cy="14365939"/>
          </a:xfrm>
        </p:spPr>
        <p:txBody>
          <a:bodyPr anchor="ctr"/>
          <a:lstStyle>
            <a:lvl1pPr>
              <a:defRPr sz="15360"/>
            </a:lvl1pPr>
          </a:lstStyle>
          <a:p>
            <a:r>
              <a:rPr lang="en-US"/>
              <a:t>Click to edit Master title style</a:t>
            </a:r>
            <a:endParaRPr lang="en-US" dirty="0"/>
          </a:p>
        </p:txBody>
      </p:sp>
      <p:sp>
        <p:nvSpPr>
          <p:cNvPr id="12" name="Text Placeholder 3"/>
          <p:cNvSpPr>
            <a:spLocks noGrp="1"/>
          </p:cNvSpPr>
          <p:nvPr>
            <p:ph type="body" sz="half" idx="13"/>
          </p:nvPr>
        </p:nvSpPr>
        <p:spPr>
          <a:xfrm>
            <a:off x="6194323" y="17328161"/>
            <a:ext cx="31508275" cy="2557195"/>
          </a:xfrm>
        </p:spPr>
        <p:txBody>
          <a:bodyPr anchor="t">
            <a:normAutofit/>
          </a:bodyPr>
          <a:lstStyle>
            <a:lvl1pPr marL="0" indent="0" algn="r">
              <a:buNone/>
              <a:defRPr sz="672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4" name="Text Placeholder 3"/>
          <p:cNvSpPr>
            <a:spLocks noGrp="1"/>
          </p:cNvSpPr>
          <p:nvPr>
            <p:ph type="body" sz="half" idx="2"/>
          </p:nvPr>
        </p:nvSpPr>
        <p:spPr>
          <a:xfrm>
            <a:off x="3289661" y="20660894"/>
            <a:ext cx="37273546" cy="7149581"/>
          </a:xfrm>
        </p:spPr>
        <p:txBody>
          <a:bodyPr anchor="ctr">
            <a:normAutofit/>
          </a:bodyP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3011803" y="4194778"/>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38400" dirty="0">
                <a:solidFill>
                  <a:schemeClr val="tx1"/>
                </a:solidFill>
                <a:effectLst/>
              </a:rPr>
              <a:t>“</a:t>
            </a:r>
          </a:p>
        </p:txBody>
      </p:sp>
      <p:sp>
        <p:nvSpPr>
          <p:cNvPr id="13" name="TextBox 12"/>
          <p:cNvSpPr txBox="1"/>
          <p:nvPr/>
        </p:nvSpPr>
        <p:spPr>
          <a:xfrm>
            <a:off x="37576123" y="14079576"/>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38400" dirty="0">
                <a:solidFill>
                  <a:schemeClr val="tx1"/>
                </a:solidFill>
                <a:effectLst/>
              </a:rPr>
              <a:t>”</a:t>
            </a:r>
          </a:p>
        </p:txBody>
      </p:sp>
    </p:spTree>
    <p:extLst>
      <p:ext uri="{BB962C8B-B14F-4D97-AF65-F5344CB8AC3E}">
        <p14:creationId xmlns:p14="http://schemas.microsoft.com/office/powerpoint/2010/main" val="29602428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3289661" y="10209329"/>
            <a:ext cx="37273546" cy="12056808"/>
          </a:xfrm>
        </p:spPr>
        <p:txBody>
          <a:bodyPr anchor="b"/>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30" y="22322669"/>
            <a:ext cx="37267915" cy="5475091"/>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40731274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7" name="Text Placeholder 2"/>
          <p:cNvSpPr>
            <a:spLocks noGrp="1"/>
          </p:cNvSpPr>
          <p:nvPr>
            <p:ph type="body" idx="1"/>
          </p:nvPr>
        </p:nvSpPr>
        <p:spPr>
          <a:xfrm>
            <a:off x="3289661"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8" name="Text Placeholder 3"/>
          <p:cNvSpPr>
            <a:spLocks noGrp="1"/>
          </p:cNvSpPr>
          <p:nvPr>
            <p:ph type="body" sz="half" idx="15"/>
          </p:nvPr>
        </p:nvSpPr>
        <p:spPr>
          <a:xfrm>
            <a:off x="3289661"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9" name="Text Placeholder 4"/>
          <p:cNvSpPr>
            <a:spLocks noGrp="1"/>
          </p:cNvSpPr>
          <p:nvPr>
            <p:ph type="body" sz="quarter" idx="3"/>
          </p:nvPr>
        </p:nvSpPr>
        <p:spPr>
          <a:xfrm>
            <a:off x="160081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0" name="Text Placeholder 3"/>
          <p:cNvSpPr>
            <a:spLocks noGrp="1"/>
          </p:cNvSpPr>
          <p:nvPr>
            <p:ph type="body" sz="half" idx="16"/>
          </p:nvPr>
        </p:nvSpPr>
        <p:spPr>
          <a:xfrm>
            <a:off x="15989165"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11" name="Text Placeholder 4"/>
          <p:cNvSpPr>
            <a:spLocks noGrp="1"/>
          </p:cNvSpPr>
          <p:nvPr>
            <p:ph type="body" sz="quarter" idx="13"/>
          </p:nvPr>
        </p:nvSpPr>
        <p:spPr>
          <a:xfrm>
            <a:off x="286796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2" name="Text Placeholder 3"/>
          <p:cNvSpPr>
            <a:spLocks noGrp="1"/>
          </p:cNvSpPr>
          <p:nvPr>
            <p:ph type="body" sz="half" idx="17"/>
          </p:nvPr>
        </p:nvSpPr>
        <p:spPr>
          <a:xfrm>
            <a:off x="28679659"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637317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64347" y="8765016"/>
            <a:ext cx="12139421" cy="880107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10302" y="8765016"/>
            <a:ext cx="12139421" cy="880107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24232" y="8765016"/>
            <a:ext cx="12139421" cy="8801078"/>
          </a:xfrm>
          <a:prstGeom prst="rect">
            <a:avLst/>
          </a:prstGeom>
        </p:spPr>
      </p:pic>
      <p:sp>
        <p:nvSpPr>
          <p:cNvPr id="30"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328966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0" name="Picture Placeholder 2"/>
          <p:cNvSpPr>
            <a:spLocks noGrp="1" noChangeAspect="1"/>
          </p:cNvSpPr>
          <p:nvPr>
            <p:ph type="pic" idx="15"/>
          </p:nvPr>
        </p:nvSpPr>
        <p:spPr>
          <a:xfrm>
            <a:off x="3665170" y="9306807"/>
            <a:ext cx="11132525" cy="7694179"/>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1" name="Text Placeholder 3"/>
          <p:cNvSpPr>
            <a:spLocks noGrp="1"/>
          </p:cNvSpPr>
          <p:nvPr>
            <p:ph type="body" sz="half" idx="18"/>
          </p:nvPr>
        </p:nvSpPr>
        <p:spPr>
          <a:xfrm>
            <a:off x="3289661" y="21505774"/>
            <a:ext cx="11883542"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2" name="Text Placeholder 4"/>
          <p:cNvSpPr>
            <a:spLocks noGrp="1"/>
          </p:cNvSpPr>
          <p:nvPr>
            <p:ph type="body" sz="quarter" idx="3"/>
          </p:nvPr>
        </p:nvSpPr>
        <p:spPr>
          <a:xfrm>
            <a:off x="15994037"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3" name="Picture Placeholder 2"/>
          <p:cNvSpPr>
            <a:spLocks noGrp="1" noChangeAspect="1"/>
          </p:cNvSpPr>
          <p:nvPr>
            <p:ph type="pic" idx="21"/>
          </p:nvPr>
        </p:nvSpPr>
        <p:spPr>
          <a:xfrm>
            <a:off x="16364674" y="9307651"/>
            <a:ext cx="11132525" cy="7719187"/>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4" name="Text Placeholder 3"/>
          <p:cNvSpPr>
            <a:spLocks noGrp="1"/>
          </p:cNvSpPr>
          <p:nvPr>
            <p:ph type="body" sz="half" idx="19"/>
          </p:nvPr>
        </p:nvSpPr>
        <p:spPr>
          <a:xfrm>
            <a:off x="15989163" y="21505769"/>
            <a:ext cx="11888414"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5" name="Text Placeholder 4"/>
          <p:cNvSpPr>
            <a:spLocks noGrp="1"/>
          </p:cNvSpPr>
          <p:nvPr>
            <p:ph type="body" sz="quarter" idx="13"/>
          </p:nvPr>
        </p:nvSpPr>
        <p:spPr>
          <a:xfrm>
            <a:off x="2868011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6" name="Picture Placeholder 2"/>
          <p:cNvSpPr>
            <a:spLocks noGrp="1" noChangeAspect="1"/>
          </p:cNvSpPr>
          <p:nvPr>
            <p:ph type="pic" idx="22"/>
          </p:nvPr>
        </p:nvSpPr>
        <p:spPr>
          <a:xfrm>
            <a:off x="29072515" y="9285274"/>
            <a:ext cx="11132525" cy="7715011"/>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7" name="Text Placeholder 3"/>
          <p:cNvSpPr>
            <a:spLocks noGrp="1"/>
          </p:cNvSpPr>
          <p:nvPr>
            <p:ph type="body" sz="half" idx="20"/>
          </p:nvPr>
        </p:nvSpPr>
        <p:spPr>
          <a:xfrm>
            <a:off x="28679659" y="21505759"/>
            <a:ext cx="11883542" cy="629200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37930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838870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2339052" y="2926082"/>
            <a:ext cx="8224152" cy="24871685"/>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3289666" y="2926082"/>
            <a:ext cx="28500739" cy="2487168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701277221"/>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89661" y="2926080"/>
            <a:ext cx="37273546" cy="465816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289661" y="8315762"/>
            <a:ext cx="37273546" cy="19482005"/>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7643450" y="28239727"/>
            <a:ext cx="9875520"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9/3/2026</a:t>
            </a:fld>
            <a:endParaRPr lang="en-US"/>
          </a:p>
        </p:txBody>
      </p:sp>
      <p:sp>
        <p:nvSpPr>
          <p:cNvPr id="5" name="Footer Placeholder 4"/>
          <p:cNvSpPr>
            <a:spLocks noGrp="1"/>
          </p:cNvSpPr>
          <p:nvPr>
            <p:ph type="ftr" sz="quarter" idx="3"/>
          </p:nvPr>
        </p:nvSpPr>
        <p:spPr>
          <a:xfrm>
            <a:off x="3289668" y="28239727"/>
            <a:ext cx="24022315" cy="1752600"/>
          </a:xfrm>
          <a:prstGeom prst="rect">
            <a:avLst/>
          </a:prstGeom>
        </p:spPr>
        <p:txBody>
          <a:bodyPr vert="horz" lIns="91440" tIns="45720" rIns="91440" bIns="45720" rtlCol="0" anchor="ctr"/>
          <a:lstStyle>
            <a:lvl1pPr algn="l">
              <a:defRPr sz="48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37850446" y="28239727"/>
            <a:ext cx="2712763"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736249571"/>
      </p:ext>
    </p:extLst>
  </p:cSld>
  <p:clrMap bg1="dk1" tx1="lt1" bg2="dk2" tx2="lt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Lst>
  <p:txStyles>
    <p:titleStyle>
      <a:lvl1pPr algn="ctr" defTabSz="2194560" rtl="0" eaLnBrk="1" latinLnBrk="0" hangingPunct="1">
        <a:spcBef>
          <a:spcPct val="0"/>
        </a:spcBef>
        <a:buNone/>
        <a:defRPr sz="192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1645920" indent="-1468800" algn="l" defTabSz="2194560" rtl="0" eaLnBrk="1" latinLnBrk="0" hangingPunct="1">
        <a:spcBef>
          <a:spcPct val="20000"/>
        </a:spcBef>
        <a:spcAft>
          <a:spcPts val="2880"/>
        </a:spcAft>
        <a:buClr>
          <a:schemeClr val="tx2"/>
        </a:buClr>
        <a:buSzPct val="70000"/>
        <a:buFont typeface="Wingdings 2" charset="2"/>
        <a:buChar char=""/>
        <a:defRPr sz="9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3456000" indent="-1296000" algn="l" defTabSz="2194560" rtl="0" eaLnBrk="1" latinLnBrk="0" hangingPunct="1">
        <a:spcBef>
          <a:spcPct val="20000"/>
        </a:spcBef>
        <a:spcAft>
          <a:spcPts val="2880"/>
        </a:spcAft>
        <a:buClr>
          <a:schemeClr val="tx2"/>
        </a:buClr>
        <a:buSzPct val="70000"/>
        <a:buFont typeface="Wingdings 2" charset="2"/>
        <a:buChar char=""/>
        <a:defRPr sz="864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4924800" indent="-1036800" algn="l" defTabSz="2194560" rtl="0" eaLnBrk="1" latinLnBrk="0" hangingPunct="1">
        <a:spcBef>
          <a:spcPct val="20000"/>
        </a:spcBef>
        <a:spcAft>
          <a:spcPts val="2880"/>
        </a:spcAft>
        <a:buClr>
          <a:schemeClr val="tx2"/>
        </a:buClr>
        <a:buSzPct val="70000"/>
        <a:buFont typeface="Wingdings 2" charset="2"/>
        <a:buChar char=""/>
        <a:defRPr sz="768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66528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80352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967008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1152864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1338720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1490976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8F610-5E25-C02F-4785-351AC651288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3039183-8738-C635-5157-3D9EC402F895}"/>
              </a:ext>
            </a:extLst>
          </p:cNvPr>
          <p:cNvSpPr txBox="1"/>
          <p:nvPr/>
        </p:nvSpPr>
        <p:spPr>
          <a:xfrm>
            <a:off x="685278" y="278782"/>
            <a:ext cx="42721119" cy="3619515"/>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414591" tIns="207295" rIns="414591" bIns="207295" rtlCol="0" anchor="t" anchorCtr="0">
            <a:spAutoFit/>
          </a:bodyPr>
          <a:lstStyle/>
          <a:p>
            <a:pPr algn="ctr">
              <a:lnSpc>
                <a:spcPct val="100000"/>
              </a:lnSpc>
            </a:pPr>
            <a:r>
              <a:rPr sz="5200" b="1" i="0">
                <a:solidFill>
                  <a:srgbClr val="000000"/>
                </a:solidFill>
                <a:latin typeface="Times New Roman"/>
              </a:rPr>
              <a:t>MENTAL HEALTH AND PSYCHOSOCIAL OUTCOMES AMONG INDIVIDUALS WITH</a:t>
            </a:r>
          </a:p>
          <a:p>
            <a:pPr algn="ctr">
              <a:lnSpc>
                <a:spcPct val="100000"/>
              </a:lnSpc>
            </a:pPr>
            <a:r>
              <a:rPr sz="5200" b="1" i="0">
                <a:solidFill>
                  <a:srgbClr val="000000"/>
                </a:solidFill>
                <a:latin typeface="Times New Roman"/>
              </a:rPr>
              <a:t>MAYER-ROKITANSKY-KÜSTER-HAUSER (MRKH) SYNDROME: A SCOPING REVIEW</a:t>
            </a:r>
          </a:p>
          <a:p>
            <a:pPr algn="ctr">
              <a:lnSpc>
                <a:spcPct val="100000"/>
              </a:lnSpc>
            </a:pPr>
            <a:r>
              <a:rPr sz="4400" b="0" i="0">
                <a:solidFill>
                  <a:srgbClr val="000000"/>
                </a:solidFill>
                <a:latin typeface="Times New Roman"/>
              </a:rPr>
              <a:t>Ifeoluwanimi P. Shobayo, BSc, MSPHc, Paul Okojie, PhD, Robyn Anderson, PhD</a:t>
            </a:r>
          </a:p>
          <a:p>
            <a:pPr algn="ctr">
              <a:lnSpc>
                <a:spcPct val="100000"/>
              </a:lnSpc>
            </a:pPr>
            <a:r>
              <a:rPr sz="3400" b="0" i="0">
                <a:solidFill>
                  <a:srgbClr val="000000"/>
                </a:solidFill>
                <a:latin typeface="Times New Roman"/>
              </a:rPr>
              <a:t>Department of Public and Community Health, Liberty University</a:t>
            </a:r>
          </a:p>
        </p:txBody>
      </p:sp>
      <p:pic>
        <p:nvPicPr>
          <p:cNvPr id="77" name="Picture 76">
            <a:extLst>
              <a:ext uri="{FF2B5EF4-FFF2-40B4-BE49-F238E27FC236}">
                <a16:creationId xmlns:a16="http://schemas.microsoft.com/office/drawing/2014/main" id="{8C9C05FA-58BE-53E6-927D-097819D54A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6561" y="949846"/>
            <a:ext cx="4580142" cy="1486682"/>
          </a:xfrm>
          <a:prstGeom prst="rect">
            <a:avLst/>
          </a:prstGeom>
        </p:spPr>
      </p:pic>
      <p:sp>
        <p:nvSpPr>
          <p:cNvPr id="305" name="TextBox 304">
            <a:extLst>
              <a:ext uri="{FF2B5EF4-FFF2-40B4-BE49-F238E27FC236}">
                <a16:creationId xmlns:a16="http://schemas.microsoft.com/office/drawing/2014/main" id="{A065416B-4327-02A8-9591-8B9DE4E9BA73}"/>
              </a:ext>
            </a:extLst>
          </p:cNvPr>
          <p:cNvSpPr txBox="1"/>
          <p:nvPr/>
        </p:nvSpPr>
        <p:spPr>
          <a:xfrm>
            <a:off x="10871631" y="4220388"/>
            <a:ext cx="22559807" cy="28137863"/>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solidFill>
                <a:schemeClr val="bg1"/>
              </a:solidFill>
              <a:latin typeface="Times New Roman"/>
              <a:cs typeface="Times New Roman"/>
            </a:endParaRPr>
          </a:p>
        </p:txBody>
      </p:sp>
      <p:sp>
        <p:nvSpPr>
          <p:cNvPr id="309" name="TextBox 308">
            <a:extLst>
              <a:ext uri="{FF2B5EF4-FFF2-40B4-BE49-F238E27FC236}">
                <a16:creationId xmlns:a16="http://schemas.microsoft.com/office/drawing/2014/main" id="{E262B778-3A7B-F270-6B03-864EB2DE932B}"/>
              </a:ext>
            </a:extLst>
          </p:cNvPr>
          <p:cNvSpPr txBox="1"/>
          <p:nvPr/>
        </p:nvSpPr>
        <p:spPr>
          <a:xfrm>
            <a:off x="703565" y="5068259"/>
            <a:ext cx="9407040" cy="6011262"/>
          </a:xfrm>
          <a:prstGeom prst="rect">
            <a:avLst/>
          </a:prstGeom>
          <a:solidFill>
            <a:schemeClr val="tx1"/>
          </a:solidFill>
          <a:ln>
            <a:solidFill>
              <a:schemeClr val="bg1"/>
            </a:solidFill>
          </a:ln>
        </p:spPr>
        <p:txBody>
          <a:bodyPr wrap="square" lIns="131445" tIns="65723" rIns="131445" bIns="65723" rtlCol="0" anchor="t">
            <a:noAutofit/>
          </a:bodyPr>
          <a:lstStyle/>
          <a:p>
            <a:pPr algn="just">
              <a:lnSpc>
                <a:spcPct val="100000"/>
              </a:lnSpc>
              <a:spcAft>
                <a:spcPts val="400"/>
              </a:spcAft>
            </a:pPr>
            <a:r>
              <a:rPr sz="2200" b="1" i="0">
                <a:solidFill>
                  <a:srgbClr val="000000"/>
                </a:solidFill>
                <a:latin typeface="Times New Roman"/>
              </a:rPr>
              <a:t>Background:</a:t>
            </a:r>
            <a:r>
              <a:rPr sz="2200" b="0" i="0">
                <a:solidFill>
                  <a:srgbClr val="000000"/>
                </a:solidFill>
                <a:latin typeface="Times New Roman"/>
              </a:rPr>
              <a:t> Mayer-Rokitansky-Küster-Hauser (MRKH) syndrome is a rare congenital condition (1 in 4,500–5,000 female births) characterized by uterovaginal agenesis in individuals with a 46,XX karyotype. Usually diagnosed in adolescence, it affects fertility, sexuality, and identity, yet its mental health consequences remain insufficiently synthesized.</a:t>
            </a:r>
          </a:p>
          <a:p>
            <a:pPr algn="just">
              <a:lnSpc>
                <a:spcPct val="100000"/>
              </a:lnSpc>
              <a:spcAft>
                <a:spcPts val="400"/>
              </a:spcAft>
            </a:pPr>
            <a:r>
              <a:rPr sz="2200" b="1" i="0">
                <a:solidFill>
                  <a:srgbClr val="000000"/>
                </a:solidFill>
                <a:latin typeface="Times New Roman"/>
              </a:rPr>
              <a:t>Methods:</a:t>
            </a:r>
            <a:r>
              <a:rPr sz="2200" b="0" i="0">
                <a:solidFill>
                  <a:srgbClr val="000000"/>
                </a:solidFill>
                <a:latin typeface="Times New Roman"/>
              </a:rPr>
              <a:t> Scoping review (Arksey &amp; O'Malley; PRISMA-ScR) of PubMed, Scopus, and EBSCOhost databases (MEDLINE, CINAHL, APA PsycInfo, Women's Studies International), January 2019–March 2026.</a:t>
            </a:r>
          </a:p>
          <a:p>
            <a:pPr algn="just">
              <a:lnSpc>
                <a:spcPct val="100000"/>
              </a:lnSpc>
              <a:spcAft>
                <a:spcPts val="400"/>
              </a:spcAft>
            </a:pPr>
            <a:r>
              <a:rPr sz="2200" b="1" i="0">
                <a:solidFill>
                  <a:srgbClr val="000000"/>
                </a:solidFill>
                <a:latin typeface="Times New Roman"/>
              </a:rPr>
              <a:t>Results:</a:t>
            </a:r>
            <a:r>
              <a:rPr sz="2200" b="0" i="0">
                <a:solidFill>
                  <a:srgbClr val="000000"/>
                </a:solidFill>
                <a:latin typeface="Times New Roman"/>
              </a:rPr>
              <a:t> Of 516 records, 35 studies were included. Psychosexual and relational challenges were most frequent (n = 24), followed by psychological distress (n = 20), reduced QoL, body image, and self-esteem (n = 19), and depression and anxiety (n = 14). Coping was documented in 15 studies, most often peer support (7) and avoidance or concealment (6); healthcare gaps in 10.</a:t>
            </a:r>
          </a:p>
          <a:p>
            <a:pPr algn="just">
              <a:lnSpc>
                <a:spcPct val="100000"/>
              </a:lnSpc>
              <a:spcAft>
                <a:spcPts val="400"/>
              </a:spcAft>
            </a:pPr>
            <a:r>
              <a:rPr sz="2200" b="1" i="0">
                <a:solidFill>
                  <a:srgbClr val="000000"/>
                </a:solidFill>
                <a:latin typeface="Times New Roman"/>
              </a:rPr>
              <a:t>Conclusion:</a:t>
            </a:r>
            <a:r>
              <a:rPr sz="2200" b="0" i="0">
                <a:solidFill>
                  <a:srgbClr val="000000"/>
                </a:solidFill>
                <a:latin typeface="Times New Roman"/>
              </a:rPr>
              <a:t> MRKH affects far more than reproductive anatomy. Mental health screening, psychosexual counseling, and peer support should become standard in multidisciplinary MRKH care, and research must reach underrepresented regions.</a:t>
            </a:r>
          </a:p>
        </p:txBody>
      </p:sp>
      <p:sp>
        <p:nvSpPr>
          <p:cNvPr id="310" name="TextBox 309">
            <a:extLst>
              <a:ext uri="{FF2B5EF4-FFF2-40B4-BE49-F238E27FC236}">
                <a16:creationId xmlns:a16="http://schemas.microsoft.com/office/drawing/2014/main" id="{1747F5FB-C0E0-9E78-F84B-1D512F83536E}"/>
              </a:ext>
            </a:extLst>
          </p:cNvPr>
          <p:cNvSpPr txBox="1"/>
          <p:nvPr/>
        </p:nvSpPr>
        <p:spPr>
          <a:xfrm>
            <a:off x="685278" y="4089512"/>
            <a:ext cx="9431473" cy="871393"/>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Abstract</a:t>
            </a:r>
            <a:endParaRPr lang="en-US" sz="6000" dirty="0">
              <a:latin typeface="Times New Roman"/>
              <a:cs typeface="Times New Roman"/>
            </a:endParaRPr>
          </a:p>
        </p:txBody>
      </p:sp>
      <p:sp>
        <p:nvSpPr>
          <p:cNvPr id="312" name="TextBox 311">
            <a:extLst>
              <a:ext uri="{FF2B5EF4-FFF2-40B4-BE49-F238E27FC236}">
                <a16:creationId xmlns:a16="http://schemas.microsoft.com/office/drawing/2014/main" id="{746F674E-FB28-8348-72E3-A91916401D8C}"/>
              </a:ext>
            </a:extLst>
          </p:cNvPr>
          <p:cNvSpPr txBox="1"/>
          <p:nvPr/>
        </p:nvSpPr>
        <p:spPr>
          <a:xfrm>
            <a:off x="641891" y="13218706"/>
            <a:ext cx="9499142" cy="7088480"/>
          </a:xfrm>
          <a:prstGeom prst="rect">
            <a:avLst/>
          </a:prstGeom>
          <a:solidFill>
            <a:schemeClr val="tx1"/>
          </a:solidFill>
          <a:ln>
            <a:solidFill>
              <a:schemeClr val="bg1"/>
            </a:solidFill>
          </a:ln>
        </p:spPr>
        <p:txBody>
          <a:bodyPr wrap="square" lIns="131445" tIns="65723" rIns="131445" bIns="65723" rtlCol="0" anchor="t">
            <a:noAutofit/>
          </a:bodyPr>
          <a:lstStyle/>
          <a:p>
            <a:pPr algn="just">
              <a:lnSpc>
                <a:spcPct val="100000"/>
              </a:lnSpc>
              <a:spcAft>
                <a:spcPts val="400"/>
              </a:spcAft>
            </a:pPr>
            <a:r>
              <a:rPr sz="2200" b="1" i="0">
                <a:solidFill>
                  <a:srgbClr val="000000"/>
                </a:solidFill>
                <a:latin typeface="Times New Roman"/>
              </a:rPr>
              <a:t>Introduction</a:t>
            </a:r>
          </a:p>
          <a:p>
            <a:pPr algn="just">
              <a:lnSpc>
                <a:spcPct val="100000"/>
              </a:lnSpc>
              <a:spcAft>
                <a:spcPts val="400"/>
              </a:spcAft>
            </a:pPr>
            <a:r>
              <a:rPr sz="2200" b="0" i="0">
                <a:solidFill>
                  <a:srgbClr val="000000"/>
                </a:solidFill>
                <a:latin typeface="Times New Roman"/>
              </a:rPr>
              <a:t>MRKH syndrome is the congenital absence of the uterus and upper vagina in individuals with a 46,XX karyotype and functioning ovaries, affecting about 1 in 4,500–5,000 female births.</a:t>
            </a:r>
            <a:r>
              <a:rPr sz="2200" b="0" i="0" baseline="30000">
                <a:solidFill>
                  <a:srgbClr val="000000"/>
                </a:solidFill>
                <a:latin typeface="Times New Roman"/>
              </a:rPr>
              <a:t>1,2</a:t>
            </a:r>
            <a:r>
              <a:rPr sz="2200" b="0" i="0">
                <a:solidFill>
                  <a:srgbClr val="000000"/>
                </a:solidFill>
                <a:latin typeface="Times New Roman"/>
              </a:rPr>
              <a:t> It is usually diagnosed in adolescence during evaluation of primary amenorrhea, a sensitive period for identity, sexuality, and relationships. Earlier studies linked MRKH with psychological distress, anxiety, and reduced quality of life,</a:t>
            </a:r>
            <a:r>
              <a:rPr sz="2200" b="0" i="0" baseline="30000">
                <a:solidFill>
                  <a:srgbClr val="000000"/>
                </a:solidFill>
                <a:latin typeface="Times New Roman"/>
              </a:rPr>
              <a:t>3–5</a:t>
            </a:r>
            <a:r>
              <a:rPr sz="2200" b="0" i="0">
                <a:solidFill>
                  <a:srgbClr val="000000"/>
                </a:solidFill>
                <a:latin typeface="Times New Roman"/>
              </a:rPr>
              <a:t> and guidelines recommend psychosocial counseling as part of care.</a:t>
            </a:r>
            <a:r>
              <a:rPr sz="2200" b="0" i="0" baseline="30000">
                <a:solidFill>
                  <a:srgbClr val="000000"/>
                </a:solidFill>
                <a:latin typeface="Times New Roman"/>
              </a:rPr>
              <a:t>1</a:t>
            </a:r>
            <a:r>
              <a:rPr sz="2200" b="0" i="0">
                <a:solidFill>
                  <a:srgbClr val="000000"/>
                </a:solidFill>
                <a:latin typeface="Times New Roman"/>
              </a:rPr>
              <a:t> Prior reviews focused on psychological and sexual outcomes;</a:t>
            </a:r>
            <a:r>
              <a:rPr sz="2200" b="0" i="0" baseline="30000">
                <a:solidFill>
                  <a:srgbClr val="000000"/>
                </a:solidFill>
                <a:latin typeface="Times New Roman"/>
              </a:rPr>
              <a:t>6,7</a:t>
            </a:r>
            <a:r>
              <a:rPr sz="2200" b="0" i="0">
                <a:solidFill>
                  <a:srgbClr val="000000"/>
                </a:solidFill>
                <a:latin typeface="Times New Roman"/>
              </a:rPr>
              <a:t> coping and healthcare system gaps have not been mapped across the growing recent literature. Mapping this evidence can guide psychosocial care, provider training, and research priorities.</a:t>
            </a:r>
          </a:p>
          <a:p>
            <a:pPr algn="just">
              <a:lnSpc>
                <a:spcPct val="100000"/>
              </a:lnSpc>
              <a:spcAft>
                <a:spcPts val="400"/>
              </a:spcAft>
            </a:pPr>
            <a:r>
              <a:rPr sz="2200" b="1" i="0">
                <a:solidFill>
                  <a:srgbClr val="000000"/>
                </a:solidFill>
                <a:latin typeface="Times New Roman"/>
              </a:rPr>
              <a:t>Objective</a:t>
            </a:r>
          </a:p>
          <a:p>
            <a:pPr algn="just">
              <a:lnSpc>
                <a:spcPct val="100000"/>
              </a:lnSpc>
              <a:spcAft>
                <a:spcPts val="400"/>
              </a:spcAft>
            </a:pPr>
            <a:r>
              <a:rPr sz="2200" b="0" i="0">
                <a:solidFill>
                  <a:srgbClr val="000000"/>
                </a:solidFill>
                <a:latin typeface="Times New Roman"/>
              </a:rPr>
              <a:t>To map mental health and psychosocial outcomes, coping mechanisms, and healthcare system gaps reported in studies of individuals with MRKH published 2019–2026.</a:t>
            </a:r>
          </a:p>
          <a:p>
            <a:pPr algn="just">
              <a:lnSpc>
                <a:spcPct val="100000"/>
              </a:lnSpc>
              <a:spcAft>
                <a:spcPts val="400"/>
              </a:spcAft>
            </a:pPr>
            <a:r>
              <a:rPr sz="2200" b="1" i="0">
                <a:solidFill>
                  <a:srgbClr val="000000"/>
                </a:solidFill>
                <a:latin typeface="Times New Roman"/>
              </a:rPr>
              <a:t>Research Question</a:t>
            </a:r>
          </a:p>
          <a:p>
            <a:pPr algn="just">
              <a:lnSpc>
                <a:spcPct val="100000"/>
              </a:lnSpc>
              <a:spcAft>
                <a:spcPts val="400"/>
              </a:spcAft>
            </a:pPr>
            <a:r>
              <a:rPr sz="2200" b="0" i="0">
                <a:solidFill>
                  <a:srgbClr val="000000"/>
                </a:solidFill>
                <a:latin typeface="Times New Roman"/>
              </a:rPr>
              <a:t>What mental health outcomes and coping mechanisms are reported among individuals with MRKH syndrome, and what healthcare system gaps exist?</a:t>
            </a:r>
          </a:p>
        </p:txBody>
      </p:sp>
      <p:sp>
        <p:nvSpPr>
          <p:cNvPr id="313" name="TextBox 312">
            <a:extLst>
              <a:ext uri="{FF2B5EF4-FFF2-40B4-BE49-F238E27FC236}">
                <a16:creationId xmlns:a16="http://schemas.microsoft.com/office/drawing/2014/main" id="{6DDFC9D8-2135-B804-986E-91DCE8E7F20A}"/>
              </a:ext>
            </a:extLst>
          </p:cNvPr>
          <p:cNvSpPr txBox="1"/>
          <p:nvPr/>
        </p:nvSpPr>
        <p:spPr>
          <a:xfrm>
            <a:off x="703565" y="11349812"/>
            <a:ext cx="9431472" cy="1610057"/>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Introduction, Objective, and  Research Question</a:t>
            </a:r>
            <a:endParaRPr lang="en-US" sz="6000" dirty="0">
              <a:latin typeface="Times New Roman"/>
              <a:cs typeface="Times New Roman"/>
            </a:endParaRPr>
          </a:p>
        </p:txBody>
      </p:sp>
      <p:sp>
        <p:nvSpPr>
          <p:cNvPr id="315" name="TextBox 314">
            <a:extLst>
              <a:ext uri="{FF2B5EF4-FFF2-40B4-BE49-F238E27FC236}">
                <a16:creationId xmlns:a16="http://schemas.microsoft.com/office/drawing/2014/main" id="{1A04ABA2-9C79-F910-AB39-429544CFAA06}"/>
              </a:ext>
            </a:extLst>
          </p:cNvPr>
          <p:cNvSpPr txBox="1"/>
          <p:nvPr/>
        </p:nvSpPr>
        <p:spPr>
          <a:xfrm>
            <a:off x="694314" y="21631677"/>
            <a:ext cx="9513355" cy="10726573"/>
          </a:xfrm>
          <a:prstGeom prst="rect">
            <a:avLst/>
          </a:prstGeom>
          <a:solidFill>
            <a:schemeClr val="tx1"/>
          </a:solidFill>
          <a:ln cap="rnd">
            <a:solidFill>
              <a:schemeClr val="bg1"/>
            </a:solidFill>
          </a:ln>
        </p:spPr>
        <p:txBody>
          <a:bodyPr wrap="square" lIns="182880" rIns="182880" rtlCol="0">
            <a:noAutofit/>
          </a:bodyPr>
          <a:lstStyle/>
          <a:p>
            <a:pPr algn="just"/>
            <a:endParaRPr lang="en-US" sz="1800" dirty="0">
              <a:latin typeface="Times New Roman"/>
              <a:cs typeface="Times New Roman"/>
            </a:endParaRPr>
          </a:p>
        </p:txBody>
      </p:sp>
      <p:sp>
        <p:nvSpPr>
          <p:cNvPr id="316" name="TextBox 315">
            <a:extLst>
              <a:ext uri="{FF2B5EF4-FFF2-40B4-BE49-F238E27FC236}">
                <a16:creationId xmlns:a16="http://schemas.microsoft.com/office/drawing/2014/main" id="{BC19B682-B6AF-9A71-5C4D-B2D1BE476405}"/>
              </a:ext>
            </a:extLst>
          </p:cNvPr>
          <p:cNvSpPr txBox="1"/>
          <p:nvPr/>
        </p:nvSpPr>
        <p:spPr>
          <a:xfrm>
            <a:off x="641891" y="20411383"/>
            <a:ext cx="9513355" cy="952341"/>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Methods</a:t>
            </a:r>
            <a:endParaRPr lang="en-US" sz="6000" dirty="0">
              <a:latin typeface="Times New Roman"/>
              <a:cs typeface="Times New Roman"/>
            </a:endParaRPr>
          </a:p>
        </p:txBody>
      </p:sp>
      <p:sp>
        <p:nvSpPr>
          <p:cNvPr id="321" name="TextBox 320">
            <a:extLst>
              <a:ext uri="{FF2B5EF4-FFF2-40B4-BE49-F238E27FC236}">
                <a16:creationId xmlns:a16="http://schemas.microsoft.com/office/drawing/2014/main" id="{CB19DFF1-BA24-B68B-4652-0F80775C03FA}"/>
              </a:ext>
            </a:extLst>
          </p:cNvPr>
          <p:cNvSpPr txBox="1"/>
          <p:nvPr/>
        </p:nvSpPr>
        <p:spPr>
          <a:xfrm>
            <a:off x="34006536" y="22338792"/>
            <a:ext cx="9253728" cy="4270248"/>
          </a:xfrm>
          <a:prstGeom prst="rect">
            <a:avLst/>
          </a:prstGeom>
          <a:solidFill>
            <a:srgbClr val="FFFFFF"/>
          </a:solidFill>
          <a:ln cap="rnd">
            <a:solidFill>
              <a:schemeClr val="bg1"/>
            </a:solidFill>
          </a:ln>
        </p:spPr>
        <p:txBody>
          <a:bodyPr wrap="square" lIns="182880" rIns="182880" rtlCol="0" anchor="t">
            <a:noAutofit/>
          </a:bodyPr>
          <a:lstStyle/>
          <a:p>
            <a:pPr algn="just">
              <a:lnSpc>
                <a:spcPct val="100000"/>
              </a:lnSpc>
              <a:spcAft>
                <a:spcPts val="300"/>
              </a:spcAft>
            </a:pPr>
            <a:r>
              <a:rPr sz="2200" b="1" i="0">
                <a:solidFill>
                  <a:srgbClr val="000000"/>
                </a:solidFill>
                <a:latin typeface="Times New Roman"/>
              </a:rPr>
              <a:t>Public Health Implications</a:t>
            </a:r>
          </a:p>
          <a:p>
            <a:pPr algn="l" marL="274320" indent="-274320">
              <a:lnSpc>
                <a:spcPct val="100000"/>
              </a:lnSpc>
              <a:spcAft>
                <a:spcPts val="300"/>
              </a:spcAft>
            </a:pPr>
            <a:r>
              <a:rPr sz="2200" b="0" i="0">
                <a:solidFill>
                  <a:srgbClr val="000000"/>
                </a:solidFill>
                <a:latin typeface="Times New Roman"/>
              </a:rPr>
              <a:t>• Integrate psychosocial screening and support into MRKH diagnostic pathways</a:t>
            </a:r>
          </a:p>
          <a:p>
            <a:pPr algn="l" marL="274320" indent="-274320">
              <a:lnSpc>
                <a:spcPct val="100000"/>
              </a:lnSpc>
              <a:spcAft>
                <a:spcPts val="300"/>
              </a:spcAft>
            </a:pPr>
            <a:r>
              <a:rPr sz="2200" b="0" i="0">
                <a:solidFill>
                  <a:srgbClr val="000000"/>
                </a:solidFill>
                <a:latin typeface="Times New Roman"/>
              </a:rPr>
              <a:t>• Build multidisciplinary teams that include psychology and social work</a:t>
            </a:r>
          </a:p>
          <a:p>
            <a:pPr algn="l" marL="274320" indent="-274320">
              <a:lnSpc>
                <a:spcPct val="100000"/>
              </a:lnSpc>
              <a:spcAft>
                <a:spcPts val="300"/>
              </a:spcAft>
            </a:pPr>
            <a:r>
              <a:rPr sz="2200" b="0" i="0">
                <a:solidFill>
                  <a:srgbClr val="000000"/>
                </a:solidFill>
                <a:latin typeface="Times New Roman"/>
              </a:rPr>
              <a:t>• Pair vaginal lengthening treatment with psychosexual counseling</a:t>
            </a:r>
          </a:p>
          <a:p>
            <a:pPr algn="l" marL="274320" indent="-274320">
              <a:lnSpc>
                <a:spcPct val="100000"/>
              </a:lnSpc>
              <a:spcAft>
                <a:spcPts val="300"/>
              </a:spcAft>
            </a:pPr>
            <a:r>
              <a:rPr sz="2200" b="0" i="0">
                <a:solidFill>
                  <a:srgbClr val="000000"/>
                </a:solidFill>
                <a:latin typeface="Times New Roman"/>
              </a:rPr>
              <a:t>• Train providers in sensitive, non-stigmatizing communication</a:t>
            </a:r>
          </a:p>
          <a:p>
            <a:pPr algn="l" marL="274320" indent="-274320">
              <a:lnSpc>
                <a:spcPct val="100000"/>
              </a:lnSpc>
              <a:spcAft>
                <a:spcPts val="300"/>
              </a:spcAft>
            </a:pPr>
            <a:r>
              <a:rPr sz="2200" b="0" i="0">
                <a:solidFill>
                  <a:srgbClr val="000000"/>
                </a:solidFill>
                <a:latin typeface="Times New Roman"/>
              </a:rPr>
              <a:t>• Expand peer support networks, including online communities</a:t>
            </a:r>
          </a:p>
          <a:p>
            <a:pPr algn="just">
              <a:lnSpc>
                <a:spcPct val="100000"/>
              </a:lnSpc>
              <a:spcAft>
                <a:spcPts val="300"/>
              </a:spcAft>
            </a:pPr>
            <a:r>
              <a:rPr sz="2200" b="1" i="0">
                <a:solidFill>
                  <a:srgbClr val="000000"/>
                </a:solidFill>
                <a:latin typeface="Times New Roman"/>
              </a:rPr>
              <a:t>Future Research</a:t>
            </a:r>
          </a:p>
          <a:p>
            <a:pPr algn="l" marL="274320" indent="-274320">
              <a:lnSpc>
                <a:spcPct val="100000"/>
              </a:lnSpc>
              <a:spcAft>
                <a:spcPts val="300"/>
              </a:spcAft>
            </a:pPr>
            <a:r>
              <a:rPr sz="2200" b="0" i="0">
                <a:solidFill>
                  <a:srgbClr val="000000"/>
                </a:solidFill>
                <a:latin typeface="Times New Roman"/>
              </a:rPr>
              <a:t>• Longitudinal studies using validated mental health measures</a:t>
            </a:r>
          </a:p>
          <a:p>
            <a:pPr algn="l" marL="274320" indent="-274320">
              <a:lnSpc>
                <a:spcPct val="100000"/>
              </a:lnSpc>
              <a:spcAft>
                <a:spcPts val="300"/>
              </a:spcAft>
            </a:pPr>
            <a:r>
              <a:rPr sz="2200" b="0" i="0">
                <a:solidFill>
                  <a:srgbClr val="000000"/>
                </a:solidFill>
                <a:latin typeface="Times New Roman"/>
              </a:rPr>
              <a:t>• Trials of psychosocial interventions delivered in routine care</a:t>
            </a:r>
          </a:p>
          <a:p>
            <a:pPr algn="l" marL="274320" indent="-274320">
              <a:lnSpc>
                <a:spcPct val="100000"/>
              </a:lnSpc>
              <a:spcAft>
                <a:spcPts val="300"/>
              </a:spcAft>
            </a:pPr>
            <a:r>
              <a:rPr sz="2200" b="0" i="0">
                <a:solidFill>
                  <a:srgbClr val="000000"/>
                </a:solidFill>
                <a:latin typeface="Times New Roman"/>
              </a:rPr>
              <a:t>• Studies in Africa, South America, and other low-resource settings</a:t>
            </a:r>
          </a:p>
        </p:txBody>
      </p:sp>
      <p:sp>
        <p:nvSpPr>
          <p:cNvPr id="322" name="TextBox 321">
            <a:extLst>
              <a:ext uri="{FF2B5EF4-FFF2-40B4-BE49-F238E27FC236}">
                <a16:creationId xmlns:a16="http://schemas.microsoft.com/office/drawing/2014/main" id="{FF9BD680-0755-89B6-9224-48721A47729A}"/>
              </a:ext>
            </a:extLst>
          </p:cNvPr>
          <p:cNvSpPr txBox="1"/>
          <p:nvPr/>
        </p:nvSpPr>
        <p:spPr>
          <a:xfrm>
            <a:off x="34006536" y="20848320"/>
            <a:ext cx="9253728" cy="1490472"/>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Garamond"/>
              </a:rPr>
              <a:t>Public Health Implications and Future Work</a:t>
            </a:r>
            <a:endParaRPr lang="en-US" sz="6000" dirty="0">
              <a:latin typeface="Garamond"/>
              <a:cs typeface="Garamond"/>
            </a:endParaRPr>
          </a:p>
        </p:txBody>
      </p:sp>
      <p:sp>
        <p:nvSpPr>
          <p:cNvPr id="323" name="TextBox 322">
            <a:extLst>
              <a:ext uri="{FF2B5EF4-FFF2-40B4-BE49-F238E27FC236}">
                <a16:creationId xmlns:a16="http://schemas.microsoft.com/office/drawing/2014/main" id="{791F62C8-B471-7647-1C58-7FE1BB1C1D01}"/>
              </a:ext>
            </a:extLst>
          </p:cNvPr>
          <p:cNvSpPr txBox="1"/>
          <p:nvPr/>
        </p:nvSpPr>
        <p:spPr>
          <a:xfrm>
            <a:off x="34084668" y="26729319"/>
            <a:ext cx="9145770" cy="871393"/>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References</a:t>
            </a:r>
            <a:endParaRPr lang="en-US" sz="6000" dirty="0">
              <a:latin typeface="Times New Roman"/>
              <a:cs typeface="Times New Roman"/>
            </a:endParaRPr>
          </a:p>
        </p:txBody>
      </p:sp>
      <p:sp>
        <p:nvSpPr>
          <p:cNvPr id="325" name="TextBox 324">
            <a:extLst>
              <a:ext uri="{FF2B5EF4-FFF2-40B4-BE49-F238E27FC236}">
                <a16:creationId xmlns:a16="http://schemas.microsoft.com/office/drawing/2014/main" id="{C035F57E-62DB-372A-C78A-9EAA827DE73E}"/>
              </a:ext>
            </a:extLst>
          </p:cNvPr>
          <p:cNvSpPr txBox="1"/>
          <p:nvPr/>
        </p:nvSpPr>
        <p:spPr>
          <a:xfrm>
            <a:off x="34006536" y="5861304"/>
            <a:ext cx="9253728" cy="14895576"/>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p:txBody>
      </p:sp>
      <p:sp>
        <p:nvSpPr>
          <p:cNvPr id="326" name="TextBox 325">
            <a:extLst>
              <a:ext uri="{FF2B5EF4-FFF2-40B4-BE49-F238E27FC236}">
                <a16:creationId xmlns:a16="http://schemas.microsoft.com/office/drawing/2014/main" id="{2270543F-2128-4E8D-CCFD-F12E4C7A64FC}"/>
              </a:ext>
            </a:extLst>
          </p:cNvPr>
          <p:cNvSpPr txBox="1"/>
          <p:nvPr/>
        </p:nvSpPr>
        <p:spPr>
          <a:xfrm>
            <a:off x="34006536" y="4224528"/>
            <a:ext cx="9253728" cy="1636776"/>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Results, Discussion, Conclusion, and Limitations</a:t>
            </a:r>
            <a:endParaRPr lang="en-US" sz="6000" dirty="0">
              <a:latin typeface="Times New Roman"/>
              <a:cs typeface="Times New Roman"/>
            </a:endParaRPr>
          </a:p>
        </p:txBody>
      </p:sp>
      <p:sp>
        <p:nvSpPr>
          <p:cNvPr id="327" name="Rectangle 326">
            <a:extLst>
              <a:ext uri="{FF2B5EF4-FFF2-40B4-BE49-F238E27FC236}">
                <a16:creationId xmlns:a16="http://schemas.microsoft.com/office/drawing/2014/main" id="{3A97DB32-0FF1-1C0F-BA0A-FB20D75949A1}"/>
              </a:ext>
            </a:extLst>
          </p:cNvPr>
          <p:cNvSpPr/>
          <p:nvPr/>
        </p:nvSpPr>
        <p:spPr>
          <a:xfrm>
            <a:off x="34116263" y="5907024"/>
            <a:ext cx="9034272" cy="14804136"/>
          </a:xfrm>
          <a:prstGeom prst="rect">
            <a:avLst/>
          </a:prstGeom>
        </p:spPr>
        <p:txBody>
          <a:bodyPr wrap="square" anchor="t">
            <a:noAutofit/>
          </a:bodyPr>
          <a:lstStyle/>
          <a:p>
            <a:pPr algn="just">
              <a:lnSpc>
                <a:spcPct val="100000"/>
              </a:lnSpc>
              <a:spcAft>
                <a:spcPts val="400"/>
              </a:spcAft>
            </a:pPr>
            <a:r>
              <a:rPr sz="2200" b="1" i="0">
                <a:solidFill>
                  <a:srgbClr val="000000"/>
                </a:solidFill>
                <a:latin typeface="Times New Roman"/>
              </a:rPr>
              <a:t>Results</a:t>
            </a:r>
          </a:p>
          <a:p>
            <a:pPr algn="just">
              <a:lnSpc>
                <a:spcPct val="100000"/>
              </a:lnSpc>
              <a:spcAft>
                <a:spcPts val="400"/>
              </a:spcAft>
            </a:pPr>
            <a:r>
              <a:rPr sz="2200" b="0" i="0">
                <a:solidFill>
                  <a:srgbClr val="000000"/>
                </a:solidFill>
                <a:latin typeface="Times New Roman"/>
              </a:rPr>
              <a:t>Of 516 records, 35 studies (2019–2026; 5 to 616 participants) met inclusion criteria: 18 quantitative, 14 qualitative, 2 mixed-methods, and 1 not reported (Figures 1–2).</a:t>
            </a:r>
          </a:p>
          <a:p>
            <a:pPr algn="just">
              <a:lnSpc>
                <a:spcPct val="100000"/>
              </a:lnSpc>
              <a:spcAft>
                <a:spcPts val="400"/>
              </a:spcAft>
            </a:pPr>
            <a:r>
              <a:rPr sz="2200" b="0" i="0">
                <a:solidFill>
                  <a:srgbClr val="000000"/>
                </a:solidFill>
                <a:latin typeface="Times New Roman"/>
              </a:rPr>
              <a:t>Psychosexual and relational challenges were the most frequently reported outcome (24 of 35 studies), including lower sexual esteem and more negative genital self-image than controls.</a:t>
            </a:r>
            <a:r>
              <a:rPr sz="2200" b="0" i="0" baseline="30000">
                <a:solidFill>
                  <a:srgbClr val="000000"/>
                </a:solidFill>
                <a:latin typeface="Times New Roman"/>
              </a:rPr>
              <a:t>10,11</a:t>
            </a:r>
            <a:r>
              <a:rPr sz="2200" b="0" i="0">
                <a:solidFill>
                  <a:srgbClr val="000000"/>
                </a:solidFill>
                <a:latin typeface="Times New Roman"/>
              </a:rPr>
              <a:t> Psychological distress was reported in 20 studies, with shock, shame, and secrecy at diagnosis and a diagnostic process described as potentially traumatizing.</a:t>
            </a:r>
            <a:r>
              <a:rPr sz="2200" b="0" i="0" baseline="30000">
                <a:solidFill>
                  <a:srgbClr val="000000"/>
                </a:solidFill>
                <a:latin typeface="Times New Roman"/>
              </a:rPr>
              <a:t>12</a:t>
            </a:r>
            <a:r>
              <a:rPr sz="2200" b="0" i="0">
                <a:solidFill>
                  <a:srgbClr val="000000"/>
                </a:solidFill>
                <a:latin typeface="Times New Roman"/>
              </a:rPr>
              <a:t> Quality of life, body image, and self-esteem were reported in 19, including lower self-esteem than population norms.</a:t>
            </a:r>
            <a:r>
              <a:rPr sz="2200" b="0" i="0" baseline="30000">
                <a:solidFill>
                  <a:srgbClr val="000000"/>
                </a:solidFill>
                <a:latin typeface="Times New Roman"/>
              </a:rPr>
              <a:t>13</a:t>
            </a:r>
            <a:r>
              <a:rPr sz="2200" b="0" i="0">
                <a:solidFill>
                  <a:srgbClr val="000000"/>
                </a:solidFill>
                <a:latin typeface="Times New Roman"/>
              </a:rPr>
              <a:t> Depression and anxiety were assessed least often (14 studies), with mixed results: moderate-to-severe depressive symptoms in 34.0% of 141 Chinese patients</a:t>
            </a:r>
            <a:r>
              <a:rPr sz="2200" b="0" i="0" baseline="30000">
                <a:solidFill>
                  <a:srgbClr val="000000"/>
                </a:solidFill>
                <a:latin typeface="Times New Roman"/>
              </a:rPr>
              <a:t>14</a:t>
            </a:r>
            <a:r>
              <a:rPr sz="2200" b="0" i="0">
                <a:solidFill>
                  <a:srgbClr val="000000"/>
                </a:solidFill>
                <a:latin typeface="Times New Roman"/>
              </a:rPr>
              <a:t> and anxiety in 37.7% of 77 Malaysian women,</a:t>
            </a:r>
            <a:r>
              <a:rPr sz="2200" b="0" i="0" baseline="30000">
                <a:solidFill>
                  <a:srgbClr val="000000"/>
                </a:solidFill>
                <a:latin typeface="Times New Roman"/>
              </a:rPr>
              <a:t>15</a:t>
            </a:r>
            <a:r>
              <a:rPr sz="2200" b="0" i="0">
                <a:solidFill>
                  <a:srgbClr val="000000"/>
                </a:solidFill>
                <a:latin typeface="Times New Roman"/>
              </a:rPr>
              <a:t> but few symptoms among French uterus transplant candidates.</a:t>
            </a:r>
            <a:r>
              <a:rPr sz="2200" b="0" i="0" baseline="30000">
                <a:solidFill>
                  <a:srgbClr val="000000"/>
                </a:solidFill>
                <a:latin typeface="Times New Roman"/>
              </a:rPr>
              <a:t>16</a:t>
            </a:r>
          </a:p>
          <a:p>
            <a:pPr algn="just">
              <a:lnSpc>
                <a:spcPct val="100000"/>
              </a:lnSpc>
              <a:spcAft>
                <a:spcPts val="400"/>
              </a:spcAft>
            </a:pPr>
            <a:r>
              <a:rPr sz="2200" b="0" i="0">
                <a:solidFill>
                  <a:srgbClr val="000000"/>
                </a:solidFill>
                <a:latin typeface="Times New Roman"/>
              </a:rPr>
              <a:t>Coping was documented in 15 studies, most often peer and online support (7) and avoidance or concealment (6) (Figure 4). Healthcare system gaps, reported in 10 studies, included delayed diagnosis, providers unfamiliar with MRKH, and patients having to advocate for themselves (Figure 3).</a:t>
            </a:r>
          </a:p>
          <a:p>
            <a:pPr algn="just">
              <a:lnSpc>
                <a:spcPct val="100000"/>
              </a:lnSpc>
              <a:spcAft>
                <a:spcPts val="400"/>
              </a:spcAft>
            </a:pPr>
            <a:r>
              <a:rPr sz="2200" b="1" i="0">
                <a:solidFill>
                  <a:srgbClr val="000000"/>
                </a:solidFill>
                <a:latin typeface="Times New Roman"/>
              </a:rPr>
              <a:t>Discussion</a:t>
            </a:r>
          </a:p>
          <a:p>
            <a:pPr algn="just">
              <a:lnSpc>
                <a:spcPct val="100000"/>
              </a:lnSpc>
              <a:spcAft>
                <a:spcPts val="400"/>
              </a:spcAft>
            </a:pPr>
            <a:r>
              <a:rPr sz="2200" b="0" i="0">
                <a:solidFill>
                  <a:srgbClr val="000000"/>
                </a:solidFill>
                <a:latin typeface="Times New Roman"/>
              </a:rPr>
              <a:t>Findings echo earlier evidence of distress and reduced quality of life in MRKH</a:t>
            </a:r>
            <a:r>
              <a:rPr sz="2200" b="0" i="0" baseline="30000">
                <a:solidFill>
                  <a:srgbClr val="000000"/>
                </a:solidFill>
                <a:latin typeface="Times New Roman"/>
              </a:rPr>
              <a:t>3,5</a:t>
            </a:r>
            <a:r>
              <a:rPr sz="2200" b="0" i="0">
                <a:solidFill>
                  <a:srgbClr val="000000"/>
                </a:solidFill>
                <a:latin typeface="Times New Roman"/>
              </a:rPr>
              <a:t> and extend prior reviews by mapping coping and health-system gaps. Psychosexual concerns dominate the recent literature, whereas depression and anxiety were measured in fewer than half of studies. Only 2 studies tested psychosocial interventions, and both reported benefit.</a:t>
            </a:r>
            <a:r>
              <a:rPr sz="2200" b="0" i="0" baseline="30000">
                <a:solidFill>
                  <a:srgbClr val="000000"/>
                </a:solidFill>
                <a:latin typeface="Times New Roman"/>
              </a:rPr>
              <a:t>17,18</a:t>
            </a:r>
            <a:r>
              <a:rPr sz="2200" b="0" i="0">
                <a:solidFill>
                  <a:srgbClr val="000000"/>
                </a:solidFill>
                <a:latin typeface="Times New Roman"/>
              </a:rPr>
              <a:t> Evidence is concentrated in Europe (14) and Asia (14); 1 study came from Africa and none from South America, where expectations about fertility and marriage may shape experiences differently.</a:t>
            </a:r>
          </a:p>
          <a:p>
            <a:pPr algn="just">
              <a:lnSpc>
                <a:spcPct val="100000"/>
              </a:lnSpc>
              <a:spcAft>
                <a:spcPts val="400"/>
              </a:spcAft>
            </a:pPr>
            <a:r>
              <a:rPr sz="2200" b="1" i="0">
                <a:solidFill>
                  <a:srgbClr val="000000"/>
                </a:solidFill>
                <a:latin typeface="Times New Roman"/>
              </a:rPr>
              <a:t>Conclusion</a:t>
            </a:r>
          </a:p>
          <a:p>
            <a:pPr algn="just">
              <a:lnSpc>
                <a:spcPct val="100000"/>
              </a:lnSpc>
              <a:spcAft>
                <a:spcPts val="400"/>
              </a:spcAft>
            </a:pPr>
            <a:r>
              <a:rPr sz="2200" b="0" i="0">
                <a:solidFill>
                  <a:srgbClr val="000000"/>
                </a:solidFill>
                <a:latin typeface="Times New Roman"/>
              </a:rPr>
              <a:t>MRKH affects far more than reproductive anatomy. Psychosexual difficulties, emotional distress, and low self-esteem were widely reported, yet depression and anxiety were measured in fewer than half of studies, and coping relied mostly on peers or concealment rather than structured care. Mental health screening, psychosexual counseling, and peer support should become standard in multidisciplinary MRKH care, not an afterthought, and research must reach underrepresented regions.</a:t>
            </a:r>
          </a:p>
          <a:p>
            <a:pPr algn="just">
              <a:lnSpc>
                <a:spcPct val="100000"/>
              </a:lnSpc>
              <a:spcAft>
                <a:spcPts val="400"/>
              </a:spcAft>
            </a:pPr>
            <a:r>
              <a:rPr sz="2200" b="1" i="0">
                <a:solidFill>
                  <a:srgbClr val="000000"/>
                </a:solidFill>
                <a:latin typeface="Times New Roman"/>
              </a:rPr>
              <a:t>Limitations</a:t>
            </a:r>
          </a:p>
          <a:p>
            <a:pPr algn="l" marL="274320" indent="-274320">
              <a:lnSpc>
                <a:spcPct val="100000"/>
              </a:lnSpc>
              <a:spcAft>
                <a:spcPts val="400"/>
              </a:spcAft>
            </a:pPr>
            <a:r>
              <a:rPr sz="2200" b="0" i="0">
                <a:solidFill>
                  <a:srgbClr val="000000"/>
                </a:solidFill>
                <a:latin typeface="Times New Roman"/>
              </a:rPr>
              <a:t>• English-language database literature from 2019–2026 only; no grey literature</a:t>
            </a:r>
          </a:p>
          <a:p>
            <a:pPr algn="l" marL="274320" indent="-274320">
              <a:lnSpc>
                <a:spcPct val="100000"/>
              </a:lnSpc>
              <a:spcAft>
                <a:spcPts val="400"/>
              </a:spcAft>
            </a:pPr>
            <a:r>
              <a:rPr sz="2200" b="0" i="0">
                <a:solidFill>
                  <a:srgbClr val="000000"/>
                </a:solidFill>
                <a:latin typeface="Times New Roman"/>
              </a:rPr>
              <a:t>• Many small, single-center samples; heterogeneous designs and measures</a:t>
            </a:r>
          </a:p>
          <a:p>
            <a:pPr algn="l" marL="274320" indent="-274320">
              <a:lnSpc>
                <a:spcPct val="100000"/>
              </a:lnSpc>
              <a:spcAft>
                <a:spcPts val="400"/>
              </a:spcAft>
            </a:pPr>
            <a:r>
              <a:rPr sz="2200" b="0" i="0">
                <a:solidFill>
                  <a:srgbClr val="000000"/>
                </a:solidFill>
                <a:latin typeface="Times New Roman"/>
              </a:rPr>
              <a:t>• Possible overlapping samples; 5 studies assessed from abstracts only</a:t>
            </a:r>
          </a:p>
          <a:p>
            <a:pPr algn="l" marL="274320" indent="-274320">
              <a:lnSpc>
                <a:spcPct val="100000"/>
              </a:lnSpc>
              <a:spcAft>
                <a:spcPts val="400"/>
              </a:spcAft>
            </a:pPr>
            <a:r>
              <a:rPr sz="2200" b="0" i="0">
                <a:solidFill>
                  <a:srgbClr val="000000"/>
                </a:solidFill>
                <a:latin typeface="Times New Roman"/>
              </a:rPr>
              <a:t>• No quality appraisal; counts show how often outcomes were studied, not prevalence</a:t>
            </a:r>
          </a:p>
        </p:txBody>
      </p:sp>
      <p:graphicFrame>
        <p:nvGraphicFramePr>
          <p:cNvPr id="10" name="Table 9">
            <a:extLst>
              <a:ext uri="{FF2B5EF4-FFF2-40B4-BE49-F238E27FC236}">
                <a16:creationId xmlns:a16="http://schemas.microsoft.com/office/drawing/2014/main" id="{205B63F2-1A1A-2B15-C5FA-4705C2E0F0C2}"/>
              </a:ext>
            </a:extLst>
          </p:cNvPr>
          <p:cNvGraphicFramePr>
            <a:graphicFrameLocks noGrp="1"/>
          </p:cNvGraphicFramePr>
          <p:nvPr>
            <p:extLst>
              <p:ext uri="{D42A27DB-BD31-4B8C-83A1-F6EECF244321}">
                <p14:modId xmlns:p14="http://schemas.microsoft.com/office/powerpoint/2010/main" val="2301284607"/>
              </p:ext>
            </p:extLst>
          </p:nvPr>
        </p:nvGraphicFramePr>
        <p:xfrm>
          <a:off x="660762" y="21538124"/>
          <a:ext cx="9564624" cy="10588752"/>
        </p:xfrm>
        <a:graphic>
          <a:graphicData uri="http://schemas.openxmlformats.org/drawingml/2006/table">
            <a:tbl>
              <a:tblPr firstRow="1" bandRow="1">
                <a:tableStyleId>{5C22544A-7EE6-4342-B048-85BDC9FD1C3A}</a:tableStyleId>
              </a:tblPr>
              <a:tblGrid>
                <a:gridCol w="2331720">
                  <a:extLst>
                    <a:ext uri="{9D8B030D-6E8A-4147-A177-3AD203B41FA5}">
                      <a16:colId xmlns:a16="http://schemas.microsoft.com/office/drawing/2014/main" val="2846790296"/>
                    </a:ext>
                  </a:extLst>
                </a:gridCol>
                <a:gridCol w="7232904">
                  <a:extLst>
                    <a:ext uri="{9D8B030D-6E8A-4147-A177-3AD203B41FA5}">
                      <a16:colId xmlns:a16="http://schemas.microsoft.com/office/drawing/2014/main" val="1015726853"/>
                    </a:ext>
                  </a:extLst>
                </a:gridCol>
              </a:tblGrid>
              <a:tr h="603504">
                <a:tc>
                  <a:txBody>
                    <a:bodyPr wrap="square"/>
                    <a:lstStyle/>
                    <a:p>
                      <a:pPr algn="l"/>
                      <a:r>
                        <a:rPr sz="2800" b="0" i="0">
                          <a:solidFill>
                            <a:srgbClr val="FFFFFF"/>
                          </a:solidFill>
                          <a:latin typeface="Times New Roman"/>
                        </a:rPr>
                        <a:t>METHOD</a:t>
                      </a:r>
                    </a:p>
                  </a:txBody>
                  <a:tcPr/>
                </a:tc>
                <a:tc>
                  <a:txBody>
                    <a:bodyPr wrap="square"/>
                    <a:lstStyle/>
                    <a:p>
                      <a:pPr algn="l"/>
                      <a:r>
                        <a:rPr sz="2800" b="0" i="0">
                          <a:solidFill>
                            <a:srgbClr val="FFFFFF"/>
                          </a:solidFill>
                          <a:latin typeface="Times New Roman"/>
                        </a:rPr>
                        <a:t>DESCRIPTION</a:t>
                      </a:r>
                    </a:p>
                  </a:txBody>
                  <a:tcPr/>
                </a:tc>
                <a:extLst>
                  <a:ext uri="{0D108BD9-81ED-4DB2-BD59-A6C34878D82A}">
                    <a16:rowId xmlns:a16="http://schemas.microsoft.com/office/drawing/2014/main" val="3897735149"/>
                  </a:ext>
                </a:extLst>
              </a:tr>
              <a:tr h="2395728">
                <a:tc>
                  <a:txBody>
                    <a:bodyPr wrap="square"/>
                    <a:lstStyle/>
                    <a:p>
                      <a:pPr algn="l"/>
                      <a:r>
                        <a:rPr sz="2400" b="1" i="0">
                          <a:solidFill>
                            <a:srgbClr val="000000"/>
                          </a:solidFill>
                          <a:latin typeface="Times New Roman"/>
                        </a:rPr>
                        <a:t>Design</a:t>
                      </a:r>
                    </a:p>
                  </a:txBody>
                  <a:tcPr/>
                </a:tc>
                <a:tc>
                  <a:txBody>
                    <a:bodyPr wrap="square"/>
                    <a:lstStyle/>
                    <a:p>
                      <a:pPr algn="l"/>
                      <a:r>
                        <a:rPr sz="2400" b="0" i="0">
                          <a:solidFill>
                            <a:srgbClr val="000000"/>
                          </a:solidFill>
                          <a:latin typeface="Times New Roman"/>
                        </a:rPr>
                        <a:t>Scoping review using Arksey &amp; O'Malley's five-stage framework</a:t>
                      </a:r>
                      <a:r>
                        <a:rPr sz="2400" b="0" i="0" baseline="30000">
                          <a:solidFill>
                            <a:srgbClr val="000000"/>
                          </a:solidFill>
                          <a:latin typeface="Times New Roman"/>
                        </a:rPr>
                        <a:t>8</a:t>
                      </a:r>
                      <a:r>
                        <a:rPr sz="2400" b="0" i="0">
                          <a:solidFill>
                            <a:srgbClr val="000000"/>
                          </a:solidFill>
                          <a:latin typeface="Times New Roman"/>
                        </a:rPr>
                        <a:t> and PRISMA-ScR reporting guidance.</a:t>
                      </a:r>
                      <a:r>
                        <a:rPr sz="2400" b="0" i="0" baseline="30000">
                          <a:solidFill>
                            <a:srgbClr val="000000"/>
                          </a:solidFill>
                          <a:latin typeface="Times New Roman"/>
                        </a:rPr>
                        <a:t>9</a:t>
                      </a:r>
                      <a:r>
                        <a:rPr sz="2400" b="0" i="0">
                          <a:solidFill>
                            <a:srgbClr val="000000"/>
                          </a:solidFill>
                          <a:latin typeface="Times New Roman"/>
                        </a:rPr>
                        <a:t> Framed by population (individuals with MRKH), concept (mental health, coping, care gaps), and context (any setting). No quality appraisal, consistent with scoping methodology.</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955808230"/>
                  </a:ext>
                </a:extLst>
              </a:tr>
              <a:tr h="2011680">
                <a:tc>
                  <a:txBody>
                    <a:bodyPr wrap="square"/>
                    <a:lstStyle/>
                    <a:p>
                      <a:pPr algn="l"/>
                      <a:r>
                        <a:rPr sz="2400" b="1" i="0">
                          <a:solidFill>
                            <a:srgbClr val="000000"/>
                          </a:solidFill>
                          <a:latin typeface="Times New Roman"/>
                        </a:rPr>
                        <a:t>Search</a:t>
                      </a:r>
                    </a:p>
                  </a:txBody>
                  <a:tcPr/>
                </a:tc>
                <a:tc>
                  <a:txBody>
                    <a:bodyPr wrap="square"/>
                    <a:lstStyle/>
                    <a:p>
                      <a:pPr algn="l"/>
                      <a:r>
                        <a:rPr sz="2400" b="0" i="0">
                          <a:solidFill>
                            <a:srgbClr val="000000"/>
                          </a:solidFill>
                          <a:latin typeface="Times New Roman"/>
                        </a:rPr>
                        <a:t>PubMed; Scopus; EBSCOhost (MEDLINE, CINAHL, APA PsycInfo, Women's Studies International). January 2019–March 2026; exported March 29, 2026. Terms combined MRKH and Müllerian agenesis with mental health, psychosocial, and coping concepts.</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271464298"/>
                  </a:ext>
                </a:extLst>
              </a:tr>
              <a:tr h="2743200">
                <a:tc>
                  <a:txBody>
                    <a:bodyPr wrap="square"/>
                    <a:lstStyle/>
                    <a:p>
                      <a:pPr algn="l"/>
                      <a:r>
                        <a:rPr sz="2400" b="1" i="0">
                          <a:solidFill>
                            <a:srgbClr val="000000"/>
                          </a:solidFill>
                          <a:latin typeface="Times New Roman"/>
                        </a:rPr>
                        <a:t>Eligibility</a:t>
                      </a:r>
                    </a:p>
                  </a:txBody>
                  <a:tcPr/>
                </a:tc>
                <a:tc>
                  <a:txBody>
                    <a:bodyPr wrap="square"/>
                    <a:lstStyle/>
                    <a:p>
                      <a:pPr algn="l"/>
                      <a:r>
                        <a:rPr sz="2400" b="1" i="0">
                          <a:solidFill>
                            <a:srgbClr val="000000"/>
                          </a:solidFill>
                          <a:latin typeface="Times New Roman"/>
                        </a:rPr>
                        <a:t>Included:</a:t>
                      </a:r>
                      <a:r>
                        <a:rPr sz="2400" b="0" i="0">
                          <a:solidFill>
                            <a:srgbClr val="000000"/>
                          </a:solidFill>
                          <a:latin typeface="Times New Roman"/>
                        </a:rPr>
                        <a:t> English-language primary quantitative, qualitative, or mixed-methods studies reporting psychological outcomes or coping in MRKH; mixed samples only if MRKH results were reported separately or ≥80% had MRKH. </a:t>
                      </a:r>
                      <a:r>
                        <a:rPr sz="2400" b="1" i="0">
                          <a:solidFill>
                            <a:srgbClr val="000000"/>
                          </a:solidFill>
                          <a:latin typeface="Times New Roman"/>
                        </a:rPr>
                        <a:t>Excluded:</a:t>
                      </a:r>
                      <a:r>
                        <a:rPr sz="2400" b="0" i="0">
                          <a:solidFill>
                            <a:srgbClr val="000000"/>
                          </a:solidFill>
                          <a:latin typeface="Times New Roman"/>
                        </a:rPr>
                        <a:t> reviews, case reports, and studies of surgical, anatomical, or fertility outcomes only.</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056894884"/>
                  </a:ext>
                </a:extLst>
              </a:tr>
              <a:tr h="2834640">
                <a:tc>
                  <a:txBody>
                    <a:bodyPr wrap="square"/>
                    <a:lstStyle/>
                    <a:p>
                      <a:pPr algn="l"/>
                      <a:r>
                        <a:rPr sz="2400" b="1" i="0">
                          <a:solidFill>
                            <a:srgbClr val="000000"/>
                          </a:solidFill>
                          <a:latin typeface="Times New Roman"/>
                        </a:rPr>
                        <a:t>Screening &amp; Analysis</a:t>
                      </a:r>
                    </a:p>
                  </a:txBody>
                  <a:tcPr/>
                </a:tc>
                <a:tc>
                  <a:txBody>
                    <a:bodyPr wrap="square"/>
                    <a:lstStyle/>
                    <a:p>
                      <a:pPr algn="l"/>
                      <a:r>
                        <a:rPr sz="2400" b="0" i="0">
                          <a:solidFill>
                            <a:srgbClr val="000000"/>
                          </a:solidFill>
                          <a:latin typeface="Times New Roman"/>
                        </a:rPr>
                        <a:t>516 records; 192 duplicates removed; 324 titles and abstracts screened; 42 assessed; 35 included (Figure 1). Data were charted from full texts (30 of 35 studies; abstracts for the rest): design, country, sample, outcomes, coping, and healthcare gaps; synthesized with frequency counts and thematic grouping into 6 domains (Figure 3).</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400023977"/>
                  </a:ext>
                </a:extLst>
              </a:tr>
            </a:tbl>
          </a:graphicData>
        </a:graphic>
      </p:graphicFrame>
      <p:cxnSp>
        <p:nvCxnSpPr>
          <p:cNvPr id="6" name="Straight Connector 5">
            <a:extLst>
              <a:ext uri="{FF2B5EF4-FFF2-40B4-BE49-F238E27FC236}">
                <a16:creationId xmlns:a16="http://schemas.microsoft.com/office/drawing/2014/main" id="{27F635D7-8592-DF05-AA6D-AD2EB280C030}"/>
              </a:ext>
            </a:extLst>
          </p:cNvPr>
          <p:cNvCxnSpPr/>
          <p:nvPr/>
        </p:nvCxnSpPr>
        <p:spPr>
          <a:xfrm>
            <a:off x="0" y="-26234"/>
            <a:ext cx="43991438" cy="0"/>
          </a:xfrm>
          <a:prstGeom prst="line">
            <a:avLst/>
          </a:prstGeom>
        </p:spPr>
        <p:style>
          <a:lnRef idx="1">
            <a:schemeClr val="dk1"/>
          </a:lnRef>
          <a:fillRef idx="0">
            <a:schemeClr val="dk1"/>
          </a:fillRef>
          <a:effectRef idx="0">
            <a:schemeClr val="dk1"/>
          </a:effectRef>
          <a:fontRef idx="minor">
            <a:schemeClr val="tx1"/>
          </a:fontRef>
        </p:style>
      </p:cxnSp>
      <p:sp>
        <p:nvSpPr>
          <p:cNvPr id="328" name="QR code spot"/>
          <p:cNvSpPr/>
          <p:nvPr/>
        </p:nvSpPr>
        <p:spPr>
          <a:xfrm>
            <a:off x="36210240" y="27624024"/>
            <a:ext cx="5056632" cy="5056632"/>
          </a:xfrm>
          <a:prstGeom prst="rect">
            <a:avLst/>
          </a:prstGeom>
          <a:solidFill>
            <a:srgbClr val="FFFFFF"/>
          </a:solidFill>
          <a:ln w="19050">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0" i="0">
                <a:solidFill>
                  <a:srgbClr val="595959"/>
                </a:solidFill>
                <a:latin typeface="Times New Roman"/>
              </a:rPr>
              <a:t>Paste QR code here</a:t>
            </a:r>
          </a:p>
          <a:p>
            <a:pPr algn="ctr"/>
            <a:r>
              <a:rPr sz="1800" b="0" i="0">
                <a:solidFill>
                  <a:srgbClr val="595959"/>
                </a:solidFill>
                <a:latin typeface="Times New Roman"/>
              </a:rPr>
              <a:t>(5.53 × 5.53 in; links to the full reference list)</a:t>
            </a:r>
          </a:p>
        </p:txBody>
      </p:sp>
      <p:pic>
        <p:nvPicPr>
          <p:cNvPr id="329" name="Picture 328" descr="prisma_flow.png"/>
          <p:cNvPicPr>
            <a:picLocks noChangeAspect="1"/>
          </p:cNvPicPr>
          <p:nvPr/>
        </p:nvPicPr>
        <p:blipFill>
          <a:blip r:embed="rId4"/>
          <a:stretch>
            <a:fillRect/>
          </a:stretch>
        </p:blipFill>
        <p:spPr>
          <a:xfrm>
            <a:off x="12114402" y="4572000"/>
            <a:ext cx="8360411" cy="7498079"/>
          </a:xfrm>
          <a:prstGeom prst="rect">
            <a:avLst/>
          </a:prstGeom>
        </p:spPr>
      </p:pic>
      <p:sp>
        <p:nvSpPr>
          <p:cNvPr id="330" name="TextBox 329"/>
          <p:cNvSpPr txBox="1"/>
          <p:nvPr/>
        </p:nvSpPr>
        <p:spPr>
          <a:xfrm>
            <a:off x="11173968" y="12161520"/>
            <a:ext cx="10241280" cy="1097280"/>
          </a:xfrm>
          <a:prstGeom prst="rect">
            <a:avLst/>
          </a:prstGeom>
          <a:noFill/>
        </p:spPr>
        <p:txBody>
          <a:bodyPr wrap="square">
            <a:noAutofit/>
          </a:bodyPr>
          <a:lstStyle/>
          <a:p>
            <a:r>
              <a:rPr sz="2400" b="1" i="0">
                <a:solidFill>
                  <a:srgbClr val="000000"/>
                </a:solidFill>
                <a:latin typeface="Times New Roman"/>
              </a:rPr>
              <a:t>Figure 1.</a:t>
            </a:r>
            <a:r>
              <a:rPr sz="2400" b="0" i="0">
                <a:solidFill>
                  <a:srgbClr val="000000"/>
                </a:solidFill>
                <a:latin typeface="Times New Roman"/>
              </a:rPr>
              <a:t> PRISMA-ScR flow diagram: 516 records identified, 324 screened, 42 assessed for eligibility, and 35 included.</a:t>
            </a:r>
          </a:p>
        </p:txBody>
      </p:sp>
      <p:pic>
        <p:nvPicPr>
          <p:cNvPr id="331" name="Picture 330" descr="fig2_design_donut.png"/>
          <p:cNvPicPr>
            <a:picLocks noChangeAspect="1"/>
          </p:cNvPicPr>
          <p:nvPr/>
        </p:nvPicPr>
        <p:blipFill>
          <a:blip r:embed="rId5"/>
          <a:stretch>
            <a:fillRect/>
          </a:stretch>
        </p:blipFill>
        <p:spPr>
          <a:xfrm>
            <a:off x="22082760" y="5023796"/>
            <a:ext cx="10881360" cy="6594487"/>
          </a:xfrm>
          <a:prstGeom prst="rect">
            <a:avLst/>
          </a:prstGeom>
        </p:spPr>
      </p:pic>
      <p:sp>
        <p:nvSpPr>
          <p:cNvPr id="332" name="TextBox 331"/>
          <p:cNvSpPr txBox="1"/>
          <p:nvPr/>
        </p:nvSpPr>
        <p:spPr>
          <a:xfrm>
            <a:off x="22082760" y="12161520"/>
            <a:ext cx="10881360" cy="1097280"/>
          </a:xfrm>
          <a:prstGeom prst="rect">
            <a:avLst/>
          </a:prstGeom>
          <a:noFill/>
        </p:spPr>
        <p:txBody>
          <a:bodyPr wrap="square">
            <a:noAutofit/>
          </a:bodyPr>
          <a:lstStyle/>
          <a:p>
            <a:r>
              <a:rPr sz="2400" b="1" i="0">
                <a:solidFill>
                  <a:srgbClr val="000000"/>
                </a:solidFill>
                <a:latin typeface="Times New Roman"/>
              </a:rPr>
              <a:t>Figure 2.</a:t>
            </a:r>
            <a:r>
              <a:rPr sz="2400" b="0" i="0">
                <a:solidFill>
                  <a:srgbClr val="000000"/>
                </a:solidFill>
                <a:latin typeface="Times New Roman"/>
              </a:rPr>
              <a:t> Study designs: 18 quantitative (51%), 14 qualitative (40%), 2 mixed-methods, and 1 not reported.</a:t>
            </a:r>
          </a:p>
        </p:txBody>
      </p:sp>
      <p:pic>
        <p:nvPicPr>
          <p:cNvPr id="333" name="Picture 332" descr="fig1_outcomes_bar.png"/>
          <p:cNvPicPr>
            <a:picLocks noChangeAspect="1"/>
          </p:cNvPicPr>
          <p:nvPr/>
        </p:nvPicPr>
        <p:blipFill>
          <a:blip r:embed="rId6"/>
          <a:stretch>
            <a:fillRect/>
          </a:stretch>
        </p:blipFill>
        <p:spPr>
          <a:xfrm>
            <a:off x="12892413" y="13487400"/>
            <a:ext cx="18563572" cy="7818120"/>
          </a:xfrm>
          <a:prstGeom prst="rect">
            <a:avLst/>
          </a:prstGeom>
        </p:spPr>
      </p:pic>
      <p:sp>
        <p:nvSpPr>
          <p:cNvPr id="334" name="TextBox 333"/>
          <p:cNvSpPr txBox="1"/>
          <p:nvPr/>
        </p:nvSpPr>
        <p:spPr>
          <a:xfrm>
            <a:off x="11347704" y="21351240"/>
            <a:ext cx="21762720" cy="1097280"/>
          </a:xfrm>
          <a:prstGeom prst="rect">
            <a:avLst/>
          </a:prstGeom>
          <a:noFill/>
        </p:spPr>
        <p:txBody>
          <a:bodyPr wrap="square">
            <a:noAutofit/>
          </a:bodyPr>
          <a:lstStyle/>
          <a:p>
            <a:r>
              <a:rPr sz="2400" b="1" i="0">
                <a:solidFill>
                  <a:srgbClr val="000000"/>
                </a:solidFill>
                <a:latin typeface="Times New Roman"/>
              </a:rPr>
              <a:t>Figure 3.</a:t>
            </a:r>
            <a:r>
              <a:rPr sz="2400" b="0" i="0">
                <a:solidFill>
                  <a:srgbClr val="000000"/>
                </a:solidFill>
                <a:latin typeface="Times New Roman"/>
              </a:rPr>
              <a:t> Psychosexual and relational challenges were the most frequently reported outcome (24 of 35 studies); depression and anxiety were the least often assessed of the four outcome domains (14 of 35). Studies could report more than one domain.</a:t>
            </a:r>
          </a:p>
        </p:txBody>
      </p:sp>
      <p:pic>
        <p:nvPicPr>
          <p:cNvPr id="335" name="Picture 334" descr="fig5_coping_bar.png"/>
          <p:cNvPicPr>
            <a:picLocks noChangeAspect="1"/>
          </p:cNvPicPr>
          <p:nvPr/>
        </p:nvPicPr>
        <p:blipFill>
          <a:blip r:embed="rId7"/>
          <a:stretch>
            <a:fillRect/>
          </a:stretch>
        </p:blipFill>
        <p:spPr>
          <a:xfrm>
            <a:off x="11173968" y="24408271"/>
            <a:ext cx="10241280" cy="4401537"/>
          </a:xfrm>
          <a:prstGeom prst="rect">
            <a:avLst/>
          </a:prstGeom>
        </p:spPr>
      </p:pic>
      <p:sp>
        <p:nvSpPr>
          <p:cNvPr id="336" name="TextBox 335"/>
          <p:cNvSpPr txBox="1"/>
          <p:nvPr/>
        </p:nvSpPr>
        <p:spPr>
          <a:xfrm>
            <a:off x="11173968" y="30495240"/>
            <a:ext cx="10241280" cy="1463040"/>
          </a:xfrm>
          <a:prstGeom prst="rect">
            <a:avLst/>
          </a:prstGeom>
          <a:noFill/>
        </p:spPr>
        <p:txBody>
          <a:bodyPr wrap="square">
            <a:noAutofit/>
          </a:bodyPr>
          <a:lstStyle/>
          <a:p>
            <a:r>
              <a:rPr sz="2400" b="1" i="0">
                <a:solidFill>
                  <a:srgbClr val="000000"/>
                </a:solidFill>
                <a:latin typeface="Times New Roman"/>
              </a:rPr>
              <a:t>Figure 4.</a:t>
            </a:r>
            <a:r>
              <a:rPr sz="2400" b="0" i="0">
                <a:solidFill>
                  <a:srgbClr val="000000"/>
                </a:solidFill>
                <a:latin typeface="Times New Roman"/>
              </a:rPr>
              <a:t> Coping mechanisms in 15 studies: peer, family, and social support was most common (7), followed by avoidance and concealment (6).</a:t>
            </a:r>
          </a:p>
        </p:txBody>
      </p:sp>
      <p:pic>
        <p:nvPicPr>
          <p:cNvPr id="337" name="Picture 336" descr="fig3_geographic_map.png"/>
          <p:cNvPicPr>
            <a:picLocks noChangeAspect="1"/>
          </p:cNvPicPr>
          <p:nvPr/>
        </p:nvPicPr>
        <p:blipFill>
          <a:blip r:embed="rId8"/>
          <a:stretch>
            <a:fillRect/>
          </a:stretch>
        </p:blipFill>
        <p:spPr>
          <a:xfrm>
            <a:off x="22082760" y="23820691"/>
            <a:ext cx="10881360" cy="5576697"/>
          </a:xfrm>
          <a:prstGeom prst="rect">
            <a:avLst/>
          </a:prstGeom>
        </p:spPr>
      </p:pic>
      <p:sp>
        <p:nvSpPr>
          <p:cNvPr id="338" name="TextBox 337"/>
          <p:cNvSpPr txBox="1"/>
          <p:nvPr/>
        </p:nvSpPr>
        <p:spPr>
          <a:xfrm>
            <a:off x="22082760" y="30495240"/>
            <a:ext cx="10881360" cy="1463040"/>
          </a:xfrm>
          <a:prstGeom prst="rect">
            <a:avLst/>
          </a:prstGeom>
          <a:noFill/>
        </p:spPr>
        <p:txBody>
          <a:bodyPr wrap="square">
            <a:noAutofit/>
          </a:bodyPr>
          <a:lstStyle/>
          <a:p>
            <a:r>
              <a:rPr sz="2400" b="1" i="0">
                <a:solidFill>
                  <a:srgbClr val="000000"/>
                </a:solidFill>
                <a:latin typeface="Times New Roman"/>
              </a:rPr>
              <a:t>Figure 5.</a:t>
            </a:r>
            <a:r>
              <a:rPr sz="2400" b="0" i="0">
                <a:solidFill>
                  <a:srgbClr val="000000"/>
                </a:solidFill>
                <a:latin typeface="Times New Roman"/>
              </a:rPr>
              <a:t> Europe and Asia contributed 14 studies each, Africa and Oceania 1 each, and South America none (2 multinational studies not mapped).</a:t>
            </a:r>
          </a:p>
        </p:txBody>
      </p:sp>
    </p:spTree>
    <p:extLst>
      <p:ext uri="{BB962C8B-B14F-4D97-AF65-F5344CB8AC3E}">
        <p14:creationId xmlns:p14="http://schemas.microsoft.com/office/powerpoint/2010/main" val="11133844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TM04033929[[fn=Slate]]</Template>
  <TotalTime>25711</TotalTime>
  <Words>901</Words>
  <Application>Microsoft Office PowerPoint</Application>
  <PresentationFormat>Custom</PresentationFormat>
  <Paragraphs>65</Paragraphs>
  <Slides>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 Montalvo</dc:creator>
  <cp:lastModifiedBy>Shobayo, Ifeoluwanimi</cp:lastModifiedBy>
  <cp:revision>321</cp:revision>
  <dcterms:created xsi:type="dcterms:W3CDTF">2013-10-19T16:33:22Z</dcterms:created>
  <dcterms:modified xsi:type="dcterms:W3CDTF">2026-09-03T22:07:59Z</dcterms:modified>
</cp:coreProperties>
</file>