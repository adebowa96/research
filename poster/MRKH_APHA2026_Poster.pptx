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43891200" cy="3291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3891200" cy="5120640"/>
          </a:xfrm>
          <a:prstGeom prst="rect">
            <a:avLst/>
          </a:prstGeom>
          <a:solidFill>
            <a:srgbClr val="0D3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120640"/>
            <a:ext cx="43891200" cy="1097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20040"/>
            <a:ext cx="42519600" cy="2377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400" b="0" i="0">
                <a:solidFill>
                  <a:srgbClr val="FFFFFF"/>
                </a:solidFill>
                <a:latin typeface="Arial"/>
              </a:rPr>
              <a:t>Mental Health and Psychosocial Outcomes Among Individuals With Mayer-Rokitansky-Küster-Hauser (MRKH) Syndrome: A Scoping 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788920"/>
            <a:ext cx="42519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3600" b="0" i="0">
                <a:solidFill>
                  <a:srgbClr val="FFFFFF"/>
                </a:solidFill>
                <a:latin typeface="Arial"/>
              </a:rPr>
              <a:t>Ifeoluwanimi P. Shobayo, BSc, MSPHc  |  Paul Okojie, PhD  |  Robyn Anderson, PhD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611880"/>
            <a:ext cx="4251960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2800" b="0" i="0">
                <a:solidFill>
                  <a:srgbClr val="CDE2FB"/>
                </a:solidFill>
                <a:latin typeface="Arial"/>
              </a:rPr>
              <a:t>Department of Public and Community Health, Liberty University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2800" b="0" i="0">
                <a:solidFill>
                  <a:srgbClr val="CDE2FB"/>
                </a:solidFill>
                <a:latin typeface="Arial"/>
              </a:rPr>
              <a:t>APHA 2026 Annual Meeting &amp; Expo  ·  Sexual and Reproductive Health Section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577840"/>
            <a:ext cx="13807440" cy="777240"/>
          </a:xfrm>
          <a:prstGeom prst="rect">
            <a:avLst/>
          </a:prstGeom>
          <a:solidFill>
            <a:srgbClr val="0D3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5577840"/>
            <a:ext cx="13533119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0" i="0">
                <a:solidFill>
                  <a:srgbClr val="FFFFFF"/>
                </a:solidFill>
                <a:latin typeface="Arial"/>
              </a:rPr>
              <a:t>Background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537959"/>
            <a:ext cx="13807440" cy="3931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600" b="0" i="0">
                <a:solidFill>
                  <a:srgbClr val="0B0B0B"/>
                </a:solidFill>
                <a:latin typeface="Arial"/>
              </a:rPr>
              <a:t>MRKH syndrome is a rare Müllerian aplasia: congenital absence of the uterus and upper two-thirds of the vagina in individuals with a 46,XX karyotype and functional ovaries. It affects approximately 1 in 4,500–5,000 female births</a:t>
            </a:r>
            <a:r>
              <a:rPr sz="2600" b="0" i="0" baseline="30000">
                <a:solidFill>
                  <a:srgbClr val="0B0B0B"/>
                </a:solidFill>
                <a:latin typeface="Arial"/>
              </a:rPr>
              <a:t>1,2</a:t>
            </a:r>
            <a:r>
              <a:rPr sz="2600" b="0" i="0">
                <a:solidFill>
                  <a:srgbClr val="0B0B0B"/>
                </a:solidFill>
                <a:latin typeface="Arial"/>
              </a:rPr>
              <a:t> and is typically diagnosed in adolescence, a critical period for identity formation and social development.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600" b="0" i="0">
                <a:solidFill>
                  <a:srgbClr val="0B0B0B"/>
                </a:solidFill>
                <a:latin typeface="Arial"/>
              </a:rPr>
              <a:t>The diagnosis carries profound implications for fertility, psychosexual development, and self-image, yet psychosocial outcomes remain underexplored and insufficiently integrated into clinical and public health frameworks.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9784080"/>
            <a:ext cx="138074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1" i="0">
                <a:solidFill>
                  <a:srgbClr val="0D366B"/>
                </a:solidFill>
                <a:latin typeface="Arial"/>
              </a:rPr>
              <a:t>MRKH Syndrome at a Glance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0378440"/>
            <a:ext cx="3280410" cy="2286000"/>
          </a:xfrm>
          <a:prstGeom prst="roundRect">
            <a:avLst>
              <a:gd name="adj" fmla="val 8000"/>
            </a:avLst>
          </a:prstGeom>
          <a:solidFill>
            <a:srgbClr val="EEF4FC"/>
          </a:solidFill>
          <a:ln w="2540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0561319"/>
            <a:ext cx="328041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3000" b="1" i="0">
                <a:solidFill>
                  <a:srgbClr val="0D366B"/>
                </a:solidFill>
                <a:latin typeface="Arial"/>
              </a:rPr>
              <a:t>~1:5,000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11384280"/>
            <a:ext cx="328041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900" b="0" i="0">
                <a:solidFill>
                  <a:srgbClr val="52514E"/>
                </a:solidFill>
                <a:latin typeface="Arial"/>
              </a:rPr>
              <a:t>female births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94810" y="10378440"/>
            <a:ext cx="3280410" cy="2286000"/>
          </a:xfrm>
          <a:prstGeom prst="roundRect">
            <a:avLst>
              <a:gd name="adj" fmla="val 8000"/>
            </a:avLst>
          </a:prstGeom>
          <a:solidFill>
            <a:srgbClr val="EEF4FC"/>
          </a:solidFill>
          <a:ln w="2540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94810" y="10561319"/>
            <a:ext cx="328041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3000" b="1" i="0">
                <a:solidFill>
                  <a:srgbClr val="0D366B"/>
                </a:solidFill>
                <a:latin typeface="Arial"/>
              </a:rPr>
              <a:t>46,XX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94810" y="11384280"/>
            <a:ext cx="328041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900" b="0" i="0">
                <a:solidFill>
                  <a:srgbClr val="52514E"/>
                </a:solidFill>
                <a:latin typeface="Arial"/>
              </a:rPr>
              <a:t>karyotype;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900" b="0" i="0">
                <a:solidFill>
                  <a:srgbClr val="52514E"/>
                </a:solidFill>
                <a:latin typeface="Arial"/>
              </a:rPr>
              <a:t>functional ovaries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03820" y="10378440"/>
            <a:ext cx="3280410" cy="2286000"/>
          </a:xfrm>
          <a:prstGeom prst="roundRect">
            <a:avLst>
              <a:gd name="adj" fmla="val 8000"/>
            </a:avLst>
          </a:prstGeom>
          <a:solidFill>
            <a:srgbClr val="EEF4FC"/>
          </a:solidFill>
          <a:ln w="2540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03820" y="10561319"/>
            <a:ext cx="328041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3000" b="1" i="0">
                <a:solidFill>
                  <a:srgbClr val="0D366B"/>
                </a:solidFill>
                <a:latin typeface="Arial"/>
              </a:rPr>
              <a:t>Teens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03820" y="11384280"/>
            <a:ext cx="328041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900" b="0" i="0">
                <a:solidFill>
                  <a:srgbClr val="52514E"/>
                </a:solidFill>
                <a:latin typeface="Arial"/>
              </a:rPr>
              <a:t>typical age at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900" b="0" i="0">
                <a:solidFill>
                  <a:srgbClr val="52514E"/>
                </a:solidFill>
                <a:latin typeface="Arial"/>
              </a:rPr>
              <a:t>diagnosis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212830" y="10378440"/>
            <a:ext cx="3280410" cy="2286000"/>
          </a:xfrm>
          <a:prstGeom prst="roundRect">
            <a:avLst>
              <a:gd name="adj" fmla="val 8000"/>
            </a:avLst>
          </a:prstGeom>
          <a:solidFill>
            <a:srgbClr val="EEF4FC"/>
          </a:solidFill>
          <a:ln w="2540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212830" y="10561319"/>
            <a:ext cx="328041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3000" b="1" i="0">
                <a:solidFill>
                  <a:srgbClr val="0D366B"/>
                </a:solidFill>
                <a:latin typeface="Arial"/>
              </a:rPr>
              <a:t>No uterus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12830" y="11384280"/>
            <a:ext cx="328041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900" b="0" i="0">
                <a:solidFill>
                  <a:srgbClr val="52514E"/>
                </a:solidFill>
                <a:latin typeface="Arial"/>
              </a:rPr>
              <a:t>uterovaginal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900" b="0" i="0">
                <a:solidFill>
                  <a:srgbClr val="52514E"/>
                </a:solidFill>
                <a:latin typeface="Arial"/>
              </a:rPr>
              <a:t>agenesis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12938759"/>
            <a:ext cx="13807440" cy="2011680"/>
          </a:xfrm>
          <a:prstGeom prst="roundRect">
            <a:avLst>
              <a:gd name="adj" fmla="val 8000"/>
            </a:avLst>
          </a:prstGeom>
          <a:solidFill>
            <a:srgbClr val="FDEEE7"/>
          </a:solidFill>
          <a:ln w="25400">
            <a:solidFill>
              <a:srgbClr val="C44E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13030199"/>
            <a:ext cx="1344168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1" i="0">
                <a:solidFill>
                  <a:srgbClr val="0B0B0B"/>
                </a:solidFill>
                <a:latin typeface="Arial"/>
              </a:rPr>
              <a:t>Research Question:</a:t>
            </a:r>
            <a:r>
              <a:rPr sz="2400" b="0" i="0">
                <a:solidFill>
                  <a:srgbClr val="0B0B0B"/>
                </a:solidFill>
                <a:latin typeface="Arial"/>
              </a:rPr>
              <a:t> What mental health outcomes and coping mechanisms are reported among individuals with MRKH syndrome, and what healthcare system gaps exist?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" y="15179039"/>
            <a:ext cx="13807440" cy="777240"/>
          </a:xfrm>
          <a:prstGeom prst="rect">
            <a:avLst/>
          </a:prstGeom>
          <a:solidFill>
            <a:srgbClr val="0D3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15179039"/>
            <a:ext cx="13533119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0" i="0">
                <a:solidFill>
                  <a:srgbClr val="FFFFFF"/>
                </a:solidFill>
                <a:latin typeface="Arial"/>
              </a:rPr>
              <a:t>Learning Objectives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16139159"/>
            <a:ext cx="1380744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500" b="1" i="0">
                <a:solidFill>
                  <a:srgbClr val="0B0B0B"/>
                </a:solidFill>
                <a:latin typeface="Arial"/>
              </a:rPr>
              <a:t>1.</a:t>
            </a:r>
            <a:r>
              <a:rPr sz="2500" b="0" i="0">
                <a:solidFill>
                  <a:srgbClr val="0B0B0B"/>
                </a:solidFill>
                <a:latin typeface="Arial"/>
              </a:rPr>
              <a:t> Identify key mental health outcomes, including depression, anxiety, reduced quality of life, and psychosexual challenges, reported among individuals with MRKH syndrome.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500" b="1" i="0">
                <a:solidFill>
                  <a:srgbClr val="0B0B0B"/>
                </a:solidFill>
                <a:latin typeface="Arial"/>
              </a:rPr>
              <a:t>2.</a:t>
            </a:r>
            <a:r>
              <a:rPr sz="2500" b="0" i="0">
                <a:solidFill>
                  <a:srgbClr val="0B0B0B"/>
                </a:solidFill>
                <a:latin typeface="Arial"/>
              </a:rPr>
              <a:t> Describe coping mechanisms and psychosocial responses, including adaptive and maladaptive strategies, documented in MRKH populations.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" y="18516600"/>
            <a:ext cx="13807440" cy="777240"/>
          </a:xfrm>
          <a:prstGeom prst="rect">
            <a:avLst/>
          </a:prstGeom>
          <a:solidFill>
            <a:srgbClr val="0D3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18516600"/>
            <a:ext cx="13533119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0" i="0">
                <a:solidFill>
                  <a:srgbClr val="FFFFFF"/>
                </a:solidFill>
                <a:latin typeface="Arial"/>
              </a:rPr>
              <a:t>Methods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19476720"/>
            <a:ext cx="1380744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 i="0">
                <a:solidFill>
                  <a:srgbClr val="0B0B0B"/>
                </a:solidFill>
                <a:latin typeface="Arial"/>
              </a:rPr>
              <a:t>Design:</a:t>
            </a:r>
            <a:r>
              <a:rPr sz="2400" b="0" i="0">
                <a:solidFill>
                  <a:srgbClr val="0B0B0B"/>
                </a:solidFill>
                <a:latin typeface="Arial"/>
              </a:rPr>
              <a:t> Scoping review following Arksey &amp; O'Malley's five-stage framework</a:t>
            </a:r>
            <a:r>
              <a:rPr sz="2400" b="0" i="0" baseline="30000">
                <a:solidFill>
                  <a:srgbClr val="0B0B0B"/>
                </a:solidFill>
                <a:latin typeface="Arial"/>
              </a:rPr>
              <a:t>3</a:t>
            </a:r>
            <a:r>
              <a:rPr sz="2400" b="0" i="0">
                <a:solidFill>
                  <a:srgbClr val="0B0B0B"/>
                </a:solidFill>
                <a:latin typeface="Arial"/>
              </a:rPr>
              <a:t>; reported per PRISMA-ScR</a:t>
            </a:r>
            <a:r>
              <a:rPr sz="2400" b="0" i="0" baseline="30000">
                <a:solidFill>
                  <a:srgbClr val="0B0B0B"/>
                </a:solidFill>
                <a:latin typeface="Arial"/>
              </a:rPr>
              <a:t>4</a:t>
            </a:r>
            <a:r>
              <a:rPr sz="2400" b="0" i="0">
                <a:solidFill>
                  <a:srgbClr val="0B0B0B"/>
                </a:solidFill>
                <a:latin typeface="Arial"/>
              </a:rPr>
              <a:t>.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 i="0">
                <a:solidFill>
                  <a:srgbClr val="0B0B0B"/>
                </a:solidFill>
                <a:latin typeface="Arial"/>
              </a:rPr>
              <a:t>Databases:</a:t>
            </a:r>
            <a:r>
              <a:rPr sz="2400" b="0" i="0">
                <a:solidFill>
                  <a:srgbClr val="0B0B0B"/>
                </a:solidFill>
                <a:latin typeface="Arial"/>
              </a:rPr>
              <a:t> PubMed/MEDLINE, Scopus, PsycINFO, CINAHL (January 2019 – March 2026).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 i="0">
                <a:solidFill>
                  <a:srgbClr val="0B0B0B"/>
                </a:solidFill>
                <a:latin typeface="Arial"/>
              </a:rPr>
              <a:t>Included:</a:t>
            </a:r>
            <a:r>
              <a:rPr sz="2400" b="0" i="0">
                <a:solidFill>
                  <a:srgbClr val="0B0B0B"/>
                </a:solidFill>
                <a:latin typeface="Arial"/>
              </a:rPr>
              <a:t> Primary quantitative, qualitative, and mixed-methods studies reporting psychological outcomes and/or coping mechanisms in MRKH populations.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 i="0">
                <a:solidFill>
                  <a:srgbClr val="0B0B0B"/>
                </a:solidFill>
                <a:latin typeface="Arial"/>
              </a:rPr>
              <a:t>Excluded:</a:t>
            </a:r>
            <a:r>
              <a:rPr sz="2400" b="0" i="0">
                <a:solidFill>
                  <a:srgbClr val="0B0B0B"/>
                </a:solidFill>
                <a:latin typeface="Arial"/>
              </a:rPr>
              <a:t> Studies focused solely on anatomical, surgical, or fertility outcomes.</a:t>
            </a:r>
          </a:p>
        </p:txBody>
      </p:sp>
      <p:pic>
        <p:nvPicPr>
          <p:cNvPr id="31" name="Picture 30" descr="prisma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759" y="22860000"/>
            <a:ext cx="9875520" cy="8856912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85800" y="31762632"/>
            <a:ext cx="1380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00" b="0" i="0">
                <a:solidFill>
                  <a:srgbClr val="52514E"/>
                </a:solidFill>
                <a:latin typeface="Arial"/>
              </a:rPr>
              <a:t>PRISMA-ScR flow diagram of study selection.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5041880" y="5577840"/>
            <a:ext cx="13807440" cy="777240"/>
          </a:xfrm>
          <a:prstGeom prst="rect">
            <a:avLst/>
          </a:prstGeom>
          <a:solidFill>
            <a:srgbClr val="0D3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5179039" y="5577840"/>
            <a:ext cx="13533119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0" i="0">
                <a:solidFill>
                  <a:srgbClr val="FFFFFF"/>
                </a:solidFill>
                <a:latin typeface="Arial"/>
              </a:rPr>
              <a:t>Results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041880" y="6537959"/>
            <a:ext cx="138074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500" b="1" i="0">
                <a:solidFill>
                  <a:srgbClr val="0B0B0B"/>
                </a:solidFill>
                <a:latin typeface="Arial"/>
              </a:rPr>
              <a:t>34 studies</a:t>
            </a:r>
            <a:r>
              <a:rPr sz="2500" b="0" i="0">
                <a:solidFill>
                  <a:srgbClr val="0B0B0B"/>
                </a:solidFill>
                <a:latin typeface="Arial"/>
              </a:rPr>
              <a:t> met inclusion criteria across quantitative, qualitative, and mixed-methods designs. Studies could report more than one outcome domain.</a:t>
            </a:r>
          </a:p>
        </p:txBody>
      </p:sp>
      <p:pic>
        <p:nvPicPr>
          <p:cNvPr id="36" name="Picture 35" descr="fig1_outcomes_b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41880" y="7955279"/>
            <a:ext cx="13807440" cy="5815056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5041880" y="13816056"/>
            <a:ext cx="138074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00" b="1" i="0">
                <a:solidFill>
                  <a:srgbClr val="52514E"/>
                </a:solidFill>
                <a:latin typeface="Arial"/>
              </a:rPr>
              <a:t>Fig 1.</a:t>
            </a:r>
            <a:r>
              <a:rPr sz="1800" b="0" i="0">
                <a:solidFill>
                  <a:srgbClr val="52514E"/>
                </a:solidFill>
                <a:latin typeface="Arial"/>
              </a:rPr>
              <a:t> Frequency of outcome domains across included studies (N = 34). Counts do not sum to 34 because studies could report multiple domains.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5041880" y="14684736"/>
            <a:ext cx="138074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400" b="0" i="0">
                <a:solidFill>
                  <a:srgbClr val="0B0B0B"/>
                </a:solidFill>
                <a:latin typeface="Arial"/>
              </a:rPr>
              <a:t>Findings are consistent with pre-2019 evidence of elevated distress, anxiety, and depression and poorer mental health–related quality of life in MRKH</a:t>
            </a:r>
            <a:r>
              <a:rPr sz="2400" b="0" i="0" baseline="30000">
                <a:solidFill>
                  <a:srgbClr val="0B0B0B"/>
                </a:solidFill>
                <a:latin typeface="Arial"/>
              </a:rPr>
              <a:t>5–7</a:t>
            </a:r>
            <a:r>
              <a:rPr sz="2400" b="0" i="0">
                <a:solidFill>
                  <a:srgbClr val="0B0B0B"/>
                </a:solidFill>
                <a:latin typeface="Arial"/>
              </a:rPr>
              <a:t>, and with a prior systematic review</a:t>
            </a:r>
            <a:r>
              <a:rPr sz="2400" b="0" i="0" baseline="30000">
                <a:solidFill>
                  <a:srgbClr val="0B0B0B"/>
                </a:solidFill>
                <a:latin typeface="Arial"/>
              </a:rPr>
              <a:t>8</a:t>
            </a:r>
            <a:r>
              <a:rPr sz="2400" b="0" i="0">
                <a:solidFill>
                  <a:srgbClr val="0B0B0B"/>
                </a:solidFill>
                <a:latin typeface="Arial"/>
              </a:rPr>
              <a:t>.</a:t>
            </a:r>
          </a:p>
        </p:txBody>
      </p:sp>
      <p:pic>
        <p:nvPicPr>
          <p:cNvPr id="39" name="Picture 38" descr="fig2_design_donu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560698" y="16147776"/>
            <a:ext cx="10769803" cy="6419264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5041880" y="22612760"/>
            <a:ext cx="138074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00" b="1" i="0">
                <a:solidFill>
                  <a:srgbClr val="52514E"/>
                </a:solidFill>
                <a:latin typeface="Arial"/>
              </a:rPr>
              <a:t>Fig 2.</a:t>
            </a:r>
            <a:r>
              <a:rPr sz="1800" b="0" i="0">
                <a:solidFill>
                  <a:srgbClr val="52514E"/>
                </a:solidFill>
                <a:latin typeface="Arial"/>
              </a:rPr>
              <a:t> Study design distribution (N = 34). Cross-sectional studies are a subset of quantitative designs.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5041880" y="23572880"/>
            <a:ext cx="13807440" cy="777240"/>
          </a:xfrm>
          <a:prstGeom prst="rect">
            <a:avLst/>
          </a:prstGeom>
          <a:solidFill>
            <a:srgbClr val="0D3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5179039" y="23572880"/>
            <a:ext cx="13533119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0" i="0">
                <a:solidFill>
                  <a:srgbClr val="FFFFFF"/>
                </a:solidFill>
                <a:latin typeface="Arial"/>
              </a:rPr>
              <a:t>Coping Mechanisms (n = 21 studies, 62%)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5041880" y="24533000"/>
            <a:ext cx="6766559" cy="777240"/>
          </a:xfrm>
          <a:prstGeom prst="roundRect">
            <a:avLst>
              <a:gd name="adj" fmla="val 8000"/>
            </a:avLst>
          </a:prstGeom>
          <a:solidFill>
            <a:srgbClr val="EEF4FC"/>
          </a:solidFill>
          <a:ln w="2540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5041880" y="24533000"/>
            <a:ext cx="6766559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200" b="0" i="0">
                <a:solidFill>
                  <a:srgbClr val="0D366B"/>
                </a:solidFill>
                <a:latin typeface="Arial"/>
              </a:rPr>
              <a:t>Peer &amp; community support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2082760" y="24533000"/>
            <a:ext cx="6766559" cy="777240"/>
          </a:xfrm>
          <a:prstGeom prst="roundRect">
            <a:avLst>
              <a:gd name="adj" fmla="val 8000"/>
            </a:avLst>
          </a:prstGeom>
          <a:solidFill>
            <a:srgbClr val="EEF4FC"/>
          </a:solidFill>
          <a:ln w="2540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2082760" y="24533000"/>
            <a:ext cx="6766559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200" b="0" i="0">
                <a:solidFill>
                  <a:srgbClr val="0D366B"/>
                </a:solidFill>
                <a:latin typeface="Arial"/>
              </a:rPr>
              <a:t>Psychological counseling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5041880" y="25493120"/>
            <a:ext cx="6766559" cy="777240"/>
          </a:xfrm>
          <a:prstGeom prst="roundRect">
            <a:avLst>
              <a:gd name="adj" fmla="val 8000"/>
            </a:avLst>
          </a:prstGeom>
          <a:solidFill>
            <a:srgbClr val="EEF4FC"/>
          </a:solidFill>
          <a:ln w="2540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5041880" y="25493120"/>
            <a:ext cx="6766559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200" b="0" i="0">
                <a:solidFill>
                  <a:srgbClr val="0D366B"/>
                </a:solidFill>
                <a:latin typeface="Arial"/>
              </a:rPr>
              <a:t>Identity reconstruction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2082760" y="25493120"/>
            <a:ext cx="6766559" cy="777240"/>
          </a:xfrm>
          <a:prstGeom prst="roundRect">
            <a:avLst>
              <a:gd name="adj" fmla="val 8000"/>
            </a:avLst>
          </a:prstGeom>
          <a:solidFill>
            <a:srgbClr val="EEF4FC"/>
          </a:solidFill>
          <a:ln w="2540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2082760" y="25493120"/>
            <a:ext cx="6766559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200" b="0" i="0">
                <a:solidFill>
                  <a:srgbClr val="0D366B"/>
                </a:solidFill>
                <a:latin typeface="Arial"/>
              </a:rPr>
              <a:t>Spiritual coping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5041880" y="26453240"/>
            <a:ext cx="6766559" cy="777240"/>
          </a:xfrm>
          <a:prstGeom prst="roundRect">
            <a:avLst>
              <a:gd name="adj" fmla="val 8000"/>
            </a:avLst>
          </a:prstGeom>
          <a:solidFill>
            <a:srgbClr val="EEF4FC"/>
          </a:solidFill>
          <a:ln w="2540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5041880" y="26453240"/>
            <a:ext cx="6766559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200" b="0" i="0">
                <a:solidFill>
                  <a:srgbClr val="0D366B"/>
                </a:solidFill>
                <a:latin typeface="Arial"/>
              </a:rPr>
              <a:t>Adaptive acceptance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2082760" y="26453240"/>
            <a:ext cx="6766559" cy="777240"/>
          </a:xfrm>
          <a:prstGeom prst="roundRect">
            <a:avLst>
              <a:gd name="adj" fmla="val 8000"/>
            </a:avLst>
          </a:prstGeom>
          <a:solidFill>
            <a:srgbClr val="FDEEE7"/>
          </a:solidFill>
          <a:ln w="25400">
            <a:solidFill>
              <a:srgbClr val="C44E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2082760" y="26453240"/>
            <a:ext cx="6766559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200" b="0" i="0">
                <a:solidFill>
                  <a:srgbClr val="C44E1B"/>
                </a:solidFill>
                <a:latin typeface="Arial"/>
              </a:rPr>
              <a:t>Avoidance (maladaptive)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5041880" y="27504800"/>
            <a:ext cx="138074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00" b="0" i="0">
                <a:solidFill>
                  <a:srgbClr val="52514E"/>
                </a:solidFill>
                <a:latin typeface="Arial"/>
              </a:rPr>
              <a:t>Blue = adaptive strategies; orange = maladaptive strategy.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9397960" y="5577840"/>
            <a:ext cx="13807440" cy="777240"/>
          </a:xfrm>
          <a:prstGeom prst="rect">
            <a:avLst/>
          </a:prstGeom>
          <a:solidFill>
            <a:srgbClr val="0D3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9535119" y="5577840"/>
            <a:ext cx="13533119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0" i="0">
                <a:solidFill>
                  <a:srgbClr val="FFFFFF"/>
                </a:solidFill>
                <a:latin typeface="Arial"/>
              </a:rPr>
              <a:t>Geographic Distribution of Studies</a:t>
            </a:r>
          </a:p>
        </p:txBody>
      </p:sp>
      <p:pic>
        <p:nvPicPr>
          <p:cNvPr id="58" name="Picture 57" descr="fig3_geographic_ma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397960" y="6537959"/>
            <a:ext cx="13807440" cy="7076313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29397960" y="13659992"/>
            <a:ext cx="138074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00" b="1" i="0">
                <a:solidFill>
                  <a:srgbClr val="52514E"/>
                </a:solidFill>
                <a:latin typeface="Arial"/>
              </a:rPr>
              <a:t>Fig 3.</a:t>
            </a:r>
            <a:r>
              <a:rPr sz="1800" b="0" i="0">
                <a:solidFill>
                  <a:srgbClr val="52514E"/>
                </a:solidFill>
                <a:latin typeface="Arial"/>
              </a:rPr>
              <a:t> Included studies by region (N = 34). 26 of 34 (76%) originated in Europe or North America; only 3 (9%) came from Africa or South America.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9397960" y="14620112"/>
            <a:ext cx="13807440" cy="777240"/>
          </a:xfrm>
          <a:prstGeom prst="rect">
            <a:avLst/>
          </a:prstGeom>
          <a:solidFill>
            <a:srgbClr val="0D3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9535119" y="14620112"/>
            <a:ext cx="13533119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0" i="0">
                <a:solidFill>
                  <a:srgbClr val="FFFFFF"/>
                </a:solidFill>
                <a:latin typeface="Arial"/>
              </a:rPr>
              <a:t>Healthcare System Gaps (n = 18 studies, 53%)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9397960" y="15580232"/>
            <a:ext cx="1380744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700" b="0" i="0">
                <a:solidFill>
                  <a:srgbClr val="0B0B0B"/>
                </a:solidFill>
                <a:latin typeface="Arial"/>
              </a:rPr>
              <a:t>•  Delayed diagnosis in adolescence without concurrent psychosocial support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700" b="0" i="0">
                <a:solidFill>
                  <a:srgbClr val="0B0B0B"/>
                </a:solidFill>
                <a:latin typeface="Arial"/>
              </a:rPr>
              <a:t>•  Limited access to multidisciplinary care teams (psychology, social work, gynecology)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700" b="0" i="0">
                <a:solidFill>
                  <a:srgbClr val="0B0B0B"/>
                </a:solidFill>
                <a:latin typeface="Arial"/>
              </a:rPr>
              <a:t>•  Mental health insufficiently integrated into MRKH care models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700" b="0" i="0">
                <a:solidFill>
                  <a:srgbClr val="0B0B0B"/>
                </a:solidFill>
                <a:latin typeface="Arial"/>
              </a:rPr>
              <a:t>•  Lack of standardized mental health screening protocols at diagnosis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397960" y="18506312"/>
            <a:ext cx="13807440" cy="777240"/>
          </a:xfrm>
          <a:prstGeom prst="rect">
            <a:avLst/>
          </a:prstGeom>
          <a:solidFill>
            <a:srgbClr val="0D3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9535119" y="18506312"/>
            <a:ext cx="13533119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0" i="0">
                <a:solidFill>
                  <a:srgbClr val="FFFFFF"/>
                </a:solidFill>
                <a:latin typeface="Arial"/>
              </a:rPr>
              <a:t>Public Health Implications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9397960" y="19466432"/>
            <a:ext cx="13807440" cy="3931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700" b="0" i="0">
                <a:solidFill>
                  <a:srgbClr val="0B0B0B"/>
                </a:solidFill>
                <a:latin typeface="Arial"/>
              </a:rPr>
              <a:t>•  Integrate mental health screening into standard MRKH diagnostic pathways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700" b="0" i="0">
                <a:solidFill>
                  <a:srgbClr val="0B0B0B"/>
                </a:solidFill>
                <a:latin typeface="Arial"/>
              </a:rPr>
              <a:t>•  Develop multidisciplinary care protocols including psychology and social work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700" b="0" i="0">
                <a:solidFill>
                  <a:srgbClr val="0B0B0B"/>
                </a:solidFill>
                <a:latin typeface="Arial"/>
              </a:rPr>
              <a:t>•  Expand research investment in low- and middle-income and underrepresented settings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700" b="0" i="0">
                <a:solidFill>
                  <a:srgbClr val="0B0B0B"/>
                </a:solidFill>
                <a:latin typeface="Arial"/>
              </a:rPr>
              <a:t>•  Advocate for peer support infrastructure within reproductive health services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700" b="0" i="0">
                <a:solidFill>
                  <a:srgbClr val="0B0B0B"/>
                </a:solidFill>
                <a:latin typeface="Arial"/>
              </a:rPr>
              <a:t>•  Train providers in psychosocially informed MRKH care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9397960" y="23124032"/>
            <a:ext cx="13807440" cy="777240"/>
          </a:xfrm>
          <a:prstGeom prst="rect">
            <a:avLst/>
          </a:prstGeom>
          <a:solidFill>
            <a:srgbClr val="0D3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9535119" y="23124032"/>
            <a:ext cx="13533119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0" i="0">
                <a:solidFill>
                  <a:srgbClr val="FFFFFF"/>
                </a:solidFill>
                <a:latin typeface="Arial"/>
              </a:rPr>
              <a:t>Limitations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9397960" y="24084152"/>
            <a:ext cx="1380744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2600" b="0" i="0">
                <a:solidFill>
                  <a:srgbClr val="0B0B0B"/>
                </a:solidFill>
                <a:latin typeface="Arial"/>
              </a:rPr>
              <a:t>•  Review limited to 2019–2026; earlier foundational research not synthesized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2600" b="0" i="0">
                <a:solidFill>
                  <a:srgbClr val="0B0B0B"/>
                </a:solidFill>
                <a:latin typeface="Arial"/>
              </a:rPr>
              <a:t>•  Heterogeneous designs and outcome measures limit direct comparison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2600" b="0" i="0">
                <a:solidFill>
                  <a:srgbClr val="0B0B0B"/>
                </a:solidFill>
                <a:latin typeface="Arial"/>
              </a:rPr>
              <a:t>•  Most studies from high-income countries, limiting global generalizability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2600" b="0" i="0">
                <a:solidFill>
                  <a:srgbClr val="0B0B0B"/>
                </a:solidFill>
                <a:latin typeface="Arial"/>
              </a:rPr>
              <a:t>•  Several studies relied on self-reported mental health outcomes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29397960" y="26735912"/>
            <a:ext cx="13807440" cy="3291840"/>
          </a:xfrm>
          <a:prstGeom prst="roundRect">
            <a:avLst>
              <a:gd name="adj" fmla="val 8000"/>
            </a:avLst>
          </a:prstGeom>
          <a:solidFill>
            <a:srgbClr val="FDEEE7"/>
          </a:solidFill>
          <a:ln w="25400">
            <a:solidFill>
              <a:srgbClr val="C44E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9580840" y="26827352"/>
            <a:ext cx="13441680" cy="3108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500" b="1" i="0">
                <a:solidFill>
                  <a:srgbClr val="0B0B0B"/>
                </a:solidFill>
                <a:latin typeface="Arial"/>
              </a:rPr>
              <a:t>Key Takeaways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500" b="0" i="0">
                <a:solidFill>
                  <a:srgbClr val="0B0B0B"/>
                </a:solidFill>
                <a:latin typeface="Arial"/>
              </a:rPr>
              <a:t>•  About 3 in 4 studies (26/34) reported depression or anxiety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500" b="0" i="0">
                <a:solidFill>
                  <a:srgbClr val="0B0B0B"/>
                </a:solidFill>
                <a:latin typeface="Arial"/>
              </a:rPr>
              <a:t>•  Coping strategies were documented in 21/34 studies, yet remain unsupported by systematic clinical pathways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500" b="0" i="0">
                <a:solidFill>
                  <a:srgbClr val="0B0B0B"/>
                </a:solidFill>
                <a:latin typeface="Arial"/>
              </a:rPr>
              <a:t>•  Only 3 of 34 studies came from Africa or South America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5041880" y="28190600"/>
            <a:ext cx="13807440" cy="777240"/>
          </a:xfrm>
          <a:prstGeom prst="rect">
            <a:avLst/>
          </a:prstGeom>
          <a:solidFill>
            <a:srgbClr val="0D3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5179039" y="28190600"/>
            <a:ext cx="13533119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0" i="0">
                <a:solidFill>
                  <a:srgbClr val="FFFFFF"/>
                </a:solidFill>
                <a:latin typeface="Arial"/>
              </a:rPr>
              <a:t>Conclusions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5041880" y="29150720"/>
            <a:ext cx="13807440" cy="3219039"/>
          </a:xfrm>
          <a:prstGeom prst="roundRect">
            <a:avLst>
              <a:gd name="adj" fmla="val 8000"/>
            </a:avLst>
          </a:prstGeom>
          <a:solidFill>
            <a:srgbClr val="EEF4FC"/>
          </a:solidFill>
          <a:ln w="25400">
            <a:solidFill>
              <a:srgbClr val="0D36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5224759" y="29242160"/>
            <a:ext cx="13441680" cy="303615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2500" b="0" i="0">
                <a:solidFill>
                  <a:srgbClr val="0B0B0B"/>
                </a:solidFill>
                <a:latin typeface="Arial"/>
              </a:rPr>
              <a:t>MRKH-related psychosocial burden is substantial yet under-integrated into care models. Depression, anxiety, reduced quality of life, and psychosexual challenges are frequently reported and co-occurring, while documented coping mechanisms remain unsupported by systematic clinical pathways.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2500" b="1" i="0">
                <a:solidFill>
                  <a:srgbClr val="0B0B0B"/>
                </a:solidFill>
                <a:latin typeface="Arial"/>
              </a:rPr>
              <a:t>Multidisciplinary, mental health–inclusive care and greater research investment are urgently needed</a:t>
            </a:r>
            <a:r>
              <a:rPr sz="2500" b="0" i="0">
                <a:solidFill>
                  <a:srgbClr val="0B0B0B"/>
                </a:solidFill>
                <a:latin typeface="Arial"/>
              </a:rPr>
              <a:t>, particularly in underrepresented and low-resource settings.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9397960" y="30119193"/>
            <a:ext cx="13807440" cy="2250566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1" i="0">
                <a:solidFill>
                  <a:srgbClr val="52514E"/>
                </a:solidFill>
                <a:latin typeface="Arial"/>
              </a:rPr>
              <a:t>References:</a:t>
            </a:r>
            <a:r>
              <a:rPr sz="1700" b="0" i="0">
                <a:solidFill>
                  <a:srgbClr val="52514E"/>
                </a:solidFill>
                <a:latin typeface="Arial"/>
              </a:rPr>
              <a:t> </a:t>
            </a:r>
            <a:r>
              <a:rPr sz="1700" b="0" i="0" baseline="30000">
                <a:solidFill>
                  <a:srgbClr val="52514E"/>
                </a:solidFill>
                <a:latin typeface="Arial"/>
              </a:rPr>
              <a:t>1</a:t>
            </a:r>
            <a:r>
              <a:rPr sz="1700" b="0" i="0">
                <a:solidFill>
                  <a:srgbClr val="52514E"/>
                </a:solidFill>
                <a:latin typeface="Arial"/>
              </a:rPr>
              <a:t>Herlin M, et al. Hum Reprod. 2016;31(10):2384–2390. </a:t>
            </a:r>
            <a:r>
              <a:rPr sz="1700" b="0" i="0" baseline="30000">
                <a:solidFill>
                  <a:srgbClr val="52514E"/>
                </a:solidFill>
                <a:latin typeface="Arial"/>
              </a:rPr>
              <a:t>2</a:t>
            </a:r>
            <a:r>
              <a:rPr sz="1700" b="0" i="0">
                <a:solidFill>
                  <a:srgbClr val="52514E"/>
                </a:solidFill>
                <a:latin typeface="Arial"/>
              </a:rPr>
              <a:t>ACOG Committee Opinion No. 728. Obstet Gynecol. 2018;131(1):e35–e42. </a:t>
            </a:r>
            <a:r>
              <a:rPr sz="1700" b="0" i="0" baseline="30000">
                <a:solidFill>
                  <a:srgbClr val="52514E"/>
                </a:solidFill>
                <a:latin typeface="Arial"/>
              </a:rPr>
              <a:t>3</a:t>
            </a:r>
            <a:r>
              <a:rPr sz="1700" b="0" i="0">
                <a:solidFill>
                  <a:srgbClr val="52514E"/>
                </a:solidFill>
                <a:latin typeface="Arial"/>
              </a:rPr>
              <a:t>Arksey H, O'Malley L. Int J Soc Res Methodol. 2005;8(1):19–32. </a:t>
            </a:r>
            <a:r>
              <a:rPr sz="1700" b="0" i="0" baseline="30000">
                <a:solidFill>
                  <a:srgbClr val="52514E"/>
                </a:solidFill>
                <a:latin typeface="Arial"/>
              </a:rPr>
              <a:t>4</a:t>
            </a:r>
            <a:r>
              <a:rPr sz="1700" b="0" i="0">
                <a:solidFill>
                  <a:srgbClr val="52514E"/>
                </a:solidFill>
                <a:latin typeface="Arial"/>
              </a:rPr>
              <a:t>Tricco AC, et al. Ann Intern Med. 2018;169(7):467–473. </a:t>
            </a:r>
            <a:r>
              <a:rPr sz="1700" b="0" i="0" baseline="30000">
                <a:solidFill>
                  <a:srgbClr val="52514E"/>
                </a:solidFill>
                <a:latin typeface="Arial"/>
              </a:rPr>
              <a:t>5</a:t>
            </a:r>
            <a:r>
              <a:rPr sz="1700" b="0" i="0">
                <a:solidFill>
                  <a:srgbClr val="52514E"/>
                </a:solidFill>
                <a:latin typeface="Arial"/>
              </a:rPr>
              <a:t>Heller-Boersma JG, et al. Psychosomatics. 2009;50(3):277–281. </a:t>
            </a:r>
            <a:r>
              <a:rPr sz="1700" b="0" i="0" baseline="30000">
                <a:solidFill>
                  <a:srgbClr val="52514E"/>
                </a:solidFill>
                <a:latin typeface="Arial"/>
              </a:rPr>
              <a:t>6</a:t>
            </a:r>
            <a:r>
              <a:rPr sz="1700" b="0" i="0">
                <a:solidFill>
                  <a:srgbClr val="52514E"/>
                </a:solidFill>
                <a:latin typeface="Arial"/>
              </a:rPr>
              <a:t>Laggari V, et al. J Psychosom Obstet Gynaecol. 2009;30(2):83–88. </a:t>
            </a:r>
            <a:r>
              <a:rPr sz="1700" b="0" i="0" baseline="30000">
                <a:solidFill>
                  <a:srgbClr val="52514E"/>
                </a:solidFill>
                <a:latin typeface="Arial"/>
              </a:rPr>
              <a:t>7</a:t>
            </a:r>
            <a:r>
              <a:rPr sz="1700" b="0" i="0">
                <a:solidFill>
                  <a:srgbClr val="52514E"/>
                </a:solidFill>
                <a:latin typeface="Arial"/>
              </a:rPr>
              <a:t>Liao LM, et al. Am J Obstet Gynecol. 2011;205(2):117.e1–6. </a:t>
            </a:r>
            <a:r>
              <a:rPr sz="1700" b="0" i="0" baseline="30000">
                <a:solidFill>
                  <a:srgbClr val="52514E"/>
                </a:solidFill>
                <a:latin typeface="Arial"/>
              </a:rPr>
              <a:t>8</a:t>
            </a:r>
            <a:r>
              <a:rPr sz="1700" b="0" i="0">
                <a:solidFill>
                  <a:srgbClr val="52514E"/>
                </a:solidFill>
                <a:latin typeface="Arial"/>
              </a:rPr>
              <a:t>Facchin F, et al. J Health Psychol. 2021;26(1):26–39.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1" i="0">
                <a:solidFill>
                  <a:srgbClr val="52514E"/>
                </a:solidFill>
                <a:latin typeface="Arial"/>
              </a:rPr>
              <a:t>Acknowledgements:</a:t>
            </a:r>
            <a:r>
              <a:rPr sz="1700" b="0" i="0">
                <a:solidFill>
                  <a:srgbClr val="52514E"/>
                </a:solidFill>
                <a:latin typeface="Arial"/>
              </a:rPr>
              <a:t> Conducted under the mentorship of Dr. Paul Okojie and Dr. Robyn Anderson, Department of Public and Community Health, Liberty University. No external funding was received.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