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40" r:id="rId1"/>
  </p:sldMasterIdLst>
  <p:notesMasterIdLst>
    <p:notesMasterId r:id="rId3"/>
  </p:notesMasterIdLst>
  <p:sldIdLst>
    <p:sldId id="258" r:id="rId2"/>
  </p:sldIdLst>
  <p:sldSz cx="43891200" cy="32918400"/>
  <p:notesSz cx="9144000" cy="6858000"/>
  <p:defaultTextStyle>
    <a:defPPr>
      <a:defRPr lang="en-US"/>
    </a:defPPr>
    <a:lvl1pPr marL="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7295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4590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1885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291798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36475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43770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510648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58360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6128">
          <p15:clr>
            <a:srgbClr val="A4A3A4"/>
          </p15:clr>
        </p15:guide>
        <p15:guide id="3" pos="1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5CE1E"/>
    <a:srgbClr val="00C28D"/>
    <a:srgbClr val="00B4FF"/>
    <a:srgbClr val="008080"/>
    <a:srgbClr val="1270FC"/>
    <a:srgbClr val="FFA200"/>
    <a:srgbClr val="008000"/>
    <a:srgbClr val="FFFFFF"/>
    <a:srgbClr val="0A254E"/>
    <a:srgbClr val="0A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10" autoAdjust="0"/>
  </p:normalViewPr>
  <p:slideViewPr>
    <p:cSldViewPr snapToGrid="0" snapToObjects="1">
      <p:cViewPr varScale="1">
        <p:scale>
          <a:sx n="14" d="100"/>
          <a:sy n="14" d="100"/>
        </p:scale>
        <p:origin x="1284" y="112"/>
      </p:cViewPr>
      <p:guideLst>
        <p:guide orient="horz" pos="10369"/>
        <p:guide pos="16128"/>
        <p:guide pos="138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263FE2-9438-354A-B60A-5A471281E58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A9BC3-5A08-5C40-8DE6-1B49CE826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815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477467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954936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432403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1909870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387337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2864805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342272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3819741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EFD75-C664-C06B-8435-139272CD8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FBF99-3EB2-AAD2-6F03-91E84EC7D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B7ED1-8F00-CF7C-FF86-F0BA76EF2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7187B-62FD-CA95-DAC6-813F753C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ECA9BC3-5A08-5C40-8DE6-1B49CE82633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58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34496" y="8493799"/>
            <a:ext cx="33984125" cy="8778245"/>
          </a:xfrm>
        </p:spPr>
        <p:txBody>
          <a:bodyPr anchor="b">
            <a:normAutofit/>
          </a:bodyPr>
          <a:lstStyle>
            <a:lvl1pPr algn="ctr">
              <a:defRPr sz="25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4496" y="17272029"/>
            <a:ext cx="33984125" cy="5039362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583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778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356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538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7" y="8453129"/>
            <a:ext cx="34525982" cy="8778302"/>
          </a:xfrm>
        </p:spPr>
        <p:txBody>
          <a:bodyPr anchor="b"/>
          <a:lstStyle>
            <a:lvl1pPr algn="ctr">
              <a:defRPr sz="19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3447" y="17231419"/>
            <a:ext cx="34525982" cy="7233859"/>
          </a:xfrm>
        </p:spPr>
        <p:txBody>
          <a:bodyPr anchor="t"/>
          <a:lstStyle>
            <a:lvl1pPr marL="0" indent="0" algn="ctr">
              <a:buNone/>
              <a:defRPr sz="9600">
                <a:solidFill>
                  <a:schemeClr val="tx1"/>
                </a:solidFill>
              </a:defRPr>
            </a:lvl1pPr>
            <a:lvl2pPr marL="219456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92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89668" y="8315755"/>
            <a:ext cx="18217790" cy="1948200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30414" y="8315762"/>
            <a:ext cx="18232795" cy="194820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31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659" y="8497553"/>
            <a:ext cx="18179630" cy="19742174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579" y="8497553"/>
            <a:ext cx="18179630" cy="197421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21139" y="8809219"/>
            <a:ext cx="17554838" cy="2615443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21139" y="11424665"/>
            <a:ext cx="17554838" cy="16373102"/>
          </a:xfrm>
        </p:spPr>
        <p:txBody>
          <a:bodyPr anchor="t">
            <a:normAutofit/>
          </a:bodyPr>
          <a:lstStyle>
            <a:lvl1pPr>
              <a:defRPr sz="8640"/>
            </a:lvl1pPr>
            <a:lvl2pPr>
              <a:defRPr sz="7680"/>
            </a:lvl2pPr>
            <a:lvl3pPr>
              <a:defRPr sz="6720"/>
            </a:lvl3pPr>
            <a:lvl4pPr>
              <a:defRPr sz="5760"/>
            </a:lvl4pPr>
            <a:lvl5pPr>
              <a:defRPr sz="57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661880" y="8809227"/>
            <a:ext cx="17623190" cy="261543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661880" y="11424665"/>
            <a:ext cx="17623190" cy="16373102"/>
          </a:xfrm>
        </p:spPr>
        <p:txBody>
          <a:bodyPr anchor="t">
            <a:normAutofit/>
          </a:bodyPr>
          <a:lstStyle>
            <a:lvl1pPr>
              <a:defRPr sz="8640"/>
            </a:lvl1pPr>
            <a:lvl2pPr>
              <a:defRPr sz="7680"/>
            </a:lvl2pPr>
            <a:lvl3pPr>
              <a:defRPr sz="6720"/>
            </a:lvl3pPr>
            <a:lvl4pPr>
              <a:defRPr sz="5760"/>
            </a:lvl4pPr>
            <a:lvl5pPr>
              <a:defRPr sz="57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81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24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7706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8" y="2926080"/>
            <a:ext cx="13344802" cy="8745206"/>
          </a:xfrm>
        </p:spPr>
        <p:txBody>
          <a:bodyPr anchor="b">
            <a:normAutofit/>
          </a:bodyPr>
          <a:lstStyle>
            <a:lvl1pPr algn="ctr">
              <a:defRPr sz="1152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80283" y="2926080"/>
            <a:ext cx="23082926" cy="2487168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8" y="11671289"/>
            <a:ext cx="13344802" cy="16126469"/>
          </a:xfrm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5333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5938" y="2927630"/>
            <a:ext cx="16455101" cy="2498626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6" y="2927631"/>
            <a:ext cx="18838445" cy="8780822"/>
          </a:xfrm>
        </p:spPr>
        <p:txBody>
          <a:bodyPr anchor="b">
            <a:noAutofit/>
          </a:bodyPr>
          <a:lstStyle>
            <a:lvl1pPr algn="ctr">
              <a:defRPr sz="1536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88297" y="3571147"/>
            <a:ext cx="15193800" cy="23581546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6" y="11708453"/>
            <a:ext cx="18838445" cy="16205443"/>
          </a:xfrm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1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1176" y="2592408"/>
            <a:ext cx="36748848" cy="184049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702" y="21913224"/>
            <a:ext cx="37279176" cy="2608666"/>
          </a:xfrm>
        </p:spPr>
        <p:txBody>
          <a:bodyPr anchor="b">
            <a:normAutofit/>
          </a:bodyPr>
          <a:lstStyle>
            <a:lvl1pPr algn="ctr">
              <a:defRPr sz="13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45842" y="3336050"/>
            <a:ext cx="34970880" cy="1692322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0"/>
            </a:lvl1pPr>
            <a:lvl2pPr marL="2194560" indent="0">
              <a:buNone/>
              <a:defRPr sz="9600"/>
            </a:lvl2pPr>
            <a:lvl3pPr marL="4389120" indent="0">
              <a:buNone/>
              <a:defRPr sz="960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4521894"/>
            <a:ext cx="37273546" cy="3275866"/>
          </a:xfrm>
        </p:spPr>
        <p:txBody>
          <a:bodyPr anchor="t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13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1" y="2920498"/>
            <a:ext cx="37273546" cy="16964851"/>
          </a:xfrm>
        </p:spPr>
        <p:txBody>
          <a:bodyPr anchor="ctr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0616864"/>
            <a:ext cx="37273546" cy="7208765"/>
          </a:xfrm>
        </p:spPr>
        <p:txBody>
          <a:bodyPr anchor="ctr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8372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6363" y="2926080"/>
            <a:ext cx="33489907" cy="14365939"/>
          </a:xfrm>
        </p:spPr>
        <p:txBody>
          <a:bodyPr anchor="ctr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6194323" y="17328161"/>
            <a:ext cx="31508275" cy="2557195"/>
          </a:xfrm>
        </p:spPr>
        <p:txBody>
          <a:bodyPr anchor="t">
            <a:normAutofit/>
          </a:bodyPr>
          <a:lstStyle>
            <a:lvl1pPr marL="0" indent="0" algn="r">
              <a:buNone/>
              <a:defRPr sz="672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0660894"/>
            <a:ext cx="37273546" cy="71495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011803" y="4194778"/>
            <a:ext cx="2194560" cy="2806925"/>
          </a:xfrm>
          <a:prstGeom prst="rect">
            <a:avLst/>
          </a:prstGeom>
        </p:spPr>
        <p:txBody>
          <a:bodyPr vert="horz" lIns="438912" tIns="219456" rIns="438912" bIns="219456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38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76123" y="14079576"/>
            <a:ext cx="2194560" cy="2806925"/>
          </a:xfrm>
          <a:prstGeom prst="rect">
            <a:avLst/>
          </a:prstGeom>
        </p:spPr>
        <p:txBody>
          <a:bodyPr vert="horz" lIns="438912" tIns="219456" rIns="438912" bIns="219456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38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602428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1" y="10209329"/>
            <a:ext cx="37273546" cy="12056808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30" y="22322669"/>
            <a:ext cx="37267915" cy="5475091"/>
          </a:xfrm>
        </p:spPr>
        <p:txBody>
          <a:bodyPr anchor="t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27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289661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3289661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008159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15989165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8679659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28679659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731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347" y="8765016"/>
            <a:ext cx="12139421" cy="880107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10302" y="8765016"/>
            <a:ext cx="12139421" cy="880107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4232" y="8765016"/>
            <a:ext cx="12139421" cy="880107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3289661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3665170" y="9306807"/>
            <a:ext cx="11132525" cy="7694179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3289661" y="21505774"/>
            <a:ext cx="11883542" cy="629199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994037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16364674" y="9307651"/>
            <a:ext cx="11132525" cy="7719187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15989163" y="21505769"/>
            <a:ext cx="11888414" cy="629199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8680111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29072515" y="9285274"/>
            <a:ext cx="11132525" cy="771501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28679659" y="21505759"/>
            <a:ext cx="11883542" cy="629200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9308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70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339052" y="2926082"/>
            <a:ext cx="8224152" cy="248716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89666" y="2926082"/>
            <a:ext cx="28500739" cy="2487168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277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89661" y="8315762"/>
            <a:ext cx="37273546" cy="194820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643450" y="2823972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9668" y="28239727"/>
            <a:ext cx="24022315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850446" y="28239727"/>
            <a:ext cx="2712763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2495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  <p:sldLayoutId id="2147483855" r:id="rId15"/>
    <p:sldLayoutId id="2147483856" r:id="rId16"/>
    <p:sldLayoutId id="2147483857" r:id="rId17"/>
  </p:sldLayoutIdLst>
  <p:txStyles>
    <p:titleStyle>
      <a:lvl1pPr algn="ctr" defTabSz="2194560" rtl="0" eaLnBrk="1" latinLnBrk="0" hangingPunct="1">
        <a:spcBef>
          <a:spcPct val="0"/>
        </a:spcBef>
        <a:buNone/>
        <a:defRPr sz="19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645920" indent="-1468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9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3456000" indent="-12960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"/>
        <a:defRPr sz="864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49248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768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66528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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80352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967008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152864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1338720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1490976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F610-5E25-C02F-4785-351AC651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039183-8738-C635-5157-3D9EC402F895}"/>
              </a:ext>
            </a:extLst>
          </p:cNvPr>
          <p:cNvSpPr txBox="1"/>
          <p:nvPr/>
        </p:nvSpPr>
        <p:spPr>
          <a:xfrm>
            <a:off x="685278" y="278782"/>
            <a:ext cx="42721119" cy="3619515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414591" tIns="207295" rIns="414591" bIns="207295" rtlCol="0" anchor="t" anchorCtr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000000"/>
                </a:solidFill>
                <a:latin typeface="Times New Roman"/>
              </a:rPr>
              <a:t>MENTAL HEALTH AND PSYCHOSOCIAL OUTCOMES AMONG INDIVIDUALS WITH</a:t>
            </a:r>
          </a:p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000000"/>
                </a:solidFill>
                <a:latin typeface="Times New Roman"/>
              </a:rPr>
              <a:t>MAYER-ROKITANSKY-KÜSTER-HAUSER (MRKH) SYNDROME: A SCOPING REVIEW</a:t>
            </a:r>
          </a:p>
          <a:p>
            <a:pPr algn="ctr">
              <a:lnSpc>
                <a:spcPct val="100000"/>
              </a:lnSpc>
            </a:pPr>
            <a:r>
              <a:rPr sz="4400" b="0" i="0">
                <a:solidFill>
                  <a:srgbClr val="000000"/>
                </a:solidFill>
                <a:latin typeface="Times New Roman"/>
              </a:rPr>
              <a:t>Ifeoluwanimi P. Shobayo, BSc, MSPHc, Paul Okojie, PhD, Robyn Anderson, PhD</a:t>
            </a:r>
          </a:p>
          <a:p>
            <a:pPr algn="ctr">
              <a:lnSpc>
                <a:spcPct val="100000"/>
              </a:lnSpc>
            </a:pPr>
            <a:r>
              <a:rPr sz="3400" b="0" i="0">
                <a:solidFill>
                  <a:srgbClr val="000000"/>
                </a:solidFill>
                <a:latin typeface="Times New Roman"/>
              </a:rPr>
              <a:t>Department of Public and Community Health, Liberty University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8C9C05FA-58BE-53E6-927D-097819D54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561" y="949846"/>
            <a:ext cx="4580142" cy="1486682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A065416B-4327-02A8-9591-8B9DE4E9BA73}"/>
              </a:ext>
            </a:extLst>
          </p:cNvPr>
          <p:cNvSpPr txBox="1"/>
          <p:nvPr/>
        </p:nvSpPr>
        <p:spPr>
          <a:xfrm>
            <a:off x="10871631" y="4220388"/>
            <a:ext cx="22559807" cy="28137863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182880" rIns="182880" rtlCol="0">
            <a:noAutofit/>
          </a:bodyPr>
          <a:lstStyle/>
          <a:p>
            <a:pPr algn="just"/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E262B778-3A7B-F270-6B03-864EB2DE932B}"/>
              </a:ext>
            </a:extLst>
          </p:cNvPr>
          <p:cNvSpPr txBox="1"/>
          <p:nvPr/>
        </p:nvSpPr>
        <p:spPr>
          <a:xfrm>
            <a:off x="703565" y="5068259"/>
            <a:ext cx="9407040" cy="6011262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noAutofit/>
          </a:bodyPr>
          <a:lstStyle/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Background: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Mayer-Rokitansky-Küster-Hauser (MRKH) syndrome is a rare congenital condition (1 in 4,500–5,000 female births) characterized by uterovaginal agenesis in individuals with a 46,XX karyotype. Diagnosed in adolescence, it carries substantial psychosocial burden that remains insufficiently synthesized.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Methods: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Scoping review (Arksey &amp; O'Malley; PRISMA-ScR) of PubMed, Scopus, and EBSCOhost databases, January 2019–March 2026.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Results: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39 studies were provisionally included. Psychosexual and relational challenges were most frequent (n = 25), followed by psychological distress (n = 22), reduced QoL, body image and self-esteem (n = 20), and depression and anxiety (n = 12). Coping was documented in 14 studies; healthcare gaps in 10.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Conclusion: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MRKH-related psychosocial burden is substantial yet under-integrated into care. </a:t>
            </a:r>
            <a:r>
              <a:rPr sz="2400" b="0" i="1">
                <a:solidFill>
                  <a:srgbClr val="000000"/>
                </a:solidFill>
                <a:latin typeface="Times New Roman"/>
              </a:rPr>
              <a:t>Results updated from the submitted abstract after final screening.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1747F5FB-C0E0-9E78-F84B-1D512F83536E}"/>
              </a:ext>
            </a:extLst>
          </p:cNvPr>
          <p:cNvSpPr txBox="1"/>
          <p:nvPr/>
        </p:nvSpPr>
        <p:spPr>
          <a:xfrm>
            <a:off x="685278" y="4089512"/>
            <a:ext cx="9431473" cy="871393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Abstract</a:t>
            </a:r>
            <a:endParaRPr lang="en-US" sz="6000" dirty="0">
              <a:latin typeface="Times New Roman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746F674E-FB28-8348-72E3-A91916401D8C}"/>
              </a:ext>
            </a:extLst>
          </p:cNvPr>
          <p:cNvSpPr txBox="1"/>
          <p:nvPr/>
        </p:nvSpPr>
        <p:spPr>
          <a:xfrm>
            <a:off x="641891" y="13218706"/>
            <a:ext cx="9499142" cy="708848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noAutofit/>
          </a:bodyPr>
          <a:lstStyle/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Introduction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MRKH syndrome is congenital absence of the uterus and upper vagina in individuals with a 46,XX karyotype and functional ovaries, affecting about 1 in 4,500–5,000 female births.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1,2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It is usually diagnosed in adolescence during evaluation for primary amenorrhea,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a critical period for identity and social development. The diagnosis affects fertility, sexuality, and self-image, and psychosocial counseling is recommended as part of care,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yet mental health outcomes remain insufficiently integrated into practice.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Objective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To map mental health outcomes, coping mechanisms, and healthcare system gaps reported in studies of individuals with MRKH published 2019–2026.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Research Question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What mental health outcomes and coping mechanisms are reported among individuals with MRKH syndrome, and what healthcare system gaps exist?</a:t>
            </a: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6DDFC9D8-2135-B804-986E-91DCE8E7F20A}"/>
              </a:ext>
            </a:extLst>
          </p:cNvPr>
          <p:cNvSpPr txBox="1"/>
          <p:nvPr/>
        </p:nvSpPr>
        <p:spPr>
          <a:xfrm>
            <a:off x="703565" y="11349812"/>
            <a:ext cx="9431472" cy="1610057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Introduction, Objective, and  Research Question</a:t>
            </a:r>
            <a:endParaRPr lang="en-US" sz="6000" dirty="0">
              <a:latin typeface="Times New Roman"/>
              <a:cs typeface="Times New Roman"/>
            </a:endParaRPr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BC6EF120-E0D1-21D9-0B16-C9D342E5CDB5}"/>
              </a:ext>
            </a:extLst>
          </p:cNvPr>
          <p:cNvGrpSpPr/>
          <p:nvPr/>
        </p:nvGrpSpPr>
        <p:grpSpPr>
          <a:xfrm>
            <a:off x="641891" y="20411383"/>
            <a:ext cx="9565778" cy="11946867"/>
            <a:chOff x="783601" y="26482178"/>
            <a:chExt cx="9359887" cy="5029212"/>
          </a:xfrm>
        </p:grpSpPr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1A04ABA2-9C79-F910-AB39-429544CFAA06}"/>
                </a:ext>
              </a:extLst>
            </p:cNvPr>
            <p:cNvSpPr txBox="1"/>
            <p:nvPr/>
          </p:nvSpPr>
          <p:spPr>
            <a:xfrm>
              <a:off x="834896" y="26995879"/>
              <a:ext cx="9308592" cy="4515511"/>
            </a:xfrm>
            <a:prstGeom prst="rect">
              <a:avLst/>
            </a:prstGeom>
            <a:solidFill>
              <a:schemeClr val="tx1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/>
              <a:endParaRPr lang="en-US" sz="1800" dirty="0">
                <a:latin typeface="Times New Roman"/>
                <a:cs typeface="Times New Roman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BC19B682-B6AF-9A71-5C4D-B2D1BE476405}"/>
                </a:ext>
              </a:extLst>
            </p:cNvPr>
            <p:cNvSpPr txBox="1"/>
            <p:nvPr/>
          </p:nvSpPr>
          <p:spPr>
            <a:xfrm>
              <a:off x="783601" y="26482178"/>
              <a:ext cx="9308592" cy="400902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Times New Roman"/>
                  <a:cs typeface="Times New Roman"/>
                </a:rPr>
                <a:t>Methods</a:t>
              </a:r>
              <a:endParaRPr lang="en-US" sz="6000" dirty="0">
                <a:latin typeface="Times New Roman"/>
                <a:cs typeface="Times New Roman"/>
              </a:endParaRP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53AEC50B-E878-4565-180E-A62D5A2144C4}"/>
              </a:ext>
            </a:extLst>
          </p:cNvPr>
          <p:cNvGrpSpPr/>
          <p:nvPr/>
        </p:nvGrpSpPr>
        <p:grpSpPr>
          <a:xfrm>
            <a:off x="34006809" y="17775704"/>
            <a:ext cx="9256360" cy="8790347"/>
            <a:chOff x="34080553" y="17757963"/>
            <a:chExt cx="9295886" cy="7458416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B19DFF1-BA24-B68B-4652-0F80775C03FA}"/>
                </a:ext>
              </a:extLst>
            </p:cNvPr>
            <p:cNvSpPr txBox="1"/>
            <p:nvPr/>
          </p:nvSpPr>
          <p:spPr>
            <a:xfrm>
              <a:off x="34080554" y="19026404"/>
              <a:ext cx="9263014" cy="6189975"/>
            </a:xfrm>
            <a:prstGeom prst="rect">
              <a:avLst/>
            </a:prstGeom>
            <a:solidFill>
              <a:srgbClr val="FFFFFF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>
                <a:lnSpc>
                  <a:spcPct val="100000"/>
                </a:lnSpc>
                <a:spcAft>
                  <a:spcPts val="3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Public Health Implications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Integrate psychosocial support and mental health screening at diagnosis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Build multidisciplinary teams with psychology and social work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Pair vaginal lengthening treatment with psychosexual counseling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Train providers in sensitive, non-stigmatizing communication</a:t>
              </a:r>
            </a:p>
            <a:p>
              <a:pPr algn="just">
                <a:lnSpc>
                  <a:spcPct val="100000"/>
                </a:lnSpc>
                <a:spcAft>
                  <a:spcPts val="3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Future Work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Longitudinal studies with validated measures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Trials of psychosocial interventions in routine care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Research in underrepresented and low-resource settings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F9BD680-0755-89B6-9224-48721A47729A}"/>
                </a:ext>
              </a:extLst>
            </p:cNvPr>
            <p:cNvSpPr txBox="1"/>
            <p:nvPr/>
          </p:nvSpPr>
          <p:spPr>
            <a:xfrm>
              <a:off x="34080553" y="17757963"/>
              <a:ext cx="9295886" cy="1268441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Garamond"/>
                  <a:cs typeface="Garamond"/>
                </a:rPr>
                <a:t>Public Health Implications and Future Work</a:t>
              </a:r>
              <a:endParaRPr lang="en-US" sz="6000" dirty="0">
                <a:latin typeface="Garamond"/>
                <a:cs typeface="Garamond"/>
              </a:endParaRPr>
            </a:p>
          </p:txBody>
        </p: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791F62C8-B471-7647-1C58-7FE1BB1C1D01}"/>
              </a:ext>
            </a:extLst>
          </p:cNvPr>
          <p:cNvSpPr txBox="1"/>
          <p:nvPr/>
        </p:nvSpPr>
        <p:spPr>
          <a:xfrm>
            <a:off x="34084668" y="26729319"/>
            <a:ext cx="9145770" cy="871393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References</a:t>
            </a:r>
            <a:endParaRPr lang="en-US" sz="6000" dirty="0">
              <a:latin typeface="Times New Roman"/>
              <a:cs typeface="Times New Roman"/>
            </a:endParaRPr>
          </a:p>
        </p:txBody>
      </p: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C378E3EE-14D9-F365-6D63-2860BE15E8A3}"/>
              </a:ext>
            </a:extLst>
          </p:cNvPr>
          <p:cNvGrpSpPr/>
          <p:nvPr/>
        </p:nvGrpSpPr>
        <p:grpSpPr>
          <a:xfrm>
            <a:off x="34006807" y="4220388"/>
            <a:ext cx="9256360" cy="13555315"/>
            <a:chOff x="34040395" y="3962579"/>
            <a:chExt cx="9212446" cy="11915692"/>
          </a:xfrm>
        </p:grpSpPr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C035F57E-62DB-372A-C78A-9EAA827DE73E}"/>
                </a:ext>
              </a:extLst>
            </p:cNvPr>
            <p:cNvSpPr txBox="1"/>
            <p:nvPr/>
          </p:nvSpPr>
          <p:spPr>
            <a:xfrm>
              <a:off x="34040395" y="5147429"/>
              <a:ext cx="9212446" cy="10730842"/>
            </a:xfrm>
            <a:prstGeom prst="rect">
              <a:avLst/>
            </a:prstGeom>
            <a:solidFill>
              <a:srgbClr val="FFFFFF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2270543F-2128-4E8D-CCFD-F12E4C7A64FC}"/>
                </a:ext>
              </a:extLst>
            </p:cNvPr>
            <p:cNvSpPr txBox="1"/>
            <p:nvPr/>
          </p:nvSpPr>
          <p:spPr>
            <a:xfrm>
              <a:off x="34040395" y="3962579"/>
              <a:ext cx="9212446" cy="1437942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Times New Roman"/>
                  <a:cs typeface="Times New Roman"/>
                </a:rPr>
                <a:t>Results, Discussion, Conclusion, and Limitations</a:t>
              </a:r>
              <a:endParaRPr lang="en-US" sz="6000" dirty="0">
                <a:latin typeface="Times New Roman"/>
                <a:cs typeface="Times New Roman"/>
              </a:endParaRPr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3A97DB32-0FF1-1C0F-BA0A-FB20D75949A1}"/>
                </a:ext>
              </a:extLst>
            </p:cNvPr>
            <p:cNvSpPr/>
            <p:nvPr/>
          </p:nvSpPr>
          <p:spPr>
            <a:xfrm>
              <a:off x="34309049" y="5632989"/>
              <a:ext cx="8943792" cy="7201734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Results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Of 516 records, 324 were screened and 39 studies included: 20 quantitative, 15 qualitative, 3 mixed-methods, 1 not reported. Studies came from Europe (17), Asia (14), North America (3), Africa (2), and Oceania (1); none from South America. Psychosexual and relational challenges were most common (64%); depression and anxiety were measured least (31%), with mixed findings.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Discussion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Findings align with earlier evidence</a:t>
              </a:r>
              <a:r>
                <a:rPr sz="2400" b="0" i="0" baseline="30000">
                  <a:solidFill>
                    <a:srgbClr val="000000"/>
                  </a:solidFill>
                  <a:latin typeface="Times New Roman"/>
                </a:rPr>
                <a:t>5–7</a:t>
              </a: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 and a prior review highlighting sexual esteem and genital image.</a:t>
              </a:r>
              <a:r>
                <a:rPr sz="2400" b="0" i="0" baseline="30000">
                  <a:solidFill>
                    <a:srgbClr val="000000"/>
                  </a:solidFill>
                  <a:latin typeface="Times New Roman"/>
                </a:rPr>
                <a:t>8</a:t>
              </a: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 Coping relied on peer support and self-management; only 3 studies tested interventions. Healthcare gaps included providers' limited knowledge of MRKH and insensitive communication at diagnosis.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Conclusion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Psychosocial burden in MRKH is substantial yet under-integrated into care; multidisciplinary, mental health–inclusive care is needed.</a:t>
              </a:r>
            </a:p>
          </p:txBody>
        </p:sp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05B63F2-1A1A-2B15-C5FA-4705C2E0F0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284607"/>
              </p:ext>
            </p:extLst>
          </p:nvPr>
        </p:nvGraphicFramePr>
        <p:xfrm>
          <a:off x="660762" y="21538124"/>
          <a:ext cx="9565778" cy="1082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7897">
                  <a:extLst>
                    <a:ext uri="{9D8B030D-6E8A-4147-A177-3AD203B41FA5}">
                      <a16:colId xmlns:a16="http://schemas.microsoft.com/office/drawing/2014/main" val="2846790296"/>
                    </a:ext>
                  </a:extLst>
                </a:gridCol>
                <a:gridCol w="4387881">
                  <a:extLst>
                    <a:ext uri="{9D8B030D-6E8A-4147-A177-3AD203B41FA5}">
                      <a16:colId xmlns:a16="http://schemas.microsoft.com/office/drawing/2014/main" val="1015726853"/>
                    </a:ext>
                  </a:extLst>
                </a:gridCol>
              </a:tblGrid>
              <a:tr h="606898">
                <a:tc>
                  <a:txBody>
                    <a:bodyPr/>
                    <a:lstStyle/>
                    <a:p>
                      <a:r>
                        <a:rPr sz="3000" b="0" i="0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3000" b="0" i="0">
                          <a:solidFill>
                            <a:srgbClr val="FFFFFF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7735149"/>
                  </a:ext>
                </a:extLst>
              </a:tr>
              <a:tr h="2259675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Scoping review following Arksey &amp; O'Malley's framework;</a:t>
                      </a:r>
                      <a:r>
                        <a:rPr sz="2300" b="0" i="0" baseline="30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 reported per PRISMA-ScR</a:t>
                      </a:r>
                      <a:r>
                        <a:rPr sz="2300" b="0" i="0" baseline="30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808230"/>
                  </a:ext>
                </a:extLst>
              </a:tr>
              <a:tr h="1629041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PubMed; Scopus; EBSCOhost (MEDLINE, CINAHL, APA PsycInfo, Women's Studies International). Jan 2019–Mar 2026; run Mar 29, 2026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464298"/>
                  </a:ext>
                </a:extLst>
              </a:tr>
              <a:tr h="2395649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Eligibility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Primary quantitative, qualitative, or mixed-methods studies reporting psychological outcomes or coping in MRKH; surgical/fertility-only studies excluded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6894884"/>
                  </a:ext>
                </a:extLst>
              </a:tr>
              <a:tr h="3928865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Screening &amp;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516 records; 324 screened; 46 assessed; 39 included. AI-assisted screening and abstract-level charting (verification in progress); frequency counts and thematic grouping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00239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FE59D55-EEB9-45ED-66FD-9D2D7B715548}"/>
              </a:ext>
            </a:extLst>
          </p:cNvPr>
          <p:cNvSpPr txBox="1"/>
          <p:nvPr/>
        </p:nvSpPr>
        <p:spPr>
          <a:xfrm>
            <a:off x="34223508" y="13863056"/>
            <a:ext cx="8839431" cy="412420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2300" b="1" i="0">
                <a:solidFill>
                  <a:srgbClr val="000000"/>
                </a:solidFill>
                <a:latin typeface="Times New Roman"/>
              </a:rPr>
              <a:t>Limitations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Provisional: AI-assisted screening and abstract-level charting pending full-text verification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Review limited to 2019–2026; heterogeneous designs and measures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Few studies from Africa or Oceania; none from South America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F635D7-8592-DF05-AA6D-AD2EB280C030}"/>
              </a:ext>
            </a:extLst>
          </p:cNvPr>
          <p:cNvCxnSpPr/>
          <p:nvPr/>
        </p:nvCxnSpPr>
        <p:spPr>
          <a:xfrm>
            <a:off x="0" y="-26234"/>
            <a:ext cx="4399143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8" name="TextBox 327"/>
          <p:cNvSpPr txBox="1"/>
          <p:nvPr/>
        </p:nvSpPr>
        <p:spPr>
          <a:xfrm>
            <a:off x="34088832" y="27706320"/>
            <a:ext cx="9144000" cy="4846320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>
            <a:noAutofit/>
          </a:bodyPr>
          <a:lstStyle/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1. ACOG Committee Opinion No. 728.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Obstet Gynecol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2018;131(1):e35-e42.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2. Herlin M,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Hum Reprod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2016;31(10):2384-2390.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3. Arksey H, O'Malley 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Int J Soc Res Methodol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2005;8(1):19-32.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4. Tricco AC,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Ann Intern Med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2018;169(7):467-473.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5. Heller-Boersma JG,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Psychosomatics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2009;50(3):277-281.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6. Laggari V,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 Psychosom Obstet Gynaecol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2009;30(2):83-88.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7. Liao LM,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Am J Obstet Gynecol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2011;205(2):117.e1-117.e6.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8. Facchin F,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 Health Psychol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2021;26(1):26-39.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Full list of the 39 included studies available on request.</a:t>
            </a:r>
          </a:p>
          <a:p>
            <a:pPr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Acknowledgements: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 Mentorship by Dr. Paul Okojie and Dr. Robyn Anderson. No external funding.</a:t>
            </a:r>
          </a:p>
        </p:txBody>
      </p:sp>
      <p:pic>
        <p:nvPicPr>
          <p:cNvPr id="329" name="Picture 328" descr="fig1_outcomes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6868" y="4572000"/>
            <a:ext cx="21494663" cy="9052560"/>
          </a:xfrm>
          <a:prstGeom prst="rect">
            <a:avLst/>
          </a:prstGeom>
        </p:spPr>
      </p:pic>
      <p:sp>
        <p:nvSpPr>
          <p:cNvPr id="330" name="TextBox 329"/>
          <p:cNvSpPr txBox="1"/>
          <p:nvPr/>
        </p:nvSpPr>
        <p:spPr>
          <a:xfrm>
            <a:off x="11347704" y="13716000"/>
            <a:ext cx="217627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1. Frequency of Outcome Domains Across Included Studies (N = 39); studies could report more than one domain</a:t>
            </a:r>
          </a:p>
        </p:txBody>
      </p:sp>
      <p:pic>
        <p:nvPicPr>
          <p:cNvPr id="331" name="Picture 330" descr="prisma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3423" y="14630400"/>
            <a:ext cx="8462368" cy="758952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11173968" y="22311360"/>
            <a:ext cx="1024128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2. PRISMA-ScR Flow Diagram of Study Selection (provisional)</a:t>
            </a:r>
          </a:p>
        </p:txBody>
      </p:sp>
      <p:pic>
        <p:nvPicPr>
          <p:cNvPr id="333" name="Picture 332" descr="fig3_geographic_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2760" y="15728251"/>
            <a:ext cx="10881360" cy="5576697"/>
          </a:xfrm>
          <a:prstGeom prst="rect">
            <a:avLst/>
          </a:prstGeom>
        </p:spPr>
      </p:pic>
      <p:sp>
        <p:nvSpPr>
          <p:cNvPr id="334" name="TextBox 333"/>
          <p:cNvSpPr txBox="1"/>
          <p:nvPr/>
        </p:nvSpPr>
        <p:spPr>
          <a:xfrm>
            <a:off x="22082760" y="2231136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3. Geographic Distribution of Included Studies (N = 39)</a:t>
            </a:r>
          </a:p>
        </p:txBody>
      </p:sp>
      <p:pic>
        <p:nvPicPr>
          <p:cNvPr id="335" name="Picture 334" descr="fig2_design_don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3968" y="24328711"/>
            <a:ext cx="10241280" cy="6206576"/>
          </a:xfrm>
          <a:prstGeom prst="rect">
            <a:avLst/>
          </a:prstGeom>
        </p:spPr>
      </p:pic>
      <p:sp>
        <p:nvSpPr>
          <p:cNvPr id="336" name="TextBox 335"/>
          <p:cNvSpPr txBox="1"/>
          <p:nvPr/>
        </p:nvSpPr>
        <p:spPr>
          <a:xfrm>
            <a:off x="11173968" y="31181040"/>
            <a:ext cx="1024128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4. Study Design Distribution (N = 39)</a:t>
            </a:r>
          </a:p>
        </p:txBody>
      </p:sp>
      <p:pic>
        <p:nvPicPr>
          <p:cNvPr id="337" name="Picture 336" descr="fig5_coping_b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82760" y="25093683"/>
            <a:ext cx="10881360" cy="4676633"/>
          </a:xfrm>
          <a:prstGeom prst="rect">
            <a:avLst/>
          </a:prstGeom>
        </p:spPr>
      </p:pic>
      <p:sp>
        <p:nvSpPr>
          <p:cNvPr id="338" name="TextBox 337"/>
          <p:cNvSpPr txBox="1"/>
          <p:nvPr/>
        </p:nvSpPr>
        <p:spPr>
          <a:xfrm>
            <a:off x="22082760" y="3118104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5. Coping Mechanisms Documented (14 studies)</a:t>
            </a:r>
          </a:p>
        </p:txBody>
      </p:sp>
    </p:spTree>
    <p:extLst>
      <p:ext uri="{BB962C8B-B14F-4D97-AF65-F5344CB8AC3E}">
        <p14:creationId xmlns:p14="http://schemas.microsoft.com/office/powerpoint/2010/main" val="1113384405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25711</TotalTime>
  <Words>901</Words>
  <Application>Microsoft Office PowerPoint</Application>
  <PresentationFormat>Custom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Ryan Montalvo</dc:creator>
  <cp:lastModifiedBy>Shobayo, Ifeoluwanimi</cp:lastModifiedBy>
  <cp:revision>321</cp:revision>
  <dcterms:created xsi:type="dcterms:W3CDTF">2013-10-19T16:33:22Z</dcterms:created>
  <dcterms:modified xsi:type="dcterms:W3CDTF">2026-09-03T22:07:59Z</dcterms:modified>
</cp:coreProperties>
</file>