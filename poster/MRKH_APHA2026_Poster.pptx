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affects far more than reproductive anatomy. Psychosexual difficulties, emotional distress, and low self-esteem were widely reported, yet depression and anxiety were measured in fewer than half of studies, and coping relied mostly on peers or concealment rather than structured care. Mental health screening, psychosexual counseling, and peer support should become standard in multidisciplinary MRKH care, not an afterthought, and research must reach underrepresented regions.</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AI-assisted screening and charting (full text checked for 30 of 35 studies); English-language studies from 2019–2026 only; heterogeneous designs and measures; some reports may share samples;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1). AI-assisted screening and charting, checked against full text for 30 of 35 studies. Charted design, country, sample, outcomes, coping, and healthcare gaps; synthesized with frequency counts and thematic grouping into 6 domains (Figure 3).</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prisma_flow.png"/>
          <p:cNvPicPr>
            <a:picLocks noChangeAspect="1"/>
          </p:cNvPicPr>
          <p:nvPr/>
        </p:nvPicPr>
        <p:blipFill>
          <a:blip r:embed="rId4"/>
          <a:stretch>
            <a:fillRect/>
          </a:stretch>
        </p:blipFill>
        <p:spPr>
          <a:xfrm>
            <a:off x="12114402" y="4572000"/>
            <a:ext cx="8360411" cy="7498079"/>
          </a:xfrm>
          <a:prstGeom prst="rect">
            <a:avLst/>
          </a:prstGeom>
        </p:spPr>
      </p:pic>
      <p:sp>
        <p:nvSpPr>
          <p:cNvPr id="330" name="TextBox 329"/>
          <p:cNvSpPr txBox="1"/>
          <p:nvPr/>
        </p:nvSpPr>
        <p:spPr>
          <a:xfrm>
            <a:off x="11173968" y="12161520"/>
            <a:ext cx="10241280" cy="1097280"/>
          </a:xfrm>
          <a:prstGeom prst="rect">
            <a:avLst/>
          </a:prstGeom>
          <a:noFill/>
        </p:spPr>
        <p:txBody>
          <a:bodyPr wrap="square">
            <a:noAutofit/>
          </a:bodyPr>
          <a:lstStyle/>
          <a:p>
            <a:r>
              <a:rPr sz="2400" b="1" i="0">
                <a:solidFill>
                  <a:srgbClr val="000000"/>
                </a:solidFill>
                <a:latin typeface="Times New Roman"/>
              </a:rPr>
              <a:t>Figure 1.</a:t>
            </a:r>
            <a:r>
              <a:rPr sz="2400" b="0" i="0">
                <a:solidFill>
                  <a:srgbClr val="000000"/>
                </a:solidFill>
                <a:latin typeface="Times New Roman"/>
              </a:rPr>
              <a:t> PRISMA-ScR flow diagram: 516 records identified, 324 screened, 42 assessed for eligibility, and 35 included.</a:t>
            </a:r>
          </a:p>
        </p:txBody>
      </p:sp>
      <p:pic>
        <p:nvPicPr>
          <p:cNvPr id="331" name="Picture 330" descr="fig2_design_donut.png"/>
          <p:cNvPicPr>
            <a:picLocks noChangeAspect="1"/>
          </p:cNvPicPr>
          <p:nvPr/>
        </p:nvPicPr>
        <p:blipFill>
          <a:blip r:embed="rId5"/>
          <a:stretch>
            <a:fillRect/>
          </a:stretch>
        </p:blipFill>
        <p:spPr>
          <a:xfrm>
            <a:off x="22082760" y="5023796"/>
            <a:ext cx="10881360" cy="6594487"/>
          </a:xfrm>
          <a:prstGeom prst="rect">
            <a:avLst/>
          </a:prstGeom>
        </p:spPr>
      </p:pic>
      <p:sp>
        <p:nvSpPr>
          <p:cNvPr id="332" name="TextBox 331"/>
          <p:cNvSpPr txBox="1"/>
          <p:nvPr/>
        </p:nvSpPr>
        <p:spPr>
          <a:xfrm>
            <a:off x="22082760" y="12161520"/>
            <a:ext cx="10881360" cy="109728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Study designs: 18 quantitative (51%), 14 qualitative (40%), 2 mixed-methods, and 1 not reported.</a:t>
            </a:r>
          </a:p>
        </p:txBody>
      </p:sp>
      <p:pic>
        <p:nvPicPr>
          <p:cNvPr id="333" name="Picture 332" descr="fig1_outcomes_bar.png"/>
          <p:cNvPicPr>
            <a:picLocks noChangeAspect="1"/>
          </p:cNvPicPr>
          <p:nvPr/>
        </p:nvPicPr>
        <p:blipFill>
          <a:blip r:embed="rId6"/>
          <a:stretch>
            <a:fillRect/>
          </a:stretch>
        </p:blipFill>
        <p:spPr>
          <a:xfrm>
            <a:off x="12892413" y="13487400"/>
            <a:ext cx="18563572" cy="7818120"/>
          </a:xfrm>
          <a:prstGeom prst="rect">
            <a:avLst/>
          </a:prstGeom>
        </p:spPr>
      </p:pic>
      <p:sp>
        <p:nvSpPr>
          <p:cNvPr id="334" name="TextBox 333"/>
          <p:cNvSpPr txBox="1"/>
          <p:nvPr/>
        </p:nvSpPr>
        <p:spPr>
          <a:xfrm>
            <a:off x="11347704" y="21351240"/>
            <a:ext cx="21762720" cy="109728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5" name="Picture 334" descr="fig5_coping_bar.png"/>
          <p:cNvPicPr>
            <a:picLocks noChangeAspect="1"/>
          </p:cNvPicPr>
          <p:nvPr/>
        </p:nvPicPr>
        <p:blipFill>
          <a:blip r:embed="rId7"/>
          <a:stretch>
            <a:fillRect/>
          </a:stretch>
        </p:blipFill>
        <p:spPr>
          <a:xfrm>
            <a:off x="11173968" y="24408271"/>
            <a:ext cx="10241280" cy="4401537"/>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Coping mechanisms in 15 studies: peer, family, and social support was most common (7), followed by avoidance and concealment (6).</a:t>
            </a:r>
          </a:p>
        </p:txBody>
      </p:sp>
      <p:pic>
        <p:nvPicPr>
          <p:cNvPr id="337" name="Picture 336" descr="fig3_geographic_map.png"/>
          <p:cNvPicPr>
            <a:picLocks noChangeAspect="1"/>
          </p:cNvPicPr>
          <p:nvPr/>
        </p:nvPicPr>
        <p:blipFill>
          <a:blip r:embed="rId8"/>
          <a:stretch>
            <a:fillRect/>
          </a:stretch>
        </p:blipFill>
        <p:spPr>
          <a:xfrm>
            <a:off x="22082760" y="23820691"/>
            <a:ext cx="10881360" cy="5576697"/>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Europe and Asia contributed 14 studies each, Africa and Oceania 1 each, and South America none (2 multinational studies not mapped).</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