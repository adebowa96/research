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40" r:id="rId1"/>
  </p:sldMasterIdLst>
  <p:notesMasterIdLst>
    <p:notesMasterId r:id="rId3"/>
  </p:notesMasterIdLst>
  <p:sldIdLst>
    <p:sldId id="258" r:id="rId2"/>
  </p:sldIdLst>
  <p:sldSz cx="43891200" cy="32918400"/>
  <p:notesSz cx="9144000" cy="6858000"/>
  <p:defaultTextStyle>
    <a:defPPr>
      <a:defRPr lang="en-US"/>
    </a:defPPr>
    <a:lvl1pPr marL="0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1pPr>
    <a:lvl2pPr marL="2072951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2pPr>
    <a:lvl3pPr marL="4145900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3pPr>
    <a:lvl4pPr marL="6218851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4pPr>
    <a:lvl5pPr marL="8291798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5pPr>
    <a:lvl6pPr marL="10364750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6pPr>
    <a:lvl7pPr marL="12437701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7pPr>
    <a:lvl8pPr marL="14510648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8pPr>
    <a:lvl9pPr marL="16583601" algn="l" defTabSz="2072951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9">
          <p15:clr>
            <a:srgbClr val="A4A3A4"/>
          </p15:clr>
        </p15:guide>
        <p15:guide id="2" pos="16128">
          <p15:clr>
            <a:srgbClr val="A4A3A4"/>
          </p15:clr>
        </p15:guide>
        <p15:guide id="3" pos="13824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5CE1E"/>
    <a:srgbClr val="00C28D"/>
    <a:srgbClr val="00B4FF"/>
    <a:srgbClr val="008080"/>
    <a:srgbClr val="1270FC"/>
    <a:srgbClr val="FFA200"/>
    <a:srgbClr val="008000"/>
    <a:srgbClr val="FFFFFF"/>
    <a:srgbClr val="0A254E"/>
    <a:srgbClr val="0A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310" autoAdjust="0"/>
  </p:normalViewPr>
  <p:slideViewPr>
    <p:cSldViewPr snapToGrid="0" snapToObjects="1">
      <p:cViewPr varScale="1">
        <p:scale>
          <a:sx n="14" d="100"/>
          <a:sy n="14" d="100"/>
        </p:scale>
        <p:origin x="1284" y="112"/>
      </p:cViewPr>
      <p:guideLst>
        <p:guide orient="horz" pos="10369"/>
        <p:guide pos="16128"/>
        <p:guide pos="1382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263FE2-9438-354A-B60A-5A471281E58B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4350"/>
            <a:ext cx="3429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CA9BC3-5A08-5C40-8DE6-1B49CE8263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815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1pPr>
    <a:lvl2pPr marL="477467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2pPr>
    <a:lvl3pPr marL="954936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3pPr>
    <a:lvl4pPr marL="1432403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4pPr>
    <a:lvl5pPr marL="1909870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5pPr>
    <a:lvl6pPr marL="2387337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6pPr>
    <a:lvl7pPr marL="2864805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7pPr>
    <a:lvl8pPr marL="3342272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8pPr>
    <a:lvl9pPr marL="3819741" algn="l" defTabSz="477467" rtl="0" eaLnBrk="1" latinLnBrk="0" hangingPunct="1">
      <a:defRPr sz="13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EFD75-C664-C06B-8435-139272CD8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CFBF99-3EB2-AAD2-6F03-91E84EC7D2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857500" y="514350"/>
            <a:ext cx="3429000" cy="25717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8B7ED1-8F00-CF7C-FF86-F0BA76EF2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7187B-62FD-CA95-DAC6-813F753CB3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ECA9BC3-5A08-5C40-8DE6-1B49CE82633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958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934496" y="8493799"/>
            <a:ext cx="33984125" cy="8778245"/>
          </a:xfrm>
        </p:spPr>
        <p:txBody>
          <a:bodyPr anchor="b">
            <a:normAutofit/>
          </a:bodyPr>
          <a:lstStyle>
            <a:lvl1pPr algn="ctr">
              <a:defRPr sz="259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4496" y="17272029"/>
            <a:ext cx="33984125" cy="5039362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583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7782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972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31673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5361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7556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3566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538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3447" y="8453129"/>
            <a:ext cx="34525982" cy="8778302"/>
          </a:xfrm>
        </p:spPr>
        <p:txBody>
          <a:bodyPr anchor="b"/>
          <a:lstStyle>
            <a:lvl1pPr algn="ctr">
              <a:defRPr sz="19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63447" y="17231419"/>
            <a:ext cx="34525982" cy="7233859"/>
          </a:xfrm>
        </p:spPr>
        <p:txBody>
          <a:bodyPr anchor="t"/>
          <a:lstStyle>
            <a:lvl1pPr marL="0" indent="0" algn="ctr">
              <a:buNone/>
              <a:defRPr sz="9600">
                <a:solidFill>
                  <a:schemeClr val="tx1"/>
                </a:solidFill>
              </a:defRPr>
            </a:lvl1pPr>
            <a:lvl2pPr marL="2194560" indent="0">
              <a:buNone/>
              <a:defRPr sz="8640">
                <a:solidFill>
                  <a:schemeClr val="tx1">
                    <a:tint val="75000"/>
                  </a:schemeClr>
                </a:solidFill>
              </a:defRPr>
            </a:lvl2pPr>
            <a:lvl3pPr marL="438912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3pPr>
            <a:lvl4pPr marL="658368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4pPr>
            <a:lvl5pPr marL="877824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5pPr>
            <a:lvl6pPr marL="1097280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6pPr>
            <a:lvl7pPr marL="1316736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7pPr>
            <a:lvl8pPr marL="1536192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8pPr>
            <a:lvl9pPr marL="17556480" indent="0">
              <a:buNone/>
              <a:defRPr sz="67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92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89668" y="8315755"/>
            <a:ext cx="18217790" cy="1948200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30414" y="8315762"/>
            <a:ext cx="18232795" cy="194820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0310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9659" y="8497553"/>
            <a:ext cx="18179630" cy="19742174"/>
          </a:xfrm>
          <a:prstGeom prst="rect">
            <a:avLst/>
          </a:prstGeom>
        </p:spPr>
      </p:pic>
      <p:pic>
        <p:nvPicPr>
          <p:cNvPr id="14" name="Picture 13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83579" y="8497553"/>
            <a:ext cx="18179630" cy="1974217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621139" y="8809219"/>
            <a:ext cx="17554838" cy="2615443"/>
          </a:xfrm>
        </p:spPr>
        <p:txBody>
          <a:bodyPr anchor="b">
            <a:noAutofit/>
          </a:bodyPr>
          <a:lstStyle>
            <a:lvl1pPr marL="0" indent="0" algn="ctr">
              <a:buNone/>
              <a:defRPr sz="11520" b="0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621139" y="11424665"/>
            <a:ext cx="17554838" cy="16373102"/>
          </a:xfrm>
        </p:spPr>
        <p:txBody>
          <a:bodyPr anchor="t">
            <a:normAutofit/>
          </a:bodyPr>
          <a:lstStyle>
            <a:lvl1pPr>
              <a:defRPr sz="8640"/>
            </a:lvl1pPr>
            <a:lvl2pPr>
              <a:defRPr sz="7680"/>
            </a:lvl2pPr>
            <a:lvl3pPr>
              <a:defRPr sz="6720"/>
            </a:lvl3pPr>
            <a:lvl4pPr>
              <a:defRPr sz="5760"/>
            </a:lvl4pPr>
            <a:lvl5pPr>
              <a:defRPr sz="576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661880" y="8809227"/>
            <a:ext cx="17623190" cy="2615438"/>
          </a:xfrm>
        </p:spPr>
        <p:txBody>
          <a:bodyPr anchor="b">
            <a:noAutofit/>
          </a:bodyPr>
          <a:lstStyle>
            <a:lvl1pPr marL="0" indent="0" algn="ctr">
              <a:buNone/>
              <a:defRPr sz="11520" b="0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661880" y="11424665"/>
            <a:ext cx="17623190" cy="16373102"/>
          </a:xfrm>
        </p:spPr>
        <p:txBody>
          <a:bodyPr anchor="t">
            <a:normAutofit/>
          </a:bodyPr>
          <a:lstStyle>
            <a:lvl1pPr>
              <a:defRPr sz="8640"/>
            </a:lvl1pPr>
            <a:lvl2pPr>
              <a:defRPr sz="7680"/>
            </a:lvl2pPr>
            <a:lvl3pPr>
              <a:defRPr sz="6720"/>
            </a:lvl3pPr>
            <a:lvl4pPr>
              <a:defRPr sz="5760"/>
            </a:lvl4pPr>
            <a:lvl5pPr>
              <a:defRPr sz="576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817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824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7706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9668" y="2926080"/>
            <a:ext cx="13344802" cy="8745206"/>
          </a:xfrm>
        </p:spPr>
        <p:txBody>
          <a:bodyPr anchor="b">
            <a:normAutofit/>
          </a:bodyPr>
          <a:lstStyle>
            <a:lvl1pPr algn="ctr">
              <a:defRPr sz="1152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480283" y="2926080"/>
            <a:ext cx="23082926" cy="2487168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68" y="11671289"/>
            <a:ext cx="13344802" cy="16126469"/>
          </a:xfrm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5333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Slate-V2-S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5938" y="2927630"/>
            <a:ext cx="16455101" cy="2498626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9666" y="2927631"/>
            <a:ext cx="18838445" cy="8780822"/>
          </a:xfrm>
        </p:spPr>
        <p:txBody>
          <a:bodyPr anchor="b">
            <a:noAutofit/>
          </a:bodyPr>
          <a:lstStyle>
            <a:lvl1pPr algn="ctr">
              <a:defRPr sz="1536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88297" y="3571147"/>
            <a:ext cx="15193800" cy="23581546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7680"/>
            </a:lvl2pPr>
            <a:lvl3pPr marL="4389120" indent="0">
              <a:buNone/>
              <a:defRPr sz="7680"/>
            </a:lvl3pPr>
            <a:lvl4pPr marL="6583680" indent="0">
              <a:buNone/>
              <a:defRPr sz="7680"/>
            </a:lvl4pPr>
            <a:lvl5pPr marL="8778240" indent="0">
              <a:buNone/>
              <a:defRPr sz="7680"/>
            </a:lvl5pPr>
            <a:lvl6pPr marL="10972800" indent="0">
              <a:buNone/>
              <a:defRPr sz="7680"/>
            </a:lvl6pPr>
            <a:lvl7pPr marL="13167360" indent="0">
              <a:buNone/>
              <a:defRPr sz="7680"/>
            </a:lvl7pPr>
            <a:lvl8pPr marL="15361920" indent="0">
              <a:buNone/>
              <a:defRPr sz="7680"/>
            </a:lvl8pPr>
            <a:lvl9pPr marL="17556480" indent="0">
              <a:buNone/>
              <a:defRPr sz="76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66" y="11708453"/>
            <a:ext cx="18838445" cy="16205443"/>
          </a:xfrm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210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late-V2-S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71176" y="2592408"/>
            <a:ext cx="36748848" cy="1840499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9702" y="21913224"/>
            <a:ext cx="37279176" cy="2608666"/>
          </a:xfrm>
        </p:spPr>
        <p:txBody>
          <a:bodyPr anchor="b">
            <a:normAutofit/>
          </a:bodyPr>
          <a:lstStyle>
            <a:lvl1pPr algn="ctr">
              <a:defRPr sz="134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45842" y="3336050"/>
            <a:ext cx="34970880" cy="1692322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9600"/>
            </a:lvl1pPr>
            <a:lvl2pPr marL="2194560" indent="0">
              <a:buNone/>
              <a:defRPr sz="9600"/>
            </a:lvl2pPr>
            <a:lvl3pPr marL="4389120" indent="0">
              <a:buNone/>
              <a:defRPr sz="960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61" y="24521894"/>
            <a:ext cx="37273546" cy="3275866"/>
          </a:xfrm>
        </p:spPr>
        <p:txBody>
          <a:bodyPr anchor="t"/>
          <a:lstStyle>
            <a:lvl1pPr marL="0" indent="0" algn="ctr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113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9661" y="2920498"/>
            <a:ext cx="37273546" cy="16964851"/>
          </a:xfrm>
        </p:spPr>
        <p:txBody>
          <a:bodyPr anchor="ctr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61" y="20616864"/>
            <a:ext cx="37273546" cy="7208765"/>
          </a:xfrm>
        </p:spPr>
        <p:txBody>
          <a:bodyPr anchor="ctr"/>
          <a:lstStyle>
            <a:lvl1pPr marL="0" indent="0" algn="ctr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8372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6363" y="2926080"/>
            <a:ext cx="33489907" cy="14365939"/>
          </a:xfrm>
        </p:spPr>
        <p:txBody>
          <a:bodyPr anchor="ctr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6194323" y="17328161"/>
            <a:ext cx="31508275" cy="2557195"/>
          </a:xfrm>
        </p:spPr>
        <p:txBody>
          <a:bodyPr anchor="t">
            <a:normAutofit/>
          </a:bodyPr>
          <a:lstStyle>
            <a:lvl1pPr marL="0" indent="0" algn="r">
              <a:buNone/>
              <a:defRPr sz="672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61" y="20660894"/>
            <a:ext cx="37273546" cy="7149581"/>
          </a:xfrm>
        </p:spPr>
        <p:txBody>
          <a:bodyPr anchor="ctr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011803" y="4194778"/>
            <a:ext cx="2194560" cy="2806925"/>
          </a:xfrm>
          <a:prstGeom prst="rect">
            <a:avLst/>
          </a:prstGeom>
        </p:spPr>
        <p:txBody>
          <a:bodyPr vert="horz" lIns="438912" tIns="219456" rIns="438912" bIns="219456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38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76123" y="14079576"/>
            <a:ext cx="2194560" cy="2806925"/>
          </a:xfrm>
          <a:prstGeom prst="rect">
            <a:avLst/>
          </a:prstGeom>
        </p:spPr>
        <p:txBody>
          <a:bodyPr vert="horz" lIns="438912" tIns="219456" rIns="438912" bIns="219456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38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602428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89661" y="10209329"/>
            <a:ext cx="37273546" cy="12056808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289630" y="22322669"/>
            <a:ext cx="37267915" cy="5475091"/>
          </a:xfrm>
        </p:spPr>
        <p:txBody>
          <a:bodyPr anchor="t"/>
          <a:lstStyle>
            <a:lvl1pPr marL="0" indent="0" algn="ctr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1274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3289661" y="2926080"/>
            <a:ext cx="37273546" cy="465816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289661" y="9052560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1152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3289661" y="12344400"/>
            <a:ext cx="11883542" cy="15453360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008159" y="9052560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1152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15989165" y="12344400"/>
            <a:ext cx="11883542" cy="15453360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28679659" y="9052560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1152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28679659" y="12344400"/>
            <a:ext cx="11883542" cy="15453360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7317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347" y="8765016"/>
            <a:ext cx="12139421" cy="8801078"/>
          </a:xfrm>
          <a:prstGeom prst="rect">
            <a:avLst/>
          </a:prstGeom>
        </p:spPr>
      </p:pic>
      <p:pic>
        <p:nvPicPr>
          <p:cNvPr id="28" name="Picture 27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10302" y="8765016"/>
            <a:ext cx="12139421" cy="8801078"/>
          </a:xfrm>
          <a:prstGeom prst="rect">
            <a:avLst/>
          </a:prstGeom>
        </p:spPr>
      </p:pic>
      <p:pic>
        <p:nvPicPr>
          <p:cNvPr id="29" name="Picture 28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24232" y="8765016"/>
            <a:ext cx="12139421" cy="8801078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3289661" y="2926080"/>
            <a:ext cx="37273546" cy="465816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3289661" y="18739709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960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3665170" y="9306807"/>
            <a:ext cx="11132525" cy="7694179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7680"/>
            </a:lvl2pPr>
            <a:lvl3pPr marL="4389120" indent="0">
              <a:buNone/>
              <a:defRPr sz="7680"/>
            </a:lvl3pPr>
            <a:lvl4pPr marL="6583680" indent="0">
              <a:buNone/>
              <a:defRPr sz="7680"/>
            </a:lvl4pPr>
            <a:lvl5pPr marL="8778240" indent="0">
              <a:buNone/>
              <a:defRPr sz="7680"/>
            </a:lvl5pPr>
            <a:lvl6pPr marL="10972800" indent="0">
              <a:buNone/>
              <a:defRPr sz="7680"/>
            </a:lvl6pPr>
            <a:lvl7pPr marL="13167360" indent="0">
              <a:buNone/>
              <a:defRPr sz="7680"/>
            </a:lvl7pPr>
            <a:lvl8pPr marL="15361920" indent="0">
              <a:buNone/>
              <a:defRPr sz="7680"/>
            </a:lvl8pPr>
            <a:lvl9pPr marL="17556480" indent="0">
              <a:buNone/>
              <a:defRPr sz="76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3289661" y="21505774"/>
            <a:ext cx="11883542" cy="6291998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994037" y="18739709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960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16364674" y="9307651"/>
            <a:ext cx="11132525" cy="7719187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7680"/>
            </a:lvl2pPr>
            <a:lvl3pPr marL="4389120" indent="0">
              <a:buNone/>
              <a:defRPr sz="7680"/>
            </a:lvl3pPr>
            <a:lvl4pPr marL="6583680" indent="0">
              <a:buNone/>
              <a:defRPr sz="7680"/>
            </a:lvl4pPr>
            <a:lvl5pPr marL="8778240" indent="0">
              <a:buNone/>
              <a:defRPr sz="7680"/>
            </a:lvl5pPr>
            <a:lvl6pPr marL="10972800" indent="0">
              <a:buNone/>
              <a:defRPr sz="7680"/>
            </a:lvl6pPr>
            <a:lvl7pPr marL="13167360" indent="0">
              <a:buNone/>
              <a:defRPr sz="7680"/>
            </a:lvl7pPr>
            <a:lvl8pPr marL="15361920" indent="0">
              <a:buNone/>
              <a:defRPr sz="7680"/>
            </a:lvl8pPr>
            <a:lvl9pPr marL="17556480" indent="0">
              <a:buNone/>
              <a:defRPr sz="76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15989163" y="21505769"/>
            <a:ext cx="11888414" cy="6291998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28680111" y="18739709"/>
            <a:ext cx="11883542" cy="2766058"/>
          </a:xfrm>
        </p:spPr>
        <p:txBody>
          <a:bodyPr anchor="b">
            <a:noAutofit/>
          </a:bodyPr>
          <a:lstStyle>
            <a:lvl1pPr marL="0" indent="0" algn="ctr">
              <a:buNone/>
              <a:defRPr sz="9600" b="0">
                <a:solidFill>
                  <a:schemeClr val="tx1"/>
                </a:solidFill>
              </a:defRPr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29072515" y="9285274"/>
            <a:ext cx="11132525" cy="7715011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7680"/>
            </a:lvl1pPr>
            <a:lvl2pPr marL="2194560" indent="0">
              <a:buNone/>
              <a:defRPr sz="7680"/>
            </a:lvl2pPr>
            <a:lvl3pPr marL="4389120" indent="0">
              <a:buNone/>
              <a:defRPr sz="7680"/>
            </a:lvl3pPr>
            <a:lvl4pPr marL="6583680" indent="0">
              <a:buNone/>
              <a:defRPr sz="7680"/>
            </a:lvl4pPr>
            <a:lvl5pPr marL="8778240" indent="0">
              <a:buNone/>
              <a:defRPr sz="7680"/>
            </a:lvl5pPr>
            <a:lvl6pPr marL="10972800" indent="0">
              <a:buNone/>
              <a:defRPr sz="7680"/>
            </a:lvl6pPr>
            <a:lvl7pPr marL="13167360" indent="0">
              <a:buNone/>
              <a:defRPr sz="7680"/>
            </a:lvl7pPr>
            <a:lvl8pPr marL="15361920" indent="0">
              <a:buNone/>
              <a:defRPr sz="7680"/>
            </a:lvl8pPr>
            <a:lvl9pPr marL="17556480" indent="0">
              <a:buNone/>
              <a:defRPr sz="76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28679659" y="21505759"/>
            <a:ext cx="11883542" cy="6292008"/>
          </a:xfrm>
        </p:spPr>
        <p:txBody>
          <a:bodyPr anchor="t">
            <a:normAutofit/>
          </a:bodyPr>
          <a:lstStyle>
            <a:lvl1pPr marL="0" indent="0" algn="ctr">
              <a:buNone/>
              <a:defRPr sz="6720"/>
            </a:lvl1pPr>
            <a:lvl2pPr marL="2194560" indent="0">
              <a:buNone/>
              <a:defRPr sz="5760"/>
            </a:lvl2pPr>
            <a:lvl3pPr marL="4389120" indent="0">
              <a:buNone/>
              <a:defRPr sz="4800"/>
            </a:lvl3pPr>
            <a:lvl4pPr marL="6583680" indent="0">
              <a:buNone/>
              <a:defRPr sz="4320"/>
            </a:lvl4pPr>
            <a:lvl5pPr marL="8778240" indent="0">
              <a:buNone/>
              <a:defRPr sz="4320"/>
            </a:lvl5pPr>
            <a:lvl6pPr marL="10972800" indent="0">
              <a:buNone/>
              <a:defRPr sz="4320"/>
            </a:lvl6pPr>
            <a:lvl7pPr marL="13167360" indent="0">
              <a:buNone/>
              <a:defRPr sz="4320"/>
            </a:lvl7pPr>
            <a:lvl8pPr marL="15361920" indent="0">
              <a:buNone/>
              <a:defRPr sz="4320"/>
            </a:lvl8pPr>
            <a:lvl9pPr marL="17556480" indent="0">
              <a:buNone/>
              <a:defRPr sz="4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9308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88708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2339052" y="2926082"/>
            <a:ext cx="8224152" cy="24871685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289666" y="2926082"/>
            <a:ext cx="28500739" cy="2487168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1277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89661" y="2926080"/>
            <a:ext cx="37273546" cy="465816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89661" y="8315762"/>
            <a:ext cx="37273546" cy="1948200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643450" y="2823972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163D97CC-475F-BE49-B579-6BFEF977A37E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9668" y="28239727"/>
            <a:ext cx="24022315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7850446" y="28239727"/>
            <a:ext cx="2712763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2495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  <p:sldLayoutId id="2147483852" r:id="rId12"/>
    <p:sldLayoutId id="2147483853" r:id="rId13"/>
    <p:sldLayoutId id="2147483854" r:id="rId14"/>
    <p:sldLayoutId id="2147483855" r:id="rId15"/>
    <p:sldLayoutId id="2147483856" r:id="rId16"/>
    <p:sldLayoutId id="2147483857" r:id="rId17"/>
  </p:sldLayoutIdLst>
  <p:txStyles>
    <p:titleStyle>
      <a:lvl1pPr algn="ctr" defTabSz="2194560" rtl="0" eaLnBrk="1" latinLnBrk="0" hangingPunct="1">
        <a:spcBef>
          <a:spcPct val="0"/>
        </a:spcBef>
        <a:buNone/>
        <a:defRPr sz="192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1645920" indent="-146880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9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3456000" indent="-129600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"/>
        <a:defRPr sz="864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4924800" indent="-103680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768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6652800" indent="-103680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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8035200" indent="-103680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9670080" indent="-109728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11528640" indent="-109728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13387200" indent="-109728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14909760" indent="-1097280" algn="l" defTabSz="2194560" rtl="0" eaLnBrk="1" latinLnBrk="0" hangingPunct="1">
        <a:spcBef>
          <a:spcPct val="20000"/>
        </a:spcBef>
        <a:spcAft>
          <a:spcPts val="2880"/>
        </a:spcAft>
        <a:buClr>
          <a:schemeClr val="tx2"/>
        </a:buClr>
        <a:buSzPct val="70000"/>
        <a:buFont typeface="Wingdings 2" charset="2"/>
        <a:buChar char=""/>
        <a:defRPr sz="672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219456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8F610-5E25-C02F-4785-351AC6512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3039183-8738-C635-5157-3D9EC402F895}"/>
              </a:ext>
            </a:extLst>
          </p:cNvPr>
          <p:cNvSpPr txBox="1"/>
          <p:nvPr/>
        </p:nvSpPr>
        <p:spPr>
          <a:xfrm>
            <a:off x="685278" y="278782"/>
            <a:ext cx="42721119" cy="3619515"/>
          </a:xfrm>
          <a:prstGeom prst="rect">
            <a:avLst/>
          </a:prstGeom>
          <a:ln w="12700" cap="rnd" cmpd="sng">
            <a:solidFill>
              <a:schemeClr val="bg1"/>
            </a:solidFill>
            <a:round/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414591" tIns="207295" rIns="414591" bIns="207295" rtlCol="0" anchor="t" anchorCtr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000000"/>
                </a:solidFill>
                <a:latin typeface="Times New Roman"/>
              </a:rPr>
              <a:t>MENTAL HEALTH AND PSYCHOSOCIAL OUTCOMES AMONG INDIVIDUALS WITH</a:t>
            </a:r>
          </a:p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000000"/>
                </a:solidFill>
                <a:latin typeface="Times New Roman"/>
              </a:rPr>
              <a:t>MAYER-ROKITANSKY-KÜSTER-HAUSER (MRKH) SYNDROME: A SCOPING REVIEW</a:t>
            </a:r>
          </a:p>
          <a:p>
            <a:pPr algn="ctr">
              <a:lnSpc>
                <a:spcPct val="100000"/>
              </a:lnSpc>
            </a:pPr>
            <a:r>
              <a:rPr sz="4400" b="0" i="0">
                <a:solidFill>
                  <a:srgbClr val="000000"/>
                </a:solidFill>
                <a:latin typeface="Times New Roman"/>
              </a:rPr>
              <a:t>Ifeoluwanimi P. Shobayo, BSc, MSPHc, Paul Okojie, PhD, Robyn Anderson, PhD</a:t>
            </a:r>
          </a:p>
          <a:p>
            <a:pPr algn="ctr">
              <a:lnSpc>
                <a:spcPct val="100000"/>
              </a:lnSpc>
            </a:pPr>
            <a:r>
              <a:rPr sz="3400" b="0" i="0">
                <a:solidFill>
                  <a:srgbClr val="000000"/>
                </a:solidFill>
                <a:latin typeface="Times New Roman"/>
              </a:rPr>
              <a:t>Department of Public and Community Health, Liberty University</a:t>
            </a: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8C9C05FA-58BE-53E6-927D-097819D54A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6561" y="949846"/>
            <a:ext cx="4580142" cy="1486682"/>
          </a:xfrm>
          <a:prstGeom prst="rect">
            <a:avLst/>
          </a:prstGeom>
        </p:spPr>
      </p:pic>
      <p:sp>
        <p:nvSpPr>
          <p:cNvPr id="305" name="TextBox 304">
            <a:extLst>
              <a:ext uri="{FF2B5EF4-FFF2-40B4-BE49-F238E27FC236}">
                <a16:creationId xmlns:a16="http://schemas.microsoft.com/office/drawing/2014/main" id="{A065416B-4327-02A8-9591-8B9DE4E9BA73}"/>
              </a:ext>
            </a:extLst>
          </p:cNvPr>
          <p:cNvSpPr txBox="1"/>
          <p:nvPr/>
        </p:nvSpPr>
        <p:spPr>
          <a:xfrm>
            <a:off x="10871631" y="4220388"/>
            <a:ext cx="22559807" cy="28137863"/>
          </a:xfrm>
          <a:prstGeom prst="rect">
            <a:avLst/>
          </a:prstGeom>
          <a:solidFill>
            <a:srgbClr val="FFFFFF"/>
          </a:solidFill>
          <a:ln cap="rnd">
            <a:solidFill>
              <a:schemeClr val="bg1"/>
            </a:solidFill>
          </a:ln>
        </p:spPr>
        <p:txBody>
          <a:bodyPr wrap="square" lIns="182880" rIns="182880" rtlCol="0">
            <a:noAutofit/>
          </a:bodyPr>
          <a:lstStyle/>
          <a:p>
            <a:pPr algn="just"/>
            <a:endParaRPr lang="en-US" sz="1800" dirty="0">
              <a:solidFill>
                <a:schemeClr val="bg1"/>
              </a:solidFill>
              <a:latin typeface="Times New Roman"/>
              <a:cs typeface="Times New Roman"/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E262B778-3A7B-F270-6B03-864EB2DE932B}"/>
              </a:ext>
            </a:extLst>
          </p:cNvPr>
          <p:cNvSpPr txBox="1"/>
          <p:nvPr/>
        </p:nvSpPr>
        <p:spPr>
          <a:xfrm>
            <a:off x="703565" y="5068259"/>
            <a:ext cx="9407040" cy="6011262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 lIns="131445" tIns="65723" rIns="131445" bIns="65723" rtlCol="0">
            <a:noAutofit/>
          </a:bodyPr>
          <a:lstStyle/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Background: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Mayer-Rokitansky-Küster-Hauser (MRKH) syndrome is a rare congenital condition (1 in 4,500–5,000 female births) characterized by uterovaginal agenesis in individuals with a 46,XX karyotype. Diagnosed in adolescence, it carries substantial psychosocial burden that remains insufficiently synthesized.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Methods: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Scoping review (Arksey &amp; O'Malley; PRISMA-ScR) of PubMed, Scopus, and EBSCOhost databases, January 2019–March 2026.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Results: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35 studies were included. Psychosexual and relational challenges were most frequent (n = 24), followed by psychological distress (n = 20), reduced QoL, body image and self-esteem (n = 19), and depression and anxiety (n = 14). Coping was documented in 15 studies; healthcare gaps in 10.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Conclusion: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MRKH-related psychosocial burden is substantial yet under-integrated into care. </a:t>
            </a:r>
            <a:r>
              <a:rPr sz="2400" b="0" i="1">
                <a:solidFill>
                  <a:srgbClr val="000000"/>
                </a:solidFill>
                <a:latin typeface="Times New Roman"/>
              </a:rPr>
              <a:t>Results updated from the submitted abstract after final screening and full-text review.</a:t>
            </a: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1747F5FB-C0E0-9E78-F84B-1D512F83536E}"/>
              </a:ext>
            </a:extLst>
          </p:cNvPr>
          <p:cNvSpPr txBox="1"/>
          <p:nvPr/>
        </p:nvSpPr>
        <p:spPr>
          <a:xfrm>
            <a:off x="685278" y="4089512"/>
            <a:ext cx="9431473" cy="871393"/>
          </a:xfrm>
          <a:prstGeom prst="rect">
            <a:avLst/>
          </a:prstGeom>
          <a:solidFill>
            <a:srgbClr val="0A254E"/>
          </a:solidFill>
          <a:ln>
            <a:solidFill>
              <a:schemeClr val="bg1"/>
            </a:solidFill>
          </a:ln>
        </p:spPr>
        <p:txBody>
          <a:bodyPr wrap="square" lIns="131445" tIns="65723" rIns="131445" bIns="65723" rtlCol="0">
            <a:spAutoFit/>
          </a:bodyPr>
          <a:lstStyle/>
          <a:p>
            <a:pPr algn="ctr"/>
            <a:r>
              <a:rPr lang="en-US" sz="4800" dirty="0">
                <a:latin typeface="Times New Roman"/>
                <a:cs typeface="Times New Roman"/>
              </a:rPr>
              <a:t>Abstract</a:t>
            </a:r>
            <a:endParaRPr lang="en-US" sz="6000" dirty="0">
              <a:latin typeface="Times New Roman"/>
              <a:cs typeface="Times New Roman"/>
            </a:endParaRP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746F674E-FB28-8348-72E3-A91916401D8C}"/>
              </a:ext>
            </a:extLst>
          </p:cNvPr>
          <p:cNvSpPr txBox="1"/>
          <p:nvPr/>
        </p:nvSpPr>
        <p:spPr>
          <a:xfrm>
            <a:off x="641891" y="13218706"/>
            <a:ext cx="9499142" cy="708848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 lIns="131445" tIns="65723" rIns="131445" bIns="65723" rtlCol="0">
            <a:noAutofit/>
          </a:bodyPr>
          <a:lstStyle/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Introduction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MRKH syndrome is congenital absence of the uterus and upper vagina in individuals with a 46,XX karyotype and functional ovaries, affecting about 1 in 4,500–5,000 female births.</a:t>
            </a:r>
            <a:r>
              <a:rPr sz="2400" b="0" i="0" baseline="30000">
                <a:solidFill>
                  <a:srgbClr val="000000"/>
                </a:solidFill>
                <a:latin typeface="Times New Roman"/>
              </a:rPr>
              <a:t>1,2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It is usually diagnosed in adolescence during evaluation for primary amenorrhea,</a:t>
            </a:r>
            <a:r>
              <a:rPr sz="2400" b="0" i="0" baseline="30000">
                <a:solidFill>
                  <a:srgbClr val="000000"/>
                </a:solidFill>
                <a:latin typeface="Times New Roman"/>
              </a:rPr>
              <a:t>1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a critical period for identity and social development. The diagnosis affects fertility, sexuality, and self-image, and psychosocial counseling is recommended as part of care,</a:t>
            </a:r>
            <a:r>
              <a:rPr sz="2400" b="0" i="0" baseline="30000">
                <a:solidFill>
                  <a:srgbClr val="000000"/>
                </a:solidFill>
                <a:latin typeface="Times New Roman"/>
              </a:rPr>
              <a:t>1</a:t>
            </a:r>
            <a:r>
              <a:rPr sz="2400" b="0" i="0">
                <a:solidFill>
                  <a:srgbClr val="000000"/>
                </a:solidFill>
                <a:latin typeface="Times New Roman"/>
              </a:rPr>
              <a:t> yet mental health outcomes remain insufficiently integrated into practice.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Objective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To map mental health outcomes, coping mechanisms, and healthcare system gaps reported in studies of individuals with MRKH published 2019–2026.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1" i="0">
                <a:solidFill>
                  <a:srgbClr val="000000"/>
                </a:solidFill>
                <a:latin typeface="Times New Roman"/>
              </a:rPr>
              <a:t>Research Question</a:t>
            </a:r>
          </a:p>
          <a:p>
            <a:pPr algn="just">
              <a:lnSpc>
                <a:spcPct val="100000"/>
              </a:lnSpc>
              <a:spcAft>
                <a:spcPts val="400"/>
              </a:spcAft>
            </a:pPr>
            <a:r>
              <a:rPr sz="2400" b="0" i="0">
                <a:solidFill>
                  <a:srgbClr val="000000"/>
                </a:solidFill>
                <a:latin typeface="Times New Roman"/>
              </a:rPr>
              <a:t>What mental health outcomes and coping mechanisms are reported among individuals with MRKH syndrome, and what healthcare system gaps exist?</a:t>
            </a:r>
          </a:p>
        </p:txBody>
      </p:sp>
      <p:sp>
        <p:nvSpPr>
          <p:cNvPr id="313" name="TextBox 312">
            <a:extLst>
              <a:ext uri="{FF2B5EF4-FFF2-40B4-BE49-F238E27FC236}">
                <a16:creationId xmlns:a16="http://schemas.microsoft.com/office/drawing/2014/main" id="{6DDFC9D8-2135-B804-986E-91DCE8E7F20A}"/>
              </a:ext>
            </a:extLst>
          </p:cNvPr>
          <p:cNvSpPr txBox="1"/>
          <p:nvPr/>
        </p:nvSpPr>
        <p:spPr>
          <a:xfrm>
            <a:off x="703565" y="11349812"/>
            <a:ext cx="9431472" cy="1610057"/>
          </a:xfrm>
          <a:prstGeom prst="rect">
            <a:avLst/>
          </a:prstGeom>
          <a:solidFill>
            <a:srgbClr val="0A254E"/>
          </a:solidFill>
          <a:ln>
            <a:solidFill>
              <a:schemeClr val="bg1"/>
            </a:solidFill>
          </a:ln>
        </p:spPr>
        <p:txBody>
          <a:bodyPr wrap="square" lIns="131445" tIns="65723" rIns="131445" bIns="65723" rtlCol="0">
            <a:spAutoFit/>
          </a:bodyPr>
          <a:lstStyle/>
          <a:p>
            <a:pPr algn="ctr"/>
            <a:r>
              <a:rPr lang="en-US" sz="4800" dirty="0">
                <a:latin typeface="Times New Roman"/>
                <a:cs typeface="Times New Roman"/>
              </a:rPr>
              <a:t>Introduction, Objective, and  Research Question</a:t>
            </a:r>
            <a:endParaRPr lang="en-US" sz="6000" dirty="0">
              <a:latin typeface="Times New Roman"/>
              <a:cs typeface="Times New Roman"/>
            </a:endParaRPr>
          </a:p>
        </p:txBody>
      </p:sp>
      <p:grpSp>
        <p:nvGrpSpPr>
          <p:cNvPr id="314" name="Group 313">
            <a:extLst>
              <a:ext uri="{FF2B5EF4-FFF2-40B4-BE49-F238E27FC236}">
                <a16:creationId xmlns:a16="http://schemas.microsoft.com/office/drawing/2014/main" id="{BC6EF120-E0D1-21D9-0B16-C9D342E5CDB5}"/>
              </a:ext>
            </a:extLst>
          </p:cNvPr>
          <p:cNvGrpSpPr/>
          <p:nvPr/>
        </p:nvGrpSpPr>
        <p:grpSpPr>
          <a:xfrm>
            <a:off x="641891" y="20411383"/>
            <a:ext cx="9565778" cy="11946867"/>
            <a:chOff x="783601" y="26482178"/>
            <a:chExt cx="9359887" cy="5029212"/>
          </a:xfrm>
        </p:grpSpPr>
        <p:sp>
          <p:nvSpPr>
            <p:cNvPr id="315" name="TextBox 314">
              <a:extLst>
                <a:ext uri="{FF2B5EF4-FFF2-40B4-BE49-F238E27FC236}">
                  <a16:creationId xmlns:a16="http://schemas.microsoft.com/office/drawing/2014/main" id="{1A04ABA2-9C79-F910-AB39-429544CFAA06}"/>
                </a:ext>
              </a:extLst>
            </p:cNvPr>
            <p:cNvSpPr txBox="1"/>
            <p:nvPr/>
          </p:nvSpPr>
          <p:spPr>
            <a:xfrm>
              <a:off x="834896" y="26995879"/>
              <a:ext cx="9308592" cy="4515511"/>
            </a:xfrm>
            <a:prstGeom prst="rect">
              <a:avLst/>
            </a:prstGeom>
            <a:solidFill>
              <a:schemeClr val="tx1"/>
            </a:solidFill>
            <a:ln cap="rnd">
              <a:solidFill>
                <a:schemeClr val="bg1"/>
              </a:solidFill>
            </a:ln>
          </p:spPr>
          <p:txBody>
            <a:bodyPr wrap="square" lIns="182880" rIns="182880" rtlCol="0">
              <a:noAutofit/>
            </a:bodyPr>
            <a:lstStyle/>
            <a:p>
              <a:pPr algn="just"/>
              <a:endParaRPr lang="en-US" sz="1800" dirty="0">
                <a:latin typeface="Times New Roman"/>
                <a:cs typeface="Times New Roman"/>
              </a:endParaRPr>
            </a:p>
          </p:txBody>
        </p:sp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BC19B682-B6AF-9A71-5C4D-B2D1BE476405}"/>
                </a:ext>
              </a:extLst>
            </p:cNvPr>
            <p:cNvSpPr txBox="1"/>
            <p:nvPr/>
          </p:nvSpPr>
          <p:spPr>
            <a:xfrm>
              <a:off x="783601" y="26482178"/>
              <a:ext cx="9308592" cy="400902"/>
            </a:xfrm>
            <a:prstGeom prst="rect">
              <a:avLst/>
            </a:prstGeom>
            <a:solidFill>
              <a:srgbClr val="0A254E"/>
            </a:solidFill>
            <a:ln>
              <a:solidFill>
                <a:schemeClr val="bg1"/>
              </a:solidFill>
            </a:ln>
          </p:spPr>
          <p:txBody>
            <a:bodyPr wrap="square" lIns="131445" tIns="65723" rIns="131445" bIns="65723" rtlCol="0">
              <a:spAutoFit/>
            </a:bodyPr>
            <a:lstStyle/>
            <a:p>
              <a:pPr algn="ctr"/>
              <a:r>
                <a:rPr lang="en-US" sz="4800" dirty="0">
                  <a:latin typeface="Times New Roman"/>
                  <a:cs typeface="Times New Roman"/>
                </a:rPr>
                <a:t>Methods</a:t>
              </a:r>
              <a:endParaRPr lang="en-US" sz="6000" dirty="0">
                <a:latin typeface="Times New Roman"/>
                <a:cs typeface="Times New Roman"/>
              </a:endParaRPr>
            </a:p>
          </p:txBody>
        </p:sp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53AEC50B-E878-4565-180E-A62D5A2144C4}"/>
              </a:ext>
            </a:extLst>
          </p:cNvPr>
          <p:cNvGrpSpPr/>
          <p:nvPr/>
        </p:nvGrpSpPr>
        <p:grpSpPr>
          <a:xfrm>
            <a:off x="34006809" y="17775704"/>
            <a:ext cx="9256360" cy="8790347"/>
            <a:chOff x="34080553" y="17757963"/>
            <a:chExt cx="9295886" cy="7458416"/>
          </a:xfrm>
        </p:grpSpPr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CB19DFF1-BA24-B68B-4652-0F80775C03FA}"/>
                </a:ext>
              </a:extLst>
            </p:cNvPr>
            <p:cNvSpPr txBox="1"/>
            <p:nvPr/>
          </p:nvSpPr>
          <p:spPr>
            <a:xfrm>
              <a:off x="34080554" y="19026404"/>
              <a:ext cx="9263014" cy="6189975"/>
            </a:xfrm>
            <a:prstGeom prst="rect">
              <a:avLst/>
            </a:prstGeom>
            <a:solidFill>
              <a:srgbClr val="FFFFFF"/>
            </a:solidFill>
            <a:ln cap="rnd">
              <a:solidFill>
                <a:schemeClr val="bg1"/>
              </a:solidFill>
            </a:ln>
          </p:spPr>
          <p:txBody>
            <a:bodyPr wrap="square" lIns="182880" rIns="182880" rtlCol="0">
              <a:noAutofit/>
            </a:bodyPr>
            <a:lstStyle/>
            <a:p>
              <a:pPr algn="just">
                <a:lnSpc>
                  <a:spcPct val="100000"/>
                </a:lnSpc>
                <a:spcAft>
                  <a:spcPts val="300"/>
                </a:spcAft>
              </a:pPr>
              <a:r>
                <a:rPr sz="2400" b="1" i="0">
                  <a:solidFill>
                    <a:srgbClr val="000000"/>
                  </a:solidFill>
                  <a:latin typeface="Times New Roman"/>
                </a:rPr>
                <a:t>Public Health Implications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Integrate psychosocial support and mental health screening at diagnosis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Build multidisciplinary teams with psychology and social work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Pair vaginal lengthening treatment with psychosexual counseling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Train providers in sensitive, non-stigmatizing communication</a:t>
              </a:r>
            </a:p>
            <a:p>
              <a:pPr algn="just">
                <a:lnSpc>
                  <a:spcPct val="100000"/>
                </a:lnSpc>
                <a:spcAft>
                  <a:spcPts val="300"/>
                </a:spcAft>
              </a:pPr>
              <a:r>
                <a:rPr sz="2400" b="1" i="0">
                  <a:solidFill>
                    <a:srgbClr val="000000"/>
                  </a:solidFill>
                  <a:latin typeface="Times New Roman"/>
                </a:rPr>
                <a:t>Future Work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Longitudinal studies with validated measures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Trials of psychosocial interventions in routine care</a:t>
              </a:r>
            </a:p>
            <a:p>
              <a:pPr algn="l">
                <a:lnSpc>
                  <a:spcPct val="100000"/>
                </a:lnSpc>
                <a:spcAft>
                  <a:spcPts val="3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• Research in underrepresented and low-resource settings</a:t>
              </a: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FF9BD680-0755-89B6-9224-48721A47729A}"/>
                </a:ext>
              </a:extLst>
            </p:cNvPr>
            <p:cNvSpPr txBox="1"/>
            <p:nvPr/>
          </p:nvSpPr>
          <p:spPr>
            <a:xfrm>
              <a:off x="34080553" y="17757963"/>
              <a:ext cx="9295886" cy="1268441"/>
            </a:xfrm>
            <a:prstGeom prst="rect">
              <a:avLst/>
            </a:prstGeom>
            <a:solidFill>
              <a:srgbClr val="0A254E"/>
            </a:solidFill>
            <a:ln>
              <a:solidFill>
                <a:schemeClr val="bg1"/>
              </a:solidFill>
            </a:ln>
          </p:spPr>
          <p:txBody>
            <a:bodyPr wrap="square" lIns="131445" tIns="65723" rIns="131445" bIns="65723" rtlCol="0">
              <a:spAutoFit/>
            </a:bodyPr>
            <a:lstStyle/>
            <a:p>
              <a:pPr algn="ctr"/>
              <a:r>
                <a:rPr lang="en-US" sz="4800" dirty="0">
                  <a:latin typeface="Garamond"/>
                  <a:cs typeface="Garamond"/>
                </a:rPr>
                <a:t>Public Health Implications and Future Work</a:t>
              </a:r>
              <a:endParaRPr lang="en-US" sz="6000" dirty="0">
                <a:latin typeface="Garamond"/>
                <a:cs typeface="Garamond"/>
              </a:endParaRPr>
            </a:p>
          </p:txBody>
        </p:sp>
      </p:grpSp>
      <p:sp>
        <p:nvSpPr>
          <p:cNvPr id="323" name="TextBox 322">
            <a:extLst>
              <a:ext uri="{FF2B5EF4-FFF2-40B4-BE49-F238E27FC236}">
                <a16:creationId xmlns:a16="http://schemas.microsoft.com/office/drawing/2014/main" id="{791F62C8-B471-7647-1C58-7FE1BB1C1D01}"/>
              </a:ext>
            </a:extLst>
          </p:cNvPr>
          <p:cNvSpPr txBox="1"/>
          <p:nvPr/>
        </p:nvSpPr>
        <p:spPr>
          <a:xfrm>
            <a:off x="34084668" y="26729319"/>
            <a:ext cx="9145770" cy="871393"/>
          </a:xfrm>
          <a:prstGeom prst="rect">
            <a:avLst/>
          </a:prstGeom>
          <a:solidFill>
            <a:srgbClr val="0A254E"/>
          </a:solidFill>
          <a:ln>
            <a:solidFill>
              <a:schemeClr val="bg1"/>
            </a:solidFill>
          </a:ln>
        </p:spPr>
        <p:txBody>
          <a:bodyPr wrap="square" lIns="131445" tIns="65723" rIns="131445" bIns="65723" rtlCol="0">
            <a:spAutoFit/>
          </a:bodyPr>
          <a:lstStyle/>
          <a:p>
            <a:pPr algn="ctr"/>
            <a:r>
              <a:rPr lang="en-US" sz="4800" dirty="0">
                <a:latin typeface="Times New Roman"/>
                <a:cs typeface="Times New Roman"/>
              </a:rPr>
              <a:t>References</a:t>
            </a:r>
            <a:endParaRPr lang="en-US" sz="6000" dirty="0">
              <a:latin typeface="Times New Roman"/>
              <a:cs typeface="Times New Roman"/>
            </a:endParaRPr>
          </a:p>
        </p:txBody>
      </p:sp>
      <p:grpSp>
        <p:nvGrpSpPr>
          <p:cNvPr id="324" name="Group 323">
            <a:extLst>
              <a:ext uri="{FF2B5EF4-FFF2-40B4-BE49-F238E27FC236}">
                <a16:creationId xmlns:a16="http://schemas.microsoft.com/office/drawing/2014/main" id="{C378E3EE-14D9-F365-6D63-2860BE15E8A3}"/>
              </a:ext>
            </a:extLst>
          </p:cNvPr>
          <p:cNvGrpSpPr/>
          <p:nvPr/>
        </p:nvGrpSpPr>
        <p:grpSpPr>
          <a:xfrm>
            <a:off x="34006807" y="4220388"/>
            <a:ext cx="9256360" cy="13555315"/>
            <a:chOff x="34040395" y="3962579"/>
            <a:chExt cx="9212446" cy="11915692"/>
          </a:xfrm>
        </p:grpSpPr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C035F57E-62DB-372A-C78A-9EAA827DE73E}"/>
                </a:ext>
              </a:extLst>
            </p:cNvPr>
            <p:cNvSpPr txBox="1"/>
            <p:nvPr/>
          </p:nvSpPr>
          <p:spPr>
            <a:xfrm>
              <a:off x="34040395" y="5147429"/>
              <a:ext cx="9212446" cy="10730842"/>
            </a:xfrm>
            <a:prstGeom prst="rect">
              <a:avLst/>
            </a:prstGeom>
            <a:solidFill>
              <a:srgbClr val="FFFFFF"/>
            </a:solidFill>
            <a:ln cap="rnd">
              <a:solidFill>
                <a:schemeClr val="bg1"/>
              </a:solidFill>
            </a:ln>
          </p:spPr>
          <p:txBody>
            <a:bodyPr wrap="square" lIns="182880" rIns="182880" rtlCol="0">
              <a:noAutofit/>
            </a:bodyPr>
            <a:lstStyle/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  <a:p>
              <a:pPr algn="just"/>
              <a:endParaRPr lang="en-US" sz="1800" dirty="0">
                <a:latin typeface="Garamond"/>
                <a:cs typeface="Garamond"/>
              </a:endParaRPr>
            </a:p>
          </p:txBody>
        </p:sp>
        <p:sp>
          <p:nvSpPr>
            <p:cNvPr id="326" name="TextBox 325">
              <a:extLst>
                <a:ext uri="{FF2B5EF4-FFF2-40B4-BE49-F238E27FC236}">
                  <a16:creationId xmlns:a16="http://schemas.microsoft.com/office/drawing/2014/main" id="{2270543F-2128-4E8D-CCFD-F12E4C7A64FC}"/>
                </a:ext>
              </a:extLst>
            </p:cNvPr>
            <p:cNvSpPr txBox="1"/>
            <p:nvPr/>
          </p:nvSpPr>
          <p:spPr>
            <a:xfrm>
              <a:off x="34040395" y="3962579"/>
              <a:ext cx="9212446" cy="1437942"/>
            </a:xfrm>
            <a:prstGeom prst="rect">
              <a:avLst/>
            </a:prstGeom>
            <a:solidFill>
              <a:srgbClr val="0A254E"/>
            </a:solidFill>
            <a:ln>
              <a:solidFill>
                <a:schemeClr val="bg1"/>
              </a:solidFill>
            </a:ln>
          </p:spPr>
          <p:txBody>
            <a:bodyPr wrap="square" lIns="131445" tIns="65723" rIns="131445" bIns="65723" rtlCol="0">
              <a:spAutoFit/>
            </a:bodyPr>
            <a:lstStyle/>
            <a:p>
              <a:pPr algn="ctr"/>
              <a:r>
                <a:rPr lang="en-US" sz="4800" dirty="0">
                  <a:latin typeface="Times New Roman"/>
                  <a:cs typeface="Times New Roman"/>
                </a:rPr>
                <a:t>Results, Discussion, Conclusion, and Limitations</a:t>
              </a:r>
              <a:endParaRPr lang="en-US" sz="6000" dirty="0">
                <a:latin typeface="Times New Roman"/>
                <a:cs typeface="Times New Roman"/>
              </a:endParaRPr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3A97DB32-0FF1-1C0F-BA0A-FB20D75949A1}"/>
                </a:ext>
              </a:extLst>
            </p:cNvPr>
            <p:cNvSpPr/>
            <p:nvPr/>
          </p:nvSpPr>
          <p:spPr>
            <a:xfrm>
              <a:off x="34309049" y="5632989"/>
              <a:ext cx="8943792" cy="7201734"/>
            </a:xfrm>
            <a:prstGeom prst="rect">
              <a:avLst/>
            </a:prstGeom>
          </p:spPr>
          <p:txBody>
            <a:bodyPr wrap="square">
              <a:noAutofit/>
            </a:bodyPr>
            <a:lstStyle/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1" i="0">
                  <a:solidFill>
                    <a:srgbClr val="000000"/>
                  </a:solidFill>
                  <a:latin typeface="Times New Roman"/>
                </a:rPr>
                <a:t>Results</a:t>
              </a:r>
            </a:p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Of 516 records, 324 were screened and 35 studies included: 18 quantitative, 14 qualitative, 2 mixed-methods, 1 not reported. Studies came from Europe (14), Asia (14), North America (3), Africa (1), and Oceania (1); none from South America. Psychosexual and relational challenges were most common (69%); depression and anxiety were measured least (40%), with mixed findings.</a:t>
              </a:r>
            </a:p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1" i="0">
                  <a:solidFill>
                    <a:srgbClr val="000000"/>
                  </a:solidFill>
                  <a:latin typeface="Times New Roman"/>
                </a:rPr>
                <a:t>Discussion</a:t>
              </a:r>
            </a:p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Findings align with earlier evidence</a:t>
              </a:r>
              <a:r>
                <a:rPr sz="2400" b="0" i="0" baseline="30000">
                  <a:solidFill>
                    <a:srgbClr val="000000"/>
                  </a:solidFill>
                  <a:latin typeface="Times New Roman"/>
                </a:rPr>
                <a:t>5–7</a:t>
              </a: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 and a prior review highlighting sexual esteem and genital image.</a:t>
              </a:r>
              <a:r>
                <a:rPr sz="2400" b="0" i="0" baseline="30000">
                  <a:solidFill>
                    <a:srgbClr val="000000"/>
                  </a:solidFill>
                  <a:latin typeface="Times New Roman"/>
                </a:rPr>
                <a:t>8</a:t>
              </a: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 Coping relied on peer support and self-management; only 2 studies tested interventions. Healthcare gaps included providers' limited knowledge of MRKH and insensitive communication at diagnosis.</a:t>
              </a:r>
            </a:p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1" i="0">
                  <a:solidFill>
                    <a:srgbClr val="000000"/>
                  </a:solidFill>
                  <a:latin typeface="Times New Roman"/>
                </a:rPr>
                <a:t>Conclusion</a:t>
              </a:r>
            </a:p>
            <a:p>
              <a:pPr algn="just">
                <a:lnSpc>
                  <a:spcPct val="100000"/>
                </a:lnSpc>
                <a:spcAft>
                  <a:spcPts val="400"/>
                </a:spcAft>
              </a:pPr>
              <a:r>
                <a:rPr sz="2400" b="0" i="0">
                  <a:solidFill>
                    <a:srgbClr val="000000"/>
                  </a:solidFill>
                  <a:latin typeface="Times New Roman"/>
                </a:rPr>
                <a:t>Psychosocial burden in MRKH is substantial yet under-integrated into care; multidisciplinary, mental health–inclusive care is needed.</a:t>
              </a:r>
            </a:p>
          </p:txBody>
        </p:sp>
      </p:grp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05B63F2-1A1A-2B15-C5FA-4705C2E0F0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1284607"/>
              </p:ext>
            </p:extLst>
          </p:nvPr>
        </p:nvGraphicFramePr>
        <p:xfrm>
          <a:off x="660762" y="21538124"/>
          <a:ext cx="9565778" cy="10820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7897">
                  <a:extLst>
                    <a:ext uri="{9D8B030D-6E8A-4147-A177-3AD203B41FA5}">
                      <a16:colId xmlns:a16="http://schemas.microsoft.com/office/drawing/2014/main" val="2846790296"/>
                    </a:ext>
                  </a:extLst>
                </a:gridCol>
                <a:gridCol w="4387881">
                  <a:extLst>
                    <a:ext uri="{9D8B030D-6E8A-4147-A177-3AD203B41FA5}">
                      <a16:colId xmlns:a16="http://schemas.microsoft.com/office/drawing/2014/main" val="1015726853"/>
                    </a:ext>
                  </a:extLst>
                </a:gridCol>
              </a:tblGrid>
              <a:tr h="606898">
                <a:tc>
                  <a:txBody>
                    <a:bodyPr/>
                    <a:lstStyle/>
                    <a:p>
                      <a:r>
                        <a:rPr sz="3000" b="0" i="0">
                          <a:solidFill>
                            <a:srgbClr val="FFFFFF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3000" b="0" i="0">
                          <a:solidFill>
                            <a:srgbClr val="FFFFFF"/>
                          </a:solidFill>
                          <a:latin typeface="Times New Roman"/>
                        </a:rPr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7735149"/>
                  </a:ext>
                </a:extLst>
              </a:tr>
              <a:tr h="2259675">
                <a:tc>
                  <a:txBody>
                    <a:bodyPr/>
                    <a:lstStyle/>
                    <a:p>
                      <a:r>
                        <a:rPr sz="2300" b="1" i="0">
                          <a:solidFill>
                            <a:srgbClr val="000000"/>
                          </a:solidFill>
                          <a:latin typeface="Times New Roman"/>
                        </a:rPr>
                        <a:t>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300" b="0" i="0">
                          <a:solidFill>
                            <a:srgbClr val="000000"/>
                          </a:solidFill>
                          <a:latin typeface="Times New Roman"/>
                        </a:rPr>
                        <a:t>Scoping review following Arksey &amp; O'Malley's framework;</a:t>
                      </a:r>
                      <a:r>
                        <a:rPr sz="2300" b="0" i="0" baseline="3000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  <a:r>
                        <a:rPr sz="2300" b="0" i="0">
                          <a:solidFill>
                            <a:srgbClr val="000000"/>
                          </a:solidFill>
                          <a:latin typeface="Times New Roman"/>
                        </a:rPr>
                        <a:t> reported per PRISMA-ScR</a:t>
                      </a:r>
                      <a:r>
                        <a:rPr sz="2300" b="0" i="0" baseline="3000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5808230"/>
                  </a:ext>
                </a:extLst>
              </a:tr>
              <a:tr h="1629041">
                <a:tc>
                  <a:txBody>
                    <a:bodyPr/>
                    <a:lstStyle/>
                    <a:p>
                      <a:r>
                        <a:rPr sz="2300" b="1" i="0">
                          <a:solidFill>
                            <a:srgbClr val="000000"/>
                          </a:solidFill>
                          <a:latin typeface="Times New Roman"/>
                        </a:rPr>
                        <a:t>Search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300" b="0" i="0">
                          <a:solidFill>
                            <a:srgbClr val="000000"/>
                          </a:solidFill>
                          <a:latin typeface="Times New Roman"/>
                        </a:rPr>
                        <a:t>PubMed; Scopus; EBSCOhost (MEDLINE, CINAHL, APA PsycInfo, Women's Studies International). Jan 2019–Mar 2026; run Mar 29, 2026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1464298"/>
                  </a:ext>
                </a:extLst>
              </a:tr>
              <a:tr h="2395649">
                <a:tc>
                  <a:txBody>
                    <a:bodyPr/>
                    <a:lstStyle/>
                    <a:p>
                      <a:r>
                        <a:rPr sz="2300" b="1" i="0">
                          <a:solidFill>
                            <a:srgbClr val="000000"/>
                          </a:solidFill>
                          <a:latin typeface="Times New Roman"/>
                        </a:rPr>
                        <a:t>Eligibility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300" b="0" i="0">
                          <a:solidFill>
                            <a:srgbClr val="000000"/>
                          </a:solidFill>
                          <a:latin typeface="Times New Roman"/>
                        </a:rPr>
                        <a:t>English-language primary quantitative, qualitative, or mixed-methods studies reporting psychological outcomes or coping in MRKH; surgical/fertility-only studies excluded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6894884"/>
                  </a:ext>
                </a:extLst>
              </a:tr>
              <a:tr h="3928865">
                <a:tc>
                  <a:txBody>
                    <a:bodyPr/>
                    <a:lstStyle/>
                    <a:p>
                      <a:r>
                        <a:rPr sz="2300" b="1" i="0">
                          <a:solidFill>
                            <a:srgbClr val="000000"/>
                          </a:solidFill>
                          <a:latin typeface="Times New Roman"/>
                        </a:rPr>
                        <a:t>Screening &amp;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300" b="0" i="0">
                          <a:solidFill>
                            <a:srgbClr val="000000"/>
                          </a:solidFill>
                          <a:latin typeface="Times New Roman"/>
                        </a:rPr>
                        <a:t>516 records; 324 screened; 42 assessed; 35 included. AI-assisted screening with full-text charting (30 of 35 studies); frequency counts and thematic grouping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002397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3FE59D55-EEB9-45ED-66FD-9D2D7B715548}"/>
              </a:ext>
            </a:extLst>
          </p:cNvPr>
          <p:cNvSpPr txBox="1"/>
          <p:nvPr/>
        </p:nvSpPr>
        <p:spPr>
          <a:xfrm>
            <a:off x="34223508" y="13863056"/>
            <a:ext cx="8839431" cy="412420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just">
              <a:lnSpc>
                <a:spcPct val="100000"/>
              </a:lnSpc>
              <a:spcAft>
                <a:spcPts val="300"/>
              </a:spcAft>
            </a:pPr>
            <a:r>
              <a:rPr sz="2300" b="1" i="0">
                <a:solidFill>
                  <a:srgbClr val="000000"/>
                </a:solidFill>
                <a:latin typeface="Times New Roman"/>
              </a:rPr>
              <a:t>Limitations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0" i="0">
                <a:solidFill>
                  <a:srgbClr val="000000"/>
                </a:solidFill>
                <a:latin typeface="Times New Roman"/>
              </a:rPr>
              <a:t>• AI-assisted screening; 5 of 35 studies charted from abstracts only (full text unavailable)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0" i="0">
                <a:solidFill>
                  <a:srgbClr val="000000"/>
                </a:solidFill>
                <a:latin typeface="Times New Roman"/>
              </a:rPr>
              <a:t>• Review limited to 2019–2026; heterogeneous designs and measures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300" b="0" i="0">
                <a:solidFill>
                  <a:srgbClr val="000000"/>
                </a:solidFill>
                <a:latin typeface="Times New Roman"/>
              </a:rPr>
              <a:t>• Few studies from Africa or Oceania; none from South America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7F635D7-8592-DF05-AA6D-AD2EB280C030}"/>
              </a:ext>
            </a:extLst>
          </p:cNvPr>
          <p:cNvCxnSpPr/>
          <p:nvPr/>
        </p:nvCxnSpPr>
        <p:spPr>
          <a:xfrm>
            <a:off x="0" y="-26234"/>
            <a:ext cx="4399143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8" name="TextBox 327"/>
          <p:cNvSpPr txBox="1"/>
          <p:nvPr/>
        </p:nvSpPr>
        <p:spPr>
          <a:xfrm>
            <a:off x="34088832" y="27706320"/>
            <a:ext cx="9144000" cy="4846320"/>
          </a:xfrm>
          <a:prstGeom prst="rect">
            <a:avLst/>
          </a:prstGeom>
          <a:solidFill>
            <a:srgbClr val="FFFFFF"/>
          </a:solidFill>
        </p:spPr>
        <p:txBody>
          <a:bodyPr wrap="square" lIns="109728" rIns="109728">
            <a:noAutofit/>
          </a:bodyPr>
          <a:lstStyle/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1. ACOG Committee Opinion No. 728.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Obstet Gynecol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2018;131(1):e35-e42.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2. Herlin M,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Hum Reprod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2016;31(10):2384-2390.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3. Arksey H, O'Malley 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Int J Soc Res Methodol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2005;8(1):19-32.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4. Tricco AC,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Ann Intern Med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2018;169(7):467-473.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5. Heller-Boersma JG,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Psychosomatics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2009;50(3):277-281.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6. Laggari V,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 Psychosom Obstet Gynaecol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2009;30(2):83-88.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7. Liao LM,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Am J Obstet Gynecol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2011;205(2):117.e1-117.e6.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8. Facchin F, et al.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 Health Psychol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. 2021;26(1):26-39.</a:t>
            </a:r>
          </a:p>
          <a:p>
            <a:pPr>
              <a:spcAft>
                <a:spcPts val="200"/>
              </a:spcAft>
            </a:pPr>
            <a:r>
              <a:rPr sz="1800" b="0" i="0">
                <a:solidFill>
                  <a:srgbClr val="000000"/>
                </a:solidFill>
                <a:latin typeface="Times New Roman"/>
              </a:rPr>
              <a:t>Full list of the 35 included studies available on request.</a:t>
            </a:r>
          </a:p>
          <a:p>
            <a:pPr>
              <a:spcAft>
                <a:spcPts val="200"/>
              </a:spcAft>
            </a:pPr>
            <a:r>
              <a:rPr sz="1800" b="1" i="0">
                <a:solidFill>
                  <a:srgbClr val="000000"/>
                </a:solidFill>
                <a:latin typeface="Times New Roman"/>
              </a:rPr>
              <a:t>Acknowledgements:</a:t>
            </a:r>
            <a:r>
              <a:rPr sz="1800" b="0" i="0">
                <a:solidFill>
                  <a:srgbClr val="000000"/>
                </a:solidFill>
                <a:latin typeface="Times New Roman"/>
              </a:rPr>
              <a:t> Mentorship by Dr. Paul Okojie and Dr. Robyn Anderson. No external funding.</a:t>
            </a:r>
          </a:p>
        </p:txBody>
      </p:sp>
      <p:pic>
        <p:nvPicPr>
          <p:cNvPr id="329" name="Picture 328" descr="fig1_outcomes_b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26868" y="4572000"/>
            <a:ext cx="21494663" cy="9052560"/>
          </a:xfrm>
          <a:prstGeom prst="rect">
            <a:avLst/>
          </a:prstGeom>
        </p:spPr>
      </p:pic>
      <p:sp>
        <p:nvSpPr>
          <p:cNvPr id="330" name="TextBox 329"/>
          <p:cNvSpPr txBox="1"/>
          <p:nvPr/>
        </p:nvSpPr>
        <p:spPr>
          <a:xfrm>
            <a:off x="11347704" y="13716000"/>
            <a:ext cx="217627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0" i="0">
                <a:solidFill>
                  <a:srgbClr val="000000"/>
                </a:solidFill>
                <a:latin typeface="Times New Roman"/>
              </a:rPr>
              <a:t>Figure 1. Frequency of Outcome Domains Across Included Studies (N = 35); studies could report more than one domain</a:t>
            </a:r>
          </a:p>
        </p:txBody>
      </p:sp>
      <p:pic>
        <p:nvPicPr>
          <p:cNvPr id="331" name="Picture 330" descr="prisma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63423" y="14630400"/>
            <a:ext cx="8462368" cy="7589520"/>
          </a:xfrm>
          <a:prstGeom prst="rect">
            <a:avLst/>
          </a:prstGeom>
        </p:spPr>
      </p:pic>
      <p:sp>
        <p:nvSpPr>
          <p:cNvPr id="332" name="TextBox 331"/>
          <p:cNvSpPr txBox="1"/>
          <p:nvPr/>
        </p:nvSpPr>
        <p:spPr>
          <a:xfrm>
            <a:off x="11173968" y="22311360"/>
            <a:ext cx="1024128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0" i="0">
                <a:solidFill>
                  <a:srgbClr val="000000"/>
                </a:solidFill>
                <a:latin typeface="Times New Roman"/>
              </a:rPr>
              <a:t>Figure 2. PRISMA-ScR Flow Diagram of Study Selection</a:t>
            </a:r>
          </a:p>
        </p:txBody>
      </p:sp>
      <p:pic>
        <p:nvPicPr>
          <p:cNvPr id="333" name="Picture 332" descr="fig3_geographic_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082760" y="15728251"/>
            <a:ext cx="10881360" cy="5576697"/>
          </a:xfrm>
          <a:prstGeom prst="rect">
            <a:avLst/>
          </a:prstGeom>
        </p:spPr>
      </p:pic>
      <p:sp>
        <p:nvSpPr>
          <p:cNvPr id="334" name="TextBox 333"/>
          <p:cNvSpPr txBox="1"/>
          <p:nvPr/>
        </p:nvSpPr>
        <p:spPr>
          <a:xfrm>
            <a:off x="22082760" y="22311360"/>
            <a:ext cx="108813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0" i="0">
                <a:solidFill>
                  <a:srgbClr val="000000"/>
                </a:solidFill>
                <a:latin typeface="Times New Roman"/>
              </a:rPr>
              <a:t>Figure 3. Geographic Distribution of Included Studies (N = 35)</a:t>
            </a:r>
          </a:p>
        </p:txBody>
      </p:sp>
      <p:pic>
        <p:nvPicPr>
          <p:cNvPr id="335" name="Picture 334" descr="fig2_design_donu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73968" y="24328711"/>
            <a:ext cx="10241280" cy="6206576"/>
          </a:xfrm>
          <a:prstGeom prst="rect">
            <a:avLst/>
          </a:prstGeom>
        </p:spPr>
      </p:pic>
      <p:sp>
        <p:nvSpPr>
          <p:cNvPr id="336" name="TextBox 335"/>
          <p:cNvSpPr txBox="1"/>
          <p:nvPr/>
        </p:nvSpPr>
        <p:spPr>
          <a:xfrm>
            <a:off x="11173968" y="31181040"/>
            <a:ext cx="1024128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0" i="0">
                <a:solidFill>
                  <a:srgbClr val="000000"/>
                </a:solidFill>
                <a:latin typeface="Times New Roman"/>
              </a:rPr>
              <a:t>Figure 4. Study Design Distribution (N = 35)</a:t>
            </a:r>
          </a:p>
        </p:txBody>
      </p:sp>
      <p:pic>
        <p:nvPicPr>
          <p:cNvPr id="337" name="Picture 336" descr="fig5_coping_ba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82760" y="25093683"/>
            <a:ext cx="10881360" cy="4676633"/>
          </a:xfrm>
          <a:prstGeom prst="rect">
            <a:avLst/>
          </a:prstGeom>
        </p:spPr>
      </p:pic>
      <p:sp>
        <p:nvSpPr>
          <p:cNvPr id="338" name="TextBox 337"/>
          <p:cNvSpPr txBox="1"/>
          <p:nvPr/>
        </p:nvSpPr>
        <p:spPr>
          <a:xfrm>
            <a:off x="22082760" y="31181040"/>
            <a:ext cx="108813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0" i="0">
                <a:solidFill>
                  <a:srgbClr val="000000"/>
                </a:solidFill>
                <a:latin typeface="Times New Roman"/>
              </a:rPr>
              <a:t>Figure 5. Coping Mechanisms Documented (15 studies)</a:t>
            </a:r>
          </a:p>
        </p:txBody>
      </p:sp>
    </p:spTree>
    <p:extLst>
      <p:ext uri="{BB962C8B-B14F-4D97-AF65-F5344CB8AC3E}">
        <p14:creationId xmlns:p14="http://schemas.microsoft.com/office/powerpoint/2010/main" val="1113384405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25711</TotalTime>
  <Words>901</Words>
  <Application>Microsoft Office PowerPoint</Application>
  <PresentationFormat>Custom</PresentationFormat>
  <Paragraphs>65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Arial</vt:lpstr>
      <vt:lpstr>Calibri</vt:lpstr>
      <vt:lpstr>Calisto MT</vt:lpstr>
      <vt:lpstr>Garamond</vt:lpstr>
      <vt:lpstr>Lucida Grande</vt:lpstr>
      <vt:lpstr>Times New Roman</vt:lpstr>
      <vt:lpstr>Wingdings 2</vt:lpstr>
      <vt:lpstr>Slate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Ryan Montalvo</dc:creator>
  <cp:lastModifiedBy>Shobayo, Ifeoluwanimi</cp:lastModifiedBy>
  <cp:revision>321</cp:revision>
  <dcterms:created xsi:type="dcterms:W3CDTF">2013-10-19T16:33:22Z</dcterms:created>
  <dcterms:modified xsi:type="dcterms:W3CDTF">2026-09-03T22:07:59Z</dcterms:modified>
</cp:coreProperties>
</file>