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3"/>
  </p:notesMasterIdLst>
  <p:sldIdLst>
    <p:sldId id="258" r:id="rId2"/>
  </p:sldIdLst>
  <p:sldSz cx="43891200" cy="32918400"/>
  <p:notesSz cx="9144000" cy="6858000"/>
  <p:defaultTextStyle>
    <a:defPPr>
      <a:defRPr lang="en-US"/>
    </a:defPPr>
    <a:lvl1pPr marL="0" algn="l" defTabSz="2072951" rtl="0" eaLnBrk="1" latinLnBrk="0" hangingPunct="1">
      <a:defRPr sz="8200" kern="1200">
        <a:solidFill>
          <a:schemeClr val="tx1"/>
        </a:solidFill>
        <a:latin typeface="+mn-lt"/>
        <a:ea typeface="+mn-ea"/>
        <a:cs typeface="+mn-cs"/>
      </a:defRPr>
    </a:lvl1pPr>
    <a:lvl2pPr marL="2072951" algn="l" defTabSz="2072951" rtl="0" eaLnBrk="1" latinLnBrk="0" hangingPunct="1">
      <a:defRPr sz="8200" kern="1200">
        <a:solidFill>
          <a:schemeClr val="tx1"/>
        </a:solidFill>
        <a:latin typeface="+mn-lt"/>
        <a:ea typeface="+mn-ea"/>
        <a:cs typeface="+mn-cs"/>
      </a:defRPr>
    </a:lvl2pPr>
    <a:lvl3pPr marL="4145900" algn="l" defTabSz="2072951" rtl="0" eaLnBrk="1" latinLnBrk="0" hangingPunct="1">
      <a:defRPr sz="8200" kern="1200">
        <a:solidFill>
          <a:schemeClr val="tx1"/>
        </a:solidFill>
        <a:latin typeface="+mn-lt"/>
        <a:ea typeface="+mn-ea"/>
        <a:cs typeface="+mn-cs"/>
      </a:defRPr>
    </a:lvl3pPr>
    <a:lvl4pPr marL="6218851" algn="l" defTabSz="2072951" rtl="0" eaLnBrk="1" latinLnBrk="0" hangingPunct="1">
      <a:defRPr sz="8200" kern="1200">
        <a:solidFill>
          <a:schemeClr val="tx1"/>
        </a:solidFill>
        <a:latin typeface="+mn-lt"/>
        <a:ea typeface="+mn-ea"/>
        <a:cs typeface="+mn-cs"/>
      </a:defRPr>
    </a:lvl4pPr>
    <a:lvl5pPr marL="8291798" algn="l" defTabSz="2072951" rtl="0" eaLnBrk="1" latinLnBrk="0" hangingPunct="1">
      <a:defRPr sz="8200" kern="1200">
        <a:solidFill>
          <a:schemeClr val="tx1"/>
        </a:solidFill>
        <a:latin typeface="+mn-lt"/>
        <a:ea typeface="+mn-ea"/>
        <a:cs typeface="+mn-cs"/>
      </a:defRPr>
    </a:lvl5pPr>
    <a:lvl6pPr marL="10364750" algn="l" defTabSz="2072951" rtl="0" eaLnBrk="1" latinLnBrk="0" hangingPunct="1">
      <a:defRPr sz="8200" kern="1200">
        <a:solidFill>
          <a:schemeClr val="tx1"/>
        </a:solidFill>
        <a:latin typeface="+mn-lt"/>
        <a:ea typeface="+mn-ea"/>
        <a:cs typeface="+mn-cs"/>
      </a:defRPr>
    </a:lvl6pPr>
    <a:lvl7pPr marL="12437701" algn="l" defTabSz="2072951" rtl="0" eaLnBrk="1" latinLnBrk="0" hangingPunct="1">
      <a:defRPr sz="8200" kern="1200">
        <a:solidFill>
          <a:schemeClr val="tx1"/>
        </a:solidFill>
        <a:latin typeface="+mn-lt"/>
        <a:ea typeface="+mn-ea"/>
        <a:cs typeface="+mn-cs"/>
      </a:defRPr>
    </a:lvl7pPr>
    <a:lvl8pPr marL="14510648" algn="l" defTabSz="2072951" rtl="0" eaLnBrk="1" latinLnBrk="0" hangingPunct="1">
      <a:defRPr sz="8200" kern="1200">
        <a:solidFill>
          <a:schemeClr val="tx1"/>
        </a:solidFill>
        <a:latin typeface="+mn-lt"/>
        <a:ea typeface="+mn-ea"/>
        <a:cs typeface="+mn-cs"/>
      </a:defRPr>
    </a:lvl8pPr>
    <a:lvl9pPr marL="16583601" algn="l" defTabSz="2072951"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9">
          <p15:clr>
            <a:srgbClr val="A4A3A4"/>
          </p15:clr>
        </p15:guide>
        <p15:guide id="2" pos="16128">
          <p15:clr>
            <a:srgbClr val="A4A3A4"/>
          </p15:clr>
        </p15:guide>
        <p15:guide id="3"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CE1E"/>
    <a:srgbClr val="00C28D"/>
    <a:srgbClr val="00B4FF"/>
    <a:srgbClr val="008080"/>
    <a:srgbClr val="1270FC"/>
    <a:srgbClr val="FFA200"/>
    <a:srgbClr val="008000"/>
    <a:srgbClr val="FFFFFF"/>
    <a:srgbClr val="0A254E"/>
    <a:srgbClr val="0A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310" autoAdjust="0"/>
  </p:normalViewPr>
  <p:slideViewPr>
    <p:cSldViewPr snapToGrid="0" snapToObjects="1">
      <p:cViewPr varScale="1">
        <p:scale>
          <a:sx n="14" d="100"/>
          <a:sy n="14" d="100"/>
        </p:scale>
        <p:origin x="1284" y="112"/>
      </p:cViewPr>
      <p:guideLst>
        <p:guide orient="horz" pos="10369"/>
        <p:guide pos="16128"/>
        <p:guide pos="13824"/>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36263FE2-9438-354A-B60A-5A471281E58B}" type="datetimeFigureOut">
              <a:rPr lang="en-US" smtClean="0"/>
              <a:t>9/3/2026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ECA9BC3-5A08-5C40-8DE6-1B49CE826337}" type="slidenum">
              <a:rPr lang="en-US" smtClean="0"/>
              <a:t>‹#›</a:t>
            </a:fld>
            <a:endParaRPr lang="en-US"/>
          </a:p>
        </p:txBody>
      </p:sp>
    </p:spTree>
    <p:extLst>
      <p:ext uri="{BB962C8B-B14F-4D97-AF65-F5344CB8AC3E}">
        <p14:creationId xmlns:p14="http://schemas.microsoft.com/office/powerpoint/2010/main" val="3278815488"/>
      </p:ext>
    </p:extLst>
  </p:cSld>
  <p:clrMap bg1="lt1" tx1="dk1" bg2="lt2" tx2="dk2" accent1="accent1" accent2="accent2" accent3="accent3" accent4="accent4" accent5="accent5" accent6="accent6" hlink="hlink" folHlink="folHlink"/>
  <p:notesStyle>
    <a:lvl1pPr marL="0" algn="l" defTabSz="477467" rtl="0" eaLnBrk="1" latinLnBrk="0" hangingPunct="1">
      <a:defRPr sz="1300" kern="1200">
        <a:solidFill>
          <a:schemeClr val="tx1"/>
        </a:solidFill>
        <a:latin typeface="+mn-lt"/>
        <a:ea typeface="+mn-ea"/>
        <a:cs typeface="+mn-cs"/>
      </a:defRPr>
    </a:lvl1pPr>
    <a:lvl2pPr marL="477467" algn="l" defTabSz="477467" rtl="0" eaLnBrk="1" latinLnBrk="0" hangingPunct="1">
      <a:defRPr sz="1300" kern="1200">
        <a:solidFill>
          <a:schemeClr val="tx1"/>
        </a:solidFill>
        <a:latin typeface="+mn-lt"/>
        <a:ea typeface="+mn-ea"/>
        <a:cs typeface="+mn-cs"/>
      </a:defRPr>
    </a:lvl2pPr>
    <a:lvl3pPr marL="954936" algn="l" defTabSz="477467" rtl="0" eaLnBrk="1" latinLnBrk="0" hangingPunct="1">
      <a:defRPr sz="1300" kern="1200">
        <a:solidFill>
          <a:schemeClr val="tx1"/>
        </a:solidFill>
        <a:latin typeface="+mn-lt"/>
        <a:ea typeface="+mn-ea"/>
        <a:cs typeface="+mn-cs"/>
      </a:defRPr>
    </a:lvl3pPr>
    <a:lvl4pPr marL="1432403" algn="l" defTabSz="477467" rtl="0" eaLnBrk="1" latinLnBrk="0" hangingPunct="1">
      <a:defRPr sz="1300" kern="1200">
        <a:solidFill>
          <a:schemeClr val="tx1"/>
        </a:solidFill>
        <a:latin typeface="+mn-lt"/>
        <a:ea typeface="+mn-ea"/>
        <a:cs typeface="+mn-cs"/>
      </a:defRPr>
    </a:lvl4pPr>
    <a:lvl5pPr marL="1909870" algn="l" defTabSz="477467" rtl="0" eaLnBrk="1" latinLnBrk="0" hangingPunct="1">
      <a:defRPr sz="1300" kern="1200">
        <a:solidFill>
          <a:schemeClr val="tx1"/>
        </a:solidFill>
        <a:latin typeface="+mn-lt"/>
        <a:ea typeface="+mn-ea"/>
        <a:cs typeface="+mn-cs"/>
      </a:defRPr>
    </a:lvl5pPr>
    <a:lvl6pPr marL="2387337" algn="l" defTabSz="477467" rtl="0" eaLnBrk="1" latinLnBrk="0" hangingPunct="1">
      <a:defRPr sz="1300" kern="1200">
        <a:solidFill>
          <a:schemeClr val="tx1"/>
        </a:solidFill>
        <a:latin typeface="+mn-lt"/>
        <a:ea typeface="+mn-ea"/>
        <a:cs typeface="+mn-cs"/>
      </a:defRPr>
    </a:lvl6pPr>
    <a:lvl7pPr marL="2864805" algn="l" defTabSz="477467" rtl="0" eaLnBrk="1" latinLnBrk="0" hangingPunct="1">
      <a:defRPr sz="1300" kern="1200">
        <a:solidFill>
          <a:schemeClr val="tx1"/>
        </a:solidFill>
        <a:latin typeface="+mn-lt"/>
        <a:ea typeface="+mn-ea"/>
        <a:cs typeface="+mn-cs"/>
      </a:defRPr>
    </a:lvl7pPr>
    <a:lvl8pPr marL="3342272" algn="l" defTabSz="477467" rtl="0" eaLnBrk="1" latinLnBrk="0" hangingPunct="1">
      <a:defRPr sz="1300" kern="1200">
        <a:solidFill>
          <a:schemeClr val="tx1"/>
        </a:solidFill>
        <a:latin typeface="+mn-lt"/>
        <a:ea typeface="+mn-ea"/>
        <a:cs typeface="+mn-cs"/>
      </a:defRPr>
    </a:lvl8pPr>
    <a:lvl9pPr marL="3819741" algn="l" defTabSz="477467"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EFD75-C664-C06B-8435-139272CD8B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FBF99-3EB2-AAD2-6F03-91E84EC7D2C9}"/>
              </a:ext>
            </a:extLst>
          </p:cNvPr>
          <p:cNvSpPr>
            <a:spLocks noGrp="1" noRot="1" noChangeAspect="1"/>
          </p:cNvSpPr>
          <p:nvPr>
            <p:ph type="sldImg"/>
          </p:nvPr>
        </p:nvSpPr>
        <p:spPr>
          <a:xfrm>
            <a:off x="2857500" y="514350"/>
            <a:ext cx="3429000" cy="2571750"/>
          </a:xfrm>
        </p:spPr>
      </p:sp>
      <p:sp>
        <p:nvSpPr>
          <p:cNvPr id="3" name="Notes Placeholder 2">
            <a:extLst>
              <a:ext uri="{FF2B5EF4-FFF2-40B4-BE49-F238E27FC236}">
                <a16:creationId xmlns:a16="http://schemas.microsoft.com/office/drawing/2014/main" id="{DA8B7ED1-8F00-CF7C-FF86-F0BA76EF21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C7187B-62FD-CA95-DAC6-813F753CB3B0}"/>
              </a:ext>
            </a:extLst>
          </p:cNvPr>
          <p:cNvSpPr>
            <a:spLocks noGrp="1"/>
          </p:cNvSpPr>
          <p:nvPr>
            <p:ph type="sldNum" sz="quarter" idx="10"/>
          </p:nvPr>
        </p:nvSpPr>
        <p:spPr/>
        <p:txBody>
          <a:bodyPr/>
          <a:lstStyle/>
          <a:p>
            <a:fld id="{FECA9BC3-5A08-5C40-8DE6-1B49CE826337}" type="slidenum">
              <a:rPr lang="en-US" smtClean="0"/>
              <a:t>1</a:t>
            </a:fld>
            <a:endParaRPr lang="en-US"/>
          </a:p>
        </p:txBody>
      </p:sp>
    </p:spTree>
    <p:extLst>
      <p:ext uri="{BB962C8B-B14F-4D97-AF65-F5344CB8AC3E}">
        <p14:creationId xmlns:p14="http://schemas.microsoft.com/office/powerpoint/2010/main" val="425095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934496" y="8493799"/>
            <a:ext cx="33984125" cy="8778245"/>
          </a:xfrm>
        </p:spPr>
        <p:txBody>
          <a:bodyPr anchor="b">
            <a:normAutofit/>
          </a:bodyPr>
          <a:lstStyle>
            <a:lvl1pPr algn="ctr">
              <a:defRPr sz="25920"/>
            </a:lvl1pPr>
          </a:lstStyle>
          <a:p>
            <a:r>
              <a:rPr lang="en-US"/>
              <a:t>Click to edit Master title style</a:t>
            </a:r>
            <a:endParaRPr lang="en-US" dirty="0"/>
          </a:p>
        </p:txBody>
      </p:sp>
      <p:sp>
        <p:nvSpPr>
          <p:cNvPr id="3" name="Subtitle 2"/>
          <p:cNvSpPr>
            <a:spLocks noGrp="1"/>
          </p:cNvSpPr>
          <p:nvPr>
            <p:ph type="subTitle" idx="1"/>
          </p:nvPr>
        </p:nvSpPr>
        <p:spPr>
          <a:xfrm>
            <a:off x="4934496" y="17272029"/>
            <a:ext cx="33984125" cy="5039362"/>
          </a:xfrm>
        </p:spPr>
        <p:txBody>
          <a:bodyPr anchor="t"/>
          <a:lstStyle>
            <a:lvl1pPr marL="0" indent="0" algn="ctr">
              <a:buNone/>
              <a:defRPr>
                <a:solidFill>
                  <a:schemeClr val="tx1"/>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3D97CC-475F-BE49-B579-6BFEF977A37E}"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62335667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3D97CC-475F-BE49-B579-6BFEF977A37E}"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667538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63447" y="8453129"/>
            <a:ext cx="34525982" cy="8778302"/>
          </a:xfrm>
        </p:spPr>
        <p:txBody>
          <a:bodyPr anchor="b"/>
          <a:lstStyle>
            <a:lvl1pPr algn="ctr">
              <a:defRPr sz="19200" b="0" cap="none"/>
            </a:lvl1pPr>
          </a:lstStyle>
          <a:p>
            <a:r>
              <a:rPr lang="en-US"/>
              <a:t>Click to edit Master title style</a:t>
            </a:r>
            <a:endParaRPr lang="en-US" dirty="0"/>
          </a:p>
        </p:txBody>
      </p:sp>
      <p:sp>
        <p:nvSpPr>
          <p:cNvPr id="3" name="Text Placeholder 2"/>
          <p:cNvSpPr>
            <a:spLocks noGrp="1"/>
          </p:cNvSpPr>
          <p:nvPr>
            <p:ph type="body" idx="1"/>
          </p:nvPr>
        </p:nvSpPr>
        <p:spPr>
          <a:xfrm>
            <a:off x="4663447" y="17231419"/>
            <a:ext cx="34525982" cy="7233859"/>
          </a:xfrm>
        </p:spPr>
        <p:txBody>
          <a:bodyPr anchor="t"/>
          <a:lstStyle>
            <a:lvl1pPr marL="0" indent="0" algn="ctr">
              <a:buNone/>
              <a:defRPr sz="9600">
                <a:solidFill>
                  <a:schemeClr val="tx1"/>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3D97CC-475F-BE49-B579-6BFEF977A37E}"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46892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289668" y="8315755"/>
            <a:ext cx="18217790" cy="1948200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330414" y="8315762"/>
            <a:ext cx="18232795" cy="194820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3410031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9659" y="8497553"/>
            <a:ext cx="18179630" cy="19742174"/>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83579" y="8497553"/>
            <a:ext cx="18179630" cy="19742174"/>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3621139" y="8809219"/>
            <a:ext cx="17554838" cy="2615443"/>
          </a:xfrm>
        </p:spPr>
        <p:txBody>
          <a:bodyPr anchor="b">
            <a:noAutofit/>
          </a:bodyPr>
          <a:lstStyle>
            <a:lvl1pPr marL="0" indent="0" algn="ctr">
              <a:buNone/>
              <a:defRPr sz="11520" b="0"/>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621139" y="11424665"/>
            <a:ext cx="17554838" cy="16373102"/>
          </a:xfrm>
        </p:spPr>
        <p:txBody>
          <a:bodyPr anchor="t">
            <a:normAutofit/>
          </a:bodyPr>
          <a:lstStyle>
            <a:lvl1pPr>
              <a:defRPr sz="8640"/>
            </a:lvl1pPr>
            <a:lvl2pPr>
              <a:defRPr sz="7680"/>
            </a:lvl2pPr>
            <a:lvl3pPr>
              <a:defRPr sz="6720"/>
            </a:lvl3pPr>
            <a:lvl4pPr>
              <a:defRPr sz="5760"/>
            </a:lvl4pPr>
            <a:lvl5pPr>
              <a:defRPr sz="57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661880" y="8809227"/>
            <a:ext cx="17623190" cy="2615438"/>
          </a:xfrm>
        </p:spPr>
        <p:txBody>
          <a:bodyPr anchor="b">
            <a:noAutofit/>
          </a:bodyPr>
          <a:lstStyle>
            <a:lvl1pPr marL="0" indent="0" algn="ctr">
              <a:buNone/>
              <a:defRPr sz="11520" b="0"/>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661880" y="11424665"/>
            <a:ext cx="17623190" cy="16373102"/>
          </a:xfrm>
        </p:spPr>
        <p:txBody>
          <a:bodyPr anchor="t">
            <a:normAutofit/>
          </a:bodyPr>
          <a:lstStyle>
            <a:lvl1pPr>
              <a:defRPr sz="8640"/>
            </a:lvl1pPr>
            <a:lvl2pPr>
              <a:defRPr sz="7680"/>
            </a:lvl2pPr>
            <a:lvl3pPr>
              <a:defRPr sz="6720"/>
            </a:lvl3pPr>
            <a:lvl4pPr>
              <a:defRPr sz="5760"/>
            </a:lvl4pPr>
            <a:lvl5pPr>
              <a:defRPr sz="57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3D97CC-475F-BE49-B579-6BFEF977A37E}"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353281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3D97CC-475F-BE49-B579-6BFEF977A37E}"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346824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3D97CC-475F-BE49-B579-6BFEF977A37E}"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57077068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289668" y="2926080"/>
            <a:ext cx="13344802" cy="8745206"/>
          </a:xfrm>
        </p:spPr>
        <p:txBody>
          <a:bodyPr anchor="b">
            <a:normAutofit/>
          </a:bodyPr>
          <a:lstStyle>
            <a:lvl1pPr algn="ctr">
              <a:defRPr sz="11520" b="0"/>
            </a:lvl1pPr>
          </a:lstStyle>
          <a:p>
            <a:r>
              <a:rPr lang="en-US"/>
              <a:t>Click to edit Master title style</a:t>
            </a:r>
            <a:endParaRPr lang="en-US" dirty="0"/>
          </a:p>
        </p:txBody>
      </p:sp>
      <p:sp>
        <p:nvSpPr>
          <p:cNvPr id="3" name="Content Placeholder 2"/>
          <p:cNvSpPr>
            <a:spLocks noGrp="1"/>
          </p:cNvSpPr>
          <p:nvPr>
            <p:ph idx="1"/>
          </p:nvPr>
        </p:nvSpPr>
        <p:spPr>
          <a:xfrm>
            <a:off x="17480283" y="2926080"/>
            <a:ext cx="23082926" cy="2487168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289668" y="11671289"/>
            <a:ext cx="13344802" cy="16126469"/>
          </a:xfrm>
        </p:spPr>
        <p:txBody>
          <a:bodyPr anchor="t">
            <a:normAutofit/>
          </a:bodyPr>
          <a:lstStyle>
            <a:lvl1pPr marL="0" indent="0" algn="ctr">
              <a:buNone/>
              <a:defRPr sz="768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66153333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55938" y="2927630"/>
            <a:ext cx="16455101" cy="24986266"/>
          </a:xfrm>
          <a:prstGeom prst="rect">
            <a:avLst/>
          </a:prstGeom>
        </p:spPr>
      </p:pic>
      <p:sp>
        <p:nvSpPr>
          <p:cNvPr id="2" name="Title 1"/>
          <p:cNvSpPr>
            <a:spLocks noGrp="1"/>
          </p:cNvSpPr>
          <p:nvPr>
            <p:ph type="title"/>
          </p:nvPr>
        </p:nvSpPr>
        <p:spPr>
          <a:xfrm>
            <a:off x="3289666" y="2927631"/>
            <a:ext cx="18838445" cy="8780822"/>
          </a:xfrm>
        </p:spPr>
        <p:txBody>
          <a:bodyPr anchor="b">
            <a:noAutofit/>
          </a:bodyPr>
          <a:lstStyle>
            <a:lvl1pPr algn="ctr">
              <a:defRPr sz="1536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88297" y="3571147"/>
            <a:ext cx="15193800" cy="23581546"/>
          </a:xfr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4" name="Text Placeholder 3"/>
          <p:cNvSpPr>
            <a:spLocks noGrp="1"/>
          </p:cNvSpPr>
          <p:nvPr>
            <p:ph type="body" sz="half" idx="2"/>
          </p:nvPr>
        </p:nvSpPr>
        <p:spPr>
          <a:xfrm>
            <a:off x="3289666" y="11708453"/>
            <a:ext cx="18838445" cy="16205443"/>
          </a:xfrm>
        </p:spPr>
        <p:txBody>
          <a:bodyPr anchor="t">
            <a:normAutofit/>
          </a:bodyPr>
          <a:lstStyle>
            <a:lvl1pPr marL="0" indent="0" algn="ctr">
              <a:buNone/>
              <a:defRPr sz="768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975210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1176" y="2592408"/>
            <a:ext cx="36748848" cy="18404995"/>
          </a:xfrm>
          <a:prstGeom prst="rect">
            <a:avLst/>
          </a:prstGeom>
        </p:spPr>
      </p:pic>
      <p:sp>
        <p:nvSpPr>
          <p:cNvPr id="2" name="Title 1"/>
          <p:cNvSpPr>
            <a:spLocks noGrp="1"/>
          </p:cNvSpPr>
          <p:nvPr>
            <p:ph type="title"/>
          </p:nvPr>
        </p:nvSpPr>
        <p:spPr>
          <a:xfrm>
            <a:off x="3289702" y="21913224"/>
            <a:ext cx="37279176" cy="2608666"/>
          </a:xfrm>
        </p:spPr>
        <p:txBody>
          <a:bodyPr anchor="b">
            <a:normAutofit/>
          </a:bodyPr>
          <a:lstStyle>
            <a:lvl1pPr algn="ct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4445842" y="3336050"/>
            <a:ext cx="34970880" cy="16923221"/>
          </a:xfrm>
          <a:effectLst>
            <a:outerShdw blurRad="38100" dist="25400" dir="4440000">
              <a:srgbClr val="000000">
                <a:alpha val="36000"/>
              </a:srgbClr>
            </a:outerShdw>
          </a:effectLst>
        </p:spPr>
        <p:txBody>
          <a:bodyPr anchor="t">
            <a:normAutofit/>
          </a:bodyPr>
          <a:lstStyle>
            <a:lvl1pPr marL="0" indent="0" algn="ctr">
              <a:buNone/>
              <a:defRPr sz="9600"/>
            </a:lvl1pPr>
            <a:lvl2pPr marL="2194560" indent="0">
              <a:buNone/>
              <a:defRPr sz="9600"/>
            </a:lvl2pPr>
            <a:lvl3pPr marL="4389120" indent="0">
              <a:buNone/>
              <a:defRPr sz="96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289661" y="24521894"/>
            <a:ext cx="37273546" cy="3275866"/>
          </a:xfrm>
        </p:spPr>
        <p:txBody>
          <a:bodyPr anchor="t"/>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624113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3289661" y="2920498"/>
            <a:ext cx="37273546" cy="16964851"/>
          </a:xfrm>
        </p:spPr>
        <p:txBody>
          <a:bodyPr anchor="ctr"/>
          <a:lstStyle>
            <a:lvl1pPr>
              <a:defRPr sz="15360"/>
            </a:lvl1pPr>
          </a:lstStyle>
          <a:p>
            <a:r>
              <a:rPr lang="en-US"/>
              <a:t>Click to edit Master title style</a:t>
            </a:r>
            <a:endParaRPr lang="en-US" dirty="0"/>
          </a:p>
        </p:txBody>
      </p:sp>
      <p:sp>
        <p:nvSpPr>
          <p:cNvPr id="4" name="Text Placeholder 3"/>
          <p:cNvSpPr>
            <a:spLocks noGrp="1"/>
          </p:cNvSpPr>
          <p:nvPr>
            <p:ph type="body" sz="half" idx="2"/>
          </p:nvPr>
        </p:nvSpPr>
        <p:spPr>
          <a:xfrm>
            <a:off x="3289661" y="20616864"/>
            <a:ext cx="37273546" cy="7208765"/>
          </a:xfrm>
        </p:spPr>
        <p:txBody>
          <a:bodyPr anchor="ctr"/>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131837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6363" y="2926080"/>
            <a:ext cx="33489907" cy="14365939"/>
          </a:xfrm>
        </p:spPr>
        <p:txBody>
          <a:bodyPr anchor="ctr"/>
          <a:lstStyle>
            <a:lvl1pPr>
              <a:defRPr sz="15360"/>
            </a:lvl1pPr>
          </a:lstStyle>
          <a:p>
            <a:r>
              <a:rPr lang="en-US"/>
              <a:t>Click to edit Master title style</a:t>
            </a:r>
            <a:endParaRPr lang="en-US" dirty="0"/>
          </a:p>
        </p:txBody>
      </p:sp>
      <p:sp>
        <p:nvSpPr>
          <p:cNvPr id="12" name="Text Placeholder 3"/>
          <p:cNvSpPr>
            <a:spLocks noGrp="1"/>
          </p:cNvSpPr>
          <p:nvPr>
            <p:ph type="body" sz="half" idx="13"/>
          </p:nvPr>
        </p:nvSpPr>
        <p:spPr>
          <a:xfrm>
            <a:off x="6194323" y="17328161"/>
            <a:ext cx="31508275" cy="2557195"/>
          </a:xfrm>
        </p:spPr>
        <p:txBody>
          <a:bodyPr anchor="t">
            <a:normAutofit/>
          </a:bodyPr>
          <a:lstStyle>
            <a:lvl1pPr marL="0" indent="0" algn="r">
              <a:buNone/>
              <a:defRPr sz="672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4" name="Text Placeholder 3"/>
          <p:cNvSpPr>
            <a:spLocks noGrp="1"/>
          </p:cNvSpPr>
          <p:nvPr>
            <p:ph type="body" sz="half" idx="2"/>
          </p:nvPr>
        </p:nvSpPr>
        <p:spPr>
          <a:xfrm>
            <a:off x="3289661" y="20660894"/>
            <a:ext cx="37273546" cy="7149581"/>
          </a:xfrm>
        </p:spPr>
        <p:txBody>
          <a:bodyPr anchor="ctr">
            <a:normAutofit/>
          </a:bodyPr>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
        <p:nvSpPr>
          <p:cNvPr id="11" name="TextBox 10"/>
          <p:cNvSpPr txBox="1"/>
          <p:nvPr/>
        </p:nvSpPr>
        <p:spPr>
          <a:xfrm>
            <a:off x="3011803" y="4194778"/>
            <a:ext cx="2194560" cy="2806925"/>
          </a:xfrm>
          <a:prstGeom prst="rect">
            <a:avLst/>
          </a:prstGeom>
        </p:spPr>
        <p:txBody>
          <a:bodyPr vert="horz" lIns="438912" tIns="219456" rIns="438912" bIns="219456"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38400" dirty="0">
                <a:solidFill>
                  <a:schemeClr val="tx1"/>
                </a:solidFill>
                <a:effectLst/>
              </a:rPr>
              <a:t>“</a:t>
            </a:r>
          </a:p>
        </p:txBody>
      </p:sp>
      <p:sp>
        <p:nvSpPr>
          <p:cNvPr id="13" name="TextBox 12"/>
          <p:cNvSpPr txBox="1"/>
          <p:nvPr/>
        </p:nvSpPr>
        <p:spPr>
          <a:xfrm>
            <a:off x="37576123" y="14079576"/>
            <a:ext cx="2194560" cy="2806925"/>
          </a:xfrm>
          <a:prstGeom prst="rect">
            <a:avLst/>
          </a:prstGeom>
        </p:spPr>
        <p:txBody>
          <a:bodyPr vert="horz" lIns="438912" tIns="219456" rIns="438912" bIns="219456"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38400" dirty="0">
                <a:solidFill>
                  <a:schemeClr val="tx1"/>
                </a:solidFill>
                <a:effectLst/>
              </a:rPr>
              <a:t>”</a:t>
            </a:r>
          </a:p>
        </p:txBody>
      </p:sp>
    </p:spTree>
    <p:extLst>
      <p:ext uri="{BB962C8B-B14F-4D97-AF65-F5344CB8AC3E}">
        <p14:creationId xmlns:p14="http://schemas.microsoft.com/office/powerpoint/2010/main" val="29602428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3289661" y="10209329"/>
            <a:ext cx="37273546" cy="12056808"/>
          </a:xfrm>
        </p:spPr>
        <p:txBody>
          <a:bodyPr anchor="b"/>
          <a:lstStyle>
            <a:lvl1pPr>
              <a:defRPr sz="15360"/>
            </a:lvl1pPr>
          </a:lstStyle>
          <a:p>
            <a:r>
              <a:rPr lang="en-US"/>
              <a:t>Click to edit Master title style</a:t>
            </a:r>
            <a:endParaRPr lang="en-US" dirty="0"/>
          </a:p>
        </p:txBody>
      </p:sp>
      <p:sp>
        <p:nvSpPr>
          <p:cNvPr id="4" name="Text Placeholder 3"/>
          <p:cNvSpPr>
            <a:spLocks noGrp="1"/>
          </p:cNvSpPr>
          <p:nvPr>
            <p:ph type="body" sz="half" idx="2"/>
          </p:nvPr>
        </p:nvSpPr>
        <p:spPr>
          <a:xfrm>
            <a:off x="3289630" y="22322669"/>
            <a:ext cx="37267915" cy="5475091"/>
          </a:xfrm>
        </p:spPr>
        <p:txBody>
          <a:bodyPr anchor="t"/>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4073127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3289661" y="2926080"/>
            <a:ext cx="37273546" cy="4658160"/>
          </a:xfrm>
        </p:spPr>
        <p:txBody>
          <a:bodyPr/>
          <a:lstStyle/>
          <a:p>
            <a:r>
              <a:rPr lang="en-US"/>
              <a:t>Click to edit Master title style</a:t>
            </a:r>
            <a:endParaRPr lang="en-US" dirty="0"/>
          </a:p>
        </p:txBody>
      </p:sp>
      <p:sp>
        <p:nvSpPr>
          <p:cNvPr id="7" name="Text Placeholder 2"/>
          <p:cNvSpPr>
            <a:spLocks noGrp="1"/>
          </p:cNvSpPr>
          <p:nvPr>
            <p:ph type="body" idx="1"/>
          </p:nvPr>
        </p:nvSpPr>
        <p:spPr>
          <a:xfrm>
            <a:off x="3289661"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8" name="Text Placeholder 3"/>
          <p:cNvSpPr>
            <a:spLocks noGrp="1"/>
          </p:cNvSpPr>
          <p:nvPr>
            <p:ph type="body" sz="half" idx="15"/>
          </p:nvPr>
        </p:nvSpPr>
        <p:spPr>
          <a:xfrm>
            <a:off x="3289661"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9" name="Text Placeholder 4"/>
          <p:cNvSpPr>
            <a:spLocks noGrp="1"/>
          </p:cNvSpPr>
          <p:nvPr>
            <p:ph type="body" sz="quarter" idx="3"/>
          </p:nvPr>
        </p:nvSpPr>
        <p:spPr>
          <a:xfrm>
            <a:off x="16008159"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10" name="Text Placeholder 3"/>
          <p:cNvSpPr>
            <a:spLocks noGrp="1"/>
          </p:cNvSpPr>
          <p:nvPr>
            <p:ph type="body" sz="half" idx="16"/>
          </p:nvPr>
        </p:nvSpPr>
        <p:spPr>
          <a:xfrm>
            <a:off x="15989165"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11" name="Text Placeholder 4"/>
          <p:cNvSpPr>
            <a:spLocks noGrp="1"/>
          </p:cNvSpPr>
          <p:nvPr>
            <p:ph type="body" sz="quarter" idx="13"/>
          </p:nvPr>
        </p:nvSpPr>
        <p:spPr>
          <a:xfrm>
            <a:off x="28679659"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12" name="Text Placeholder 3"/>
          <p:cNvSpPr>
            <a:spLocks noGrp="1"/>
          </p:cNvSpPr>
          <p:nvPr>
            <p:ph type="body" sz="half" idx="17"/>
          </p:nvPr>
        </p:nvSpPr>
        <p:spPr>
          <a:xfrm>
            <a:off x="28679659"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3" name="Date Placeholder 2"/>
          <p:cNvSpPr>
            <a:spLocks noGrp="1"/>
          </p:cNvSpPr>
          <p:nvPr>
            <p:ph type="dt" sz="half" idx="10"/>
          </p:nvPr>
        </p:nvSpPr>
        <p:spPr/>
        <p:txBody>
          <a:bodyPr/>
          <a:lstStyle/>
          <a:p>
            <a:fld id="{163D97CC-475F-BE49-B579-6BFEF977A37E}"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5637317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4347" y="8765016"/>
            <a:ext cx="12139421" cy="880107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10302" y="8765016"/>
            <a:ext cx="12139421" cy="880107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4232" y="8765016"/>
            <a:ext cx="12139421" cy="8801078"/>
          </a:xfrm>
          <a:prstGeom prst="rect">
            <a:avLst/>
          </a:prstGeom>
        </p:spPr>
      </p:pic>
      <p:sp>
        <p:nvSpPr>
          <p:cNvPr id="30" name="Title 1"/>
          <p:cNvSpPr>
            <a:spLocks noGrp="1"/>
          </p:cNvSpPr>
          <p:nvPr>
            <p:ph type="title"/>
          </p:nvPr>
        </p:nvSpPr>
        <p:spPr>
          <a:xfrm>
            <a:off x="3289661" y="2926080"/>
            <a:ext cx="37273546" cy="465816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3289661"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0" name="Picture Placeholder 2"/>
          <p:cNvSpPr>
            <a:spLocks noGrp="1" noChangeAspect="1"/>
          </p:cNvSpPr>
          <p:nvPr>
            <p:ph type="pic" idx="15"/>
          </p:nvPr>
        </p:nvSpPr>
        <p:spPr>
          <a:xfrm>
            <a:off x="3665170" y="9306807"/>
            <a:ext cx="11132525" cy="7694179"/>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1" name="Text Placeholder 3"/>
          <p:cNvSpPr>
            <a:spLocks noGrp="1"/>
          </p:cNvSpPr>
          <p:nvPr>
            <p:ph type="body" sz="half" idx="18"/>
          </p:nvPr>
        </p:nvSpPr>
        <p:spPr>
          <a:xfrm>
            <a:off x="3289661" y="21505774"/>
            <a:ext cx="11883542" cy="629199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22" name="Text Placeholder 4"/>
          <p:cNvSpPr>
            <a:spLocks noGrp="1"/>
          </p:cNvSpPr>
          <p:nvPr>
            <p:ph type="body" sz="quarter" idx="3"/>
          </p:nvPr>
        </p:nvSpPr>
        <p:spPr>
          <a:xfrm>
            <a:off x="15994037"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3" name="Picture Placeholder 2"/>
          <p:cNvSpPr>
            <a:spLocks noGrp="1" noChangeAspect="1"/>
          </p:cNvSpPr>
          <p:nvPr>
            <p:ph type="pic" idx="21"/>
          </p:nvPr>
        </p:nvSpPr>
        <p:spPr>
          <a:xfrm>
            <a:off x="16364674" y="9307651"/>
            <a:ext cx="11132525" cy="7719187"/>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4" name="Text Placeholder 3"/>
          <p:cNvSpPr>
            <a:spLocks noGrp="1"/>
          </p:cNvSpPr>
          <p:nvPr>
            <p:ph type="body" sz="half" idx="19"/>
          </p:nvPr>
        </p:nvSpPr>
        <p:spPr>
          <a:xfrm>
            <a:off x="15989163" y="21505769"/>
            <a:ext cx="11888414" cy="629199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25" name="Text Placeholder 4"/>
          <p:cNvSpPr>
            <a:spLocks noGrp="1"/>
          </p:cNvSpPr>
          <p:nvPr>
            <p:ph type="body" sz="quarter" idx="13"/>
          </p:nvPr>
        </p:nvSpPr>
        <p:spPr>
          <a:xfrm>
            <a:off x="28680111"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6" name="Picture Placeholder 2"/>
          <p:cNvSpPr>
            <a:spLocks noGrp="1" noChangeAspect="1"/>
          </p:cNvSpPr>
          <p:nvPr>
            <p:ph type="pic" idx="22"/>
          </p:nvPr>
        </p:nvSpPr>
        <p:spPr>
          <a:xfrm>
            <a:off x="29072515" y="9285274"/>
            <a:ext cx="11132525" cy="7715011"/>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7" name="Text Placeholder 3"/>
          <p:cNvSpPr>
            <a:spLocks noGrp="1"/>
          </p:cNvSpPr>
          <p:nvPr>
            <p:ph type="body" sz="half" idx="20"/>
          </p:nvPr>
        </p:nvSpPr>
        <p:spPr>
          <a:xfrm>
            <a:off x="28679659" y="21505759"/>
            <a:ext cx="11883542" cy="629200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3" name="Date Placeholder 2"/>
          <p:cNvSpPr>
            <a:spLocks noGrp="1"/>
          </p:cNvSpPr>
          <p:nvPr>
            <p:ph type="dt" sz="half" idx="10"/>
          </p:nvPr>
        </p:nvSpPr>
        <p:spPr/>
        <p:txBody>
          <a:bodyPr/>
          <a:lstStyle/>
          <a:p>
            <a:fld id="{163D97CC-475F-BE49-B579-6BFEF977A37E}"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3379308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3D97CC-475F-BE49-B579-6BFEF977A37E}"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3838870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9052" y="2926082"/>
            <a:ext cx="8224152" cy="2487168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3289666" y="2926082"/>
            <a:ext cx="28500739" cy="248716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3D97CC-475F-BE49-B579-6BFEF977A37E}"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70127722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89661" y="2926080"/>
            <a:ext cx="37273546" cy="465816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289661" y="8315762"/>
            <a:ext cx="37273546" cy="19482005"/>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643450" y="28239727"/>
            <a:ext cx="9875520" cy="1752600"/>
          </a:xfrm>
          <a:prstGeom prst="rect">
            <a:avLst/>
          </a:prstGeom>
        </p:spPr>
        <p:txBody>
          <a:bodyPr vert="horz" lIns="91440" tIns="45720" rIns="91440" bIns="45720" rtlCol="0" anchor="ctr"/>
          <a:lstStyle>
            <a:lvl1pPr algn="r">
              <a:defRPr sz="4800">
                <a:solidFill>
                  <a:schemeClr val="tx1">
                    <a:lumMod val="95000"/>
                  </a:schemeClr>
                </a:solidFill>
                <a:effectLst>
                  <a:outerShdw blurRad="50800" dist="38100" dir="2700000" algn="tl" rotWithShape="0">
                    <a:schemeClr val="bg1">
                      <a:alpha val="43000"/>
                    </a:schemeClr>
                  </a:outerShdw>
                </a:effectLst>
              </a:defRPr>
            </a:lvl1pPr>
          </a:lstStyle>
          <a:p>
            <a:fld id="{163D97CC-475F-BE49-B579-6BFEF977A37E}" type="datetimeFigureOut">
              <a:rPr lang="en-US" smtClean="0"/>
              <a:t>9/3/2026</a:t>
            </a:fld>
            <a:endParaRPr lang="en-US"/>
          </a:p>
        </p:txBody>
      </p:sp>
      <p:sp>
        <p:nvSpPr>
          <p:cNvPr id="5" name="Footer Placeholder 4"/>
          <p:cNvSpPr>
            <a:spLocks noGrp="1"/>
          </p:cNvSpPr>
          <p:nvPr>
            <p:ph type="ftr" sz="quarter" idx="3"/>
          </p:nvPr>
        </p:nvSpPr>
        <p:spPr>
          <a:xfrm>
            <a:off x="3289668" y="28239727"/>
            <a:ext cx="24022315" cy="1752600"/>
          </a:xfrm>
          <a:prstGeom prst="rect">
            <a:avLst/>
          </a:prstGeom>
        </p:spPr>
        <p:txBody>
          <a:bodyPr vert="horz" lIns="91440" tIns="45720" rIns="91440" bIns="45720" rtlCol="0" anchor="ctr"/>
          <a:lstStyle>
            <a:lvl1pPr algn="l">
              <a:defRPr sz="48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37850446" y="28239727"/>
            <a:ext cx="2712763" cy="1752600"/>
          </a:xfrm>
          <a:prstGeom prst="rect">
            <a:avLst/>
          </a:prstGeom>
        </p:spPr>
        <p:txBody>
          <a:bodyPr vert="horz" lIns="91440" tIns="45720" rIns="91440" bIns="45720" rtlCol="0" anchor="ctr"/>
          <a:lstStyle>
            <a:lvl1pPr algn="r">
              <a:defRPr sz="4800">
                <a:solidFill>
                  <a:schemeClr val="tx1">
                    <a:lumMod val="95000"/>
                  </a:schemeClr>
                </a:solidFill>
                <a:effectLst>
                  <a:outerShdw blurRad="50800" dist="38100" dir="2700000" algn="tl" rotWithShape="0">
                    <a:schemeClr val="bg1">
                      <a:alpha val="43000"/>
                    </a:schemeClr>
                  </a:outerShdw>
                </a:effectLst>
              </a:defRPr>
            </a:lvl1pPr>
          </a:lstStyle>
          <a:p>
            <a:fld id="{BEC96AFA-303D-8042-85F3-1EA037B235F2}" type="slidenum">
              <a:rPr lang="en-US" smtClean="0"/>
              <a:t>‹#›</a:t>
            </a:fld>
            <a:endParaRPr lang="en-US"/>
          </a:p>
        </p:txBody>
      </p:sp>
    </p:spTree>
    <p:extLst>
      <p:ext uri="{BB962C8B-B14F-4D97-AF65-F5344CB8AC3E}">
        <p14:creationId xmlns:p14="http://schemas.microsoft.com/office/powerpoint/2010/main" val="736249571"/>
      </p:ext>
    </p:extLst>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Lst>
  <p:txStyles>
    <p:titleStyle>
      <a:lvl1pPr algn="ctr" defTabSz="2194560" rtl="0" eaLnBrk="1" latinLnBrk="0" hangingPunct="1">
        <a:spcBef>
          <a:spcPct val="0"/>
        </a:spcBef>
        <a:buNone/>
        <a:defRPr sz="19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645920" indent="-1468800" algn="l" defTabSz="2194560" rtl="0" eaLnBrk="1" latinLnBrk="0" hangingPunct="1">
        <a:spcBef>
          <a:spcPct val="20000"/>
        </a:spcBef>
        <a:spcAft>
          <a:spcPts val="2880"/>
        </a:spcAft>
        <a:buClr>
          <a:schemeClr val="tx2"/>
        </a:buClr>
        <a:buSzPct val="70000"/>
        <a:buFont typeface="Wingdings 2" charset="2"/>
        <a:buChar char=""/>
        <a:defRPr sz="9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3456000" indent="-1296000" algn="l" defTabSz="2194560" rtl="0" eaLnBrk="1" latinLnBrk="0" hangingPunct="1">
        <a:spcBef>
          <a:spcPct val="20000"/>
        </a:spcBef>
        <a:spcAft>
          <a:spcPts val="2880"/>
        </a:spcAft>
        <a:buClr>
          <a:schemeClr val="tx2"/>
        </a:buClr>
        <a:buSzPct val="70000"/>
        <a:buFont typeface="Wingdings 2" charset="2"/>
        <a:buChar char=""/>
        <a:defRPr sz="864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4924800" indent="-1036800" algn="l" defTabSz="2194560" rtl="0" eaLnBrk="1" latinLnBrk="0" hangingPunct="1">
        <a:spcBef>
          <a:spcPct val="20000"/>
        </a:spcBef>
        <a:spcAft>
          <a:spcPts val="2880"/>
        </a:spcAft>
        <a:buClr>
          <a:schemeClr val="tx2"/>
        </a:buClr>
        <a:buSzPct val="70000"/>
        <a:buFont typeface="Wingdings 2" charset="2"/>
        <a:buChar char=""/>
        <a:defRPr sz="768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6652800" indent="-103680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8035200" indent="-103680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967008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1152864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1338720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1490976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8F610-5E25-C02F-4785-351AC65128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3039183-8738-C635-5157-3D9EC402F895}"/>
              </a:ext>
            </a:extLst>
          </p:cNvPr>
          <p:cNvSpPr txBox="1"/>
          <p:nvPr/>
        </p:nvSpPr>
        <p:spPr>
          <a:xfrm>
            <a:off x="685278" y="278782"/>
            <a:ext cx="42721119" cy="3619515"/>
          </a:xfrm>
          <a:prstGeom prst="rect">
            <a:avLst/>
          </a:prstGeom>
          <a:ln w="12700" cap="rnd" cmpd="sng">
            <a:solidFill>
              <a:schemeClr val="bg1"/>
            </a:solidFill>
            <a:round/>
          </a:ln>
          <a:effectLst/>
        </p:spPr>
        <p:style>
          <a:lnRef idx="2">
            <a:schemeClr val="dk1"/>
          </a:lnRef>
          <a:fillRef idx="1">
            <a:schemeClr val="lt1"/>
          </a:fillRef>
          <a:effectRef idx="0">
            <a:schemeClr val="dk1"/>
          </a:effectRef>
          <a:fontRef idx="minor">
            <a:schemeClr val="dk1"/>
          </a:fontRef>
        </p:style>
        <p:txBody>
          <a:bodyPr wrap="square" lIns="414591" tIns="207295" rIns="414591" bIns="207295" rtlCol="0" anchor="t" anchorCtr="0">
            <a:spAutoFit/>
          </a:bodyPr>
          <a:lstStyle/>
          <a:p>
            <a:pPr algn="ctr"/>
            <a:r>
              <a:rPr lang="en-US" sz="4000" b="1" dirty="0">
                <a:latin typeface="Times New Roman" panose="02020603050405020304" pitchFamily="18" charset="0"/>
                <a:cs typeface="Times New Roman" panose="02020603050405020304" pitchFamily="18" charset="0"/>
              </a:rPr>
              <a:t>                             </a:t>
            </a:r>
            <a:r>
              <a:rPr lang="en-US" sz="4600" b="1" dirty="0">
                <a:latin typeface="Times New Roman" panose="02020603050405020304" pitchFamily="18" charset="0"/>
                <a:cs typeface="Times New Roman" panose="02020603050405020304" pitchFamily="18" charset="0"/>
              </a:rPr>
              <a:t>      </a:t>
            </a:r>
            <a:r>
              <a:rPr lang="en-US" sz="5400" b="1" dirty="0">
                <a:latin typeface="Times New Roman" panose="02020603050405020304" pitchFamily="18" charset="0"/>
                <a:cs typeface="Times New Roman" panose="02020603050405020304" pitchFamily="18" charset="0"/>
              </a:rPr>
              <a:t> GEOGRAPHIC DISPARITIES IN MENTAL HEALTH OUTCOMES AND PROVIDER AVAILABILITY ACROSS VIRGINIA COUNTIES, 2025</a:t>
            </a:r>
          </a:p>
          <a:p>
            <a:pPr algn="ctr"/>
            <a:r>
              <a:rPr lang="en-US" sz="4800" dirty="0">
                <a:latin typeface="Times New Roman" panose="02020603050405020304" pitchFamily="18" charset="0"/>
                <a:cs typeface="Times New Roman" panose="02020603050405020304" pitchFamily="18" charset="0"/>
              </a:rPr>
              <a:t>                                 </a:t>
            </a:r>
            <a:r>
              <a:rPr lang="en-US" sz="5000" dirty="0">
                <a:latin typeface="Times New Roman" panose="02020603050405020304" pitchFamily="18" charset="0"/>
                <a:cs typeface="Times New Roman" panose="02020603050405020304" pitchFamily="18" charset="0"/>
              </a:rPr>
              <a:t>Ifeoluwanimi P. Shobayo, MSPH, Marylyn O. </a:t>
            </a:r>
            <a:r>
              <a:rPr lang="en-US" sz="5000" dirty="0" err="1">
                <a:latin typeface="Times New Roman" panose="02020603050405020304" pitchFamily="18" charset="0"/>
                <a:cs typeface="Times New Roman" panose="02020603050405020304" pitchFamily="18" charset="0"/>
              </a:rPr>
              <a:t>Oduneye</a:t>
            </a:r>
            <a:r>
              <a:rPr lang="en-US" sz="5000" dirty="0">
                <a:latin typeface="Times New Roman" panose="02020603050405020304" pitchFamily="18" charset="0"/>
                <a:cs typeface="Times New Roman" panose="02020603050405020304" pitchFamily="18" charset="0"/>
              </a:rPr>
              <a:t>, MSPH, </a:t>
            </a:r>
            <a:r>
              <a:rPr lang="en-US" sz="5000" dirty="0" err="1">
                <a:latin typeface="Times New Roman" panose="02020603050405020304" pitchFamily="18" charset="0"/>
                <a:cs typeface="Times New Roman" panose="02020603050405020304" pitchFamily="18" charset="0"/>
              </a:rPr>
              <a:t>Tahirou</a:t>
            </a:r>
            <a:r>
              <a:rPr lang="en-US" sz="5000" dirty="0">
                <a:latin typeface="Times New Roman" panose="02020603050405020304" pitchFamily="18" charset="0"/>
                <a:cs typeface="Times New Roman" panose="02020603050405020304" pitchFamily="18" charset="0"/>
              </a:rPr>
              <a:t> Diallo, MSPH, Fadzai G. Nyarugwe, MSPH, Chelsea R. Mazonde, MPH, Cynthia C. </a:t>
            </a:r>
            <a:r>
              <a:rPr lang="en-US" sz="5000" dirty="0" err="1">
                <a:latin typeface="Times New Roman" panose="02020603050405020304" pitchFamily="18" charset="0"/>
                <a:cs typeface="Times New Roman" panose="02020603050405020304" pitchFamily="18" charset="0"/>
              </a:rPr>
              <a:t>Ilechukwu</a:t>
            </a:r>
            <a:r>
              <a:rPr lang="en-US" sz="5000" dirty="0">
                <a:latin typeface="Times New Roman" panose="02020603050405020304" pitchFamily="18" charset="0"/>
                <a:cs typeface="Times New Roman" panose="02020603050405020304" pitchFamily="18" charset="0"/>
              </a:rPr>
              <a:t>, MSPH</a:t>
            </a:r>
            <a:endParaRPr lang="en-US" sz="5000" b="1" dirty="0">
              <a:latin typeface="Times New Roman" panose="02020603050405020304" pitchFamily="18" charset="0"/>
              <a:cs typeface="Times New Roman" panose="02020603050405020304" pitchFamily="18" charset="0"/>
            </a:endParaRPr>
          </a:p>
        </p:txBody>
      </p:sp>
      <p:pic>
        <p:nvPicPr>
          <p:cNvPr id="77" name="Picture 76">
            <a:extLst>
              <a:ext uri="{FF2B5EF4-FFF2-40B4-BE49-F238E27FC236}">
                <a16:creationId xmlns:a16="http://schemas.microsoft.com/office/drawing/2014/main" id="{8C9C05FA-58BE-53E6-927D-097819D54A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6561" y="949846"/>
            <a:ext cx="4580142" cy="1486682"/>
          </a:xfrm>
          <a:prstGeom prst="rect">
            <a:avLst/>
          </a:prstGeom>
        </p:spPr>
      </p:pic>
      <p:sp>
        <p:nvSpPr>
          <p:cNvPr id="305" name="TextBox 304">
            <a:extLst>
              <a:ext uri="{FF2B5EF4-FFF2-40B4-BE49-F238E27FC236}">
                <a16:creationId xmlns:a16="http://schemas.microsoft.com/office/drawing/2014/main" id="{A065416B-4327-02A8-9591-8B9DE4E9BA73}"/>
              </a:ext>
            </a:extLst>
          </p:cNvPr>
          <p:cNvSpPr txBox="1"/>
          <p:nvPr/>
        </p:nvSpPr>
        <p:spPr>
          <a:xfrm>
            <a:off x="10871631" y="4220388"/>
            <a:ext cx="22559807" cy="28137863"/>
          </a:xfrm>
          <a:prstGeom prst="rect">
            <a:avLst/>
          </a:prstGeom>
          <a:solidFill>
            <a:srgbClr val="FFFFFF"/>
          </a:solidFill>
          <a:ln cap="rnd">
            <a:solidFill>
              <a:schemeClr val="bg1"/>
            </a:solidFill>
          </a:ln>
        </p:spPr>
        <p:txBody>
          <a:bodyPr wrap="square" lIns="182880" rIns="182880" rtlCol="0">
            <a:noAutofit/>
          </a:bodyPr>
          <a:lstStyle/>
          <a:p>
            <a:pPr algn="just"/>
            <a:endParaRPr lang="en-US" sz="1800" dirty="0">
              <a:solidFill>
                <a:schemeClr val="bg1"/>
              </a:solidFill>
              <a:latin typeface="Times New Roman"/>
              <a:cs typeface="Times New Roman"/>
            </a:endParaRPr>
          </a:p>
        </p:txBody>
      </p:sp>
      <p:sp>
        <p:nvSpPr>
          <p:cNvPr id="309" name="TextBox 308">
            <a:extLst>
              <a:ext uri="{FF2B5EF4-FFF2-40B4-BE49-F238E27FC236}">
                <a16:creationId xmlns:a16="http://schemas.microsoft.com/office/drawing/2014/main" id="{E262B778-3A7B-F270-6B03-864EB2DE932B}"/>
              </a:ext>
            </a:extLst>
          </p:cNvPr>
          <p:cNvSpPr txBox="1"/>
          <p:nvPr/>
        </p:nvSpPr>
        <p:spPr>
          <a:xfrm>
            <a:off x="703565" y="5068259"/>
            <a:ext cx="9407040" cy="6011262"/>
          </a:xfrm>
          <a:prstGeom prst="rect">
            <a:avLst/>
          </a:prstGeom>
          <a:solidFill>
            <a:schemeClr val="tx1"/>
          </a:solidFill>
          <a:ln>
            <a:solidFill>
              <a:schemeClr val="bg1"/>
            </a:solidFill>
          </a:ln>
        </p:spPr>
        <p:txBody>
          <a:bodyPr wrap="square" lIns="131445" tIns="65723" rIns="131445" bIns="65723"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Background:</a:t>
            </a:r>
            <a:r>
              <a:rPr lang="en-US" sz="2400" dirty="0">
                <a:solidFill>
                  <a:schemeClr val="bg1"/>
                </a:solidFill>
                <a:latin typeface="Times New Roman" panose="02020603050405020304" pitchFamily="18" charset="0"/>
                <a:cs typeface="Times New Roman" panose="02020603050405020304" pitchFamily="18" charset="0"/>
              </a:rPr>
              <a:t> Geographic disparities in mental health outcomes and behavioral health resources remain important public health concerns. This study examined county-level variation across Virginia.</a:t>
            </a:r>
          </a:p>
          <a:p>
            <a:r>
              <a:rPr lang="en-US" sz="2400" b="1" dirty="0">
                <a:solidFill>
                  <a:schemeClr val="bg1"/>
                </a:solidFill>
                <a:latin typeface="Times New Roman" panose="02020603050405020304" pitchFamily="18" charset="0"/>
                <a:cs typeface="Times New Roman" panose="02020603050405020304" pitchFamily="18" charset="0"/>
              </a:rPr>
              <a:t>Methods:</a:t>
            </a:r>
            <a:r>
              <a:rPr lang="en-US" sz="2400" dirty="0">
                <a:solidFill>
                  <a:schemeClr val="bg1"/>
                </a:solidFill>
                <a:latin typeface="Times New Roman" panose="02020603050405020304" pitchFamily="18" charset="0"/>
                <a:cs typeface="Times New Roman" panose="02020603050405020304" pitchFamily="18" charset="0"/>
              </a:rPr>
              <a:t> A secondary ecological analysis of 2025 County Health Rankings data examined mental health outcomes, provider availability, childhood poverty, and rurality using Tableau.</a:t>
            </a:r>
          </a:p>
          <a:p>
            <a:r>
              <a:rPr lang="en-US" sz="2400" b="1" dirty="0">
                <a:solidFill>
                  <a:schemeClr val="bg1"/>
                </a:solidFill>
                <a:latin typeface="Times New Roman" panose="02020603050405020304" pitchFamily="18" charset="0"/>
                <a:cs typeface="Times New Roman" panose="02020603050405020304" pitchFamily="18" charset="0"/>
              </a:rPr>
              <a:t>Results:</a:t>
            </a:r>
            <a:r>
              <a:rPr lang="en-US" sz="2400" dirty="0">
                <a:solidFill>
                  <a:schemeClr val="bg1"/>
                </a:solidFill>
                <a:latin typeface="Times New Roman" panose="02020603050405020304" pitchFamily="18" charset="0"/>
                <a:cs typeface="Times New Roman" panose="02020603050405020304" pitchFamily="18" charset="0"/>
              </a:rPr>
              <a:t> Frequent mental distress ranged from 13.5%–23.6%, with higher burden in southwestern and southside Virginia. Provider availability was negatively associated with frequent mental distress (R²=.08, p=.002). Average suicide rates were 20.01 in very-low-provider counties versus 15.24 in high-provider counties. Childhood poverty was positively associated with mentally unhealthy days (R²=.51, p&lt;.0001). </a:t>
            </a:r>
          </a:p>
          <a:p>
            <a:r>
              <a:rPr lang="en-US" sz="2400" b="1" dirty="0">
                <a:solidFill>
                  <a:schemeClr val="bg1"/>
                </a:solidFill>
                <a:latin typeface="Times New Roman" panose="02020603050405020304" pitchFamily="18" charset="0"/>
                <a:cs typeface="Times New Roman" panose="02020603050405020304" pitchFamily="18" charset="0"/>
              </a:rPr>
              <a:t>Conclusion:</a:t>
            </a:r>
            <a:r>
              <a:rPr lang="en-US" sz="2400" dirty="0">
                <a:solidFill>
                  <a:schemeClr val="bg1"/>
                </a:solidFill>
                <a:latin typeface="Times New Roman" panose="02020603050405020304" pitchFamily="18" charset="0"/>
                <a:cs typeface="Times New Roman" panose="02020603050405020304" pitchFamily="18" charset="0"/>
              </a:rPr>
              <a:t> Mental health burden and resources were geographically uneven across Virginia, supporting strategies that address both behavioral </a:t>
            </a:r>
            <a:r>
              <a:rPr lang="en-US" sz="2400" dirty="0"/>
              <a:t>health access and socioeconomic conditions.</a:t>
            </a:r>
          </a:p>
          <a:p>
            <a:pPr algn="just"/>
            <a:endParaRPr lang="en-US" sz="2200" dirty="0">
              <a:solidFill>
                <a:schemeClr val="bg1"/>
              </a:solidFill>
              <a:latin typeface="Times New Roman" panose="02020603050405020304" pitchFamily="18" charset="0"/>
              <a:cs typeface="Times New Roman" panose="02020603050405020304" pitchFamily="18" charset="0"/>
            </a:endParaRPr>
          </a:p>
        </p:txBody>
      </p:sp>
      <p:sp>
        <p:nvSpPr>
          <p:cNvPr id="310" name="TextBox 309">
            <a:extLst>
              <a:ext uri="{FF2B5EF4-FFF2-40B4-BE49-F238E27FC236}">
                <a16:creationId xmlns:a16="http://schemas.microsoft.com/office/drawing/2014/main" id="{1747F5FB-C0E0-9E78-F84B-1D512F83536E}"/>
              </a:ext>
            </a:extLst>
          </p:cNvPr>
          <p:cNvSpPr txBox="1"/>
          <p:nvPr/>
        </p:nvSpPr>
        <p:spPr>
          <a:xfrm>
            <a:off x="685278" y="4089512"/>
            <a:ext cx="9431473" cy="871393"/>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Times New Roman"/>
              </a:rPr>
              <a:t>Abstract</a:t>
            </a:r>
            <a:endParaRPr lang="en-US" sz="6000" dirty="0">
              <a:latin typeface="Times New Roman"/>
              <a:cs typeface="Times New Roman"/>
            </a:endParaRPr>
          </a:p>
        </p:txBody>
      </p:sp>
      <p:sp>
        <p:nvSpPr>
          <p:cNvPr id="312" name="TextBox 311">
            <a:extLst>
              <a:ext uri="{FF2B5EF4-FFF2-40B4-BE49-F238E27FC236}">
                <a16:creationId xmlns:a16="http://schemas.microsoft.com/office/drawing/2014/main" id="{746F674E-FB28-8348-72E3-A91916401D8C}"/>
              </a:ext>
            </a:extLst>
          </p:cNvPr>
          <p:cNvSpPr txBox="1"/>
          <p:nvPr/>
        </p:nvSpPr>
        <p:spPr>
          <a:xfrm>
            <a:off x="641891" y="13218706"/>
            <a:ext cx="9499142" cy="7088480"/>
          </a:xfrm>
          <a:prstGeom prst="rect">
            <a:avLst/>
          </a:prstGeom>
          <a:solidFill>
            <a:schemeClr val="tx1"/>
          </a:solidFill>
          <a:ln>
            <a:solidFill>
              <a:schemeClr val="bg1"/>
            </a:solidFill>
          </a:ln>
        </p:spPr>
        <p:txBody>
          <a:bodyPr wrap="square" lIns="131445" tIns="65723" rIns="131445" bIns="65723" rtlCol="0">
            <a:spAutoFit/>
          </a:bodyPr>
          <a:lstStyle/>
          <a:p>
            <a:pPr algn="just"/>
            <a:r>
              <a:rPr lang="en-US" sz="2400" b="1" dirty="0">
                <a:solidFill>
                  <a:schemeClr val="bg1"/>
                </a:solidFill>
                <a:latin typeface="Times New Roman" panose="02020603050405020304" pitchFamily="18" charset="0"/>
                <a:cs typeface="Times New Roman" panose="02020603050405020304" pitchFamily="18" charset="0"/>
              </a:rPr>
              <a:t>Introduction</a:t>
            </a:r>
          </a:p>
          <a:p>
            <a:pPr algn="just"/>
            <a:r>
              <a:rPr lang="en-US" sz="2400" dirty="0">
                <a:solidFill>
                  <a:schemeClr val="bg1"/>
                </a:solidFill>
                <a:latin typeface="Times New Roman" panose="02020603050405020304" pitchFamily="18" charset="0"/>
                <a:cs typeface="Times New Roman" panose="02020603050405020304" pitchFamily="18" charset="0"/>
              </a:rPr>
              <a:t>Mental health outcomes and access to behavioral health services vary across geographic and socioeconomic contexts. Rurality, provider availability, and economic disadvantage may contribute to differences in population mental health burden. </a:t>
            </a:r>
            <a:r>
              <a:rPr lang="en-US" sz="2400" baseline="30000" dirty="0">
                <a:solidFill>
                  <a:schemeClr val="bg1"/>
                </a:solidFill>
                <a:latin typeface="Times New Roman" panose="02020603050405020304" pitchFamily="18" charset="0"/>
                <a:cs typeface="Times New Roman" panose="02020603050405020304" pitchFamily="18" charset="0"/>
              </a:rPr>
              <a:t>1-3</a:t>
            </a:r>
          </a:p>
          <a:p>
            <a:pPr algn="just"/>
            <a:r>
              <a:rPr lang="en-US" sz="2400" dirty="0">
                <a:solidFill>
                  <a:schemeClr val="bg1"/>
                </a:solidFill>
                <a:latin typeface="Times New Roman" panose="02020603050405020304" pitchFamily="18" charset="0"/>
                <a:cs typeface="Times New Roman" panose="02020603050405020304" pitchFamily="18" charset="0"/>
              </a:rPr>
              <a:t>County-level analysis provides an opportunity to identify communities where adverse mental health outcomes overlap with limited behavioral health resources and socioeconomic disadvantage. In Virginia, understanding these geographic patterns may help inform targeted prevention, workforce planning, and resource allocation. </a:t>
            </a:r>
            <a:r>
              <a:rPr lang="en-US" sz="2400" baseline="30000" dirty="0">
                <a:solidFill>
                  <a:schemeClr val="bg1"/>
                </a:solidFill>
                <a:latin typeface="Times New Roman" panose="02020603050405020304" pitchFamily="18" charset="0"/>
                <a:cs typeface="Times New Roman" panose="02020603050405020304" pitchFamily="18" charset="0"/>
              </a:rPr>
              <a:t>4-7</a:t>
            </a:r>
          </a:p>
          <a:p>
            <a:pPr algn="just"/>
            <a:r>
              <a:rPr lang="en-US" sz="2400" b="1" dirty="0">
                <a:solidFill>
                  <a:schemeClr val="bg1"/>
                </a:solidFill>
                <a:latin typeface="Times New Roman" panose="02020603050405020304" pitchFamily="18" charset="0"/>
                <a:cs typeface="Times New Roman" panose="02020603050405020304" pitchFamily="18" charset="0"/>
              </a:rPr>
              <a:t>Objective</a:t>
            </a:r>
          </a:p>
          <a:p>
            <a:pPr algn="just"/>
            <a:r>
              <a:rPr lang="en-US" sz="2400" dirty="0">
                <a:solidFill>
                  <a:schemeClr val="bg1"/>
                </a:solidFill>
                <a:latin typeface="Times New Roman" panose="02020603050405020304" pitchFamily="18" charset="0"/>
                <a:cs typeface="Times New Roman" panose="02020603050405020304" pitchFamily="18" charset="0"/>
              </a:rPr>
              <a:t>To examine geographic disparities in mental health outcomes and provider availability across Virginia counties and evaluate their relationships with rurality and childhood poverty.</a:t>
            </a:r>
          </a:p>
          <a:p>
            <a:pPr algn="just"/>
            <a:r>
              <a:rPr lang="en-US" sz="2400" b="1" dirty="0">
                <a:solidFill>
                  <a:schemeClr val="bg1"/>
                </a:solidFill>
                <a:latin typeface="Times New Roman" panose="02020603050405020304" pitchFamily="18" charset="0"/>
                <a:cs typeface="Times New Roman" panose="02020603050405020304" pitchFamily="18" charset="0"/>
              </a:rPr>
              <a:t>Research Question</a:t>
            </a:r>
          </a:p>
          <a:p>
            <a:pPr algn="just"/>
            <a:r>
              <a:rPr lang="en-US" sz="2400" dirty="0">
                <a:solidFill>
                  <a:schemeClr val="bg1"/>
                </a:solidFill>
                <a:latin typeface="Times New Roman" panose="02020603050405020304" pitchFamily="18" charset="0"/>
                <a:cs typeface="Times New Roman" panose="02020603050405020304" pitchFamily="18" charset="0"/>
              </a:rPr>
              <a:t>How do mental health outcomes and provider availability vary across Virginia counties, and how are provider availability and childhood poverty associated with county-level mental health burden?</a:t>
            </a:r>
          </a:p>
          <a:p>
            <a:endParaRPr lang="en-US" sz="2000" dirty="0">
              <a:solidFill>
                <a:schemeClr val="bg1"/>
              </a:solidFill>
              <a:latin typeface="Times New Roman"/>
              <a:cs typeface="Times New Roman"/>
            </a:endParaRPr>
          </a:p>
        </p:txBody>
      </p:sp>
      <p:sp>
        <p:nvSpPr>
          <p:cNvPr id="313" name="TextBox 312">
            <a:extLst>
              <a:ext uri="{FF2B5EF4-FFF2-40B4-BE49-F238E27FC236}">
                <a16:creationId xmlns:a16="http://schemas.microsoft.com/office/drawing/2014/main" id="{6DDFC9D8-2135-B804-986E-91DCE8E7F20A}"/>
              </a:ext>
            </a:extLst>
          </p:cNvPr>
          <p:cNvSpPr txBox="1"/>
          <p:nvPr/>
        </p:nvSpPr>
        <p:spPr>
          <a:xfrm>
            <a:off x="703565" y="11349812"/>
            <a:ext cx="9431472" cy="1610057"/>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Times New Roman"/>
              </a:rPr>
              <a:t>Introduction, Objective, and  Research Question</a:t>
            </a:r>
            <a:endParaRPr lang="en-US" sz="6000" dirty="0">
              <a:latin typeface="Times New Roman"/>
              <a:cs typeface="Times New Roman"/>
            </a:endParaRPr>
          </a:p>
        </p:txBody>
      </p:sp>
      <p:grpSp>
        <p:nvGrpSpPr>
          <p:cNvPr id="314" name="Group 313">
            <a:extLst>
              <a:ext uri="{FF2B5EF4-FFF2-40B4-BE49-F238E27FC236}">
                <a16:creationId xmlns:a16="http://schemas.microsoft.com/office/drawing/2014/main" id="{BC6EF120-E0D1-21D9-0B16-C9D342E5CDB5}"/>
              </a:ext>
            </a:extLst>
          </p:cNvPr>
          <p:cNvGrpSpPr/>
          <p:nvPr/>
        </p:nvGrpSpPr>
        <p:grpSpPr>
          <a:xfrm>
            <a:off x="641891" y="20411383"/>
            <a:ext cx="9565778" cy="11946867"/>
            <a:chOff x="783601" y="26482178"/>
            <a:chExt cx="9359887" cy="5029212"/>
          </a:xfrm>
        </p:grpSpPr>
        <p:sp>
          <p:nvSpPr>
            <p:cNvPr id="315" name="TextBox 314">
              <a:extLst>
                <a:ext uri="{FF2B5EF4-FFF2-40B4-BE49-F238E27FC236}">
                  <a16:creationId xmlns:a16="http://schemas.microsoft.com/office/drawing/2014/main" id="{1A04ABA2-9C79-F910-AB39-429544CFAA06}"/>
                </a:ext>
              </a:extLst>
            </p:cNvPr>
            <p:cNvSpPr txBox="1"/>
            <p:nvPr/>
          </p:nvSpPr>
          <p:spPr>
            <a:xfrm>
              <a:off x="834896" y="26995879"/>
              <a:ext cx="9308592" cy="4515511"/>
            </a:xfrm>
            <a:prstGeom prst="rect">
              <a:avLst/>
            </a:prstGeom>
            <a:solidFill>
              <a:schemeClr val="tx1"/>
            </a:solidFill>
            <a:ln cap="rnd">
              <a:solidFill>
                <a:schemeClr val="bg1"/>
              </a:solidFill>
            </a:ln>
          </p:spPr>
          <p:txBody>
            <a:bodyPr wrap="square" lIns="182880" rIns="182880" rtlCol="0">
              <a:noAutofit/>
            </a:bodyPr>
            <a:lstStyle/>
            <a:p>
              <a:pPr algn="just"/>
              <a:endParaRPr lang="en-US" sz="1800" dirty="0">
                <a:latin typeface="Times New Roman"/>
                <a:cs typeface="Times New Roman"/>
              </a:endParaRPr>
            </a:p>
          </p:txBody>
        </p:sp>
        <p:sp>
          <p:nvSpPr>
            <p:cNvPr id="316" name="TextBox 315">
              <a:extLst>
                <a:ext uri="{FF2B5EF4-FFF2-40B4-BE49-F238E27FC236}">
                  <a16:creationId xmlns:a16="http://schemas.microsoft.com/office/drawing/2014/main" id="{BC19B682-B6AF-9A71-5C4D-B2D1BE476405}"/>
                </a:ext>
              </a:extLst>
            </p:cNvPr>
            <p:cNvSpPr txBox="1"/>
            <p:nvPr/>
          </p:nvSpPr>
          <p:spPr>
            <a:xfrm>
              <a:off x="783601" y="26482178"/>
              <a:ext cx="9308592" cy="400902"/>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Times New Roman"/>
                </a:rPr>
                <a:t>Methods</a:t>
              </a:r>
              <a:endParaRPr lang="en-US" sz="6000" dirty="0">
                <a:latin typeface="Times New Roman"/>
                <a:cs typeface="Times New Roman"/>
              </a:endParaRPr>
            </a:p>
          </p:txBody>
        </p:sp>
      </p:grpSp>
      <p:grpSp>
        <p:nvGrpSpPr>
          <p:cNvPr id="320" name="Group 319">
            <a:extLst>
              <a:ext uri="{FF2B5EF4-FFF2-40B4-BE49-F238E27FC236}">
                <a16:creationId xmlns:a16="http://schemas.microsoft.com/office/drawing/2014/main" id="{53AEC50B-E878-4565-180E-A62D5A2144C4}"/>
              </a:ext>
            </a:extLst>
          </p:cNvPr>
          <p:cNvGrpSpPr/>
          <p:nvPr/>
        </p:nvGrpSpPr>
        <p:grpSpPr>
          <a:xfrm>
            <a:off x="34006809" y="17775704"/>
            <a:ext cx="9256360" cy="8790347"/>
            <a:chOff x="34080553" y="17757963"/>
            <a:chExt cx="9295886" cy="7458416"/>
          </a:xfrm>
        </p:grpSpPr>
        <p:sp>
          <p:nvSpPr>
            <p:cNvPr id="321" name="TextBox 320">
              <a:extLst>
                <a:ext uri="{FF2B5EF4-FFF2-40B4-BE49-F238E27FC236}">
                  <a16:creationId xmlns:a16="http://schemas.microsoft.com/office/drawing/2014/main" id="{CB19DFF1-BA24-B68B-4652-0F80775C03FA}"/>
                </a:ext>
              </a:extLst>
            </p:cNvPr>
            <p:cNvSpPr txBox="1"/>
            <p:nvPr/>
          </p:nvSpPr>
          <p:spPr>
            <a:xfrm>
              <a:off x="34080554" y="19026404"/>
              <a:ext cx="9263014" cy="6189975"/>
            </a:xfrm>
            <a:prstGeom prst="rect">
              <a:avLst/>
            </a:prstGeom>
            <a:solidFill>
              <a:srgbClr val="FFFFFF"/>
            </a:solidFill>
            <a:ln cap="rnd">
              <a:solidFill>
                <a:schemeClr val="bg1"/>
              </a:solidFill>
            </a:ln>
          </p:spPr>
          <p:txBody>
            <a:bodyPr wrap="square" lIns="182880" rIns="182880" rtlCol="0">
              <a:noAutofit/>
            </a:bodyPr>
            <a:lstStyle/>
            <a:p>
              <a:r>
                <a:rPr lang="en-US" sz="2400" b="1" dirty="0">
                  <a:solidFill>
                    <a:schemeClr val="bg1"/>
                  </a:solidFill>
                  <a:latin typeface="Times New Roman" panose="02020603050405020304" pitchFamily="18" charset="0"/>
                  <a:cs typeface="Times New Roman" panose="02020603050405020304" pitchFamily="18" charset="0"/>
                </a:rPr>
                <a:t>Public Health Implications </a:t>
              </a:r>
              <a:r>
                <a:rPr lang="en-US" sz="2400" b="1" baseline="30000" dirty="0">
                  <a:solidFill>
                    <a:schemeClr val="bg1"/>
                  </a:solidFill>
                  <a:latin typeface="Times New Roman" panose="02020603050405020304" pitchFamily="18" charset="0"/>
                  <a:cs typeface="Times New Roman" panose="02020603050405020304" pitchFamily="18" charset="0"/>
                </a:rPr>
                <a:t>12-15</a:t>
              </a:r>
            </a:p>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Target high-burden areas: Prioritize mental health resources in communities experiencing greater distress and limited provider availability.</a:t>
              </a:r>
            </a:p>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Improve access to care: Strengthen behavioral health services and workforce capacity in areas with fewer mental health providers.</a:t>
              </a:r>
            </a:p>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Address socioeconomic disparities: Incorporate poverty and other social conditions into community mental health planning and prevention.</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forts.</a:t>
              </a:r>
            </a:p>
            <a:p>
              <a:r>
                <a:rPr lang="en-US" sz="2400" b="1" dirty="0">
                  <a:solidFill>
                    <a:schemeClr val="bg1"/>
                  </a:solidFill>
                  <a:latin typeface="Times New Roman" panose="02020603050405020304" pitchFamily="18" charset="0"/>
                  <a:cs typeface="Times New Roman" panose="02020603050405020304" pitchFamily="18" charset="0"/>
                </a:rPr>
                <a:t>Future Work</a:t>
              </a:r>
            </a:p>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Examine trends over time: Assess whether county-level mental health disparities persist or change across multiple years.</a:t>
              </a:r>
            </a:p>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Expand access measures: Include insurance, transportation, telehealth, service utilization, and other barriers to mental healthcare.</a:t>
              </a:r>
            </a:p>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Conduct multivariable analysis: Examine how poverty, rurality, provider availability, and other factors independently relate to mental health outcomes.</a:t>
              </a:r>
            </a:p>
            <a:p>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322" name="TextBox 321">
              <a:extLst>
                <a:ext uri="{FF2B5EF4-FFF2-40B4-BE49-F238E27FC236}">
                  <a16:creationId xmlns:a16="http://schemas.microsoft.com/office/drawing/2014/main" id="{FF9BD680-0755-89B6-9224-48721A47729A}"/>
                </a:ext>
              </a:extLst>
            </p:cNvPr>
            <p:cNvSpPr txBox="1"/>
            <p:nvPr/>
          </p:nvSpPr>
          <p:spPr>
            <a:xfrm>
              <a:off x="34080553" y="17757963"/>
              <a:ext cx="9295886" cy="1268441"/>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Garamond"/>
                  <a:cs typeface="Garamond"/>
                </a:rPr>
                <a:t>Public Health Implications and Future Work</a:t>
              </a:r>
              <a:endParaRPr lang="en-US" sz="6000" dirty="0">
                <a:latin typeface="Garamond"/>
                <a:cs typeface="Garamond"/>
              </a:endParaRPr>
            </a:p>
          </p:txBody>
        </p:sp>
      </p:grpSp>
      <p:sp>
        <p:nvSpPr>
          <p:cNvPr id="323" name="TextBox 322">
            <a:extLst>
              <a:ext uri="{FF2B5EF4-FFF2-40B4-BE49-F238E27FC236}">
                <a16:creationId xmlns:a16="http://schemas.microsoft.com/office/drawing/2014/main" id="{791F62C8-B471-7647-1C58-7FE1BB1C1D01}"/>
              </a:ext>
            </a:extLst>
          </p:cNvPr>
          <p:cNvSpPr txBox="1"/>
          <p:nvPr/>
        </p:nvSpPr>
        <p:spPr>
          <a:xfrm>
            <a:off x="34084668" y="26729319"/>
            <a:ext cx="9145770" cy="871393"/>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Times New Roman"/>
              </a:rPr>
              <a:t>References</a:t>
            </a:r>
            <a:endParaRPr lang="en-US" sz="6000" dirty="0">
              <a:latin typeface="Times New Roman"/>
              <a:cs typeface="Times New Roman"/>
            </a:endParaRPr>
          </a:p>
        </p:txBody>
      </p:sp>
      <p:grpSp>
        <p:nvGrpSpPr>
          <p:cNvPr id="324" name="Group 323">
            <a:extLst>
              <a:ext uri="{FF2B5EF4-FFF2-40B4-BE49-F238E27FC236}">
                <a16:creationId xmlns:a16="http://schemas.microsoft.com/office/drawing/2014/main" id="{C378E3EE-14D9-F365-6D63-2860BE15E8A3}"/>
              </a:ext>
            </a:extLst>
          </p:cNvPr>
          <p:cNvGrpSpPr/>
          <p:nvPr/>
        </p:nvGrpSpPr>
        <p:grpSpPr>
          <a:xfrm>
            <a:off x="34006807" y="4220388"/>
            <a:ext cx="9256360" cy="13555315"/>
            <a:chOff x="34040395" y="3962579"/>
            <a:chExt cx="9212446" cy="11915692"/>
          </a:xfrm>
        </p:grpSpPr>
        <p:sp>
          <p:nvSpPr>
            <p:cNvPr id="325" name="TextBox 324">
              <a:extLst>
                <a:ext uri="{FF2B5EF4-FFF2-40B4-BE49-F238E27FC236}">
                  <a16:creationId xmlns:a16="http://schemas.microsoft.com/office/drawing/2014/main" id="{C035F57E-62DB-372A-C78A-9EAA827DE73E}"/>
                </a:ext>
              </a:extLst>
            </p:cNvPr>
            <p:cNvSpPr txBox="1"/>
            <p:nvPr/>
          </p:nvSpPr>
          <p:spPr>
            <a:xfrm>
              <a:off x="34040395" y="5147429"/>
              <a:ext cx="9212446" cy="10730842"/>
            </a:xfrm>
            <a:prstGeom prst="rect">
              <a:avLst/>
            </a:prstGeom>
            <a:solidFill>
              <a:srgbClr val="FFFFFF"/>
            </a:solidFill>
            <a:ln cap="rnd">
              <a:solidFill>
                <a:schemeClr val="bg1"/>
              </a:solidFill>
            </a:ln>
          </p:spPr>
          <p:txBody>
            <a:bodyPr wrap="square" lIns="182880" rIns="182880" rtlCol="0">
              <a:noAutofit/>
            </a:bodyPr>
            <a:lstStyle/>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a:p>
              <a:pPr algn="just"/>
              <a:endParaRPr lang="en-US" sz="1800" dirty="0">
                <a:latin typeface="Garamond"/>
                <a:cs typeface="Garamond"/>
              </a:endParaRPr>
            </a:p>
          </p:txBody>
        </p:sp>
        <p:sp>
          <p:nvSpPr>
            <p:cNvPr id="326" name="TextBox 325">
              <a:extLst>
                <a:ext uri="{FF2B5EF4-FFF2-40B4-BE49-F238E27FC236}">
                  <a16:creationId xmlns:a16="http://schemas.microsoft.com/office/drawing/2014/main" id="{2270543F-2128-4E8D-CCFD-F12E4C7A64FC}"/>
                </a:ext>
              </a:extLst>
            </p:cNvPr>
            <p:cNvSpPr txBox="1"/>
            <p:nvPr/>
          </p:nvSpPr>
          <p:spPr>
            <a:xfrm>
              <a:off x="34040395" y="3962579"/>
              <a:ext cx="9212446" cy="1437942"/>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Times New Roman"/>
                </a:rPr>
                <a:t>Results, Discussion, Conclusion, and Limitations</a:t>
              </a:r>
              <a:endParaRPr lang="en-US" sz="6000" dirty="0">
                <a:latin typeface="Times New Roman"/>
                <a:cs typeface="Times New Roman"/>
              </a:endParaRPr>
            </a:p>
          </p:txBody>
        </p:sp>
        <p:sp>
          <p:nvSpPr>
            <p:cNvPr id="327" name="Rectangle 326">
              <a:extLst>
                <a:ext uri="{FF2B5EF4-FFF2-40B4-BE49-F238E27FC236}">
                  <a16:creationId xmlns:a16="http://schemas.microsoft.com/office/drawing/2014/main" id="{3A97DB32-0FF1-1C0F-BA0A-FB20D75949A1}"/>
                </a:ext>
              </a:extLst>
            </p:cNvPr>
            <p:cNvSpPr/>
            <p:nvPr/>
          </p:nvSpPr>
          <p:spPr>
            <a:xfrm>
              <a:off x="34309049" y="5632989"/>
              <a:ext cx="8943792" cy="7201734"/>
            </a:xfrm>
            <a:prstGeom prst="rect">
              <a:avLst/>
            </a:prstGeom>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Results</a:t>
              </a:r>
            </a:p>
            <a:p>
              <a:r>
                <a:rPr lang="en-US" sz="2400" dirty="0">
                  <a:solidFill>
                    <a:schemeClr val="bg1"/>
                  </a:solidFill>
                  <a:latin typeface="Times New Roman" panose="02020603050405020304" pitchFamily="18" charset="0"/>
                  <a:cs typeface="Times New Roman" panose="02020603050405020304" pitchFamily="18" charset="0"/>
                </a:rPr>
                <a:t>Frequent mental distress ranged from 13.5%–23.6%, with higher burden in southwestern and southside Virginia. Provider availability was negatively associated with distress (R²=.08, p=.002), while very-low-provider counties had higher average suicide rates than high-provider counties (20.01 vs. 15.24). Childhood poverty was strongly associated with mentally unhealthy days (R²=.51, p&lt;.0001). </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Discussion</a:t>
              </a:r>
            </a:p>
            <a:p>
              <a:r>
                <a:rPr lang="en-US" sz="2400" dirty="0">
                  <a:solidFill>
                    <a:schemeClr val="bg1"/>
                  </a:solidFill>
                  <a:latin typeface="Times New Roman" panose="02020603050405020304" pitchFamily="18" charset="0"/>
                  <a:cs typeface="Times New Roman" panose="02020603050405020304" pitchFamily="18" charset="0"/>
                </a:rPr>
                <a:t>Mental health burden and provider availability varied across Virginia. The relatively small R²=.08 suggests provider availability explained limited variation in distress, while childhood poverty showed a stronger relationship with mentally unhealthy days. These patterns highlight the importance of considering both healthcare access and socioeconomic conditions. </a:t>
              </a:r>
              <a:r>
                <a:rPr lang="en-US" sz="2400" baseline="30000" dirty="0">
                  <a:solidFill>
                    <a:schemeClr val="bg1"/>
                  </a:solidFill>
                  <a:latin typeface="Times New Roman" panose="02020603050405020304" pitchFamily="18" charset="0"/>
                  <a:cs typeface="Times New Roman" panose="02020603050405020304" pitchFamily="18" charset="0"/>
                </a:rPr>
                <a:t>8-11</a:t>
              </a:r>
            </a:p>
            <a:p>
              <a:endParaRPr lang="en-US" sz="2400" baseline="300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Conclusion</a:t>
              </a:r>
            </a:p>
            <a:p>
              <a:r>
                <a:rPr lang="en-US" sz="2400" dirty="0">
                  <a:solidFill>
                    <a:schemeClr val="bg1"/>
                  </a:solidFill>
                  <a:latin typeface="Times New Roman" panose="02020603050405020304" pitchFamily="18" charset="0"/>
                  <a:cs typeface="Times New Roman" panose="02020603050405020304" pitchFamily="18" charset="0"/>
                </a:rPr>
                <a:t>Mental health disparities are geographically uneven across Virginia. Targeted strategies should strengthen behavioral health access while addressing socioeconomic conditions associated with greater mental health burden.</a:t>
              </a:r>
            </a:p>
            <a:p>
              <a:pPr algn="just"/>
              <a:endParaRPr lang="en-US" sz="2200" dirty="0">
                <a:solidFill>
                  <a:schemeClr val="bg1"/>
                </a:solidFill>
                <a:latin typeface="Times New Roman" panose="02020603050405020304" pitchFamily="18" charset="0"/>
                <a:cs typeface="Times New Roman" panose="02020603050405020304" pitchFamily="18" charset="0"/>
              </a:endParaRPr>
            </a:p>
          </p:txBody>
        </p:sp>
      </p:grpSp>
      <p:graphicFrame>
        <p:nvGraphicFramePr>
          <p:cNvPr id="10" name="Table 9">
            <a:extLst>
              <a:ext uri="{FF2B5EF4-FFF2-40B4-BE49-F238E27FC236}">
                <a16:creationId xmlns:a16="http://schemas.microsoft.com/office/drawing/2014/main" id="{205B63F2-1A1A-2B15-C5FA-4705C2E0F0C2}"/>
              </a:ext>
            </a:extLst>
          </p:cNvPr>
          <p:cNvGraphicFramePr>
            <a:graphicFrameLocks noGrp="1"/>
          </p:cNvGraphicFramePr>
          <p:nvPr>
            <p:extLst>
              <p:ext uri="{D42A27DB-BD31-4B8C-83A1-F6EECF244321}">
                <p14:modId xmlns:p14="http://schemas.microsoft.com/office/powerpoint/2010/main" val="2301284607"/>
              </p:ext>
            </p:extLst>
          </p:nvPr>
        </p:nvGraphicFramePr>
        <p:xfrm>
          <a:off x="660762" y="21538124"/>
          <a:ext cx="9565778" cy="10820128"/>
        </p:xfrm>
        <a:graphic>
          <a:graphicData uri="http://schemas.openxmlformats.org/drawingml/2006/table">
            <a:tbl>
              <a:tblPr firstRow="1" bandRow="1">
                <a:tableStyleId>{5C22544A-7EE6-4342-B048-85BDC9FD1C3A}</a:tableStyleId>
              </a:tblPr>
              <a:tblGrid>
                <a:gridCol w="5177897">
                  <a:extLst>
                    <a:ext uri="{9D8B030D-6E8A-4147-A177-3AD203B41FA5}">
                      <a16:colId xmlns:a16="http://schemas.microsoft.com/office/drawing/2014/main" val="2846790296"/>
                    </a:ext>
                  </a:extLst>
                </a:gridCol>
                <a:gridCol w="4387881">
                  <a:extLst>
                    <a:ext uri="{9D8B030D-6E8A-4147-A177-3AD203B41FA5}">
                      <a16:colId xmlns:a16="http://schemas.microsoft.com/office/drawing/2014/main" val="1015726853"/>
                    </a:ext>
                  </a:extLst>
                </a:gridCol>
              </a:tblGrid>
              <a:tr h="606898">
                <a:tc>
                  <a:txBody>
                    <a:bodyPr/>
                    <a:lstStyle/>
                    <a:p>
                      <a:r>
                        <a:rPr lang="en-US" sz="3200" dirty="0">
                          <a:latin typeface="Times New Roman" panose="02020603050405020304" pitchFamily="18" charset="0"/>
                          <a:cs typeface="Times New Roman" panose="02020603050405020304" pitchFamily="18" charset="0"/>
                        </a:rPr>
                        <a:t>METHOD</a:t>
                      </a:r>
                    </a:p>
                  </a:txBody>
                  <a:tcPr/>
                </a:tc>
                <a:tc>
                  <a:txBody>
                    <a:bodyPr/>
                    <a:lstStyle/>
                    <a:p>
                      <a:r>
                        <a:rPr lang="en-US" sz="3200"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3897735149"/>
                  </a:ext>
                </a:extLst>
              </a:tr>
              <a:tr h="2259675">
                <a:tc>
                  <a:txBody>
                    <a:bodyPr/>
                    <a:lstStyle/>
                    <a:p>
                      <a:r>
                        <a:rPr lang="en-US" sz="2400" dirty="0">
                          <a:latin typeface="Times New Roman" panose="02020603050405020304" pitchFamily="18" charset="0"/>
                          <a:cs typeface="Times New Roman" panose="02020603050405020304" pitchFamily="18" charset="0"/>
                        </a:rPr>
                        <a:t>Design &amp; Data</a:t>
                      </a:r>
                    </a:p>
                  </a:txBody>
                  <a:tcPr/>
                </a:tc>
                <a:tc>
                  <a:txBody>
                    <a:bodyPr/>
                    <a:lstStyle/>
                    <a:p>
                      <a:r>
                        <a:rPr lang="en-US" sz="2400" dirty="0"/>
                        <a:t>Secondary ecological analysis using 2025 County Health Rankings data for Virginia </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55808230"/>
                  </a:ext>
                </a:extLst>
              </a:tr>
              <a:tr h="1629041">
                <a:tc>
                  <a:txBody>
                    <a:bodyPr/>
                    <a:lstStyle/>
                    <a:p>
                      <a:r>
                        <a:rPr lang="en-US" sz="2400" dirty="0">
                          <a:latin typeface="Times New Roman" panose="02020603050405020304" pitchFamily="18" charset="0"/>
                          <a:cs typeface="Times New Roman" panose="02020603050405020304" pitchFamily="18" charset="0"/>
                        </a:rPr>
                        <a:t>Population</a:t>
                      </a:r>
                    </a:p>
                  </a:txBody>
                  <a:tcPr/>
                </a:tc>
                <a:tc>
                  <a:txBody>
                    <a:bodyPr/>
                    <a:lstStyle/>
                    <a:p>
                      <a:r>
                        <a:rPr lang="en-US" sz="2400" dirty="0"/>
                        <a:t>Virginia county/locality-level population data included in the County Health Rankings dataset.</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71464298"/>
                  </a:ext>
                </a:extLst>
              </a:tr>
              <a:tr h="2395649">
                <a:tc>
                  <a:txBody>
                    <a:bodyPr/>
                    <a:lstStyle/>
                    <a:p>
                      <a:r>
                        <a:rPr lang="en-US" sz="2400" dirty="0">
                          <a:latin typeface="Times New Roman" panose="02020603050405020304" pitchFamily="18" charset="0"/>
                          <a:cs typeface="Times New Roman" panose="02020603050405020304" pitchFamily="18" charset="0"/>
                        </a:rPr>
                        <a:t>Measures</a:t>
                      </a:r>
                    </a:p>
                  </a:txBody>
                  <a:tcPr/>
                </a:tc>
                <a:tc>
                  <a:txBody>
                    <a:bodyPr/>
                    <a:lstStyle/>
                    <a:p>
                      <a:r>
                        <a:rPr lang="en-US" sz="2400" dirty="0"/>
                        <a:t>Frequent mental distress, average mentally unhealthy days, age-adjusted suicide rate, mental health provider rate, childhood poverty, rurality, and population.</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56894884"/>
                  </a:ext>
                </a:extLst>
              </a:tr>
              <a:tr h="3928865">
                <a:tc>
                  <a:txBody>
                    <a:bodyPr/>
                    <a:lstStyle/>
                    <a:p>
                      <a:r>
                        <a:rPr lang="en-US" sz="2400" dirty="0">
                          <a:latin typeface="Times New Roman" panose="02020603050405020304" pitchFamily="18" charset="0"/>
                          <a:cs typeface="Times New Roman" panose="02020603050405020304" pitchFamily="18" charset="0"/>
                        </a:rPr>
                        <a:t>Analysis</a:t>
                      </a:r>
                    </a:p>
                  </a:txBody>
                  <a:tcPr/>
                </a:tc>
                <a:tc>
                  <a:txBody>
                    <a:bodyPr/>
                    <a:lstStyle/>
                    <a:p>
                      <a:r>
                        <a:rPr lang="en-US" sz="2400" dirty="0"/>
                        <a:t>Geographic visualization, descriptive comparisons, provider-availability stratification, and county-level association analyses using Tableau. Linear trend analyses assessed provider availability vs. frequent mental distress and childhood poverty vs. mentally unhealthy days.</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00023977"/>
                  </a:ext>
                </a:extLst>
              </a:tr>
            </a:tbl>
          </a:graphicData>
        </a:graphic>
      </p:graphicFrame>
      <p:sp>
        <p:nvSpPr>
          <p:cNvPr id="14" name="TextBox 13">
            <a:extLst>
              <a:ext uri="{FF2B5EF4-FFF2-40B4-BE49-F238E27FC236}">
                <a16:creationId xmlns:a16="http://schemas.microsoft.com/office/drawing/2014/main" id="{3FE59D55-EEB9-45ED-66FD-9D2D7B715548}"/>
              </a:ext>
            </a:extLst>
          </p:cNvPr>
          <p:cNvSpPr txBox="1"/>
          <p:nvPr/>
        </p:nvSpPr>
        <p:spPr>
          <a:xfrm>
            <a:off x="34223508" y="13863056"/>
            <a:ext cx="8839431" cy="4124206"/>
          </a:xfrm>
          <a:prstGeom prst="rect">
            <a:avLst/>
          </a:prstGeom>
          <a:noFill/>
        </p:spPr>
        <p:txBody>
          <a:bodyPr wrap="square">
            <a:spAutoFit/>
          </a:bodyPr>
          <a:lstStyle/>
          <a:p>
            <a:pPr algn="just"/>
            <a:r>
              <a:rPr lang="en-US" sz="2400" b="1" dirty="0">
                <a:solidFill>
                  <a:schemeClr val="bg1"/>
                </a:solidFill>
                <a:latin typeface="Times New Roman" panose="02020603050405020304" pitchFamily="18" charset="0"/>
                <a:cs typeface="Times New Roman" panose="02020603050405020304" pitchFamily="18" charset="0"/>
              </a:rPr>
              <a:t>Limitations</a:t>
            </a:r>
          </a:p>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Ecological design: County-level patterns may not reflect the experiences or risks of individual residents.</a:t>
            </a:r>
          </a:p>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Cross-sectional data: The analysis identifies associations at one point in time and cannot determine cause-and-effect relationships.</a:t>
            </a:r>
          </a:p>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Provider availability: Provider rates indicate workforce supply but do not capture affordability, service use, or actual access to care.</a:t>
            </a:r>
          </a:p>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Unmeasured factors: Other demographic, socioeconomic, and healthcare factors may contribute to the observed county-level differences.</a:t>
            </a:r>
          </a:p>
          <a:p>
            <a:pPr algn="just"/>
            <a:endParaRPr lang="en-US" sz="2200" b="1" dirty="0">
              <a:solidFill>
                <a:schemeClr val="bg1"/>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27F635D7-8592-DF05-AA6D-AD2EB280C030}"/>
              </a:ext>
            </a:extLst>
          </p:cNvPr>
          <p:cNvCxnSpPr/>
          <p:nvPr/>
        </p:nvCxnSpPr>
        <p:spPr>
          <a:xfrm>
            <a:off x="0" y="-26234"/>
            <a:ext cx="43991438"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133844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TM04033929[[fn=Slate]]</Template>
  <TotalTime>25711</TotalTime>
  <Words>901</Words>
  <Application>Microsoft Office PowerPoint</Application>
  <PresentationFormat>Custom</PresentationFormat>
  <Paragraphs>65</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Calisto MT</vt:lpstr>
      <vt:lpstr>Garamond</vt:lpstr>
      <vt:lpstr>Lucida Grande</vt:lpstr>
      <vt:lpstr>Times New Roman</vt:lpstr>
      <vt:lpstr>Wingdings 2</vt:lpstr>
      <vt:lpstr>Slate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Montalvo</dc:creator>
  <cp:lastModifiedBy>Shobayo, Ifeoluwanimi</cp:lastModifiedBy>
  <cp:revision>321</cp:revision>
  <dcterms:created xsi:type="dcterms:W3CDTF">2013-10-19T16:33:22Z</dcterms:created>
  <dcterms:modified xsi:type="dcterms:W3CDTF">2026-09-03T22:07:59Z</dcterms:modified>
</cp:coreProperties>
</file>